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9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9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59854"/>
            <a:ext cx="7226369" cy="872096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35354" y="11271771"/>
            <a:ext cx="944880" cy="0"/>
          </a:xfrm>
          <a:custGeom>
            <a:avLst/>
            <a:gdLst/>
            <a:ahLst/>
            <a:cxnLst/>
            <a:rect l="l" t="t" r="r" b="b"/>
            <a:pathLst>
              <a:path w="944880" h="0">
                <a:moveTo>
                  <a:pt x="0" y="0"/>
                </a:moveTo>
                <a:lnTo>
                  <a:pt x="944406" y="0"/>
                </a:lnTo>
              </a:path>
            </a:pathLst>
          </a:custGeom>
          <a:ln w="1811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9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9206" y="1720661"/>
            <a:ext cx="7099644" cy="45582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55689" y="9092279"/>
            <a:ext cx="3783661" cy="95390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829825" y="7112027"/>
            <a:ext cx="0" cy="758190"/>
          </a:xfrm>
          <a:custGeom>
            <a:avLst/>
            <a:gdLst/>
            <a:ahLst/>
            <a:cxnLst/>
            <a:rect l="l" t="t" r="r" b="b"/>
            <a:pathLst>
              <a:path w="0" h="758190">
                <a:moveTo>
                  <a:pt x="0" y="757689"/>
                </a:moveTo>
                <a:lnTo>
                  <a:pt x="0" y="0"/>
                </a:lnTo>
              </a:path>
            </a:pathLst>
          </a:custGeom>
          <a:ln w="3017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1227275" y="7112027"/>
            <a:ext cx="1071245" cy="758190"/>
          </a:xfrm>
          <a:custGeom>
            <a:avLst/>
            <a:gdLst/>
            <a:ahLst/>
            <a:cxnLst/>
            <a:rect l="l" t="t" r="r" b="b"/>
            <a:pathLst>
              <a:path w="1071245" h="758190">
                <a:moveTo>
                  <a:pt x="1043976" y="757689"/>
                </a:moveTo>
                <a:lnTo>
                  <a:pt x="1043976" y="0"/>
                </a:lnTo>
              </a:path>
              <a:path w="1071245" h="758190">
                <a:moveTo>
                  <a:pt x="0" y="15093"/>
                </a:moveTo>
                <a:lnTo>
                  <a:pt x="1071132" y="15093"/>
                </a:lnTo>
              </a:path>
            </a:pathLst>
          </a:custGeom>
          <a:ln w="3017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814738" y="7127120"/>
            <a:ext cx="1071245" cy="0"/>
          </a:xfrm>
          <a:custGeom>
            <a:avLst/>
            <a:gdLst/>
            <a:ahLst/>
            <a:cxnLst/>
            <a:rect l="l" t="t" r="r" b="b"/>
            <a:pathLst>
              <a:path w="1071245" h="0">
                <a:moveTo>
                  <a:pt x="0" y="0"/>
                </a:moveTo>
                <a:lnTo>
                  <a:pt x="1071132" y="0"/>
                </a:lnTo>
              </a:path>
            </a:pathLst>
          </a:custGeom>
          <a:ln w="301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9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7467" y="4973922"/>
            <a:ext cx="10721340" cy="9677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9494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Relationship Id="rId6" Type="http://schemas.openxmlformats.org/officeDocument/2006/relationships/image" Target="../media/image27.jpg"/><Relationship Id="rId7" Type="http://schemas.openxmlformats.org/officeDocument/2006/relationships/image" Target="../media/image28.jpg"/><Relationship Id="rId8" Type="http://schemas.openxmlformats.org/officeDocument/2006/relationships/image" Target="../media/image29.png"/><Relationship Id="rId9" Type="http://schemas.openxmlformats.org/officeDocument/2006/relationships/image" Target="../media/image30.jp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hyperlink" Target="http://www.sudoexpo.com.br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13336" y="6433956"/>
            <a:ext cx="1663700" cy="7880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390" b="1">
                <a:solidFill>
                  <a:srgbClr val="F6DB08"/>
                </a:solidFill>
                <a:latin typeface="Arial"/>
                <a:cs typeface="Arial"/>
              </a:rPr>
              <a:t>2024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58228" y="7301072"/>
            <a:ext cx="3730625" cy="4933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50" spc="-665">
                <a:solidFill>
                  <a:srgbClr val="4D317E"/>
                </a:solidFill>
                <a:latin typeface="Arial"/>
                <a:cs typeface="Arial"/>
              </a:rPr>
              <a:t>11</a:t>
            </a:r>
            <a:r>
              <a:rPr dirty="0" sz="3050" spc="90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3050" spc="-130">
                <a:solidFill>
                  <a:srgbClr val="4D317E"/>
                </a:solidFill>
                <a:latin typeface="Arial"/>
                <a:cs typeface="Arial"/>
              </a:rPr>
              <a:t>A</a:t>
            </a:r>
            <a:r>
              <a:rPr dirty="0" sz="3050" spc="-140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u="sng" sz="3050" spc="-260">
                <a:solidFill>
                  <a:srgbClr val="4D317E"/>
                </a:solidFill>
                <a:uFill>
                  <a:solidFill>
                    <a:srgbClr val="4D317E"/>
                  </a:solidFill>
                </a:uFill>
                <a:latin typeface="Arial"/>
                <a:cs typeface="Arial"/>
              </a:rPr>
              <a:t>14</a:t>
            </a:r>
            <a:r>
              <a:rPr dirty="0" u="sng" sz="3050" spc="85">
                <a:solidFill>
                  <a:srgbClr val="4D317E"/>
                </a:solidFill>
                <a:uFill>
                  <a:solidFill>
                    <a:srgbClr val="4D317E"/>
                  </a:solidFill>
                </a:uFill>
                <a:latin typeface="Arial"/>
                <a:cs typeface="Arial"/>
              </a:rPr>
              <a:t> </a:t>
            </a:r>
            <a:r>
              <a:rPr dirty="0" u="sng" sz="3050" spc="-195">
                <a:solidFill>
                  <a:srgbClr val="4D317E"/>
                </a:solidFill>
                <a:uFill>
                  <a:solidFill>
                    <a:srgbClr val="4D317E"/>
                  </a:solidFill>
                </a:uFill>
                <a:latin typeface="Arial"/>
                <a:cs typeface="Arial"/>
              </a:rPr>
              <a:t>DE</a:t>
            </a:r>
            <a:r>
              <a:rPr dirty="0" sz="3050" spc="15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3050" spc="-295">
                <a:solidFill>
                  <a:srgbClr val="4D317E"/>
                </a:solidFill>
                <a:latin typeface="Arial"/>
                <a:cs typeface="Arial"/>
              </a:rPr>
              <a:t>SETEMBRO</a:t>
            </a:r>
            <a:endParaRPr sz="3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94005" y="7877892"/>
            <a:ext cx="5106670" cy="304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 spc="-105">
                <a:solidFill>
                  <a:srgbClr val="4D317E"/>
                </a:solidFill>
                <a:latin typeface="Arial"/>
                <a:cs typeface="Arial"/>
              </a:rPr>
              <a:t>ESTACIONAMEN</a:t>
            </a:r>
            <a:r>
              <a:rPr dirty="0" u="sng" sz="1800" spc="-105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TO</a:t>
            </a:r>
            <a:r>
              <a:rPr dirty="0" u="sng" sz="1800" spc="-20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55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DO</a:t>
            </a:r>
            <a:r>
              <a:rPr dirty="0" u="sng" sz="1800" spc="30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800" spc="-140">
                <a:solidFill>
                  <a:srgbClr val="4D317E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dirty="0" sz="1800" spc="-140">
                <a:solidFill>
                  <a:srgbClr val="4D317E"/>
                </a:solidFill>
                <a:latin typeface="Arial"/>
                <a:cs typeface="Arial"/>
              </a:rPr>
              <a:t>EATRO</a:t>
            </a:r>
            <a:r>
              <a:rPr dirty="0" sz="1800" spc="10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4D317E"/>
                </a:solidFill>
                <a:latin typeface="Arial"/>
                <a:cs typeface="Arial"/>
              </a:rPr>
              <a:t>LAURO</a:t>
            </a:r>
            <a:r>
              <a:rPr dirty="0" sz="1800" spc="80">
                <a:solidFill>
                  <a:srgbClr val="4D317E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4D317E"/>
                </a:solidFill>
                <a:latin typeface="Arial"/>
                <a:cs typeface="Arial"/>
              </a:rPr>
              <a:t>MARTINS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469528" y="10048827"/>
            <a:ext cx="267525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00" spc="90" i="1">
                <a:solidFill>
                  <a:srgbClr val="1C1C1C"/>
                </a:solidFill>
                <a:latin typeface="Arial"/>
                <a:cs typeface="Arial"/>
              </a:rPr>
              <a:t>Presente</a:t>
            </a:r>
            <a:r>
              <a:rPr dirty="0" sz="1500" spc="7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700" spc="130">
                <a:solidFill>
                  <a:srgbClr val="1C1C1C"/>
                </a:solidFill>
                <a:latin typeface="Times New Roman"/>
                <a:cs typeface="Times New Roman"/>
              </a:rPr>
              <a:t>em</a:t>
            </a:r>
            <a:r>
              <a:rPr dirty="0" sz="1700" spc="19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1500" spc="180" i="1">
                <a:solidFill>
                  <a:srgbClr val="1C1C1C"/>
                </a:solidFill>
                <a:latin typeface="Arial"/>
                <a:cs typeface="Arial"/>
              </a:rPr>
              <a:t>coda</a:t>
            </a:r>
            <a:r>
              <a:rPr dirty="0" sz="1500" spc="2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500" spc="80" i="1">
                <a:solidFill>
                  <a:srgbClr val="1C1C1C"/>
                </a:solidFill>
                <a:latin typeface="Arial"/>
                <a:cs typeface="Arial"/>
              </a:rPr>
              <a:t>hist6ria!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4873" y="999196"/>
            <a:ext cx="4577203" cy="294925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05219" y="9949584"/>
            <a:ext cx="1753036" cy="48298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94055" y="9777520"/>
            <a:ext cx="2609940" cy="66410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83760" y="999196"/>
            <a:ext cx="7208266" cy="10281627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1170702" y="9457542"/>
            <a:ext cx="10603230" cy="0"/>
          </a:xfrm>
          <a:custGeom>
            <a:avLst/>
            <a:gdLst/>
            <a:ahLst/>
            <a:cxnLst/>
            <a:rect l="l" t="t" r="r" b="b"/>
            <a:pathLst>
              <a:path w="10603230" h="0">
                <a:moveTo>
                  <a:pt x="0" y="0"/>
                </a:moveTo>
                <a:lnTo>
                  <a:pt x="1060269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80198" y="9833368"/>
            <a:ext cx="531495" cy="135890"/>
          </a:xfrm>
          <a:custGeom>
            <a:avLst/>
            <a:gdLst/>
            <a:ahLst/>
            <a:cxnLst/>
            <a:rect l="l" t="t" r="r" b="b"/>
            <a:pathLst>
              <a:path w="531494" h="135890">
                <a:moveTo>
                  <a:pt x="0" y="0"/>
                </a:moveTo>
                <a:lnTo>
                  <a:pt x="531040" y="0"/>
                </a:lnTo>
                <a:lnTo>
                  <a:pt x="531040" y="135840"/>
                </a:lnTo>
                <a:lnTo>
                  <a:pt x="0" y="1358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53473" y="10394843"/>
            <a:ext cx="534670" cy="135890"/>
          </a:xfrm>
          <a:custGeom>
            <a:avLst/>
            <a:gdLst/>
            <a:ahLst/>
            <a:cxnLst/>
            <a:rect l="l" t="t" r="r" b="b"/>
            <a:pathLst>
              <a:path w="534669" h="135890">
                <a:moveTo>
                  <a:pt x="0" y="0"/>
                </a:moveTo>
                <a:lnTo>
                  <a:pt x="534057" y="0"/>
                </a:lnTo>
                <a:lnTo>
                  <a:pt x="534057" y="135840"/>
                </a:lnTo>
                <a:lnTo>
                  <a:pt x="0" y="1358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158347" y="4079386"/>
            <a:ext cx="96520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270" b="1">
                <a:solidFill>
                  <a:srgbClr val="F6DB0A"/>
                </a:solidFill>
                <a:latin typeface="Arial"/>
                <a:cs typeface="Arial"/>
              </a:rPr>
              <a:t>2D22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ct val="98800"/>
              </a:lnSpc>
              <a:spcBef>
                <a:spcPts val="165"/>
              </a:spcBef>
              <a:tabLst>
                <a:tab pos="2208530" algn="l"/>
                <a:tab pos="3087370" algn="l"/>
                <a:tab pos="7793990" algn="l"/>
              </a:tabLst>
            </a:pPr>
            <a:r>
              <a:rPr dirty="0" sz="2650" b="1">
                <a:latin typeface="Arial"/>
                <a:cs typeface="Arial"/>
              </a:rPr>
              <a:t>A</a:t>
            </a:r>
            <a:r>
              <a:rPr dirty="0" sz="2650" spc="-30" b="1">
                <a:latin typeface="Arial"/>
                <a:cs typeface="Arial"/>
              </a:rPr>
              <a:t> </a:t>
            </a:r>
            <a:r>
              <a:rPr dirty="0" sz="2650" spc="-10" b="1">
                <a:latin typeface="Arial"/>
                <a:cs typeface="Arial"/>
              </a:rPr>
              <a:t>SUD0EXP0.</a:t>
            </a:r>
            <a:r>
              <a:rPr dirty="0" sz="2650" b="1">
                <a:latin typeface="Arial"/>
                <a:cs typeface="Arial"/>
              </a:rPr>
              <a:t>	</a:t>
            </a:r>
            <a:r>
              <a:rPr dirty="0" spc="-10"/>
              <a:t>maior</a:t>
            </a:r>
            <a:r>
              <a:rPr dirty="0"/>
              <a:t>	</a:t>
            </a:r>
            <a:r>
              <a:rPr dirty="0" spc="-110"/>
              <a:t>feira</a:t>
            </a:r>
            <a:r>
              <a:rPr dirty="0" spc="135"/>
              <a:t> </a:t>
            </a:r>
            <a:r>
              <a:rPr dirty="0" spc="-130"/>
              <a:t>multissetorial</a:t>
            </a:r>
            <a:r>
              <a:rPr dirty="0" spc="75"/>
              <a:t> </a:t>
            </a:r>
            <a:r>
              <a:rPr dirty="0" spc="-265"/>
              <a:t>do</a:t>
            </a:r>
            <a:r>
              <a:rPr dirty="0" spc="100"/>
              <a:t> </a:t>
            </a:r>
            <a:r>
              <a:rPr dirty="0" spc="-235"/>
              <a:t>Centro-</a:t>
            </a:r>
            <a:r>
              <a:rPr dirty="0" spc="-265"/>
              <a:t>Oeste</a:t>
            </a:r>
            <a:r>
              <a:rPr dirty="0"/>
              <a:t>	</a:t>
            </a:r>
            <a:r>
              <a:rPr dirty="0" spc="-145"/>
              <a:t>brasileiro.</a:t>
            </a:r>
            <a:r>
              <a:rPr dirty="0" spc="70"/>
              <a:t> </a:t>
            </a:r>
            <a:r>
              <a:rPr dirty="0" sz="3600" spc="-865"/>
              <a:t>e</a:t>
            </a:r>
            <a:r>
              <a:rPr dirty="0" sz="3600" spc="-45"/>
              <a:t> </a:t>
            </a:r>
            <a:r>
              <a:rPr dirty="0" spc="-100"/>
              <a:t>realizada </a:t>
            </a:r>
            <a:r>
              <a:rPr dirty="0" spc="-185"/>
              <a:t>bienalmente</a:t>
            </a:r>
            <a:r>
              <a:rPr dirty="0"/>
              <a:t> </a:t>
            </a:r>
            <a:r>
              <a:rPr dirty="0" spc="-220"/>
              <a:t>pela</a:t>
            </a:r>
            <a:r>
              <a:rPr dirty="0" spc="40"/>
              <a:t> </a:t>
            </a:r>
            <a:r>
              <a:rPr dirty="0" spc="-340"/>
              <a:t>ACIRV</a:t>
            </a:r>
            <a:r>
              <a:rPr dirty="0" spc="160"/>
              <a:t> </a:t>
            </a:r>
            <a:r>
              <a:rPr dirty="0" spc="-280"/>
              <a:t>-</a:t>
            </a:r>
            <a:r>
              <a:rPr dirty="0" spc="75"/>
              <a:t> </a:t>
            </a:r>
            <a:r>
              <a:rPr dirty="0" spc="-260"/>
              <a:t>Associa9ao</a:t>
            </a:r>
            <a:r>
              <a:rPr dirty="0" spc="110"/>
              <a:t> </a:t>
            </a:r>
            <a:r>
              <a:rPr dirty="0" spc="-185"/>
              <a:t>Comercial</a:t>
            </a:r>
            <a:r>
              <a:rPr dirty="0" spc="114"/>
              <a:t> </a:t>
            </a:r>
            <a:r>
              <a:rPr dirty="0" spc="-145"/>
              <a:t>Industrial</a:t>
            </a:r>
            <a:r>
              <a:rPr dirty="0" spc="210"/>
              <a:t> </a:t>
            </a:r>
            <a:r>
              <a:rPr dirty="0" spc="-265"/>
              <a:t>e</a:t>
            </a:r>
            <a:r>
              <a:rPr dirty="0" spc="5"/>
              <a:t> </a:t>
            </a:r>
            <a:r>
              <a:rPr dirty="0" spc="-190"/>
              <a:t>Servi9os</a:t>
            </a:r>
            <a:r>
              <a:rPr dirty="0" spc="90"/>
              <a:t> </a:t>
            </a:r>
            <a:r>
              <a:rPr dirty="0" spc="-254"/>
              <a:t>de</a:t>
            </a:r>
            <a:r>
              <a:rPr dirty="0" spc="35"/>
              <a:t> </a:t>
            </a:r>
            <a:r>
              <a:rPr dirty="0" spc="-254"/>
              <a:t>Rio</a:t>
            </a:r>
            <a:r>
              <a:rPr dirty="0" spc="75"/>
              <a:t> </a:t>
            </a:r>
            <a:r>
              <a:rPr dirty="0" spc="-110"/>
              <a:t>Verde.</a:t>
            </a:r>
            <a:endParaRPr sz="36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58002" y="6171331"/>
            <a:ext cx="10542270" cy="232156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just" marL="14604" marR="24130" indent="-1905">
              <a:lnSpc>
                <a:spcPct val="98100"/>
              </a:lnSpc>
              <a:spcBef>
                <a:spcPts val="180"/>
              </a:spcBef>
            </a:pPr>
            <a:r>
              <a:rPr dirty="0" sz="2600" spc="-245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2600" spc="2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70">
                <a:solidFill>
                  <a:srgbClr val="494949"/>
                </a:solidFill>
                <a:latin typeface="Arial"/>
                <a:cs typeface="Arial"/>
              </a:rPr>
              <a:t>feira</a:t>
            </a:r>
            <a:r>
              <a:rPr dirty="0" sz="2600" spc="204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0">
                <a:solidFill>
                  <a:srgbClr val="494949"/>
                </a:solidFill>
                <a:latin typeface="Arial"/>
                <a:cs typeface="Arial"/>
              </a:rPr>
              <a:t>conta</a:t>
            </a:r>
            <a:r>
              <a:rPr dirty="0" sz="2600" spc="254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00">
                <a:solidFill>
                  <a:srgbClr val="494949"/>
                </a:solidFill>
                <a:latin typeface="Arial"/>
                <a:cs typeface="Arial"/>
              </a:rPr>
              <a:t>com</a:t>
            </a:r>
            <a:r>
              <a:rPr dirty="0" sz="2600" spc="2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40">
                <a:solidFill>
                  <a:srgbClr val="494949"/>
                </a:solidFill>
                <a:latin typeface="Arial"/>
                <a:cs typeface="Arial"/>
              </a:rPr>
              <a:t>estandes</a:t>
            </a:r>
            <a:r>
              <a:rPr dirty="0" sz="2600" spc="3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65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600" spc="15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29">
                <a:solidFill>
                  <a:srgbClr val="494949"/>
                </a:solidFill>
                <a:latin typeface="Arial"/>
                <a:cs typeface="Arial"/>
              </a:rPr>
              <a:t>empresas</a:t>
            </a:r>
            <a:r>
              <a:rPr dirty="0" sz="2600" spc="3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50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600" spc="15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0">
                <a:solidFill>
                  <a:srgbClr val="494949"/>
                </a:solidFill>
                <a:latin typeface="Arial"/>
                <a:cs typeface="Arial"/>
              </a:rPr>
              <a:t>diversos</a:t>
            </a:r>
            <a:r>
              <a:rPr dirty="0" sz="2600" spc="27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5">
                <a:solidFill>
                  <a:srgbClr val="494949"/>
                </a:solidFill>
                <a:latin typeface="Arial"/>
                <a:cs typeface="Arial"/>
              </a:rPr>
              <a:t>segmentos</a:t>
            </a:r>
            <a:r>
              <a:rPr dirty="0" sz="2600" spc="2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85">
                <a:solidFill>
                  <a:srgbClr val="494949"/>
                </a:solidFill>
                <a:latin typeface="Arial"/>
                <a:cs typeface="Arial"/>
              </a:rPr>
              <a:t>com</a:t>
            </a:r>
            <a:r>
              <a:rPr dirty="0" sz="2600" spc="2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60">
                <a:solidFill>
                  <a:srgbClr val="494949"/>
                </a:solidFill>
                <a:latin typeface="Arial"/>
                <a:cs typeface="Arial"/>
              </a:rPr>
              <a:t>exposi9ao</a:t>
            </a:r>
            <a:r>
              <a:rPr dirty="0" sz="2600" spc="-1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50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600" spc="-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80">
                <a:solidFill>
                  <a:srgbClr val="494949"/>
                </a:solidFill>
                <a:latin typeface="Arial"/>
                <a:cs typeface="Arial"/>
              </a:rPr>
              <a:t>produtos</a:t>
            </a:r>
            <a:r>
              <a:rPr dirty="0" sz="2600" spc="1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9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600" spc="-1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5">
                <a:solidFill>
                  <a:srgbClr val="494949"/>
                </a:solidFill>
                <a:latin typeface="Arial"/>
                <a:cs typeface="Arial"/>
              </a:rPr>
              <a:t>servi9os.</a:t>
            </a:r>
            <a:r>
              <a:rPr dirty="0" sz="2600" spc="-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0">
                <a:solidFill>
                  <a:srgbClr val="494949"/>
                </a:solidFill>
                <a:latin typeface="Arial"/>
                <a:cs typeface="Arial"/>
              </a:rPr>
              <a:t>palestras.</a:t>
            </a:r>
            <a:r>
              <a:rPr dirty="0" sz="2600" spc="-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29">
                <a:solidFill>
                  <a:srgbClr val="494949"/>
                </a:solidFill>
                <a:latin typeface="Arial"/>
                <a:cs typeface="Arial"/>
              </a:rPr>
              <a:t>Festival</a:t>
            </a:r>
            <a:r>
              <a:rPr dirty="0" sz="2600" spc="10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80">
                <a:solidFill>
                  <a:srgbClr val="494949"/>
                </a:solidFill>
                <a:latin typeface="Arial"/>
                <a:cs typeface="Arial"/>
              </a:rPr>
              <a:t>Gastronomic</a:t>
            </a:r>
            <a:r>
              <a:rPr dirty="0" sz="2950" spc="-180">
                <a:solidFill>
                  <a:srgbClr val="494949"/>
                </a:solidFill>
                <a:latin typeface="Arial"/>
                <a:cs typeface="Arial"/>
              </a:rPr>
              <a:t>□</a:t>
            </a:r>
            <a:r>
              <a:rPr dirty="0" sz="2600" spc="-180">
                <a:solidFill>
                  <a:srgbClr val="494949"/>
                </a:solidFill>
                <a:latin typeface="Arial"/>
                <a:cs typeface="Arial"/>
              </a:rPr>
              <a:t>Barzinho</a:t>
            </a:r>
            <a:r>
              <a:rPr dirty="0" sz="2600" spc="1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450" spc="95">
                <a:solidFill>
                  <a:srgbClr val="494949"/>
                </a:solidFill>
                <a:latin typeface="Arial"/>
                <a:cs typeface="Arial"/>
              </a:rPr>
              <a:t>&amp;</a:t>
            </a:r>
            <a:r>
              <a:rPr dirty="0" sz="2450" spc="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45">
                <a:solidFill>
                  <a:srgbClr val="494949"/>
                </a:solidFill>
                <a:latin typeface="Arial"/>
                <a:cs typeface="Arial"/>
              </a:rPr>
              <a:t>Violao.</a:t>
            </a:r>
            <a:r>
              <a:rPr dirty="0" sz="2600" spc="-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315">
                <a:solidFill>
                  <a:srgbClr val="494949"/>
                </a:solidFill>
                <a:latin typeface="Arial"/>
                <a:cs typeface="Arial"/>
              </a:rPr>
              <a:t>Espa90</a:t>
            </a:r>
            <a:r>
              <a:rPr dirty="0" sz="2600" spc="-16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75">
                <a:solidFill>
                  <a:srgbClr val="494949"/>
                </a:solidFill>
                <a:latin typeface="Arial"/>
                <a:cs typeface="Arial"/>
              </a:rPr>
              <a:t>Motor</a:t>
            </a:r>
            <a:r>
              <a:rPr dirty="0" sz="2600" spc="17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65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600" spc="1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85">
                <a:solidFill>
                  <a:srgbClr val="494949"/>
                </a:solidFill>
                <a:latin typeface="Arial"/>
                <a:cs typeface="Arial"/>
              </a:rPr>
              <a:t>outras</a:t>
            </a:r>
            <a:r>
              <a:rPr dirty="0" sz="260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5">
                <a:solidFill>
                  <a:srgbClr val="494949"/>
                </a:solidFill>
                <a:latin typeface="Arial"/>
                <a:cs typeface="Arial"/>
              </a:rPr>
              <a:t>atra9oes</a:t>
            </a:r>
            <a:r>
              <a:rPr dirty="0" sz="2600" spc="1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65">
                <a:solidFill>
                  <a:srgbClr val="494949"/>
                </a:solidFill>
                <a:latin typeface="Arial"/>
                <a:cs typeface="Arial"/>
              </a:rPr>
              <a:t>de</a:t>
            </a:r>
            <a:r>
              <a:rPr dirty="0" sz="2600" spc="5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0">
                <a:solidFill>
                  <a:srgbClr val="494949"/>
                </a:solidFill>
                <a:latin typeface="Arial"/>
                <a:cs typeface="Arial"/>
              </a:rPr>
              <a:t>neg6cios</a:t>
            </a:r>
            <a:r>
              <a:rPr dirty="0" sz="2600" spc="17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65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60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85">
                <a:solidFill>
                  <a:srgbClr val="494949"/>
                </a:solidFill>
                <a:latin typeface="Arial"/>
                <a:cs typeface="Arial"/>
              </a:rPr>
              <a:t>lazer</a:t>
            </a:r>
            <a:endParaRPr sz="2600">
              <a:latin typeface="Arial"/>
              <a:cs typeface="Arial"/>
            </a:endParaRPr>
          </a:p>
          <a:p>
            <a:pPr algn="just" marL="14604" marR="5080" indent="-2540">
              <a:lnSpc>
                <a:spcPct val="97400"/>
              </a:lnSpc>
              <a:spcBef>
                <a:spcPts val="1155"/>
              </a:spcBef>
            </a:pPr>
            <a:r>
              <a:rPr dirty="0" sz="2650" spc="-385" b="1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2650" spc="38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50" spc="-110" b="1">
                <a:solidFill>
                  <a:srgbClr val="494949"/>
                </a:solidFill>
                <a:latin typeface="Arial"/>
                <a:cs typeface="Arial"/>
              </a:rPr>
              <a:t>SUD0EXP0</a:t>
            </a:r>
            <a:r>
              <a:rPr dirty="0" sz="2650" spc="56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3600" spc="-844" b="1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3600" spc="16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380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2600" spc="3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35">
                <a:solidFill>
                  <a:srgbClr val="494949"/>
                </a:solidFill>
                <a:latin typeface="Arial"/>
                <a:cs typeface="Arial"/>
              </a:rPr>
              <a:t>vitrine</a:t>
            </a:r>
            <a:r>
              <a:rPr dirty="0" sz="2600" spc="50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60">
                <a:solidFill>
                  <a:srgbClr val="494949"/>
                </a:solidFill>
                <a:latin typeface="Arial"/>
                <a:cs typeface="Arial"/>
              </a:rPr>
              <a:t>perfeita</a:t>
            </a:r>
            <a:r>
              <a:rPr dirty="0" sz="2600" spc="54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40">
                <a:solidFill>
                  <a:srgbClr val="494949"/>
                </a:solidFill>
                <a:latin typeface="Arial"/>
                <a:cs typeface="Arial"/>
              </a:rPr>
              <a:t>para</a:t>
            </a:r>
            <a:r>
              <a:rPr dirty="0" sz="2600" spc="509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90">
                <a:solidFill>
                  <a:srgbClr val="494949"/>
                </a:solidFill>
                <a:latin typeface="Arial"/>
                <a:cs typeface="Arial"/>
              </a:rPr>
              <a:t>as</a:t>
            </a:r>
            <a:r>
              <a:rPr dirty="0" sz="2600" spc="409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29">
                <a:solidFill>
                  <a:srgbClr val="494949"/>
                </a:solidFill>
                <a:latin typeface="Arial"/>
                <a:cs typeface="Arial"/>
              </a:rPr>
              <a:t>empresas</a:t>
            </a:r>
            <a:r>
              <a:rPr dirty="0" sz="2600" spc="5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40">
                <a:solidFill>
                  <a:srgbClr val="494949"/>
                </a:solidFill>
                <a:latin typeface="Arial"/>
                <a:cs typeface="Arial"/>
              </a:rPr>
              <a:t>se</a:t>
            </a:r>
            <a:r>
              <a:rPr dirty="0" sz="2600" spc="36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15">
                <a:solidFill>
                  <a:srgbClr val="494949"/>
                </a:solidFill>
                <a:latin typeface="Arial"/>
                <a:cs typeface="Arial"/>
              </a:rPr>
              <a:t>apresentarem.</a:t>
            </a:r>
            <a:r>
              <a:rPr dirty="0" sz="2600" spc="6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70">
                <a:solidFill>
                  <a:srgbClr val="494949"/>
                </a:solidFill>
                <a:latin typeface="Arial"/>
                <a:cs typeface="Arial"/>
              </a:rPr>
              <a:t>captar</a:t>
            </a:r>
            <a:r>
              <a:rPr dirty="0" sz="2600" spc="-10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50">
                <a:solidFill>
                  <a:srgbClr val="494949"/>
                </a:solidFill>
                <a:latin typeface="Arial"/>
                <a:cs typeface="Arial"/>
              </a:rPr>
              <a:t>novas</a:t>
            </a:r>
            <a:r>
              <a:rPr dirty="0" sz="2600" spc="18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00">
                <a:solidFill>
                  <a:srgbClr val="494949"/>
                </a:solidFill>
                <a:latin typeface="Arial"/>
                <a:cs typeface="Arial"/>
              </a:rPr>
              <a:t>clientes.</a:t>
            </a:r>
            <a:r>
              <a:rPr dirty="0" sz="2600" spc="2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45">
                <a:solidFill>
                  <a:srgbClr val="494949"/>
                </a:solidFill>
                <a:latin typeface="Arial"/>
                <a:cs typeface="Arial"/>
              </a:rPr>
              <a:t>fortalecer</a:t>
            </a:r>
            <a:r>
              <a:rPr dirty="0" sz="2600" spc="114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70">
                <a:solidFill>
                  <a:srgbClr val="494949"/>
                </a:solidFill>
                <a:latin typeface="Arial"/>
                <a:cs typeface="Arial"/>
              </a:rPr>
              <a:t>parcerias</a:t>
            </a:r>
            <a:r>
              <a:rPr dirty="0" sz="2600" spc="1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65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2600" spc="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90">
                <a:solidFill>
                  <a:srgbClr val="494949"/>
                </a:solidFill>
                <a:latin typeface="Arial"/>
                <a:cs typeface="Arial"/>
              </a:rPr>
              <a:t>ampliarem</a:t>
            </a:r>
            <a:r>
              <a:rPr dirty="0" sz="2600" spc="2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275">
                <a:solidFill>
                  <a:srgbClr val="494949"/>
                </a:solidFill>
                <a:latin typeface="Arial"/>
                <a:cs typeface="Arial"/>
              </a:rPr>
              <a:t>suas</a:t>
            </a:r>
            <a:r>
              <a:rPr dirty="0" sz="2600" spc="9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2600" spc="-190">
                <a:solidFill>
                  <a:srgbClr val="494949"/>
                </a:solidFill>
                <a:latin typeface="Arial"/>
                <a:cs typeface="Arial"/>
              </a:rPr>
              <a:t>oportunidades.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564052" y="9171145"/>
            <a:ext cx="540385" cy="176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b="1">
                <a:solidFill>
                  <a:srgbClr val="494949"/>
                </a:solidFill>
                <a:latin typeface="Arial"/>
                <a:cs typeface="Arial"/>
              </a:rPr>
              <a:t>APO</a:t>
            </a:r>
            <a:r>
              <a:rPr dirty="0" sz="1000" spc="30" b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94949"/>
                </a:solidFill>
                <a:latin typeface="Arial"/>
                <a:cs typeface="Arial"/>
              </a:rPr>
              <a:t>I</a:t>
            </a:r>
            <a:r>
              <a:rPr dirty="0" sz="100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494949"/>
                </a:solidFill>
                <a:latin typeface="Arial"/>
                <a:cs typeface="Arial"/>
              </a:rPr>
              <a:t>0: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56668" y="9143977"/>
            <a:ext cx="1064895" cy="1765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95" b="1">
                <a:solidFill>
                  <a:srgbClr val="494949"/>
                </a:solidFill>
                <a:latin typeface="Arial"/>
                <a:cs typeface="Arial"/>
              </a:rPr>
              <a:t>REALIZAf;AO: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890217" y="9940658"/>
            <a:ext cx="1561465" cy="4559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800" spc="40" b="1" i="1">
                <a:solidFill>
                  <a:srgbClr val="4679B5"/>
                </a:solidFill>
                <a:latin typeface="Arial"/>
                <a:cs typeface="Arial"/>
              </a:rPr>
              <a:t>SEBRAE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595938" y="10437985"/>
            <a:ext cx="1868805" cy="2070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000" spc="85" i="1">
                <a:solidFill>
                  <a:srgbClr val="212121"/>
                </a:solidFill>
                <a:latin typeface="Arial"/>
                <a:cs typeface="Arial"/>
              </a:rPr>
              <a:t>Presente</a:t>
            </a:r>
            <a:r>
              <a:rPr dirty="0" sz="1000" spc="45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114">
                <a:solidFill>
                  <a:srgbClr val="212121"/>
                </a:solidFill>
                <a:latin typeface="Times New Roman"/>
                <a:cs typeface="Times New Roman"/>
              </a:rPr>
              <a:t>em</a:t>
            </a:r>
            <a:r>
              <a:rPr dirty="0" sz="1150" spc="1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00" spc="150" i="1">
                <a:solidFill>
                  <a:srgbClr val="212121"/>
                </a:solidFill>
                <a:latin typeface="Arial"/>
                <a:cs typeface="Arial"/>
              </a:rPr>
              <a:t>coda</a:t>
            </a:r>
            <a:r>
              <a:rPr dirty="0" sz="1000" spc="20" i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00" spc="70" i="1">
                <a:solidFill>
                  <a:srgbClr val="212121"/>
                </a:solidFill>
                <a:latin typeface="Arial"/>
                <a:cs typeface="Arial"/>
              </a:rPr>
              <a:t>hist6ria!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239889" y="1232770"/>
            <a:ext cx="5027930" cy="315531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12700" marR="1056640">
              <a:lnSpc>
                <a:spcPct val="92800"/>
              </a:lnSpc>
              <a:spcBef>
                <a:spcPts val="395"/>
              </a:spcBef>
            </a:pPr>
            <a:r>
              <a:rPr dirty="0" sz="3200" spc="-50" b="1">
                <a:solidFill>
                  <a:srgbClr val="4B3180"/>
                </a:solidFill>
                <a:latin typeface="Arial"/>
                <a:cs typeface="Arial"/>
              </a:rPr>
              <a:t>RIO</a:t>
            </a:r>
            <a:r>
              <a:rPr dirty="0" sz="3200" spc="-36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145" b="1">
                <a:solidFill>
                  <a:srgbClr val="4B3180"/>
                </a:solidFill>
                <a:latin typeface="Arial"/>
                <a:cs typeface="Arial"/>
              </a:rPr>
              <a:t>VERDE</a:t>
            </a:r>
            <a:r>
              <a:rPr dirty="0" sz="3200" spc="-23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114" b="1">
                <a:solidFill>
                  <a:srgbClr val="4B3180"/>
                </a:solidFill>
                <a:latin typeface="Arial"/>
                <a:cs typeface="Arial"/>
              </a:rPr>
              <a:t>UMA </a:t>
            </a:r>
            <a:r>
              <a:rPr dirty="0" sz="3200" spc="-135" b="1">
                <a:solidFill>
                  <a:srgbClr val="4B3180"/>
                </a:solidFill>
                <a:latin typeface="Arial"/>
                <a:cs typeface="Arial"/>
              </a:rPr>
              <a:t>CIDADE</a:t>
            </a:r>
            <a:r>
              <a:rPr dirty="0" sz="3200" spc="-204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180" b="1">
                <a:solidFill>
                  <a:srgbClr val="4B3180"/>
                </a:solidFill>
                <a:latin typeface="Arial"/>
                <a:cs typeface="Arial"/>
              </a:rPr>
              <a:t>REPLETA</a:t>
            </a:r>
            <a:r>
              <a:rPr dirty="0" sz="3200" spc="-17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4B3180"/>
                </a:solidFill>
                <a:latin typeface="Arial"/>
                <a:cs typeface="Arial"/>
              </a:rPr>
              <a:t>DE </a:t>
            </a:r>
            <a:r>
              <a:rPr dirty="0" sz="3200" spc="-20" b="1">
                <a:solidFill>
                  <a:srgbClr val="4B3180"/>
                </a:solidFill>
                <a:latin typeface="Arial"/>
                <a:cs typeface="Arial"/>
              </a:rPr>
              <a:t>POTENCIALIDADES</a:t>
            </a:r>
            <a:endParaRPr sz="3200">
              <a:latin typeface="Arial"/>
              <a:cs typeface="Arial"/>
            </a:endParaRPr>
          </a:p>
          <a:p>
            <a:pPr algn="just" marL="20955" marR="5080" indent="-1905">
              <a:lnSpc>
                <a:spcPct val="108100"/>
              </a:lnSpc>
              <a:spcBef>
                <a:spcPts val="2490"/>
              </a:spcBef>
            </a:pPr>
            <a:r>
              <a:rPr dirty="0" sz="2150" spc="-225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B4B4B"/>
                </a:solidFill>
                <a:latin typeface="Arial"/>
                <a:cs typeface="Arial"/>
              </a:rPr>
              <a:t>cerca</a:t>
            </a:r>
            <a:r>
              <a:rPr dirty="0" sz="2150" spc="-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2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250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4B4B4B"/>
                </a:solidFill>
                <a:latin typeface="Arial"/>
                <a:cs typeface="Arial"/>
              </a:rPr>
              <a:t>mil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habitantes,</a:t>
            </a:r>
            <a:r>
              <a:rPr dirty="0" sz="2150" spc="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5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0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e </a:t>
            </a:r>
            <a:r>
              <a:rPr dirty="0" sz="2150" spc="-240">
                <a:solidFill>
                  <a:srgbClr val="4B4B4B"/>
                </a:solidFill>
                <a:latin typeface="Arial"/>
                <a:cs typeface="Arial"/>
              </a:rPr>
              <a:t>um</a:t>
            </a:r>
            <a:r>
              <a:rPr dirty="0" sz="215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polo</a:t>
            </a:r>
            <a:r>
              <a:rPr dirty="0" sz="215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regional</a:t>
            </a:r>
            <a:r>
              <a:rPr dirty="0" sz="215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50" spc="-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mais</a:t>
            </a:r>
            <a:r>
              <a:rPr dirty="0" sz="215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434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2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700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90">
                <a:solidFill>
                  <a:srgbClr val="4B4B4B"/>
                </a:solidFill>
                <a:latin typeface="Arial"/>
                <a:cs typeface="Arial"/>
              </a:rPr>
              <a:t>mil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clientes 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potenciais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4B4B4B"/>
                </a:solidFill>
                <a:latin typeface="Arial"/>
                <a:cs typeface="Arial"/>
              </a:rPr>
              <a:t>aqui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B4B4B"/>
                </a:solidFill>
                <a:latin typeface="Arial"/>
                <a:cs typeface="Arial"/>
              </a:rPr>
              <a:t>veem</a:t>
            </a:r>
            <a:r>
              <a:rPr dirty="0" sz="215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em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busca</a:t>
            </a:r>
            <a:r>
              <a:rPr dirty="0" sz="215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-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servi- </a:t>
            </a:r>
            <a:r>
              <a:rPr dirty="0" sz="2150" spc="-215">
                <a:solidFill>
                  <a:srgbClr val="4B4B4B"/>
                </a:solidFill>
                <a:latin typeface="Arial"/>
                <a:cs typeface="Arial"/>
              </a:rPr>
              <a:t>9os,</a:t>
            </a:r>
            <a:r>
              <a:rPr dirty="0" sz="215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diversao</a:t>
            </a:r>
            <a:r>
              <a:rPr dirty="0" sz="2150" spc="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0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compras.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211427" y="4703498"/>
            <a:ext cx="5083175" cy="14414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38100" marR="30480" indent="14604">
              <a:lnSpc>
                <a:spcPct val="107800"/>
              </a:lnSpc>
              <a:spcBef>
                <a:spcPts val="114"/>
              </a:spcBef>
            </a:pPr>
            <a:r>
              <a:rPr dirty="0" sz="2150" spc="-185">
                <a:solidFill>
                  <a:srgbClr val="4B4B4B"/>
                </a:solidFill>
                <a:latin typeface="Arial"/>
                <a:cs typeface="Arial"/>
              </a:rPr>
              <a:t>Devido</a:t>
            </a:r>
            <a:r>
              <a:rPr dirty="0" sz="2150" spc="1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29">
                <a:solidFill>
                  <a:srgbClr val="4B4B4B"/>
                </a:solidFill>
                <a:latin typeface="Arial"/>
                <a:cs typeface="Arial"/>
              </a:rPr>
              <a:t>ao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0">
                <a:solidFill>
                  <a:srgbClr val="4B4B4B"/>
                </a:solidFill>
                <a:latin typeface="Arial"/>
                <a:cs typeface="Arial"/>
              </a:rPr>
              <a:t>agroneg6cio,</a:t>
            </a:r>
            <a:r>
              <a:rPr dirty="0" sz="2150" spc="2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2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50" spc="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municfpio</a:t>
            </a:r>
            <a:r>
              <a:rPr dirty="0" sz="2150" spc="1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4B4B4B"/>
                </a:solidFill>
                <a:latin typeface="Arial"/>
                <a:cs typeface="Arial"/>
              </a:rPr>
              <a:t>atrai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0">
                <a:solidFill>
                  <a:srgbClr val="4B4B4B"/>
                </a:solidFill>
                <a:latin typeface="Arial"/>
                <a:cs typeface="Arial"/>
              </a:rPr>
              <a:t>aten­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94">
                <a:solidFill>
                  <a:srgbClr val="4B4B4B"/>
                </a:solidFill>
                <a:latin typeface="Arial"/>
                <a:cs typeface="Arial"/>
              </a:rPr>
              <a:t>c</a:t>
            </a:r>
            <a:r>
              <a:rPr dirty="0" baseline="-9578" sz="2175" spc="-82">
                <a:solidFill>
                  <a:srgbClr val="4B4B4B"/>
                </a:solidFill>
                <a:latin typeface="Arial"/>
                <a:cs typeface="Arial"/>
              </a:rPr>
              <a:t>,</a:t>
            </a:r>
            <a:r>
              <a:rPr dirty="0" baseline="-9578" sz="2175" spc="-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ao</a:t>
            </a:r>
            <a:r>
              <a:rPr dirty="0" sz="2150" spc="3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1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20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todos,</a:t>
            </a:r>
            <a:r>
              <a:rPr dirty="0" sz="2150" spc="1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5">
                <a:solidFill>
                  <a:srgbClr val="4B4B4B"/>
                </a:solidFill>
                <a:latin typeface="Arial"/>
                <a:cs typeface="Arial"/>
              </a:rPr>
              <a:t>recebendo</a:t>
            </a:r>
            <a:r>
              <a:rPr dirty="0" sz="2150" spc="3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5">
                <a:solidFill>
                  <a:srgbClr val="4B4B4B"/>
                </a:solidFill>
                <a:latin typeface="Arial"/>
                <a:cs typeface="Arial"/>
              </a:rPr>
              <a:t>investimentos</a:t>
            </a:r>
            <a:r>
              <a:rPr dirty="0" sz="2150" spc="459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1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2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di-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0">
                <a:solidFill>
                  <a:srgbClr val="4B4B4B"/>
                </a:solidFill>
                <a:latin typeface="Arial"/>
                <a:cs typeface="Arial"/>
              </a:rPr>
              <a:t>versos</a:t>
            </a:r>
            <a:r>
              <a:rPr dirty="0" sz="2150" spc="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locais,</a:t>
            </a:r>
            <a:r>
              <a:rPr dirty="0" sz="2150" spc="1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dirty="0" sz="2150" spc="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colocam</a:t>
            </a:r>
            <a:r>
              <a:rPr dirty="0" sz="2150" spc="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5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50" spc="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entre</a:t>
            </a:r>
            <a:r>
              <a:rPr dirty="0" sz="2150" spc="1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os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120</a:t>
            </a:r>
            <a:r>
              <a:rPr dirty="0" sz="2150" spc="8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5">
                <a:solidFill>
                  <a:srgbClr val="4B4B4B"/>
                </a:solidFill>
                <a:latin typeface="Arial"/>
                <a:cs typeface="Arial"/>
              </a:rPr>
              <a:t>maiores</a:t>
            </a:r>
            <a:r>
              <a:rPr dirty="0" sz="2150" spc="1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PlBs</a:t>
            </a:r>
            <a:r>
              <a:rPr dirty="0" sz="21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do</a:t>
            </a:r>
            <a:r>
              <a:rPr dirty="0" sz="2150" spc="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5">
                <a:solidFill>
                  <a:srgbClr val="4B4B4B"/>
                </a:solidFill>
                <a:latin typeface="Arial"/>
                <a:cs typeface="Arial"/>
              </a:rPr>
              <a:t>Brasil.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36827" y="6475464"/>
            <a:ext cx="5026660" cy="17792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 indent="13970">
              <a:lnSpc>
                <a:spcPct val="107100"/>
              </a:lnSpc>
              <a:spcBef>
                <a:spcPts val="85"/>
              </a:spcBef>
            </a:pPr>
            <a:r>
              <a:rPr dirty="0" sz="2150" spc="-280">
                <a:solidFill>
                  <a:srgbClr val="4B4B4B"/>
                </a:solidFill>
                <a:latin typeface="Arial"/>
                <a:cs typeface="Arial"/>
              </a:rPr>
              <a:t>Essa</a:t>
            </a:r>
            <a:r>
              <a:rPr dirty="0" sz="2150" spc="1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0">
                <a:solidFill>
                  <a:srgbClr val="4B4B4B"/>
                </a:solidFill>
                <a:latin typeface="Arial"/>
                <a:cs typeface="Arial"/>
              </a:rPr>
              <a:t>efervescencia</a:t>
            </a:r>
            <a:r>
              <a:rPr dirty="0" sz="2150" spc="2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5">
                <a:solidFill>
                  <a:srgbClr val="4B4B4B"/>
                </a:solidFill>
                <a:latin typeface="Arial"/>
                <a:cs typeface="Arial"/>
              </a:rPr>
              <a:t>economica</a:t>
            </a:r>
            <a:r>
              <a:rPr dirty="0" sz="2150" spc="3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fez</a:t>
            </a:r>
            <a:r>
              <a:rPr dirty="0" sz="2150" spc="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2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5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comercio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0">
                <a:solidFill>
                  <a:srgbClr val="4B4B4B"/>
                </a:solidFill>
                <a:latin typeface="Arial"/>
                <a:cs typeface="Arial"/>
              </a:rPr>
              <a:t>rio-</a:t>
            </a:r>
            <a:r>
              <a:rPr dirty="0" sz="2150" spc="-150">
                <a:solidFill>
                  <a:srgbClr val="4B4B4B"/>
                </a:solidFill>
                <a:latin typeface="Arial"/>
                <a:cs typeface="Arial"/>
              </a:rPr>
              <a:t>verdense</a:t>
            </a:r>
            <a:r>
              <a:rPr dirty="0" sz="2150" spc="4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forte</a:t>
            </a:r>
            <a:r>
              <a:rPr dirty="0" sz="2150" spc="25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1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competitivo,</a:t>
            </a:r>
            <a:r>
              <a:rPr dirty="0" sz="2150" spc="3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50" spc="25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grande</a:t>
            </a:r>
            <a:r>
              <a:rPr dirty="0" sz="2150" spc="-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variedade</a:t>
            </a:r>
            <a:r>
              <a:rPr dirty="0" sz="2150" spc="-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produtos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-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0">
                <a:solidFill>
                  <a:srgbClr val="4B4B4B"/>
                </a:solidFill>
                <a:latin typeface="Arial"/>
                <a:cs typeface="Arial"/>
              </a:rPr>
              <a:t>servi9os.</a:t>
            </a:r>
            <a:r>
              <a:rPr dirty="0" sz="215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Entre</a:t>
            </a:r>
            <a:r>
              <a:rPr dirty="0" sz="2150" spc="-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pequenas,</a:t>
            </a:r>
            <a:r>
              <a:rPr dirty="0" sz="2150" spc="-1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medias</a:t>
            </a:r>
            <a:r>
              <a:rPr dirty="0" sz="2150" spc="2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29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1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grandes,</a:t>
            </a:r>
            <a:r>
              <a:rPr dirty="0" sz="2150" spc="2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50" spc="25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80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50" spc="20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0">
                <a:solidFill>
                  <a:srgbClr val="4B4B4B"/>
                </a:solidFill>
                <a:latin typeface="Arial"/>
                <a:cs typeface="Arial"/>
              </a:rPr>
              <a:t>possui</a:t>
            </a:r>
            <a:r>
              <a:rPr dirty="0" sz="2150" spc="2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5">
                <a:solidFill>
                  <a:srgbClr val="4B4B4B"/>
                </a:solidFill>
                <a:latin typeface="Arial"/>
                <a:cs typeface="Arial"/>
              </a:rPr>
              <a:t>cerca</a:t>
            </a:r>
            <a:r>
              <a:rPr dirty="0" sz="2150" spc="2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0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54">
                <a:solidFill>
                  <a:srgbClr val="4B4B4B"/>
                </a:solidFill>
                <a:latin typeface="Arial"/>
                <a:cs typeface="Arial"/>
              </a:rPr>
              <a:t>10</a:t>
            </a:r>
            <a:r>
              <a:rPr dirty="0" sz="2150" spc="1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B4B4B"/>
                </a:solidFill>
                <a:latin typeface="Arial"/>
                <a:cs typeface="Arial"/>
              </a:rPr>
              <a:t>mil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0">
                <a:solidFill>
                  <a:srgbClr val="4B4B4B"/>
                </a:solidFill>
                <a:latin typeface="Arial"/>
                <a:cs typeface="Arial"/>
              </a:rPr>
              <a:t>empresas</a:t>
            </a:r>
            <a:r>
              <a:rPr dirty="0" sz="2150" spc="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5">
                <a:solidFill>
                  <a:srgbClr val="4B4B4B"/>
                </a:solidFill>
                <a:latin typeface="Arial"/>
                <a:cs typeface="Arial"/>
              </a:rPr>
              <a:t>ativas.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52014" y="8503011"/>
            <a:ext cx="3593465" cy="478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33730" algn="l"/>
                <a:tab pos="1633855" algn="l"/>
                <a:tab pos="1925320" algn="l"/>
                <a:tab pos="2459355" algn="l"/>
              </a:tabLst>
            </a:pP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lsso,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somada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950" spc="-79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9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sua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80">
                <a:solidFill>
                  <a:srgbClr val="4B4B4B"/>
                </a:solidFill>
                <a:latin typeface="Arial"/>
                <a:cs typeface="Arial"/>
              </a:rPr>
              <a:t>localiza9ao</a:t>
            </a:r>
            <a:endParaRPr sz="215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028056" y="8603633"/>
            <a:ext cx="1224280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45">
                <a:solidFill>
                  <a:srgbClr val="4B4B4B"/>
                </a:solidFill>
                <a:latin typeface="Arial"/>
                <a:cs typeface="Arial"/>
              </a:rPr>
              <a:t>estrategica,</a:t>
            </a:r>
            <a:endParaRPr sz="215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246833" y="8932671"/>
            <a:ext cx="5020945" cy="1438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2540">
              <a:lnSpc>
                <a:spcPct val="107800"/>
              </a:lnSpc>
              <a:spcBef>
                <a:spcPts val="90"/>
              </a:spcBef>
            </a:pPr>
            <a:r>
              <a:rPr dirty="0" sz="2150" spc="-40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50" spc="-1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0">
                <a:solidFill>
                  <a:srgbClr val="4B4B4B"/>
                </a:solidFill>
                <a:latin typeface="Arial"/>
                <a:cs typeface="Arial"/>
              </a:rPr>
              <a:t>acesso</a:t>
            </a:r>
            <a:r>
              <a:rPr dirty="0" sz="215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9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50" spc="1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excelentes</a:t>
            </a:r>
            <a:r>
              <a:rPr dirty="0" sz="2150" spc="-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rodovias,</a:t>
            </a:r>
            <a:r>
              <a:rPr dirty="0" sz="2150" spc="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ferrovias</a:t>
            </a:r>
            <a:r>
              <a:rPr dirty="0" sz="215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B4B4B"/>
                </a:solidFill>
                <a:latin typeface="Arial"/>
                <a:cs typeface="Arial"/>
              </a:rPr>
              <a:t>e </a:t>
            </a:r>
            <a:r>
              <a:rPr dirty="0" sz="2150" spc="-110">
                <a:solidFill>
                  <a:srgbClr val="4B4B4B"/>
                </a:solidFill>
                <a:latin typeface="Arial"/>
                <a:cs typeface="Arial"/>
              </a:rPr>
              <a:t>hidrovias,</a:t>
            </a:r>
            <a:r>
              <a:rPr dirty="0" sz="215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4B4B4B"/>
                </a:solidFill>
                <a:latin typeface="Arial"/>
                <a:cs typeface="Arial"/>
              </a:rPr>
              <a:t>fazem</a:t>
            </a:r>
            <a:r>
              <a:rPr dirty="0" sz="2150" spc="-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-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50" spc="-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um</a:t>
            </a:r>
            <a:r>
              <a:rPr dirty="0" sz="2150" spc="-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dos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60">
                <a:solidFill>
                  <a:srgbClr val="4B4B4B"/>
                </a:solidFill>
                <a:latin typeface="Arial"/>
                <a:cs typeface="Arial"/>
              </a:rPr>
              <a:t>princi­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pais</a:t>
            </a:r>
            <a:r>
              <a:rPr dirty="0" sz="215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centros</a:t>
            </a:r>
            <a:r>
              <a:rPr dirty="0" sz="215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70">
                <a:solidFill>
                  <a:srgbClr val="4B4B4B"/>
                </a:solidFill>
                <a:latin typeface="Arial"/>
                <a:cs typeface="Arial"/>
              </a:rPr>
              <a:t>economicos</a:t>
            </a:r>
            <a:r>
              <a:rPr dirty="0" sz="2150" spc="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neg6cios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5">
                <a:solidFill>
                  <a:srgbClr val="4B4B4B"/>
                </a:solidFill>
                <a:latin typeface="Arial"/>
                <a:cs typeface="Arial"/>
              </a:rPr>
              <a:t>do </a:t>
            </a:r>
            <a:r>
              <a:rPr dirty="0" sz="2150" spc="-185">
                <a:solidFill>
                  <a:srgbClr val="4B4B4B"/>
                </a:solidFill>
                <a:latin typeface="Arial"/>
                <a:cs typeface="Arial"/>
              </a:rPr>
              <a:t>Centro-</a:t>
            </a:r>
            <a:r>
              <a:rPr dirty="0" sz="2150" spc="-30">
                <a:solidFill>
                  <a:srgbClr val="4B4B4B"/>
                </a:solidFill>
                <a:latin typeface="Arial"/>
                <a:cs typeface="Arial"/>
              </a:rPr>
              <a:t>Oeste.</a:t>
            </a:r>
            <a:endParaRPr sz="21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668571" y="834555"/>
            <a:ext cx="232410" cy="59944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750" spc="-535">
                <a:solidFill>
                  <a:srgbClr val="4B3180"/>
                </a:solidFill>
              </a:rPr>
              <a:t>...</a:t>
            </a:r>
            <a:endParaRPr sz="3750"/>
          </a:p>
        </p:txBody>
      </p:sp>
      <p:sp>
        <p:nvSpPr>
          <p:cNvPr id="9" name="object 9" descr=""/>
          <p:cNvSpPr txBox="1"/>
          <p:nvPr/>
        </p:nvSpPr>
        <p:spPr>
          <a:xfrm>
            <a:off x="13827540" y="1232770"/>
            <a:ext cx="4036695" cy="516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200" spc="-130" b="1">
                <a:solidFill>
                  <a:srgbClr val="4B3180"/>
                </a:solidFill>
                <a:latin typeface="Arial"/>
                <a:cs typeface="Arial"/>
              </a:rPr>
              <a:t>ACIRV</a:t>
            </a:r>
            <a:r>
              <a:rPr dirty="0" sz="3200" spc="-26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55" b="1">
                <a:solidFill>
                  <a:srgbClr val="4B3180"/>
                </a:solidFill>
                <a:latin typeface="Arial"/>
                <a:cs typeface="Arial"/>
              </a:rPr>
              <a:t>-</a:t>
            </a:r>
            <a:r>
              <a:rPr dirty="0" sz="3200" spc="-95" b="1">
                <a:solidFill>
                  <a:srgbClr val="4B3180"/>
                </a:solidFill>
                <a:latin typeface="Arial"/>
                <a:cs typeface="Arial"/>
              </a:rPr>
              <a:t>ATUACAO</a:t>
            </a:r>
            <a:r>
              <a:rPr dirty="0" sz="3200" spc="-8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5" b="1">
                <a:solidFill>
                  <a:srgbClr val="4B3180"/>
                </a:solidFill>
                <a:latin typeface="Arial"/>
                <a:cs typeface="Arial"/>
              </a:rPr>
              <a:t>DE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474488" y="1617651"/>
            <a:ext cx="106045" cy="1993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25" i="1">
                <a:solidFill>
                  <a:srgbClr val="4B3180"/>
                </a:solidFill>
                <a:latin typeface="Arial"/>
                <a:cs typeface="Arial"/>
              </a:rPr>
              <a:t>:,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3796447" y="1682553"/>
            <a:ext cx="5067300" cy="235267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38100" marR="356235">
              <a:lnSpc>
                <a:spcPts val="3590"/>
              </a:lnSpc>
              <a:spcBef>
                <a:spcPts val="445"/>
              </a:spcBef>
            </a:pPr>
            <a:r>
              <a:rPr dirty="0" sz="3200" spc="-175" b="1">
                <a:solidFill>
                  <a:srgbClr val="4B3180"/>
                </a:solidFill>
                <a:latin typeface="Arial"/>
                <a:cs typeface="Arial"/>
              </a:rPr>
              <a:t>EXCELENCIA</a:t>
            </a:r>
            <a:r>
              <a:rPr dirty="0" sz="3200" spc="-17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40" b="1">
                <a:solidFill>
                  <a:srgbClr val="4B3180"/>
                </a:solidFill>
                <a:latin typeface="Arial"/>
                <a:cs typeface="Arial"/>
              </a:rPr>
              <a:t>EIVI</a:t>
            </a:r>
            <a:r>
              <a:rPr dirty="0" sz="3200" spc="-36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20" b="1">
                <a:solidFill>
                  <a:srgbClr val="4B3180"/>
                </a:solidFill>
                <a:latin typeface="Arial"/>
                <a:cs typeface="Arial"/>
              </a:rPr>
              <a:t>PROL </a:t>
            </a:r>
            <a:r>
              <a:rPr dirty="0" sz="3200" spc="-60" b="1">
                <a:solidFill>
                  <a:srgbClr val="4B3180"/>
                </a:solidFill>
                <a:latin typeface="Arial"/>
                <a:cs typeface="Arial"/>
              </a:rPr>
              <a:t>DO</a:t>
            </a:r>
            <a:r>
              <a:rPr dirty="0" sz="3200" spc="-42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3200" spc="-120" b="1">
                <a:solidFill>
                  <a:srgbClr val="4B3180"/>
                </a:solidFill>
                <a:latin typeface="Arial"/>
                <a:cs typeface="Arial"/>
              </a:rPr>
              <a:t>DESENVOLVIIVIENTO</a:t>
            </a:r>
            <a:endParaRPr sz="3200">
              <a:latin typeface="Arial"/>
              <a:cs typeface="Arial"/>
            </a:endParaRPr>
          </a:p>
          <a:p>
            <a:pPr marL="47625">
              <a:lnSpc>
                <a:spcPts val="3160"/>
              </a:lnSpc>
              <a:spcBef>
                <a:spcPts val="1800"/>
              </a:spcBef>
              <a:tabLst>
                <a:tab pos="4676140" algn="l"/>
              </a:tabLst>
            </a:pPr>
            <a:r>
              <a:rPr dirty="0" sz="2150" spc="-155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5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00" spc="65">
                <a:solidFill>
                  <a:srgbClr val="4B4B4B"/>
                </a:solidFill>
                <a:latin typeface="Arial"/>
                <a:cs typeface="Arial"/>
              </a:rPr>
              <a:t>39</a:t>
            </a:r>
            <a:r>
              <a:rPr dirty="0" sz="2100" spc="-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B4B4B"/>
                </a:solidFill>
                <a:latin typeface="Arial"/>
                <a:cs typeface="Arial"/>
              </a:rPr>
              <a:t>anos</a:t>
            </a:r>
            <a:r>
              <a:rPr dirty="0" sz="215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1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B4B4B"/>
                </a:solidFill>
                <a:latin typeface="Arial"/>
                <a:cs typeface="Arial"/>
              </a:rPr>
              <a:t>fundacao,</a:t>
            </a:r>
            <a:r>
              <a:rPr dirty="0" sz="2150" spc="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950" spc="-74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95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75">
                <a:solidFill>
                  <a:srgbClr val="4B4B4B"/>
                </a:solidFill>
                <a:latin typeface="Arial"/>
                <a:cs typeface="Arial"/>
              </a:rPr>
              <a:t>Associacao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50">
                <a:solidFill>
                  <a:srgbClr val="4B4B4B"/>
                </a:solidFill>
                <a:latin typeface="Arial"/>
                <a:cs typeface="Arial"/>
              </a:rPr>
              <a:t>Co-</a:t>
            </a:r>
            <a:endParaRPr sz="2150">
              <a:latin typeface="Arial"/>
              <a:cs typeface="Arial"/>
            </a:endParaRPr>
          </a:p>
          <a:p>
            <a:pPr marL="2660015">
              <a:lnSpc>
                <a:spcPts val="325"/>
              </a:lnSpc>
              <a:tabLst>
                <a:tab pos="4211955" algn="l"/>
              </a:tabLst>
            </a:pPr>
            <a:r>
              <a:rPr dirty="0" sz="550" spc="-50">
                <a:solidFill>
                  <a:srgbClr val="4B4B4B"/>
                </a:solidFill>
                <a:latin typeface="Arial"/>
                <a:cs typeface="Arial"/>
              </a:rPr>
              <a:t>,</a:t>
            </a:r>
            <a:r>
              <a:rPr dirty="0" sz="5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550" spc="-50" i="1">
                <a:solidFill>
                  <a:srgbClr val="4B4B4B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  <a:p>
            <a:pPr marL="49530" marR="44450">
              <a:lnSpc>
                <a:spcPts val="2800"/>
              </a:lnSpc>
              <a:spcBef>
                <a:spcPts val="5"/>
              </a:spcBef>
              <a:tabLst>
                <a:tab pos="1691005" algn="l"/>
                <a:tab pos="4178935" algn="l"/>
              </a:tabLst>
            </a:pPr>
            <a:r>
              <a:rPr dirty="0" sz="2150" spc="-75">
                <a:solidFill>
                  <a:srgbClr val="4B4B4B"/>
                </a:solidFill>
                <a:latin typeface="Arial"/>
                <a:cs typeface="Arial"/>
              </a:rPr>
              <a:t>mercial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-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0">
                <a:solidFill>
                  <a:srgbClr val="4B4B4B"/>
                </a:solidFill>
                <a:latin typeface="Arial"/>
                <a:cs typeface="Arial"/>
              </a:rPr>
              <a:t>Servi</a:t>
            </a:r>
            <a:r>
              <a:rPr dirty="0" sz="2150" spc="-825">
                <a:solidFill>
                  <a:srgbClr val="4B4B4B"/>
                </a:solidFill>
                <a:latin typeface="Arial"/>
                <a:cs typeface="Arial"/>
              </a:rPr>
              <a:t>c</a:t>
            </a:r>
            <a:r>
              <a:rPr dirty="0" baseline="-12345" sz="2025" spc="-165">
                <a:solidFill>
                  <a:srgbClr val="4B4B4B"/>
                </a:solidFill>
                <a:latin typeface="Times New Roman"/>
                <a:cs typeface="Times New Roman"/>
              </a:rPr>
              <a:t>,</a:t>
            </a:r>
            <a:r>
              <a:rPr dirty="0" baseline="-12345" sz="2025" spc="-37">
                <a:solidFill>
                  <a:srgbClr val="4B4B4B"/>
                </a:solidFill>
                <a:latin typeface="Times New Roman"/>
                <a:cs typeface="Times New Roman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os</a:t>
            </a:r>
            <a:r>
              <a:rPr dirty="0" sz="2150" spc="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50" spc="6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B4B4B"/>
                </a:solidFill>
                <a:latin typeface="Arial"/>
                <a:cs typeface="Arial"/>
              </a:rPr>
              <a:t>Verde</a:t>
            </a:r>
            <a:r>
              <a:rPr dirty="0" sz="2150" spc="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55">
                <a:solidFill>
                  <a:srgbClr val="4B4B4B"/>
                </a:solidFill>
                <a:latin typeface="Arial"/>
                <a:cs typeface="Arial"/>
              </a:rPr>
              <a:t>se</a:t>
            </a:r>
            <a:r>
              <a:rPr dirty="0" sz="2150" spc="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transfor- </a:t>
            </a:r>
            <a:r>
              <a:rPr dirty="0" sz="2150" spc="-50">
                <a:solidFill>
                  <a:srgbClr val="4B4B4B"/>
                </a:solidFill>
                <a:latin typeface="Arial"/>
                <a:cs typeface="Arial"/>
              </a:rPr>
              <a:t>mou</a:t>
            </a:r>
            <a:r>
              <a:rPr dirty="0" sz="215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em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uma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das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B4B4B"/>
                </a:solidFill>
                <a:latin typeface="Arial"/>
                <a:cs typeface="Arial"/>
              </a:rPr>
              <a:t>mais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importantes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90">
                <a:solidFill>
                  <a:srgbClr val="4B4B4B"/>
                </a:solidFill>
                <a:latin typeface="Arial"/>
                <a:cs typeface="Arial"/>
              </a:rPr>
              <a:t>associa­</a:t>
            </a:r>
            <a:endParaRPr sz="21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834575" y="4027313"/>
            <a:ext cx="500189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coes</a:t>
            </a:r>
            <a:r>
              <a:rPr dirty="0" sz="2150" spc="-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comerciais</a:t>
            </a:r>
            <a:r>
              <a:rPr dirty="0" sz="2150" spc="9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industriais</a:t>
            </a:r>
            <a:r>
              <a:rPr dirty="0" sz="2150" spc="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9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20">
                <a:solidFill>
                  <a:srgbClr val="4B4B4B"/>
                </a:solidFill>
                <a:latin typeface="Arial"/>
                <a:cs typeface="Arial"/>
              </a:rPr>
              <a:t>Goias,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0">
                <a:solidFill>
                  <a:srgbClr val="4B4B4B"/>
                </a:solidFill>
                <a:latin typeface="Arial"/>
                <a:cs typeface="Arial"/>
              </a:rPr>
              <a:t>dando</a:t>
            </a:r>
            <a:endParaRPr sz="21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831033" y="4298240"/>
            <a:ext cx="4984750" cy="787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dirty="0" sz="550" spc="-30" i="1">
                <a:solidFill>
                  <a:srgbClr val="4B4B4B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970915" algn="l"/>
                <a:tab pos="1598930" algn="l"/>
                <a:tab pos="1880235" algn="l"/>
                <a:tab pos="3366770" algn="l"/>
                <a:tab pos="3782060" algn="l"/>
              </a:tabLst>
            </a:pP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suporte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2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6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crescimento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do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empresario</a:t>
            </a:r>
            <a:endParaRPr sz="215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155"/>
              </a:spcBef>
            </a:pP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local.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829827" y="5434019"/>
            <a:ext cx="498919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80">
                <a:solidFill>
                  <a:srgbClr val="4B4B4B"/>
                </a:solidFill>
                <a:latin typeface="Arial"/>
                <a:cs typeface="Arial"/>
              </a:rPr>
              <a:t>Uma</a:t>
            </a:r>
            <a:r>
              <a:rPr dirty="0" sz="215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-1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04">
                <a:solidFill>
                  <a:srgbClr val="4B4B4B"/>
                </a:solidFill>
                <a:latin typeface="Arial"/>
                <a:cs typeface="Arial"/>
              </a:rPr>
              <a:t>suas</a:t>
            </a:r>
            <a:r>
              <a:rPr dirty="0" sz="215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B4B4B"/>
                </a:solidFill>
                <a:latin typeface="Arial"/>
                <a:cs typeface="Arial"/>
              </a:rPr>
              <a:t>maiores</a:t>
            </a:r>
            <a:r>
              <a:rPr dirty="0" sz="2150" spc="-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B4B4B"/>
                </a:solidFill>
                <a:latin typeface="Arial"/>
                <a:cs typeface="Arial"/>
              </a:rPr>
              <a:t>iniciativas</a:t>
            </a:r>
            <a:r>
              <a:rPr dirty="0" sz="2150" spc="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54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5">
                <a:solidFill>
                  <a:srgbClr val="4B4B4B"/>
                </a:solidFill>
                <a:latin typeface="Arial"/>
                <a:cs typeface="Arial"/>
              </a:rPr>
              <a:t>realizacao</a:t>
            </a:r>
            <a:endParaRPr sz="21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8476154" y="5707964"/>
            <a:ext cx="41910" cy="1085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50" spc="-30" i="1">
                <a:solidFill>
                  <a:srgbClr val="4B4B4B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836510" y="5686582"/>
            <a:ext cx="5005070" cy="4787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150" spc="-250">
                <a:solidFill>
                  <a:srgbClr val="4B4B4B"/>
                </a:solidFill>
                <a:latin typeface="Arial"/>
                <a:cs typeface="Arial"/>
              </a:rPr>
              <a:t>da</a:t>
            </a:r>
            <a:r>
              <a:rPr dirty="0" sz="2150" spc="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60" b="1">
                <a:solidFill>
                  <a:srgbClr val="4B4B4B"/>
                </a:solidFill>
                <a:latin typeface="Arial"/>
                <a:cs typeface="Arial"/>
              </a:rPr>
              <a:t>SUDOEXPO.</a:t>
            </a:r>
            <a:r>
              <a:rPr dirty="0" sz="2150" spc="45" b="1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50">
                <a:solidFill>
                  <a:srgbClr val="4B4B4B"/>
                </a:solidFill>
                <a:latin typeface="Arial"/>
                <a:cs typeface="Arial"/>
              </a:rPr>
              <a:t>Em</a:t>
            </a:r>
            <a:r>
              <a:rPr dirty="0" sz="2150" spc="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2024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325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50" spc="1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feira</a:t>
            </a:r>
            <a:r>
              <a:rPr dirty="0" sz="2150" spc="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90">
                <a:solidFill>
                  <a:srgbClr val="4B4B4B"/>
                </a:solidFill>
                <a:latin typeface="Arial"/>
                <a:cs typeface="Arial"/>
              </a:rPr>
              <a:t>chega</a:t>
            </a:r>
            <a:r>
              <a:rPr dirty="0" sz="215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950" spc="-74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950" spc="-17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5">
                <a:solidFill>
                  <a:srgbClr val="4B4B4B"/>
                </a:solidFill>
                <a:latin typeface="Arial"/>
                <a:cs typeface="Arial"/>
              </a:rPr>
              <a:t>sua</a:t>
            </a:r>
            <a:endParaRPr sz="21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818782" y="6113220"/>
            <a:ext cx="5025390" cy="14382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26034" marR="5080" indent="-13970">
              <a:lnSpc>
                <a:spcPct val="107500"/>
              </a:lnSpc>
              <a:spcBef>
                <a:spcPts val="125"/>
              </a:spcBef>
            </a:pPr>
            <a:r>
              <a:rPr dirty="0" sz="2150" spc="-530">
                <a:solidFill>
                  <a:srgbClr val="4B4B4B"/>
                </a:solidFill>
                <a:latin typeface="Arial"/>
                <a:cs typeface="Arial"/>
              </a:rPr>
              <a:t>17g</a:t>
            </a:r>
            <a:r>
              <a:rPr dirty="0" sz="2150" spc="3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Edi9ao</a:t>
            </a:r>
            <a:r>
              <a:rPr dirty="0" sz="215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-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contara</a:t>
            </a:r>
            <a:r>
              <a:rPr dirty="0" sz="2150" spc="-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55">
                <a:solidFill>
                  <a:srgbClr val="4B4B4B"/>
                </a:solidFill>
                <a:latin typeface="Arial"/>
                <a:cs typeface="Arial"/>
              </a:rPr>
              <a:t>com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50" spc="-1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apoio</a:t>
            </a:r>
            <a:r>
              <a:rPr dirty="0" sz="21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4B4B4B"/>
                </a:solidFill>
                <a:latin typeface="Arial"/>
                <a:cs typeface="Arial"/>
              </a:rPr>
              <a:t>do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65">
                <a:solidFill>
                  <a:srgbClr val="4B4B4B"/>
                </a:solidFill>
                <a:latin typeface="Arial"/>
                <a:cs typeface="Arial"/>
              </a:rPr>
              <a:t>SEBRAE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-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Prefeitura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de</a:t>
            </a:r>
            <a:r>
              <a:rPr dirty="0" sz="2150" spc="-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Verde,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dando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70">
                <a:solidFill>
                  <a:srgbClr val="4B4B4B"/>
                </a:solidFill>
                <a:latin typeface="Arial"/>
                <a:cs typeface="Arial"/>
              </a:rPr>
              <a:t>espa90</a:t>
            </a:r>
            <a:r>
              <a:rPr dirty="0" sz="2150" spc="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nao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apenas</a:t>
            </a:r>
            <a:r>
              <a:rPr dirty="0" sz="2150" spc="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54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50" spc="12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75">
                <a:solidFill>
                  <a:srgbClr val="4B4B4B"/>
                </a:solidFill>
                <a:latin typeface="Arial"/>
                <a:cs typeface="Arial"/>
              </a:rPr>
              <a:t>grandes</a:t>
            </a:r>
            <a:r>
              <a:rPr dirty="0" sz="2150" spc="10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55">
                <a:solidFill>
                  <a:srgbClr val="4B4B4B"/>
                </a:solidFill>
                <a:latin typeface="Arial"/>
                <a:cs typeface="Arial"/>
              </a:rPr>
              <a:t>medias</a:t>
            </a:r>
            <a:r>
              <a:rPr dirty="0" sz="2150" spc="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0">
                <a:solidFill>
                  <a:srgbClr val="4B4B4B"/>
                </a:solidFill>
                <a:latin typeface="Arial"/>
                <a:cs typeface="Arial"/>
              </a:rPr>
              <a:t>empresas,</a:t>
            </a:r>
            <a:r>
              <a:rPr dirty="0" sz="2150" spc="1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80">
                <a:solidFill>
                  <a:srgbClr val="4B4B4B"/>
                </a:solidFill>
                <a:latin typeface="Arial"/>
                <a:cs typeface="Arial"/>
              </a:rPr>
              <a:t>mas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tambem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5">
                <a:solidFill>
                  <a:srgbClr val="4B4B4B"/>
                </a:solidFill>
                <a:latin typeface="Arial"/>
                <a:cs typeface="Arial"/>
              </a:rPr>
              <a:t>dando</a:t>
            </a:r>
            <a:r>
              <a:rPr dirty="0" sz="215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B4B4B"/>
                </a:solidFill>
                <a:latin typeface="Arial"/>
                <a:cs typeface="Arial"/>
              </a:rPr>
              <a:t>apoio</a:t>
            </a:r>
            <a:r>
              <a:rPr dirty="0" sz="21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-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35">
                <a:solidFill>
                  <a:srgbClr val="4B4B4B"/>
                </a:solidFill>
                <a:latin typeface="Arial"/>
                <a:cs typeface="Arial"/>
              </a:rPr>
              <a:t>promovendo</a:t>
            </a:r>
            <a:r>
              <a:rPr dirty="0" sz="2150" spc="1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55">
                <a:solidFill>
                  <a:srgbClr val="4B4B4B"/>
                </a:solidFill>
                <a:latin typeface="Arial"/>
                <a:cs typeface="Arial"/>
              </a:rPr>
              <a:t>desen­</a:t>
            </a:r>
            <a:endParaRPr sz="21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830253" y="7550115"/>
            <a:ext cx="5005705" cy="1061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" marR="5080" indent="-4445">
              <a:lnSpc>
                <a:spcPts val="2730"/>
              </a:lnSpc>
              <a:spcBef>
                <a:spcPts val="95"/>
              </a:spcBef>
              <a:tabLst>
                <a:tab pos="1325880" algn="l"/>
                <a:tab pos="2670810" algn="l"/>
                <a:tab pos="3198495" algn="l"/>
                <a:tab pos="4396740" algn="l"/>
              </a:tabLst>
            </a:pP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volvimento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40">
                <a:solidFill>
                  <a:srgbClr val="4B4B4B"/>
                </a:solidFill>
                <a:latin typeface="Arial"/>
                <a:cs typeface="Arial"/>
              </a:rPr>
              <a:t>sustentavel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dos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0">
                <a:solidFill>
                  <a:srgbClr val="4B4B4B"/>
                </a:solidFill>
                <a:latin typeface="Arial"/>
                <a:cs typeface="Arial"/>
              </a:rPr>
              <a:t>pequenos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	</a:t>
            </a:r>
            <a:r>
              <a:rPr dirty="0" sz="2150" spc="-175">
                <a:solidFill>
                  <a:srgbClr val="4B4B4B"/>
                </a:solidFill>
                <a:latin typeface="Arial"/>
                <a:cs typeface="Arial"/>
              </a:rPr>
              <a:t>neg6- 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cios,</a:t>
            </a:r>
            <a:r>
              <a:rPr dirty="0" sz="2150" spc="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fomentando</a:t>
            </a:r>
            <a:r>
              <a:rPr dirty="0" sz="2150" spc="114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o</a:t>
            </a:r>
            <a:r>
              <a:rPr dirty="0" sz="2150" spc="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empreendedorismo</a:t>
            </a:r>
            <a:r>
              <a:rPr dirty="0" sz="2150" spc="-3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e</a:t>
            </a:r>
            <a:r>
              <a:rPr dirty="0" sz="2150" spc="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70">
                <a:solidFill>
                  <a:srgbClr val="6B6B6B"/>
                </a:solidFill>
                <a:latin typeface="Arial"/>
                <a:cs typeface="Arial"/>
              </a:rPr>
              <a:t>for­</a:t>
            </a:r>
            <a:endParaRPr sz="215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110"/>
              </a:spcBef>
            </a:pPr>
            <a:r>
              <a:rPr dirty="0" sz="2150" spc="-135">
                <a:solidFill>
                  <a:srgbClr val="4B4B4B"/>
                </a:solidFill>
                <a:latin typeface="Arial"/>
                <a:cs typeface="Arial"/>
              </a:rPr>
              <a:t>talecendo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9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50" spc="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economia</a:t>
            </a:r>
            <a:r>
              <a:rPr dirty="0" sz="21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nacional.</a:t>
            </a:r>
            <a:endParaRPr sz="21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3830969" y="8923613"/>
            <a:ext cx="5014595" cy="10941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13970" marR="5080" indent="-1905">
              <a:lnSpc>
                <a:spcPct val="108300"/>
              </a:lnSpc>
              <a:spcBef>
                <a:spcPts val="125"/>
              </a:spcBef>
            </a:pPr>
            <a:r>
              <a:rPr dirty="0" sz="2150" spc="-60">
                <a:solidFill>
                  <a:srgbClr val="4B4B4B"/>
                </a:solidFill>
                <a:latin typeface="Arial"/>
                <a:cs typeface="Arial"/>
              </a:rPr>
              <a:t>Assim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como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Rio</a:t>
            </a:r>
            <a:r>
              <a:rPr dirty="0" sz="2150" spc="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B4B4B"/>
                </a:solidFill>
                <a:latin typeface="Arial"/>
                <a:cs typeface="Arial"/>
              </a:rPr>
              <a:t>Verde,</a:t>
            </a:r>
            <a:r>
              <a:rPr dirty="0" sz="2150" spc="-2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90">
                <a:solidFill>
                  <a:srgbClr val="4B4B4B"/>
                </a:solidFill>
                <a:latin typeface="Arial"/>
                <a:cs typeface="Arial"/>
              </a:rPr>
              <a:t>a</a:t>
            </a:r>
            <a:r>
              <a:rPr dirty="0" sz="2150" spc="14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90" b="1">
                <a:solidFill>
                  <a:srgbClr val="4B4B4B"/>
                </a:solidFill>
                <a:latin typeface="Arial"/>
                <a:cs typeface="Arial"/>
              </a:rPr>
              <a:t>SUDOEXPO</a:t>
            </a:r>
            <a:r>
              <a:rPr dirty="0" sz="2150" spc="125" b="1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esta </a:t>
            </a:r>
            <a:r>
              <a:rPr dirty="0" sz="2150" spc="-70">
                <a:solidFill>
                  <a:srgbClr val="4B4B4B"/>
                </a:solidFill>
                <a:latin typeface="Arial"/>
                <a:cs typeface="Arial"/>
              </a:rPr>
              <a:t>aberta</a:t>
            </a:r>
            <a:r>
              <a:rPr dirty="0" sz="2150" spc="-8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4B4B4B"/>
                </a:solidFill>
                <a:latin typeface="Arial"/>
                <a:cs typeface="Arial"/>
              </a:rPr>
              <a:t>para</a:t>
            </a:r>
            <a:r>
              <a:rPr dirty="0" sz="2150" spc="-7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B4B4B"/>
                </a:solidFill>
                <a:latin typeface="Arial"/>
                <a:cs typeface="Arial"/>
              </a:rPr>
              <a:t>que</a:t>
            </a:r>
            <a:r>
              <a:rPr dirty="0" sz="2150" spc="-6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4B4B4B"/>
                </a:solidFill>
                <a:latin typeface="Arial"/>
                <a:cs typeface="Arial"/>
              </a:rPr>
              <a:t>todos</a:t>
            </a:r>
            <a:r>
              <a:rPr dirty="0" sz="2150" spc="-9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4B4B4B"/>
                </a:solidFill>
                <a:latin typeface="Arial"/>
                <a:cs typeface="Arial"/>
              </a:rPr>
              <a:t>possam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B4B4B"/>
                </a:solidFill>
                <a:latin typeface="Arial"/>
                <a:cs typeface="Arial"/>
              </a:rPr>
              <a:t>crescer.</a:t>
            </a:r>
            <a:r>
              <a:rPr dirty="0" sz="2150" spc="-5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4B4B4B"/>
                </a:solidFill>
                <a:latin typeface="Arial"/>
                <a:cs typeface="Arial"/>
              </a:rPr>
              <a:t>Pois </a:t>
            </a:r>
            <a:r>
              <a:rPr dirty="0" sz="2150" spc="-180">
                <a:solidFill>
                  <a:srgbClr val="4B4B4B"/>
                </a:solidFill>
                <a:latin typeface="Arial"/>
                <a:cs typeface="Arial"/>
              </a:rPr>
              <a:t>aqui,</a:t>
            </a:r>
            <a:r>
              <a:rPr dirty="0" sz="2150" spc="3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4B4B4B"/>
                </a:solidFill>
                <a:latin typeface="Arial"/>
                <a:cs typeface="Arial"/>
              </a:rPr>
              <a:t>tudo</a:t>
            </a:r>
            <a:r>
              <a:rPr dirty="0" sz="2150" spc="1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4B4B4B"/>
                </a:solidFill>
                <a:latin typeface="Arial"/>
                <a:cs typeface="Arial"/>
              </a:rPr>
              <a:t>vira</a:t>
            </a:r>
            <a:r>
              <a:rPr dirty="0" sz="2150" spc="-5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4B4B4B"/>
                </a:solidFill>
                <a:latin typeface="Arial"/>
                <a:cs typeface="Arial"/>
              </a:rPr>
              <a:t>neg6cio.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524" y="736571"/>
            <a:ext cx="9963036" cy="967185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24725" y="4377101"/>
            <a:ext cx="3834954" cy="348355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7115702" y="3597655"/>
            <a:ext cx="47625" cy="116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30" i="1">
                <a:solidFill>
                  <a:srgbClr val="4B337E"/>
                </a:solidFill>
                <a:latin typeface="Times New Roman"/>
                <a:cs typeface="Times New Roman"/>
              </a:rPr>
              <a:t>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433742" y="3816761"/>
            <a:ext cx="104140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00405" algn="l"/>
              </a:tabLst>
            </a:pPr>
            <a:r>
              <a:rPr dirty="0" sz="2000" spc="-25" b="1">
                <a:solidFill>
                  <a:srgbClr val="4B337E"/>
                </a:solidFill>
                <a:latin typeface="Arial"/>
                <a:cs typeface="Arial"/>
              </a:rPr>
              <a:t>PA</a:t>
            </a:r>
            <a:r>
              <a:rPr dirty="0" sz="2000" b="1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00" spc="-135" b="1">
                <a:solidFill>
                  <a:srgbClr val="4B337E"/>
                </a:solidFill>
                <a:latin typeface="Arial"/>
                <a:cs typeface="Arial"/>
              </a:rPr>
              <a:t>RA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370150" y="3099400"/>
            <a:ext cx="2907030" cy="1052195"/>
          </a:xfrm>
          <a:prstGeom prst="rect">
            <a:avLst/>
          </a:prstGeom>
        </p:spPr>
        <p:txBody>
          <a:bodyPr wrap="square" lIns="0" tIns="202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  <a:tabLst>
                <a:tab pos="367665" algn="l"/>
                <a:tab pos="725805" algn="l"/>
                <a:tab pos="1060450" algn="l"/>
                <a:tab pos="1363345" algn="l"/>
                <a:tab pos="1699895" algn="l"/>
                <a:tab pos="2036445" algn="l"/>
                <a:tab pos="2392680" algn="l"/>
                <a:tab pos="2734310" algn="l"/>
              </a:tabLst>
            </a:pPr>
            <a:r>
              <a:rPr dirty="0" sz="2050" spc="-50">
                <a:solidFill>
                  <a:srgbClr val="4B337E"/>
                </a:solidFill>
                <a:latin typeface="Arial"/>
                <a:cs typeface="Arial"/>
              </a:rPr>
              <a:t>P</a:t>
            </a:r>
            <a:r>
              <a:rPr dirty="0" sz="20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4B337E"/>
                </a:solidFill>
                <a:latin typeface="Arial"/>
                <a:cs typeface="Arial"/>
              </a:rPr>
              <a:t>R</a:t>
            </a:r>
            <a:r>
              <a:rPr dirty="0" sz="20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50" spc="-385">
                <a:solidFill>
                  <a:srgbClr val="4B337E"/>
                </a:solidFill>
                <a:latin typeface="Arial"/>
                <a:cs typeface="Arial"/>
              </a:rPr>
              <a:t>O</a:t>
            </a:r>
            <a:r>
              <a:rPr dirty="0" sz="20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4B337E"/>
                </a:solidFill>
                <a:latin typeface="Arial"/>
                <a:cs typeface="Arial"/>
              </a:rPr>
              <a:t>J</a:t>
            </a:r>
            <a:r>
              <a:rPr dirty="0" sz="20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4B337E"/>
                </a:solidFill>
                <a:latin typeface="Arial"/>
                <a:cs typeface="Arial"/>
              </a:rPr>
              <a:t>E</a:t>
            </a:r>
            <a:r>
              <a:rPr dirty="0" sz="20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50" spc="-320">
                <a:solidFill>
                  <a:srgbClr val="4B337E"/>
                </a:solidFill>
                <a:latin typeface="Arial"/>
                <a:cs typeface="Arial"/>
              </a:rPr>
              <a:t>C</a:t>
            </a:r>
            <a:r>
              <a:rPr dirty="0" sz="20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450" spc="-680">
                <a:solidFill>
                  <a:srgbClr val="4B337E"/>
                </a:solidFill>
                <a:latin typeface="Arial"/>
                <a:cs typeface="Arial"/>
              </a:rPr>
              <a:t>O</a:t>
            </a:r>
            <a:r>
              <a:rPr dirty="0" sz="24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4B337E"/>
                </a:solidFill>
                <a:latin typeface="Arial"/>
                <a:cs typeface="Arial"/>
              </a:rPr>
              <a:t>E</a:t>
            </a:r>
            <a:r>
              <a:rPr dirty="0" sz="2050">
                <a:solidFill>
                  <a:srgbClr val="4B337E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4B337E"/>
                </a:solidFill>
                <a:latin typeface="Arial"/>
                <a:cs typeface="Arial"/>
              </a:rPr>
              <a:t>5</a:t>
            </a:r>
            <a:endParaRPr sz="205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1240"/>
              </a:spcBef>
            </a:pPr>
            <a:r>
              <a:rPr dirty="0" sz="2000" spc="-155" b="1">
                <a:solidFill>
                  <a:srgbClr val="4B337E"/>
                </a:solidFill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719160" cy="731427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0445" y="8268179"/>
            <a:ext cx="11800557" cy="110483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5333784" y="7311260"/>
            <a:ext cx="2251075" cy="1675764"/>
            <a:chOff x="15333784" y="7311260"/>
            <a:chExt cx="2251075" cy="1675764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51892" y="8068946"/>
              <a:ext cx="2232782" cy="91767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342836" y="7311260"/>
              <a:ext cx="1901189" cy="772795"/>
            </a:xfrm>
            <a:custGeom>
              <a:avLst/>
              <a:gdLst/>
              <a:ahLst/>
              <a:cxnLst/>
              <a:rect l="l" t="t" r="r" b="b"/>
              <a:pathLst>
                <a:path w="1901190" h="772795">
                  <a:moveTo>
                    <a:pt x="0" y="772782"/>
                  </a:moveTo>
                  <a:lnTo>
                    <a:pt x="0" y="0"/>
                  </a:lnTo>
                </a:path>
                <a:path w="1901190" h="772795">
                  <a:moveTo>
                    <a:pt x="1900882" y="760707"/>
                  </a:moveTo>
                  <a:lnTo>
                    <a:pt x="1900882" y="0"/>
                  </a:lnTo>
                </a:path>
              </a:pathLst>
            </a:custGeom>
            <a:ln w="18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443932" y="7695765"/>
            <a:ext cx="217805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1160" b="1">
                <a:solidFill>
                  <a:srgbClr val="49347B"/>
                </a:solidFill>
                <a:latin typeface="Arial"/>
                <a:cs typeface="Arial"/>
              </a:rPr>
              <a:t>PILARES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29735" y="7695765"/>
            <a:ext cx="360934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84885" algn="l"/>
              </a:tabLst>
            </a:pPr>
            <a:r>
              <a:rPr dirty="0" sz="2000" spc="1340" b="1">
                <a:solidFill>
                  <a:srgbClr val="49347B"/>
                </a:solidFill>
                <a:latin typeface="Arial"/>
                <a:cs typeface="Arial"/>
              </a:rPr>
              <a:t>DA</a:t>
            </a:r>
            <a:r>
              <a:rPr dirty="0" sz="2000" b="1">
                <a:solidFill>
                  <a:srgbClr val="49347B"/>
                </a:solidFill>
                <a:latin typeface="Arial"/>
                <a:cs typeface="Arial"/>
              </a:rPr>
              <a:t>	</a:t>
            </a:r>
            <a:r>
              <a:rPr dirty="0" sz="2000" spc="1235" b="1">
                <a:solidFill>
                  <a:srgbClr val="49347B"/>
                </a:solidFill>
                <a:latin typeface="Arial"/>
                <a:cs typeface="Arial"/>
              </a:rPr>
              <a:t>SUD0EXP0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61114" y="7695765"/>
            <a:ext cx="121221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1195" b="1">
                <a:solidFill>
                  <a:srgbClr val="49347B"/>
                </a:solidFill>
                <a:latin typeface="Arial"/>
                <a:cs typeface="Arial"/>
              </a:rPr>
              <a:t>2024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45981" y="9544204"/>
            <a:ext cx="15633700" cy="82105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2540">
              <a:lnSpc>
                <a:spcPct val="101499"/>
              </a:lnSpc>
              <a:spcBef>
                <a:spcPts val="65"/>
              </a:spcBef>
            </a:pPr>
            <a:r>
              <a:rPr dirty="0" sz="2150" spc="-130">
                <a:solidFill>
                  <a:srgbClr val="49347B"/>
                </a:solidFill>
                <a:latin typeface="Arial"/>
                <a:cs typeface="Arial"/>
              </a:rPr>
              <a:t>Abrangendo</a:t>
            </a:r>
            <a:r>
              <a:rPr dirty="0" sz="2150" spc="5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9347B"/>
                </a:solidFill>
                <a:latin typeface="Arial"/>
                <a:cs typeface="Arial"/>
              </a:rPr>
              <a:t>todas</a:t>
            </a:r>
            <a:r>
              <a:rPr dirty="0" sz="2150" spc="-2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204">
                <a:solidFill>
                  <a:srgbClr val="49347B"/>
                </a:solidFill>
                <a:latin typeface="Arial"/>
                <a:cs typeface="Arial"/>
              </a:rPr>
              <a:t>as</a:t>
            </a:r>
            <a:r>
              <a:rPr dirty="0" sz="2150" spc="5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9347B"/>
                </a:solidFill>
                <a:latin typeface="Arial"/>
                <a:cs typeface="Arial"/>
              </a:rPr>
              <a:t>areas</a:t>
            </a:r>
            <a:r>
              <a:rPr dirty="0" sz="2150" spc="-3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49347B"/>
                </a:solidFill>
                <a:latin typeface="Arial"/>
                <a:cs typeface="Arial"/>
              </a:rPr>
              <a:t>comerciais</a:t>
            </a:r>
            <a:r>
              <a:rPr dirty="0" sz="2150" spc="-4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50" spc="-15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9347B"/>
                </a:solidFill>
                <a:latin typeface="Arial"/>
                <a:cs typeface="Arial"/>
              </a:rPr>
              <a:t>industriaisl</a:t>
            </a:r>
            <a:r>
              <a:rPr dirty="0" sz="2150" spc="-2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3000" spc="-685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3000" spc="-17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9347B"/>
                </a:solidFill>
                <a:latin typeface="Arial"/>
                <a:cs typeface="Arial"/>
              </a:rPr>
              <a:t>uma</a:t>
            </a:r>
            <a:r>
              <a:rPr dirty="0" sz="2150" spc="-2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10">
                <a:solidFill>
                  <a:srgbClr val="49347B"/>
                </a:solidFill>
                <a:latin typeface="Arial"/>
                <a:cs typeface="Arial"/>
              </a:rPr>
              <a:t>grande</a:t>
            </a:r>
            <a:r>
              <a:rPr dirty="0" sz="2150" spc="3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49347B"/>
                </a:solidFill>
                <a:latin typeface="Arial"/>
                <a:cs typeface="Arial"/>
              </a:rPr>
              <a:t>oportunidade</a:t>
            </a:r>
            <a:r>
              <a:rPr dirty="0" sz="2150" spc="5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9347B"/>
                </a:solidFill>
                <a:latin typeface="Arial"/>
                <a:cs typeface="Arial"/>
              </a:rPr>
              <a:t>para</a:t>
            </a:r>
            <a:r>
              <a:rPr dirty="0" sz="2150" spc="-3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347B"/>
                </a:solidFill>
                <a:latin typeface="Arial"/>
                <a:cs typeface="Arial"/>
              </a:rPr>
              <a:t>o</a:t>
            </a:r>
            <a:r>
              <a:rPr dirty="0" sz="2150" spc="-9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9347B"/>
                </a:solidFill>
                <a:latin typeface="Arial"/>
                <a:cs typeface="Arial"/>
              </a:rPr>
              <a:t>empresario</a:t>
            </a:r>
            <a:r>
              <a:rPr dirty="0" sz="2150" spc="11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49347B"/>
                </a:solidFill>
                <a:latin typeface="Arial"/>
                <a:cs typeface="Arial"/>
              </a:rPr>
              <a:t>negociar.</a:t>
            </a:r>
            <a:r>
              <a:rPr dirty="0" sz="2150" spc="1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49347B"/>
                </a:solidFill>
                <a:latin typeface="Arial"/>
                <a:cs typeface="Arial"/>
              </a:rPr>
              <a:t>trocar</a:t>
            </a:r>
            <a:r>
              <a:rPr dirty="0" sz="2150" spc="-2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10">
                <a:solidFill>
                  <a:srgbClr val="49347B"/>
                </a:solidFill>
                <a:latin typeface="Arial"/>
                <a:cs typeface="Arial"/>
              </a:rPr>
              <a:t>experiencias</a:t>
            </a:r>
            <a:r>
              <a:rPr dirty="0" sz="2150" spc="10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50" spc="-1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49347B"/>
                </a:solidFill>
                <a:latin typeface="Arial"/>
                <a:cs typeface="Arial"/>
              </a:rPr>
              <a:t>fortalecer </a:t>
            </a:r>
            <a:r>
              <a:rPr dirty="0" sz="2150" spc="-175">
                <a:solidFill>
                  <a:srgbClr val="49347B"/>
                </a:solidFill>
                <a:latin typeface="Arial"/>
                <a:cs typeface="Arial"/>
              </a:rPr>
              <a:t>sua</a:t>
            </a:r>
            <a:r>
              <a:rPr dirty="0" sz="2150" spc="2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9347B"/>
                </a:solidFill>
                <a:latin typeface="Arial"/>
                <a:cs typeface="Arial"/>
              </a:rPr>
              <a:t>marca.</a:t>
            </a:r>
            <a:r>
              <a:rPr dirty="0" sz="2150" spc="-3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9347B"/>
                </a:solidFill>
                <a:latin typeface="Arial"/>
                <a:cs typeface="Arial"/>
              </a:rPr>
              <a:t>Na</a:t>
            </a:r>
            <a:r>
              <a:rPr dirty="0" sz="2150" spc="-6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49347B"/>
                </a:solidFill>
                <a:latin typeface="Arial"/>
                <a:cs typeface="Arial"/>
              </a:rPr>
              <a:t>feiral</a:t>
            </a:r>
            <a:r>
              <a:rPr dirty="0" sz="2150" spc="-6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49347B"/>
                </a:solidFill>
                <a:latin typeface="Arial"/>
                <a:cs typeface="Arial"/>
              </a:rPr>
              <a:t>empresas</a:t>
            </a:r>
            <a:r>
              <a:rPr dirty="0" sz="2150" spc="-2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35">
                <a:solidFill>
                  <a:srgbClr val="49347B"/>
                </a:solidFill>
                <a:latin typeface="Arial"/>
                <a:cs typeface="Arial"/>
              </a:rPr>
              <a:t>de</a:t>
            </a:r>
            <a:r>
              <a:rPr dirty="0" sz="2150" spc="-1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49347B"/>
                </a:solidFill>
                <a:latin typeface="Arial"/>
                <a:cs typeface="Arial"/>
              </a:rPr>
              <a:t>todos</a:t>
            </a:r>
            <a:r>
              <a:rPr dirty="0" sz="2150" spc="-5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65">
                <a:solidFill>
                  <a:srgbClr val="49347B"/>
                </a:solidFill>
                <a:latin typeface="Arial"/>
                <a:cs typeface="Arial"/>
              </a:rPr>
              <a:t>os</a:t>
            </a:r>
            <a:r>
              <a:rPr dirty="0" sz="2150" spc="1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49347B"/>
                </a:solidFill>
                <a:latin typeface="Arial"/>
                <a:cs typeface="Arial"/>
              </a:rPr>
              <a:t>portes</a:t>
            </a:r>
            <a:r>
              <a:rPr dirty="0" sz="2150" spc="-8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49347B"/>
                </a:solidFill>
                <a:latin typeface="Arial"/>
                <a:cs typeface="Arial"/>
              </a:rPr>
              <a:t>tern</a:t>
            </a:r>
            <a:r>
              <a:rPr dirty="0" sz="2150" spc="-7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290">
                <a:solidFill>
                  <a:srgbClr val="49347B"/>
                </a:solidFill>
                <a:latin typeface="Arial"/>
                <a:cs typeface="Arial"/>
              </a:rPr>
              <a:t>a</a:t>
            </a:r>
            <a:r>
              <a:rPr dirty="0" sz="2150" spc="7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49347B"/>
                </a:solidFill>
                <a:latin typeface="Arial"/>
                <a:cs typeface="Arial"/>
              </a:rPr>
              <a:t>possibilidade</a:t>
            </a:r>
            <a:r>
              <a:rPr dirty="0" sz="2150" spc="1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49347B"/>
                </a:solidFill>
                <a:latin typeface="Arial"/>
                <a:cs typeface="Arial"/>
              </a:rPr>
              <a:t>de</a:t>
            </a:r>
            <a:r>
              <a:rPr dirty="0" sz="2150" spc="-2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90">
                <a:solidFill>
                  <a:srgbClr val="49347B"/>
                </a:solidFill>
                <a:latin typeface="Arial"/>
                <a:cs typeface="Arial"/>
              </a:rPr>
              <a:t>expor</a:t>
            </a:r>
            <a:r>
              <a:rPr dirty="0" sz="2150" spc="-5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85">
                <a:solidFill>
                  <a:srgbClr val="49347B"/>
                </a:solidFill>
                <a:latin typeface="Arial"/>
                <a:cs typeface="Arial"/>
              </a:rPr>
              <a:t>seus</a:t>
            </a:r>
            <a:r>
              <a:rPr dirty="0" sz="2150" spc="4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49347B"/>
                </a:solidFill>
                <a:latin typeface="Arial"/>
                <a:cs typeface="Arial"/>
              </a:rPr>
              <a:t>produtos</a:t>
            </a:r>
            <a:r>
              <a:rPr dirty="0" sz="2150" spc="1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50" spc="-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75">
                <a:solidFill>
                  <a:srgbClr val="49347B"/>
                </a:solidFill>
                <a:latin typeface="Arial"/>
                <a:cs typeface="Arial"/>
              </a:rPr>
              <a:t>fechar</a:t>
            </a:r>
            <a:r>
              <a:rPr dirty="0" sz="215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9347B"/>
                </a:solidFill>
                <a:latin typeface="Arial"/>
                <a:cs typeface="Arial"/>
              </a:rPr>
              <a:t>neg6ciosl</a:t>
            </a:r>
            <a:r>
              <a:rPr dirty="0" sz="2150" spc="3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49347B"/>
                </a:solidFill>
                <a:latin typeface="Arial"/>
                <a:cs typeface="Arial"/>
              </a:rPr>
              <a:t>nacionais</a:t>
            </a:r>
            <a:r>
              <a:rPr dirty="0" sz="2150" spc="55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9347B"/>
                </a:solidFill>
                <a:latin typeface="Arial"/>
                <a:cs typeface="Arial"/>
              </a:rPr>
              <a:t>e</a:t>
            </a:r>
            <a:r>
              <a:rPr dirty="0" sz="2150" spc="-70">
                <a:solidFill>
                  <a:srgbClr val="49347B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49347B"/>
                </a:solidFill>
                <a:latin typeface="Arial"/>
                <a:cs typeface="Arial"/>
              </a:rPr>
              <a:t>internacionais</a:t>
            </a:r>
            <a:r>
              <a:rPr dirty="0" sz="2150" spc="-20">
                <a:solidFill>
                  <a:srgbClr val="62597B"/>
                </a:solidFill>
                <a:latin typeface="Arial"/>
                <a:cs typeface="Arial"/>
              </a:rPr>
              <a:t>.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9676" y="1008251"/>
            <a:ext cx="2848305" cy="778819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2915" y="1008251"/>
            <a:ext cx="2450025" cy="869380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26310" y="1159185"/>
            <a:ext cx="16857980" cy="10104120"/>
            <a:chOff x="1626310" y="1159185"/>
            <a:chExt cx="16857980" cy="10104120"/>
          </a:xfrm>
        </p:grpSpPr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310" y="2055734"/>
              <a:ext cx="16857500" cy="828627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27697" y="1159185"/>
              <a:ext cx="3669004" cy="403597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248395" y="6299999"/>
              <a:ext cx="368107" cy="41355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786369" y="1608970"/>
              <a:ext cx="1674586" cy="76674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14812" y="2683620"/>
              <a:ext cx="3669004" cy="401786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13090" y="7981405"/>
              <a:ext cx="3970731" cy="108974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197932" y="10342016"/>
              <a:ext cx="0" cy="920750"/>
            </a:xfrm>
            <a:custGeom>
              <a:avLst/>
              <a:gdLst/>
              <a:ahLst/>
              <a:cxnLst/>
              <a:rect l="l" t="t" r="r" b="b"/>
              <a:pathLst>
                <a:path w="0" h="920750">
                  <a:moveTo>
                    <a:pt x="0" y="920697"/>
                  </a:moveTo>
                  <a:lnTo>
                    <a:pt x="0" y="0"/>
                  </a:lnTo>
                </a:path>
              </a:pathLst>
            </a:custGeom>
            <a:ln w="15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10980635" y="5453137"/>
            <a:ext cx="2438400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50" spc="105">
                <a:solidFill>
                  <a:srgbClr val="4B3180"/>
                </a:solidFill>
                <a:latin typeface="Arial"/>
                <a:cs typeface="Arial"/>
              </a:rPr>
              <a:t>EXPOSll;AO</a:t>
            </a:r>
            <a:endParaRPr sz="31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661608" y="5881789"/>
            <a:ext cx="572770" cy="50863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50" spc="-25">
                <a:solidFill>
                  <a:srgbClr val="4B3180"/>
                </a:solidFill>
                <a:latin typeface="Arial"/>
                <a:cs typeface="Arial"/>
              </a:rPr>
              <a:t>DE</a:t>
            </a:r>
            <a:endParaRPr sz="31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722883" y="5655388"/>
            <a:ext cx="2092960" cy="780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150" spc="-135">
                <a:solidFill>
                  <a:srgbClr val="4B3180"/>
                </a:solidFill>
                <a:latin typeface="Arial"/>
                <a:cs typeface="Arial"/>
              </a:rPr>
              <a:t>RO</a:t>
            </a:r>
            <a:r>
              <a:rPr dirty="0" sz="4950" spc="-135">
                <a:solidFill>
                  <a:srgbClr val="4B3180"/>
                </a:solidFill>
                <a:latin typeface="Arial"/>
                <a:cs typeface="Arial"/>
              </a:rPr>
              <a:t>□</a:t>
            </a:r>
            <a:r>
              <a:rPr dirty="0" sz="3150" spc="-135">
                <a:solidFill>
                  <a:srgbClr val="C46241"/>
                </a:solidFill>
                <a:latin typeface="Arial"/>
                <a:cs typeface="Arial"/>
              </a:rPr>
              <a:t>.</a:t>
            </a:r>
            <a:r>
              <a:rPr dirty="0" sz="3150" spc="-135">
                <a:solidFill>
                  <a:srgbClr val="4B3180"/>
                </a:solidFill>
                <a:latin typeface="Arial"/>
                <a:cs typeface="Arial"/>
              </a:rPr>
              <a:t>UTOS</a:t>
            </a:r>
            <a:endParaRPr sz="31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648558" y="6213844"/>
            <a:ext cx="1555115" cy="5994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750" spc="-235" i="1">
                <a:solidFill>
                  <a:srgbClr val="C46241"/>
                </a:solidFill>
                <a:latin typeface="Times New Roman"/>
                <a:cs typeface="Times New Roman"/>
              </a:rPr>
              <a:t>de'IJJ/fM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748970" y="8146052"/>
            <a:ext cx="4446270" cy="8001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145540">
              <a:lnSpc>
                <a:spcPct val="100000"/>
              </a:lnSpc>
              <a:spcBef>
                <a:spcPts val="130"/>
              </a:spcBef>
              <a:tabLst>
                <a:tab pos="3721735" algn="l"/>
              </a:tabLst>
            </a:pPr>
            <a:r>
              <a:rPr dirty="0" sz="1900" spc="1265">
                <a:solidFill>
                  <a:srgbClr val="4B3180"/>
                </a:solidFill>
                <a:latin typeface="Arial"/>
                <a:cs typeface="Arial"/>
              </a:rPr>
              <a:t>PILARES</a:t>
            </a:r>
            <a:r>
              <a:rPr dirty="0" sz="1900">
                <a:solidFill>
                  <a:srgbClr val="4B3180"/>
                </a:solidFill>
                <a:latin typeface="Arial"/>
                <a:cs typeface="Arial"/>
              </a:rPr>
              <a:t>	</a:t>
            </a:r>
            <a:r>
              <a:rPr dirty="0" sz="1900" spc="1445">
                <a:solidFill>
                  <a:srgbClr val="4B3180"/>
                </a:solidFill>
                <a:latin typeface="Arial"/>
                <a:cs typeface="Arial"/>
              </a:rPr>
              <a:t>DA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1900" spc="1390">
                <a:solidFill>
                  <a:srgbClr val="4B3180"/>
                </a:solidFill>
                <a:latin typeface="Arial"/>
                <a:cs typeface="Arial"/>
              </a:rPr>
              <a:t>SUDOEXP02024: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5880" y="1509352"/>
            <a:ext cx="6502224" cy="95390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45348" y="1509352"/>
            <a:ext cx="3071584" cy="95390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692690" y="3479043"/>
            <a:ext cx="16800195" cy="439420"/>
            <a:chOff x="1692690" y="3479043"/>
            <a:chExt cx="16800195" cy="439420"/>
          </a:xfrm>
        </p:grpSpPr>
        <p:sp>
          <p:nvSpPr>
            <p:cNvPr id="5" name="object 5" descr=""/>
            <p:cNvSpPr/>
            <p:nvPr/>
          </p:nvSpPr>
          <p:spPr>
            <a:xfrm>
              <a:off x="16489401" y="3522814"/>
              <a:ext cx="0" cy="395605"/>
            </a:xfrm>
            <a:custGeom>
              <a:avLst/>
              <a:gdLst/>
              <a:ahLst/>
              <a:cxnLst/>
              <a:rect l="l" t="t" r="r" b="b"/>
              <a:pathLst>
                <a:path w="0" h="395604">
                  <a:moveTo>
                    <a:pt x="0" y="395447"/>
                  </a:moveTo>
                  <a:lnTo>
                    <a:pt x="0" y="0"/>
                  </a:lnTo>
                </a:path>
              </a:pathLst>
            </a:custGeom>
            <a:ln w="120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92690" y="3483571"/>
              <a:ext cx="16800195" cy="0"/>
            </a:xfrm>
            <a:custGeom>
              <a:avLst/>
              <a:gdLst/>
              <a:ahLst/>
              <a:cxnLst/>
              <a:rect l="l" t="t" r="r" b="b"/>
              <a:pathLst>
                <a:path w="16800195" h="0">
                  <a:moveTo>
                    <a:pt x="0" y="0"/>
                  </a:moveTo>
                  <a:lnTo>
                    <a:pt x="16800179" y="0"/>
                  </a:lnTo>
                </a:path>
              </a:pathLst>
            </a:custGeom>
            <a:ln w="90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692690" y="4120513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92690" y="5041211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92690" y="5970965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12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692690" y="6574701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92690" y="7199569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692690" y="7851604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692690" y="8452322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60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692690" y="9092283"/>
            <a:ext cx="16800195" cy="0"/>
          </a:xfrm>
          <a:custGeom>
            <a:avLst/>
            <a:gdLst/>
            <a:ahLst/>
            <a:cxnLst/>
            <a:rect l="l" t="t" r="r" b="b"/>
            <a:pathLst>
              <a:path w="16800195" h="0">
                <a:moveTo>
                  <a:pt x="0" y="0"/>
                </a:moveTo>
                <a:lnTo>
                  <a:pt x="16800179" y="0"/>
                </a:lnTo>
              </a:path>
            </a:pathLst>
          </a:custGeom>
          <a:ln w="905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16513539" y="9282459"/>
            <a:ext cx="1856105" cy="0"/>
          </a:xfrm>
          <a:custGeom>
            <a:avLst/>
            <a:gdLst/>
            <a:ahLst/>
            <a:cxnLst/>
            <a:rect l="l" t="t" r="r" b="b"/>
            <a:pathLst>
              <a:path w="1856105" h="0">
                <a:moveTo>
                  <a:pt x="0" y="0"/>
                </a:moveTo>
                <a:lnTo>
                  <a:pt x="1855623" y="0"/>
                </a:lnTo>
              </a:path>
            </a:pathLst>
          </a:custGeom>
          <a:ln w="12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847826" y="954800"/>
            <a:ext cx="154241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955">
                <a:solidFill>
                  <a:srgbClr val="C36242"/>
                </a:solidFill>
                <a:latin typeface="Arial"/>
                <a:cs typeface="Arial"/>
              </a:rPr>
              <a:t>COTAS</a:t>
            </a:r>
            <a:endParaRPr sz="205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795891" y="954800"/>
            <a:ext cx="4063365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65835" algn="l"/>
              </a:tabLst>
            </a:pPr>
            <a:r>
              <a:rPr dirty="0" sz="2050" spc="955">
                <a:solidFill>
                  <a:srgbClr val="C36242"/>
                </a:solidFill>
                <a:latin typeface="Arial"/>
                <a:cs typeface="Arial"/>
              </a:rPr>
              <a:t>DE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1130">
                <a:solidFill>
                  <a:srgbClr val="C36242"/>
                </a:solidFill>
                <a:latin typeface="Arial"/>
                <a:cs typeface="Arial"/>
              </a:rPr>
              <a:t>PATRONICIO</a:t>
            </a:r>
            <a:endParaRPr sz="20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455604" y="2387414"/>
            <a:ext cx="1742439" cy="471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900" spc="-155">
                <a:solidFill>
                  <a:srgbClr val="EBBC1A"/>
                </a:solidFill>
                <a:latin typeface="Arial"/>
                <a:cs typeface="Arial"/>
              </a:rPr>
              <a:t>r-</a:t>
            </a:r>
            <a:r>
              <a:rPr dirty="0" sz="2900" spc="-260">
                <a:solidFill>
                  <a:srgbClr val="49337E"/>
                </a:solidFill>
                <a:latin typeface="Arial"/>
                <a:cs typeface="Arial"/>
              </a:rPr>
              <a:t>MAS=r-</a:t>
            </a:r>
            <a:r>
              <a:rPr dirty="0" sz="2900" spc="-345">
                <a:solidFill>
                  <a:srgbClr val="49337E"/>
                </a:solidFill>
                <a:latin typeface="Arial"/>
                <a:cs typeface="Arial"/>
              </a:rPr>
              <a:t>ER</a:t>
            </a:r>
            <a:endParaRPr sz="2900">
              <a:latin typeface="Arial"/>
              <a:cs typeface="Arial"/>
            </a:endParaRPr>
          </a:p>
        </p:txBody>
      </p:sp>
      <p:graphicFrame>
        <p:nvGraphicFramePr>
          <p:cNvPr id="19" name="object 19" descr=""/>
          <p:cNvGraphicFramePr>
            <a:graphicFrameLocks noGrp="1"/>
          </p:cNvGraphicFramePr>
          <p:nvPr/>
        </p:nvGraphicFramePr>
        <p:xfrm>
          <a:off x="1686655" y="2703242"/>
          <a:ext cx="16791940" cy="6381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95500"/>
                <a:gridCol w="1907540"/>
              </a:tblGrid>
              <a:tr h="775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733425">
                        <a:lnSpc>
                          <a:spcPts val="335"/>
                        </a:lnSpc>
                        <a:tabLst>
                          <a:tab pos="4444365" algn="l"/>
                          <a:tab pos="7835265" algn="l"/>
                          <a:tab pos="10336530" algn="l"/>
                          <a:tab pos="10960735" algn="l"/>
                        </a:tabLst>
                      </a:pPr>
                      <a:r>
                        <a:rPr dirty="0" sz="550" spc="10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5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50" spc="10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5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5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#</a:t>
                      </a:r>
                      <a:r>
                        <a:rPr dirty="0" sz="5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#</a:t>
                      </a:r>
                      <a:endParaRPr sz="550">
                        <a:latin typeface="Arial"/>
                        <a:cs typeface="Arial"/>
                      </a:endParaRPr>
                    </a:p>
                    <a:p>
                      <a:pPr marL="3175">
                        <a:lnSpc>
                          <a:spcPts val="1565"/>
                        </a:lnSpc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TODA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DIVULGACAO</a:t>
                      </a:r>
                      <a:r>
                        <a:rPr dirty="0" sz="1750" spc="1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TV,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RADIO,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OUTDOORS,</a:t>
                      </a:r>
                      <a:r>
                        <a:rPr dirty="0" sz="1750" spc="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PAINEIS,</a:t>
                      </a:r>
                      <a:r>
                        <a:rPr dirty="0" sz="1750" spc="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MIDIAS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SOCIAIS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639445">
                        <a:lnSpc>
                          <a:spcPts val="390"/>
                        </a:lnSpc>
                        <a:tabLst>
                          <a:tab pos="4368165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187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6905">
                <a:tc gridSpan="2">
                  <a:txBody>
                    <a:bodyPr/>
                    <a:lstStyle/>
                    <a:p>
                      <a:pPr marL="3175">
                        <a:lnSpc>
                          <a:spcPts val="3504"/>
                        </a:lnSpc>
                        <a:spcBef>
                          <a:spcPts val="220"/>
                        </a:spcBef>
                        <a:tabLst>
                          <a:tab pos="15628619" algn="l"/>
                        </a:tabLst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TODA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COMUNICACAO</a:t>
                      </a:r>
                      <a:r>
                        <a:rPr dirty="0" sz="1750" spc="1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VISUAL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FEIRA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PORTAL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ENTRADA,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PLACAS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INDICATIVAS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baseline="-5128" sz="4875" spc="-60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baseline="-5128" sz="4875">
                        <a:latin typeface="Arial"/>
                        <a:cs typeface="Arial"/>
                      </a:endParaRPr>
                    </a:p>
                    <a:p>
                      <a:pPr marL="654050">
                        <a:lnSpc>
                          <a:spcPts val="300"/>
                        </a:lnSpc>
                        <a:tabLst>
                          <a:tab pos="4585335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2794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082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09295">
                <a:tc>
                  <a:txBody>
                    <a:bodyPr/>
                    <a:lstStyle/>
                    <a:p>
                      <a:pPr marL="3175">
                        <a:lnSpc>
                          <a:spcPts val="1895"/>
                        </a:lnSpc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NOS</a:t>
                      </a:r>
                      <a:r>
                        <a:rPr dirty="0" sz="17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FESTIVAis</a:t>
                      </a:r>
                      <a:r>
                        <a:rPr dirty="0" sz="1750" spc="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BARZINHO</a:t>
                      </a:r>
                      <a:r>
                        <a:rPr dirty="0" sz="1750" spc="1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VIOLAO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2023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(OUTUBRO)</a:t>
                      </a:r>
                      <a:r>
                        <a:rPr dirty="0" sz="1750" spc="1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(SETEMBRO)</a:t>
                      </a:r>
                      <a:r>
                        <a:rPr dirty="0" sz="1750" spc="1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Durante</a:t>
                      </a:r>
                      <a:r>
                        <a:rPr dirty="0" sz="19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5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9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realizacao</a:t>
                      </a:r>
                      <a:r>
                        <a:rPr dirty="0" sz="1950" spc="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Feira</a:t>
                      </a:r>
                      <a:endParaRPr sz="1950">
                        <a:latin typeface="Arial"/>
                        <a:cs typeface="Arial"/>
                      </a:endParaRPr>
                    </a:p>
                    <a:p>
                      <a:pPr marL="659765">
                        <a:lnSpc>
                          <a:spcPts val="300"/>
                        </a:lnSpc>
                        <a:tabLst>
                          <a:tab pos="12806680" algn="l"/>
                        </a:tabLst>
                      </a:pPr>
                      <a:r>
                        <a:rPr dirty="0" sz="550" spc="-50" i="1">
                          <a:solidFill>
                            <a:srgbClr val="49337E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550" i="1">
                          <a:solidFill>
                            <a:srgbClr val="49337E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645683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marL="4445">
                        <a:lnSpc>
                          <a:spcPts val="2215"/>
                        </a:lnSpc>
                      </a:pPr>
                      <a:r>
                        <a:rPr dirty="0" sz="19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com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direito</a:t>
                      </a:r>
                      <a:r>
                        <a:rPr dirty="0" sz="19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950" spc="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passar</a:t>
                      </a:r>
                      <a:r>
                        <a:rPr dirty="0" sz="1950" spc="1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filme</a:t>
                      </a:r>
                      <a:r>
                        <a:rPr dirty="0" sz="19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9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30</a:t>
                      </a:r>
                      <a:r>
                        <a:rPr dirty="0" sz="19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segundos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3575"/>
                        </a:lnSpc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29640">
                <a:tc>
                  <a:txBody>
                    <a:bodyPr/>
                    <a:lstStyle/>
                    <a:p>
                      <a:pPr marL="3175">
                        <a:lnSpc>
                          <a:spcPts val="2135"/>
                        </a:lnSpc>
                        <a:spcBef>
                          <a:spcPts val="1400"/>
                        </a:spcBef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LANCAMENTO</a:t>
                      </a:r>
                      <a:r>
                        <a:rPr dirty="0" sz="1750" spc="1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OFICIAL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(06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750" spc="-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OUTUBRO</a:t>
                      </a:r>
                      <a:r>
                        <a:rPr dirty="0" sz="1750" spc="1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2023)</a:t>
                      </a:r>
                      <a:r>
                        <a:rPr dirty="0" sz="1750" spc="1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Teatro</a:t>
                      </a:r>
                      <a:r>
                        <a:rPr dirty="0" sz="1950" spc="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Lauro</a:t>
                      </a:r>
                      <a:r>
                        <a:rPr dirty="0" sz="19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Martins,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com</a:t>
                      </a:r>
                      <a:r>
                        <a:rPr dirty="0" sz="19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direito</a:t>
                      </a:r>
                      <a:r>
                        <a:rPr dirty="0" sz="19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25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9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950">
                        <a:latin typeface="Arial"/>
                        <a:cs typeface="Arial"/>
                      </a:endParaRPr>
                    </a:p>
                    <a:p>
                      <a:pPr marL="654050">
                        <a:lnSpc>
                          <a:spcPts val="285"/>
                        </a:lnSpc>
                        <a:tabLst>
                          <a:tab pos="3209290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  <a:p>
                      <a:pPr marL="4445">
                        <a:lnSpc>
                          <a:spcPts val="2230"/>
                        </a:lnSpc>
                      </a:pPr>
                      <a:r>
                        <a:rPr dirty="0" sz="19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minutos</a:t>
                      </a:r>
                      <a:r>
                        <a:rPr dirty="0" sz="19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para</a:t>
                      </a:r>
                      <a:r>
                        <a:rPr dirty="0" sz="19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apresenta9ao</a:t>
                      </a:r>
                      <a:r>
                        <a:rPr dirty="0" sz="1950" spc="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9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empresa</a:t>
                      </a:r>
                      <a:endParaRPr sz="1950">
                        <a:latin typeface="Arial"/>
                        <a:cs typeface="Arial"/>
                      </a:endParaRPr>
                    </a:p>
                  </a:txBody>
                  <a:tcPr marL="0" marR="0" marB="0" marT="17780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1879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marL="635">
                        <a:lnSpc>
                          <a:spcPts val="2945"/>
                        </a:lnSpc>
                        <a:spcBef>
                          <a:spcPts val="505"/>
                        </a:spcBef>
                      </a:pPr>
                      <a:r>
                        <a:rPr dirty="0" sz="1750" spc="-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CITAC</a:t>
                      </a:r>
                      <a:r>
                        <a:rPr dirty="0" sz="1750" spc="-9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baseline="19547" sz="4050" spc="-247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50" spc="1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</a:t>
                      </a:r>
                      <a:r>
                        <a:rPr dirty="0" sz="1750" spc="-9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baseline="19547" sz="4050" spc="-262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750" spc="1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TODDS</a:t>
                      </a:r>
                      <a:r>
                        <a:rPr dirty="0" sz="17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OS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EVENTOS</a:t>
                      </a:r>
                      <a:r>
                        <a:rPr dirty="0" sz="1750" spc="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RELATIVOS</a:t>
                      </a:r>
                      <a:r>
                        <a:rPr dirty="0" sz="1750" spc="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17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9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514984">
                        <a:lnSpc>
                          <a:spcPts val="305"/>
                        </a:lnSpc>
                        <a:tabLst>
                          <a:tab pos="1828800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6413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24840">
                <a:tc>
                  <a:txBody>
                    <a:bodyPr/>
                    <a:lstStyle/>
                    <a:p>
                      <a:pPr marL="3175">
                        <a:lnSpc>
                          <a:spcPts val="1900"/>
                        </a:lnSpc>
                        <a:spcBef>
                          <a:spcPts val="1645"/>
                        </a:spcBef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NA</a:t>
                      </a:r>
                      <a:r>
                        <a:rPr dirty="0" sz="1750" spc="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RODADA</a:t>
                      </a:r>
                      <a:r>
                        <a:rPr dirty="0" sz="1750" spc="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NEGOCIOS</a:t>
                      </a:r>
                      <a:r>
                        <a:rPr dirty="0" sz="1750" spc="1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PAINEIS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659130">
                        <a:lnSpc>
                          <a:spcPts val="400"/>
                        </a:lnSpc>
                      </a:pPr>
                      <a:r>
                        <a:rPr dirty="0" sz="500" i="1">
                          <a:solidFill>
                            <a:srgbClr val="49337E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8915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577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marL="773430">
                        <a:lnSpc>
                          <a:spcPts val="2190"/>
                        </a:lnSpc>
                        <a:tabLst>
                          <a:tab pos="3427729" algn="l"/>
                        </a:tabLst>
                      </a:pPr>
                      <a:r>
                        <a:rPr dirty="0" sz="270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270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250" spc="-50" i="1">
                          <a:solidFill>
                            <a:srgbClr val="49337E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endParaRPr sz="1250">
                        <a:latin typeface="Courier New"/>
                        <a:cs typeface="Courier New"/>
                      </a:endParaRPr>
                    </a:p>
                    <a:p>
                      <a:pPr marL="3175">
                        <a:lnSpc>
                          <a:spcPts val="1360"/>
                        </a:lnSpc>
                      </a:pP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NOS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PAINEIS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LED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DO</a:t>
                      </a:r>
                      <a:r>
                        <a:rPr dirty="0" sz="1750" spc="-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ESPACO</a:t>
                      </a:r>
                      <a:r>
                        <a:rPr dirty="0" sz="1750" spc="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MULTIUSO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654050">
                        <a:lnSpc>
                          <a:spcPts val="400"/>
                        </a:lnSpc>
                        <a:tabLst>
                          <a:tab pos="5310505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00710">
                <a:tc>
                  <a:txBody>
                    <a:bodyPr/>
                    <a:lstStyle/>
                    <a:p>
                      <a:pPr marL="635">
                        <a:lnSpc>
                          <a:spcPts val="2615"/>
                        </a:lnSpc>
                        <a:spcBef>
                          <a:spcPts val="760"/>
                        </a:spcBef>
                      </a:pPr>
                      <a:r>
                        <a:rPr dirty="0" sz="1750" spc="-9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CITACAO</a:t>
                      </a:r>
                      <a:r>
                        <a:rPr dirty="0" sz="1750" spc="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750" spc="-114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ATIVACAO</a:t>
                      </a:r>
                      <a:r>
                        <a:rPr dirty="0" sz="1750" spc="8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4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MARCA</a:t>
                      </a:r>
                      <a:r>
                        <a:rPr dirty="0" sz="1750" spc="2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-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TODDS</a:t>
                      </a:r>
                      <a:r>
                        <a:rPr dirty="0" sz="1750" spc="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OS</a:t>
                      </a:r>
                      <a:r>
                        <a:rPr dirty="0" sz="1750" spc="-6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EVENTOS</a:t>
                      </a:r>
                      <a:r>
                        <a:rPr dirty="0" sz="1750" spc="4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RELATIVOS</a:t>
                      </a:r>
                      <a:r>
                        <a:rPr dirty="0" sz="17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4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dirty="0" sz="2400" spc="-7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6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SUDOEXPO</a:t>
                      </a:r>
                      <a:r>
                        <a:rPr dirty="0" sz="1750" spc="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12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2024</a:t>
                      </a:r>
                      <a:endParaRPr sz="1750">
                        <a:latin typeface="Arial"/>
                        <a:cs typeface="Arial"/>
                      </a:endParaRPr>
                    </a:p>
                    <a:p>
                      <a:pPr marL="501015">
                        <a:lnSpc>
                          <a:spcPts val="335"/>
                        </a:lnSpc>
                        <a:tabLst>
                          <a:tab pos="1831339" algn="l"/>
                        </a:tabLst>
                      </a:pP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50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500" spc="-50" i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I</a:t>
                      </a:r>
                      <a:endParaRPr sz="500">
                        <a:latin typeface="Arial"/>
                        <a:cs typeface="Arial"/>
                      </a:endParaRPr>
                    </a:p>
                  </a:txBody>
                  <a:tcPr marL="0" marR="0" marB="0" marT="96520"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E6C13A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3175">
                        <a:lnSpc>
                          <a:spcPct val="100000"/>
                        </a:lnSpc>
                        <a:spcBef>
                          <a:spcPts val="1625"/>
                        </a:spcBef>
                      </a:pP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AREA</a:t>
                      </a:r>
                      <a:r>
                        <a:rPr dirty="0" sz="1750" spc="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dirty="0" sz="1750" spc="5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5X5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M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EM</a:t>
                      </a:r>
                      <a:r>
                        <a:rPr dirty="0" sz="1750" spc="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7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1750" spc="-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3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NOBRE</a:t>
                      </a:r>
                      <a:r>
                        <a:rPr dirty="0" sz="1750" spc="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NA</a:t>
                      </a:r>
                      <a:r>
                        <a:rPr dirty="0" sz="1750" spc="-15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750" spc="-10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FEIRA</a:t>
                      </a:r>
                      <a:endParaRPr sz="1750">
                        <a:latin typeface="Arial"/>
                        <a:cs typeface="Arial"/>
                      </a:endParaRPr>
                    </a:p>
                  </a:txBody>
                  <a:tcPr marL="0" marR="0" marB="0" marT="206375"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3250" b="1">
                          <a:solidFill>
                            <a:srgbClr val="49337E"/>
                          </a:solidFill>
                          <a:latin typeface="Arial"/>
                          <a:cs typeface="Arial"/>
                        </a:rPr>
                        <a:t>X</a:t>
                      </a:r>
                      <a:endParaRPr sz="3250">
                        <a:latin typeface="Arial"/>
                        <a:cs typeface="Arial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E6C13A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 descr=""/>
          <p:cNvSpPr txBox="1"/>
          <p:nvPr/>
        </p:nvSpPr>
        <p:spPr>
          <a:xfrm>
            <a:off x="16463646" y="9037317"/>
            <a:ext cx="78740" cy="297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-75">
                <a:solidFill>
                  <a:srgbClr val="EBBC1A"/>
                </a:solidFill>
                <a:latin typeface="Times New Roman"/>
                <a:cs typeface="Times New Roman"/>
              </a:rPr>
              <a:t>l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8332090" y="9063982"/>
            <a:ext cx="71120" cy="2216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60" i="1">
                <a:solidFill>
                  <a:srgbClr val="E6C13A"/>
                </a:solidFill>
                <a:latin typeface="Arial"/>
                <a:cs typeface="Arial"/>
              </a:rPr>
              <a:t>)</a:t>
            </a:r>
            <a:endParaRPr sz="125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350845" y="9509741"/>
            <a:ext cx="1778000" cy="795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50" spc="-695" b="1">
                <a:solidFill>
                  <a:srgbClr val="C36242"/>
                </a:solidFill>
                <a:latin typeface="Arial"/>
                <a:cs typeface="Arial"/>
              </a:rPr>
              <a:t>C</a:t>
            </a:r>
            <a:r>
              <a:rPr dirty="0" sz="5050" spc="-440" b="1">
                <a:solidFill>
                  <a:srgbClr val="C36242"/>
                </a:solidFill>
                <a:latin typeface="Arial"/>
                <a:cs typeface="Arial"/>
              </a:rPr>
              <a:t> </a:t>
            </a:r>
            <a:r>
              <a:rPr dirty="0" sz="5050" spc="-590" b="1">
                <a:solidFill>
                  <a:srgbClr val="C36242"/>
                </a:solidFill>
                <a:latin typeface="Arial"/>
                <a:cs typeface="Arial"/>
              </a:rPr>
              <a:t>O</a:t>
            </a:r>
            <a:r>
              <a:rPr dirty="0" sz="5050" spc="-390" b="1">
                <a:solidFill>
                  <a:srgbClr val="C36242"/>
                </a:solidFill>
                <a:latin typeface="Arial"/>
                <a:cs typeface="Arial"/>
              </a:rPr>
              <a:t> </a:t>
            </a:r>
            <a:r>
              <a:rPr dirty="0" sz="4750" spc="-475" b="1">
                <a:solidFill>
                  <a:srgbClr val="C36242"/>
                </a:solidFill>
                <a:latin typeface="Arial"/>
                <a:cs typeface="Arial"/>
              </a:rPr>
              <a:t>TA</a:t>
            </a:r>
            <a:endParaRPr sz="475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15622537" y="10163914"/>
            <a:ext cx="2561590" cy="0"/>
          </a:xfrm>
          <a:custGeom>
            <a:avLst/>
            <a:gdLst/>
            <a:ahLst/>
            <a:cxnLst/>
            <a:rect l="l" t="t" r="r" b="b"/>
            <a:pathLst>
              <a:path w="2561590" h="0">
                <a:moveTo>
                  <a:pt x="0" y="0"/>
                </a:moveTo>
                <a:lnTo>
                  <a:pt x="2561388" y="0"/>
                </a:lnTo>
              </a:path>
            </a:pathLst>
          </a:custGeom>
          <a:ln w="12577">
            <a:solidFill>
              <a:srgbClr val="4933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5609842" y="9566341"/>
            <a:ext cx="2568575" cy="727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86255" algn="l"/>
              </a:tabLst>
            </a:pPr>
            <a:r>
              <a:rPr dirty="0" sz="4600" i="1">
                <a:solidFill>
                  <a:srgbClr val="49337E"/>
                </a:solidFill>
                <a:latin typeface="Arial"/>
                <a:cs typeface="Arial"/>
              </a:rPr>
              <a:t>R$</a:t>
            </a:r>
            <a:r>
              <a:rPr dirty="0" sz="4600" spc="-455" i="1">
                <a:solidFill>
                  <a:srgbClr val="49337E"/>
                </a:solidFill>
                <a:latin typeface="Arial"/>
                <a:cs typeface="Arial"/>
              </a:rPr>
              <a:t> </a:t>
            </a:r>
            <a:r>
              <a:rPr dirty="0" sz="4600" spc="-25" i="1">
                <a:solidFill>
                  <a:srgbClr val="49337E"/>
                </a:solidFill>
                <a:latin typeface="Arial"/>
                <a:cs typeface="Arial"/>
              </a:rPr>
              <a:t>70</a:t>
            </a:r>
            <a:r>
              <a:rPr dirty="0" sz="4600" i="1">
                <a:solidFill>
                  <a:srgbClr val="49337E"/>
                </a:solidFill>
                <a:latin typeface="Arial"/>
                <a:cs typeface="Arial"/>
              </a:rPr>
              <a:t>	</a:t>
            </a:r>
            <a:r>
              <a:rPr dirty="0" sz="4600" spc="25" i="1">
                <a:solidFill>
                  <a:srgbClr val="49337E"/>
                </a:solidFill>
                <a:latin typeface="Arial"/>
                <a:cs typeface="Arial"/>
              </a:rPr>
              <a:t>mil</a:t>
            </a:r>
            <a:endParaRPr sz="4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028" y="1183336"/>
            <a:ext cx="2950893" cy="76674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671" y="3528850"/>
            <a:ext cx="805612" cy="24451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4671" y="3942409"/>
            <a:ext cx="805612" cy="431671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14671" y="4950649"/>
            <a:ext cx="805612" cy="34111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61235" y="4066176"/>
            <a:ext cx="778456" cy="30790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176" y="6284905"/>
            <a:ext cx="1176736" cy="29975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61235" y="4950649"/>
            <a:ext cx="778456" cy="35620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61235" y="5623815"/>
            <a:ext cx="778456" cy="19319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135852" y="2958320"/>
            <a:ext cx="11459604" cy="117426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27208" y="4238240"/>
            <a:ext cx="11562192" cy="30790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40567" y="4814809"/>
            <a:ext cx="11848833" cy="217345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40567" y="5228368"/>
            <a:ext cx="13954890" cy="1177285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69012" y="7232771"/>
            <a:ext cx="591385" cy="117728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369012" y="7519546"/>
            <a:ext cx="591385" cy="117728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293580" y="8654570"/>
            <a:ext cx="678886" cy="504119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404314" y="9279441"/>
            <a:ext cx="0" cy="510540"/>
          </a:xfrm>
          <a:custGeom>
            <a:avLst/>
            <a:gdLst/>
            <a:ahLst/>
            <a:cxnLst/>
            <a:rect l="l" t="t" r="r" b="b"/>
            <a:pathLst>
              <a:path w="0" h="510540">
                <a:moveTo>
                  <a:pt x="0" y="510157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10349" y="2970396"/>
            <a:ext cx="0" cy="3314700"/>
          </a:xfrm>
          <a:custGeom>
            <a:avLst/>
            <a:gdLst/>
            <a:ahLst/>
            <a:cxnLst/>
            <a:rect l="l" t="t" r="r" b="b"/>
            <a:pathLst>
              <a:path w="0" h="3314700">
                <a:moveTo>
                  <a:pt x="0" y="3314512"/>
                </a:moveTo>
                <a:lnTo>
                  <a:pt x="0" y="0"/>
                </a:lnTo>
              </a:path>
            </a:pathLst>
          </a:custGeom>
          <a:ln w="90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1185788" y="3076049"/>
            <a:ext cx="0" cy="1295400"/>
          </a:xfrm>
          <a:custGeom>
            <a:avLst/>
            <a:gdLst/>
            <a:ahLst/>
            <a:cxnLst/>
            <a:rect l="l" t="t" r="r" b="b"/>
            <a:pathLst>
              <a:path w="0" h="1295400">
                <a:moveTo>
                  <a:pt x="0" y="1295014"/>
                </a:moveTo>
                <a:lnTo>
                  <a:pt x="0" y="0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2106057" y="5291762"/>
            <a:ext cx="0" cy="1470660"/>
          </a:xfrm>
          <a:custGeom>
            <a:avLst/>
            <a:gdLst/>
            <a:ahLst/>
            <a:cxnLst/>
            <a:rect l="l" t="t" r="r" b="b"/>
            <a:pathLst>
              <a:path w="0" h="1470659">
                <a:moveTo>
                  <a:pt x="0" y="147009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2106057" y="2970396"/>
            <a:ext cx="0" cy="558800"/>
          </a:xfrm>
          <a:custGeom>
            <a:avLst/>
            <a:gdLst/>
            <a:ahLst/>
            <a:cxnLst/>
            <a:rect l="l" t="t" r="r" b="b"/>
            <a:pathLst>
              <a:path w="0" h="558800">
                <a:moveTo>
                  <a:pt x="0" y="558456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2676321" y="2967377"/>
            <a:ext cx="0" cy="1099185"/>
          </a:xfrm>
          <a:custGeom>
            <a:avLst/>
            <a:gdLst/>
            <a:ahLst/>
            <a:cxnLst/>
            <a:rect l="l" t="t" r="r" b="b"/>
            <a:pathLst>
              <a:path w="0" h="1099185">
                <a:moveTo>
                  <a:pt x="0" y="1098800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3240552" y="5940778"/>
            <a:ext cx="0" cy="821690"/>
          </a:xfrm>
          <a:custGeom>
            <a:avLst/>
            <a:gdLst/>
            <a:ahLst/>
            <a:cxnLst/>
            <a:rect l="l" t="t" r="r" b="b"/>
            <a:pathLst>
              <a:path w="0" h="821690">
                <a:moveTo>
                  <a:pt x="0" y="82108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3240552" y="2967377"/>
            <a:ext cx="0" cy="1096010"/>
          </a:xfrm>
          <a:custGeom>
            <a:avLst/>
            <a:gdLst/>
            <a:ahLst/>
            <a:cxnLst/>
            <a:rect l="l" t="t" r="r" b="b"/>
            <a:pathLst>
              <a:path w="0" h="1096010">
                <a:moveTo>
                  <a:pt x="0" y="109578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853058" y="2967377"/>
            <a:ext cx="0" cy="107314"/>
          </a:xfrm>
          <a:custGeom>
            <a:avLst/>
            <a:gdLst/>
            <a:ahLst/>
            <a:cxnLst/>
            <a:rect l="l" t="t" r="r" b="b"/>
            <a:pathLst>
              <a:path w="0" h="107314">
                <a:moveTo>
                  <a:pt x="0" y="0"/>
                </a:moveTo>
                <a:lnTo>
                  <a:pt x="0" y="106721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3853058" y="3262852"/>
            <a:ext cx="0" cy="1108710"/>
          </a:xfrm>
          <a:custGeom>
            <a:avLst/>
            <a:gdLst/>
            <a:ahLst/>
            <a:cxnLst/>
            <a:rect l="l" t="t" r="r" b="b"/>
            <a:pathLst>
              <a:path w="0" h="1108710">
                <a:moveTo>
                  <a:pt x="0" y="0"/>
                </a:moveTo>
                <a:lnTo>
                  <a:pt x="0" y="1108211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8565285" y="4132588"/>
            <a:ext cx="0" cy="1096010"/>
          </a:xfrm>
          <a:custGeom>
            <a:avLst/>
            <a:gdLst/>
            <a:ahLst/>
            <a:cxnLst/>
            <a:rect l="l" t="t" r="r" b="b"/>
            <a:pathLst>
              <a:path w="0" h="1096010">
                <a:moveTo>
                  <a:pt x="0" y="109578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9699780" y="4108439"/>
            <a:ext cx="0" cy="1147445"/>
          </a:xfrm>
          <a:custGeom>
            <a:avLst/>
            <a:gdLst/>
            <a:ahLst/>
            <a:cxnLst/>
            <a:rect l="l" t="t" r="r" b="b"/>
            <a:pathLst>
              <a:path w="0" h="1147445">
                <a:moveTo>
                  <a:pt x="0" y="1147099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386211" y="2970396"/>
            <a:ext cx="6750050" cy="0"/>
          </a:xfrm>
          <a:custGeom>
            <a:avLst/>
            <a:gdLst/>
            <a:ahLst/>
            <a:cxnLst/>
            <a:rect l="l" t="t" r="r" b="b"/>
            <a:pathLst>
              <a:path w="6750050" h="0">
                <a:moveTo>
                  <a:pt x="0" y="0"/>
                </a:moveTo>
                <a:lnTo>
                  <a:pt x="674964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89228" y="3082087"/>
            <a:ext cx="805815" cy="0"/>
          </a:xfrm>
          <a:custGeom>
            <a:avLst/>
            <a:gdLst/>
            <a:ahLst/>
            <a:cxnLst/>
            <a:rect l="l" t="t" r="r" b="b"/>
            <a:pathLst>
              <a:path w="805815" h="0">
                <a:moveTo>
                  <a:pt x="0" y="0"/>
                </a:moveTo>
                <a:lnTo>
                  <a:pt x="805612" y="0"/>
                </a:lnTo>
              </a:path>
            </a:pathLst>
          </a:custGeom>
          <a:ln w="150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8553216" y="5246482"/>
            <a:ext cx="1158875" cy="0"/>
          </a:xfrm>
          <a:custGeom>
            <a:avLst/>
            <a:gdLst/>
            <a:ahLst/>
            <a:cxnLst/>
            <a:rect l="l" t="t" r="r" b="b"/>
            <a:pathLst>
              <a:path w="1158875" h="0">
                <a:moveTo>
                  <a:pt x="0" y="0"/>
                </a:moveTo>
                <a:lnTo>
                  <a:pt x="11586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847024" y="6309057"/>
            <a:ext cx="796925" cy="0"/>
          </a:xfrm>
          <a:custGeom>
            <a:avLst/>
            <a:gdLst/>
            <a:ahLst/>
            <a:cxnLst/>
            <a:rect l="l" t="t" r="r" b="b"/>
            <a:pathLst>
              <a:path w="796925" h="0">
                <a:moveTo>
                  <a:pt x="0" y="0"/>
                </a:moveTo>
                <a:lnTo>
                  <a:pt x="796560" y="0"/>
                </a:lnTo>
              </a:path>
            </a:pathLst>
          </a:custGeom>
          <a:ln w="1207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321565" y="6375468"/>
            <a:ext cx="3648075" cy="0"/>
          </a:xfrm>
          <a:custGeom>
            <a:avLst/>
            <a:gdLst/>
            <a:ahLst/>
            <a:cxnLst/>
            <a:rect l="l" t="t" r="r" b="b"/>
            <a:pathLst>
              <a:path w="3648075" h="0">
                <a:moveTo>
                  <a:pt x="0" y="0"/>
                </a:moveTo>
                <a:lnTo>
                  <a:pt x="364788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392245" y="9783560"/>
            <a:ext cx="4559300" cy="0"/>
          </a:xfrm>
          <a:custGeom>
            <a:avLst/>
            <a:gdLst/>
            <a:ahLst/>
            <a:cxnLst/>
            <a:rect l="l" t="t" r="r" b="b"/>
            <a:pathLst>
              <a:path w="4559300" h="0">
                <a:moveTo>
                  <a:pt x="0" y="0"/>
                </a:moveTo>
                <a:lnTo>
                  <a:pt x="455910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4365995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4939277" y="3474515"/>
            <a:ext cx="0" cy="417195"/>
          </a:xfrm>
          <a:custGeom>
            <a:avLst/>
            <a:gdLst/>
            <a:ahLst/>
            <a:cxnLst/>
            <a:rect l="l" t="t" r="r" b="b"/>
            <a:pathLst>
              <a:path w="0" h="417195">
                <a:moveTo>
                  <a:pt x="0" y="416578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5500489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6634984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7208266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7766462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8906991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9474239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0044503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1175981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11746246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12316511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3451005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4585500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5719995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16281209" y="3474515"/>
            <a:ext cx="0" cy="407670"/>
          </a:xfrm>
          <a:custGeom>
            <a:avLst/>
            <a:gdLst/>
            <a:ahLst/>
            <a:cxnLst/>
            <a:rect l="l" t="t" r="r" b="b"/>
            <a:pathLst>
              <a:path w="0" h="407670">
                <a:moveTo>
                  <a:pt x="0" y="40752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17988985" y="3474515"/>
            <a:ext cx="0" cy="2490470"/>
          </a:xfrm>
          <a:custGeom>
            <a:avLst/>
            <a:gdLst/>
            <a:ahLst/>
            <a:cxnLst/>
            <a:rect l="l" t="t" r="r" b="b"/>
            <a:pathLst>
              <a:path w="0" h="2490470">
                <a:moveTo>
                  <a:pt x="0" y="2490412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4362977" y="3882037"/>
            <a:ext cx="579755" cy="0"/>
          </a:xfrm>
          <a:custGeom>
            <a:avLst/>
            <a:gdLst/>
            <a:ahLst/>
            <a:cxnLst/>
            <a:rect l="l" t="t" r="r" b="b"/>
            <a:pathLst>
              <a:path w="579754" h="0">
                <a:moveTo>
                  <a:pt x="0" y="0"/>
                </a:moveTo>
                <a:lnTo>
                  <a:pt x="579316" y="0"/>
                </a:lnTo>
              </a:path>
            </a:pathLst>
          </a:custGeom>
          <a:ln w="1509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8342762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10608734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"/>
          <p:cNvSpPr/>
          <p:nvPr/>
        </p:nvSpPr>
        <p:spPr>
          <a:xfrm>
            <a:off x="12877724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/>
          <p:nvPr/>
        </p:nvSpPr>
        <p:spPr>
          <a:xfrm>
            <a:off x="15146714" y="5472883"/>
            <a:ext cx="0" cy="492125"/>
          </a:xfrm>
          <a:custGeom>
            <a:avLst/>
            <a:gdLst/>
            <a:ahLst/>
            <a:cxnLst/>
            <a:rect l="l" t="t" r="r" b="b"/>
            <a:pathLst>
              <a:path w="0" h="492125">
                <a:moveTo>
                  <a:pt x="0" y="492045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/>
          <p:nvPr/>
        </p:nvSpPr>
        <p:spPr>
          <a:xfrm>
            <a:off x="4356943" y="6529421"/>
            <a:ext cx="0" cy="434975"/>
          </a:xfrm>
          <a:custGeom>
            <a:avLst/>
            <a:gdLst/>
            <a:ahLst/>
            <a:cxnLst/>
            <a:rect l="l" t="t" r="r" b="b"/>
            <a:pathLst>
              <a:path w="0" h="434975">
                <a:moveTo>
                  <a:pt x="0" y="434690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693972" y="7507475"/>
            <a:ext cx="0" cy="302260"/>
          </a:xfrm>
          <a:custGeom>
            <a:avLst/>
            <a:gdLst/>
            <a:ahLst/>
            <a:cxnLst/>
            <a:rect l="l" t="t" r="r" b="b"/>
            <a:pathLst>
              <a:path w="0" h="302259">
                <a:moveTo>
                  <a:pt x="0" y="301868"/>
                </a:moveTo>
                <a:lnTo>
                  <a:pt x="0" y="0"/>
                </a:lnTo>
              </a:path>
            </a:pathLst>
          </a:custGeom>
          <a:ln w="1508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9" name="object 59" descr=""/>
          <p:cNvGrpSpPr/>
          <p:nvPr/>
        </p:nvGrpSpPr>
        <p:grpSpPr>
          <a:xfrm>
            <a:off x="2673304" y="8982100"/>
            <a:ext cx="570865" cy="15240"/>
            <a:chOff x="2673304" y="8982100"/>
            <a:chExt cx="570865" cy="15240"/>
          </a:xfrm>
        </p:grpSpPr>
        <p:sp>
          <p:nvSpPr>
            <p:cNvPr id="60" name="object 60" descr=""/>
            <p:cNvSpPr/>
            <p:nvPr/>
          </p:nvSpPr>
          <p:spPr>
            <a:xfrm>
              <a:off x="2673304" y="8989647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19" h="0">
                  <a:moveTo>
                    <a:pt x="0" y="0"/>
                  </a:moveTo>
                  <a:lnTo>
                    <a:pt x="286640" y="0"/>
                  </a:lnTo>
                </a:path>
              </a:pathLst>
            </a:custGeom>
            <a:ln w="60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959945" y="8989647"/>
              <a:ext cx="283845" cy="0"/>
            </a:xfrm>
            <a:custGeom>
              <a:avLst/>
              <a:gdLst/>
              <a:ahLst/>
              <a:cxnLst/>
              <a:rect l="l" t="t" r="r" b="b"/>
              <a:pathLst>
                <a:path w="283844" h="0">
                  <a:moveTo>
                    <a:pt x="0" y="0"/>
                  </a:moveTo>
                  <a:lnTo>
                    <a:pt x="283623" y="0"/>
                  </a:lnTo>
                </a:path>
              </a:pathLst>
            </a:custGeom>
            <a:ln w="150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/>
          <p:nvPr/>
        </p:nvSpPr>
        <p:spPr>
          <a:xfrm>
            <a:off x="4356943" y="8748152"/>
            <a:ext cx="0" cy="890905"/>
          </a:xfrm>
          <a:custGeom>
            <a:avLst/>
            <a:gdLst/>
            <a:ahLst/>
            <a:cxnLst/>
            <a:rect l="l" t="t" r="r" b="b"/>
            <a:pathLst>
              <a:path w="0" h="890904">
                <a:moveTo>
                  <a:pt x="0" y="890511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4927207" y="8748152"/>
            <a:ext cx="0" cy="890905"/>
          </a:xfrm>
          <a:custGeom>
            <a:avLst/>
            <a:gdLst/>
            <a:ahLst/>
            <a:cxnLst/>
            <a:rect l="l" t="t" r="r" b="b"/>
            <a:pathLst>
              <a:path w="0" h="890904">
                <a:moveTo>
                  <a:pt x="0" y="890511"/>
                </a:moveTo>
                <a:lnTo>
                  <a:pt x="0" y="0"/>
                </a:lnTo>
              </a:path>
            </a:pathLst>
          </a:custGeom>
          <a:ln w="603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822433" y="9339814"/>
            <a:ext cx="567690" cy="0"/>
          </a:xfrm>
          <a:custGeom>
            <a:avLst/>
            <a:gdLst/>
            <a:ahLst/>
            <a:cxnLst/>
            <a:rect l="l" t="t" r="r" b="b"/>
            <a:pathLst>
              <a:path w="567689" h="0">
                <a:moveTo>
                  <a:pt x="0" y="0"/>
                </a:moveTo>
                <a:lnTo>
                  <a:pt x="567247" y="0"/>
                </a:lnTo>
              </a:path>
            </a:pathLst>
          </a:custGeom>
          <a:ln w="60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4924190" y="9514898"/>
            <a:ext cx="4043679" cy="0"/>
          </a:xfrm>
          <a:custGeom>
            <a:avLst/>
            <a:gdLst/>
            <a:ahLst/>
            <a:cxnLst/>
            <a:rect l="l" t="t" r="r" b="b"/>
            <a:pathLst>
              <a:path w="4043679" h="0">
                <a:moveTo>
                  <a:pt x="0" y="0"/>
                </a:moveTo>
                <a:lnTo>
                  <a:pt x="4043146" y="0"/>
                </a:lnTo>
              </a:path>
            </a:pathLst>
          </a:custGeom>
          <a:ln w="603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>
            <a:off x="1239393" y="737455"/>
            <a:ext cx="452628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56870" algn="l"/>
                <a:tab pos="721995" algn="l"/>
                <a:tab pos="1082675" algn="l"/>
                <a:tab pos="1437005" algn="l"/>
                <a:tab pos="1776095" algn="l"/>
                <a:tab pos="2106930" algn="l"/>
                <a:tab pos="2469515" algn="l"/>
                <a:tab pos="3076575" algn="l"/>
                <a:tab pos="3420110" algn="l"/>
                <a:tab pos="3773804" algn="l"/>
                <a:tab pos="4103370" algn="l"/>
                <a:tab pos="4432935" algn="l"/>
              </a:tabLst>
            </a:pP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S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U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D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385">
                <a:solidFill>
                  <a:srgbClr val="C36242"/>
                </a:solidFill>
                <a:latin typeface="Arial"/>
                <a:cs typeface="Arial"/>
              </a:rPr>
              <a:t>O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E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X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P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-50">
                <a:solidFill>
                  <a:srgbClr val="C36242"/>
                </a:solidFill>
                <a:latin typeface="Arial"/>
                <a:cs typeface="Arial"/>
              </a:rPr>
              <a:t>0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25">
                <a:solidFill>
                  <a:srgbClr val="C36242"/>
                </a:solidFill>
                <a:latin typeface="Arial"/>
                <a:cs typeface="Arial"/>
              </a:rPr>
              <a:t>2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25">
                <a:solidFill>
                  <a:srgbClr val="C36242"/>
                </a:solidFill>
                <a:latin typeface="Arial"/>
                <a:cs typeface="Arial"/>
              </a:rPr>
              <a:t>0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60">
                <a:solidFill>
                  <a:srgbClr val="C36242"/>
                </a:solidFill>
                <a:latin typeface="Arial"/>
                <a:cs typeface="Arial"/>
              </a:rPr>
              <a:t>2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60">
                <a:solidFill>
                  <a:srgbClr val="C36242"/>
                </a:solidFill>
                <a:latin typeface="Arial"/>
                <a:cs typeface="Arial"/>
              </a:rPr>
              <a:t>4</a:t>
            </a:r>
            <a:r>
              <a:rPr dirty="0" sz="2050">
                <a:solidFill>
                  <a:srgbClr val="C36242"/>
                </a:solidFill>
                <a:latin typeface="Arial"/>
                <a:cs typeface="Arial"/>
              </a:rPr>
              <a:t>	</a:t>
            </a:r>
            <a:r>
              <a:rPr dirty="0" sz="2050" spc="5">
                <a:solidFill>
                  <a:srgbClr val="C36242"/>
                </a:solidFill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4053377" y="1019702"/>
            <a:ext cx="4297045" cy="111252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100" spc="204" b="1">
                <a:solidFill>
                  <a:srgbClr val="4B3180"/>
                </a:solidFill>
                <a:latin typeface="Arial"/>
                <a:cs typeface="Arial"/>
              </a:rPr>
              <a:t>INTERNO</a:t>
            </a:r>
            <a:endParaRPr sz="7100">
              <a:latin typeface="Arial"/>
              <a:cs typeface="Arial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458220" y="3426093"/>
            <a:ext cx="697230" cy="3575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97485">
              <a:lnSpc>
                <a:spcPct val="103800"/>
              </a:lnSpc>
              <a:spcBef>
                <a:spcPts val="90"/>
              </a:spcBef>
            </a:pPr>
            <a:r>
              <a:rPr dirty="0" sz="1050" spc="50">
                <a:solidFill>
                  <a:srgbClr val="383831"/>
                </a:solidFill>
                <a:latin typeface="Arial"/>
                <a:cs typeface="Arial"/>
              </a:rPr>
              <a:t>M01 </a:t>
            </a:r>
            <a:r>
              <a:rPr dirty="0" sz="1050" spc="95">
                <a:solidFill>
                  <a:srgbClr val="383831"/>
                </a:solidFill>
                <a:latin typeface="Arial"/>
                <a:cs typeface="Arial"/>
              </a:rPr>
              <a:t>9,Sx7,0m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4030597" y="4032848"/>
            <a:ext cx="794385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242570">
              <a:lnSpc>
                <a:spcPct val="105600"/>
              </a:lnSpc>
              <a:spcBef>
                <a:spcPts val="65"/>
              </a:spcBef>
            </a:pPr>
            <a:r>
              <a:rPr dirty="0" sz="1050" spc="-25">
                <a:solidFill>
                  <a:srgbClr val="383831"/>
                </a:solidFill>
                <a:latin typeface="Arial"/>
                <a:cs typeface="Arial"/>
              </a:rPr>
              <a:t>MOS </a:t>
            </a:r>
            <a:r>
              <a:rPr dirty="0" sz="1050" spc="114">
                <a:solidFill>
                  <a:srgbClr val="383831"/>
                </a:solidFill>
                <a:latin typeface="Arial"/>
                <a:cs typeface="Arial"/>
              </a:rPr>
              <a:t>10,0x6,0m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458220" y="4503762"/>
            <a:ext cx="697230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85420">
              <a:lnSpc>
                <a:spcPct val="105600"/>
              </a:lnSpc>
              <a:spcBef>
                <a:spcPts val="65"/>
              </a:spcBef>
            </a:pPr>
            <a:r>
              <a:rPr dirty="0" sz="1050" spc="125">
                <a:solidFill>
                  <a:srgbClr val="383831"/>
                </a:solidFill>
                <a:latin typeface="Arial"/>
                <a:cs typeface="Arial"/>
              </a:rPr>
              <a:t>M02 </a:t>
            </a:r>
            <a:r>
              <a:rPr dirty="0" sz="1050" spc="95">
                <a:solidFill>
                  <a:srgbClr val="383831"/>
                </a:solidFill>
                <a:latin typeface="Arial"/>
                <a:cs typeface="Arial"/>
              </a:rPr>
              <a:t>9,Sx7,0m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8566793" y="4519610"/>
            <a:ext cx="1131570" cy="3136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19405" marR="303530" indent="31115">
              <a:lnSpc>
                <a:spcPct val="100000"/>
              </a:lnSpc>
              <a:spcBef>
                <a:spcPts val="90"/>
              </a:spcBef>
            </a:pPr>
            <a:r>
              <a:rPr dirty="0" sz="950" spc="-10">
                <a:solidFill>
                  <a:srgbClr val="383831"/>
                </a:solidFill>
                <a:latin typeface="Arial"/>
                <a:cs typeface="Arial"/>
              </a:rPr>
              <a:t>Entrada </a:t>
            </a:r>
            <a:r>
              <a:rPr dirty="0" sz="950" spc="185">
                <a:solidFill>
                  <a:srgbClr val="383831"/>
                </a:solidFill>
                <a:latin typeface="Arial"/>
                <a:cs typeface="Arial"/>
              </a:rPr>
              <a:t>l0xl0</a:t>
            </a:r>
            <a:r>
              <a:rPr dirty="0" sz="950" spc="-65">
                <a:solidFill>
                  <a:srgbClr val="383831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383831"/>
                </a:solidFill>
                <a:latin typeface="Arial"/>
                <a:cs typeface="Arial"/>
              </a:rPr>
              <a:t>m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72" name="object 72" descr=""/>
          <p:cNvGraphicFramePr>
            <a:graphicFrameLocks noGrp="1"/>
          </p:cNvGraphicFramePr>
          <p:nvPr/>
        </p:nvGraphicFramePr>
        <p:xfrm>
          <a:off x="16862034" y="3474515"/>
          <a:ext cx="1014730" cy="248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00"/>
                <a:gridCol w="377190"/>
              </a:tblGrid>
              <a:tr h="27749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6610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299085" marR="246379" indent="17145">
                        <a:lnSpc>
                          <a:spcPts val="1120"/>
                        </a:lnSpc>
                        <a:spcBef>
                          <a:spcPts val="5"/>
                        </a:spcBef>
                      </a:pPr>
                      <a:r>
                        <a:rPr dirty="0" sz="1000" spc="-80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ACIRV</a:t>
                      </a:r>
                      <a:r>
                        <a:rPr dirty="0" sz="1000" spc="35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 6X8m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1905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406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184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7305">
                        <a:lnSpc>
                          <a:spcPts val="1225"/>
                        </a:lnSpc>
                      </a:pPr>
                      <a:r>
                        <a:rPr dirty="0" sz="1050" spc="-10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Prefeitura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algn="ctr" marL="44450">
                        <a:lnSpc>
                          <a:spcPts val="1165"/>
                        </a:lnSpc>
                      </a:pPr>
                      <a:r>
                        <a:rPr dirty="0" sz="1000" spc="35" b="1">
                          <a:solidFill>
                            <a:srgbClr val="3A4854"/>
                          </a:solidFill>
                          <a:latin typeface="Arial"/>
                          <a:cs typeface="Arial"/>
                        </a:rPr>
                        <a:t>6X8m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5715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3" name="object 73" descr=""/>
          <p:cNvSpPr txBox="1"/>
          <p:nvPr/>
        </p:nvSpPr>
        <p:spPr>
          <a:xfrm>
            <a:off x="3906965" y="4911283"/>
            <a:ext cx="701040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85420">
              <a:lnSpc>
                <a:spcPct val="105600"/>
              </a:lnSpc>
              <a:spcBef>
                <a:spcPts val="65"/>
              </a:spcBef>
            </a:pPr>
            <a:r>
              <a:rPr dirty="0" sz="1050" spc="30">
                <a:solidFill>
                  <a:srgbClr val="383831"/>
                </a:solidFill>
                <a:latin typeface="Arial"/>
                <a:cs typeface="Arial"/>
              </a:rPr>
              <a:t>M04 </a:t>
            </a:r>
            <a:r>
              <a:rPr dirty="0" sz="1050" spc="65">
                <a:solidFill>
                  <a:srgbClr val="383831"/>
                </a:solidFill>
                <a:latin typeface="Arial"/>
                <a:cs typeface="Arial"/>
              </a:rPr>
              <a:t>9,Sx7,0</a:t>
            </a:r>
            <a:r>
              <a:rPr dirty="0" sz="1050" spc="-25">
                <a:solidFill>
                  <a:srgbClr val="383831"/>
                </a:solidFill>
                <a:latin typeface="Arial"/>
                <a:cs typeface="Arial"/>
              </a:rPr>
              <a:t> </a:t>
            </a:r>
            <a:r>
              <a:rPr dirty="0" sz="1050" spc="70">
                <a:solidFill>
                  <a:srgbClr val="383831"/>
                </a:solidFill>
                <a:latin typeface="Arial"/>
                <a:cs typeface="Arial"/>
              </a:rPr>
              <a:t>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458220" y="5578412"/>
            <a:ext cx="697230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85420">
              <a:lnSpc>
                <a:spcPct val="105600"/>
              </a:lnSpc>
              <a:spcBef>
                <a:spcPts val="65"/>
              </a:spcBef>
            </a:pPr>
            <a:r>
              <a:rPr dirty="0" sz="1050" spc="65">
                <a:solidFill>
                  <a:srgbClr val="383831"/>
                </a:solidFill>
                <a:latin typeface="Arial"/>
                <a:cs typeface="Arial"/>
              </a:rPr>
              <a:t>M03 </a:t>
            </a:r>
            <a:r>
              <a:rPr dirty="0" sz="1050" spc="95">
                <a:solidFill>
                  <a:srgbClr val="383831"/>
                </a:solidFill>
                <a:latin typeface="Arial"/>
                <a:cs typeface="Arial"/>
              </a:rPr>
              <a:t>9,Sx7,0m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3900238" y="5777645"/>
            <a:ext cx="708025" cy="36068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 indent="143510">
              <a:lnSpc>
                <a:spcPct val="105600"/>
              </a:lnSpc>
              <a:spcBef>
                <a:spcPts val="65"/>
              </a:spcBef>
            </a:pPr>
            <a:r>
              <a:rPr dirty="0" sz="1050" spc="-10">
                <a:solidFill>
                  <a:srgbClr val="383831"/>
                </a:solidFill>
                <a:latin typeface="Arial"/>
                <a:cs typeface="Arial"/>
              </a:rPr>
              <a:t>Gamer </a:t>
            </a:r>
            <a:r>
              <a:rPr dirty="0" sz="1050" spc="114">
                <a:solidFill>
                  <a:srgbClr val="383831"/>
                </a:solidFill>
                <a:latin typeface="Arial"/>
                <a:cs typeface="Arial"/>
              </a:rPr>
              <a:t>7,0x6,0m</a:t>
            </a:r>
            <a:endParaRPr sz="1050">
              <a:latin typeface="Arial"/>
              <a:cs typeface="Arial"/>
            </a:endParaRPr>
          </a:p>
        </p:txBody>
      </p:sp>
      <p:sp>
        <p:nvSpPr>
          <p:cNvPr id="76" name="object 76" descr=""/>
          <p:cNvSpPr/>
          <p:nvPr/>
        </p:nvSpPr>
        <p:spPr>
          <a:xfrm>
            <a:off x="3820382" y="3074098"/>
            <a:ext cx="75565" cy="189230"/>
          </a:xfrm>
          <a:custGeom>
            <a:avLst/>
            <a:gdLst/>
            <a:ahLst/>
            <a:cxnLst/>
            <a:rect l="l" t="t" r="r" b="b"/>
            <a:pathLst>
              <a:path w="75564" h="189229">
                <a:moveTo>
                  <a:pt x="75431" y="188753"/>
                </a:moveTo>
                <a:lnTo>
                  <a:pt x="0" y="188753"/>
                </a:lnTo>
                <a:lnTo>
                  <a:pt x="0" y="0"/>
                </a:lnTo>
                <a:lnTo>
                  <a:pt x="75431" y="0"/>
                </a:lnTo>
                <a:lnTo>
                  <a:pt x="75431" y="18875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4196849" y="3074098"/>
            <a:ext cx="66675" cy="189230"/>
          </a:xfrm>
          <a:custGeom>
            <a:avLst/>
            <a:gdLst/>
            <a:ahLst/>
            <a:cxnLst/>
            <a:rect l="l" t="t" r="r" b="b"/>
            <a:pathLst>
              <a:path w="66675" h="189229">
                <a:moveTo>
                  <a:pt x="66380" y="188753"/>
                </a:moveTo>
                <a:lnTo>
                  <a:pt x="0" y="188753"/>
                </a:lnTo>
                <a:lnTo>
                  <a:pt x="0" y="0"/>
                </a:lnTo>
                <a:lnTo>
                  <a:pt x="66380" y="0"/>
                </a:lnTo>
                <a:lnTo>
                  <a:pt x="66380" y="18875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4486760" y="3074098"/>
            <a:ext cx="73025" cy="189230"/>
          </a:xfrm>
          <a:custGeom>
            <a:avLst/>
            <a:gdLst/>
            <a:ahLst/>
            <a:cxnLst/>
            <a:rect l="l" t="t" r="r" b="b"/>
            <a:pathLst>
              <a:path w="73025" h="189229">
                <a:moveTo>
                  <a:pt x="72414" y="188753"/>
                </a:moveTo>
                <a:lnTo>
                  <a:pt x="0" y="188753"/>
                </a:lnTo>
                <a:lnTo>
                  <a:pt x="0" y="0"/>
                </a:lnTo>
                <a:lnTo>
                  <a:pt x="72414" y="0"/>
                </a:lnTo>
                <a:lnTo>
                  <a:pt x="72414" y="18875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4776671" y="3074098"/>
            <a:ext cx="191770" cy="189230"/>
          </a:xfrm>
          <a:custGeom>
            <a:avLst/>
            <a:gdLst/>
            <a:ahLst/>
            <a:cxnLst/>
            <a:rect l="l" t="t" r="r" b="b"/>
            <a:pathLst>
              <a:path w="191770" h="189229">
                <a:moveTo>
                  <a:pt x="191187" y="188753"/>
                </a:moveTo>
                <a:lnTo>
                  <a:pt x="0" y="188753"/>
                </a:lnTo>
                <a:lnTo>
                  <a:pt x="0" y="0"/>
                </a:lnTo>
                <a:lnTo>
                  <a:pt x="191187" y="0"/>
                </a:lnTo>
                <a:lnTo>
                  <a:pt x="191187" y="188753"/>
                </a:lnTo>
                <a:close/>
              </a:path>
            </a:pathLst>
          </a:custGeom>
          <a:solidFill>
            <a:srgbClr val="5754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3807683" y="3066869"/>
            <a:ext cx="2718435" cy="19177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1518920" algn="l"/>
              </a:tabLst>
            </a:pPr>
            <a:r>
              <a:rPr dirty="0" sz="1050" spc="1575">
                <a:solidFill>
                  <a:srgbClr val="F7F7F9"/>
                </a:solidFill>
                <a:latin typeface="Arial"/>
                <a:cs typeface="Arial"/>
              </a:rPr>
              <a:t>Radio</a:t>
            </a:r>
            <a:r>
              <a:rPr dirty="0" sz="1050">
                <a:solidFill>
                  <a:srgbClr val="F7F7F9"/>
                </a:solidFill>
                <a:latin typeface="Arial"/>
                <a:cs typeface="Arial"/>
              </a:rPr>
              <a:t>	</a:t>
            </a:r>
            <a:r>
              <a:rPr dirty="0" sz="1050" spc="925">
                <a:solidFill>
                  <a:srgbClr val="D87E3D"/>
                </a:solidFill>
                <a:latin typeface="Arial"/>
                <a:cs typeface="Arial"/>
              </a:rPr>
              <a:t>I-</a:t>
            </a:r>
            <a:r>
              <a:rPr dirty="0" sz="1050" spc="1010">
                <a:solidFill>
                  <a:srgbClr val="D87E3D"/>
                </a:solidFill>
                <a:latin typeface="Arial"/>
                <a:cs typeface="Arial"/>
              </a:rPr>
              <a:t>----</a:t>
            </a:r>
            <a:r>
              <a:rPr dirty="0" sz="1050" spc="960">
                <a:solidFill>
                  <a:srgbClr val="D87E3D"/>
                </a:solidFill>
                <a:latin typeface="Arial"/>
                <a:cs typeface="Arial"/>
              </a:rPr>
              <a:t>-</a:t>
            </a:r>
            <a:endParaRPr sz="1050">
              <a:latin typeface="Arial"/>
              <a:cs typeface="Arial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8981496" y="6412826"/>
            <a:ext cx="65913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2600" spc="-125" b="1">
                <a:solidFill>
                  <a:srgbClr val="566483"/>
                </a:solidFill>
                <a:uFill>
                  <a:solidFill>
                    <a:srgbClr val="566483"/>
                  </a:solidFill>
                </a:uFill>
                <a:latin typeface="Times New Roman"/>
                <a:cs typeface="Times New Roman"/>
              </a:rPr>
              <a:t>iffiM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13522487" y="6412826"/>
            <a:ext cx="65913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2600" spc="-125" b="1">
                <a:solidFill>
                  <a:srgbClr val="566483"/>
                </a:solidFill>
                <a:uFill>
                  <a:solidFill>
                    <a:srgbClr val="566483"/>
                  </a:solidFill>
                </a:uFill>
                <a:latin typeface="Times New Roman"/>
                <a:cs typeface="Times New Roman"/>
              </a:rPr>
              <a:t>iffiM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1289265" y="6522253"/>
            <a:ext cx="2778760" cy="675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5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4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2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3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250">
              <a:latin typeface="Arial"/>
              <a:cs typeface="Arial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5136276" y="6718970"/>
            <a:ext cx="297180" cy="11125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7100" spc="-229">
                <a:solidFill>
                  <a:srgbClr val="566483"/>
                </a:solidFill>
                <a:latin typeface="Times New Roman"/>
                <a:cs typeface="Times New Roman"/>
              </a:rPr>
              <a:t>I</a:t>
            </a:r>
            <a:endParaRPr sz="710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1289265" y="7086747"/>
            <a:ext cx="2778760" cy="675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••</a:t>
            </a:r>
            <a:r>
              <a:rPr dirty="0" sz="4250" spc="7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3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250">
              <a:latin typeface="Arial"/>
              <a:cs typeface="Arial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6324932" y="7439428"/>
            <a:ext cx="2908935" cy="19005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>
                <a:solidFill>
                  <a:srgbClr val="4B3180"/>
                </a:solidFill>
                <a:latin typeface="Arial"/>
                <a:cs typeface="Arial"/>
              </a:rPr>
              <a:t>138</a:t>
            </a:r>
            <a:r>
              <a:rPr dirty="0" sz="1850" spc="7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850" spc="7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850" spc="-2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45" b="1">
                <a:solidFill>
                  <a:srgbClr val="4B3180"/>
                </a:solidFill>
                <a:latin typeface="Arial"/>
                <a:cs typeface="Arial"/>
              </a:rPr>
              <a:t>3x3m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55">
                <a:solidFill>
                  <a:srgbClr val="4B3180"/>
                </a:solidFill>
                <a:latin typeface="Arial"/>
                <a:cs typeface="Arial"/>
              </a:rPr>
              <a:t>18</a:t>
            </a:r>
            <a:r>
              <a:rPr dirty="0" sz="1850" spc="-5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850" spc="7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850" spc="-6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60" b="1">
                <a:solidFill>
                  <a:srgbClr val="4B3180"/>
                </a:solidFill>
                <a:latin typeface="Arial"/>
                <a:cs typeface="Arial"/>
              </a:rPr>
              <a:t>6x3m</a:t>
            </a:r>
            <a:endParaRPr sz="19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155"/>
              </a:spcBef>
            </a:pPr>
            <a:r>
              <a:rPr dirty="0" sz="1850" spc="70">
                <a:solidFill>
                  <a:srgbClr val="4B3180"/>
                </a:solidFill>
                <a:latin typeface="Arial"/>
                <a:cs typeface="Arial"/>
              </a:rPr>
              <a:t>8</a:t>
            </a:r>
            <a:r>
              <a:rPr dirty="0" sz="1850" spc="1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850" spc="8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850" spc="-12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85" b="1">
                <a:solidFill>
                  <a:srgbClr val="4B3180"/>
                </a:solidFill>
                <a:latin typeface="Arial"/>
                <a:cs typeface="Arial"/>
              </a:rPr>
              <a:t>6x6m</a:t>
            </a:r>
            <a:endParaRPr sz="195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160"/>
              </a:spcBef>
            </a:pPr>
            <a:r>
              <a:rPr dirty="0" sz="1850" spc="60">
                <a:solidFill>
                  <a:srgbClr val="4B3180"/>
                </a:solidFill>
                <a:latin typeface="Arial"/>
                <a:cs typeface="Arial"/>
              </a:rPr>
              <a:t>5</a:t>
            </a:r>
            <a:r>
              <a:rPr dirty="0" sz="1850" spc="-10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850" spc="7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850" spc="-10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85" b="1">
                <a:solidFill>
                  <a:srgbClr val="4B3180"/>
                </a:solidFill>
                <a:latin typeface="Arial"/>
                <a:cs typeface="Arial"/>
              </a:rPr>
              <a:t>Espa</a:t>
            </a:r>
            <a:r>
              <a:rPr dirty="0" sz="1950" spc="5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95" b="1">
                <a:solidFill>
                  <a:srgbClr val="4B3180"/>
                </a:solidFill>
                <a:latin typeface="Arial"/>
                <a:cs typeface="Arial"/>
              </a:rPr>
              <a:t>o</a:t>
            </a:r>
            <a:r>
              <a:rPr dirty="0" sz="1950" spc="-18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90" b="1">
                <a:solidFill>
                  <a:srgbClr val="4B3180"/>
                </a:solidFill>
                <a:latin typeface="Arial"/>
                <a:cs typeface="Arial"/>
              </a:rPr>
              <a:t>Motor</a:t>
            </a:r>
            <a:endParaRPr sz="19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0"/>
              </a:spcBef>
            </a:pPr>
            <a:r>
              <a:rPr dirty="0" sz="1900" spc="105">
                <a:solidFill>
                  <a:srgbClr val="4B3180"/>
                </a:solidFill>
                <a:latin typeface="Arial"/>
                <a:cs typeface="Arial"/>
              </a:rPr>
              <a:t>4</a:t>
            </a:r>
            <a:r>
              <a:rPr dirty="0" sz="1900" spc="-5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850" spc="8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850" spc="-90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95" b="1">
                <a:solidFill>
                  <a:srgbClr val="4B3180"/>
                </a:solidFill>
                <a:latin typeface="Arial"/>
                <a:cs typeface="Arial"/>
              </a:rPr>
              <a:t>6x6m</a:t>
            </a:r>
            <a:r>
              <a:rPr dirty="0" sz="1950" spc="-215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100" b="1">
                <a:solidFill>
                  <a:srgbClr val="4B3180"/>
                </a:solidFill>
                <a:latin typeface="Arial"/>
                <a:cs typeface="Arial"/>
              </a:rPr>
              <a:t>Master</a:t>
            </a:r>
            <a:endParaRPr sz="1950">
              <a:latin typeface="Arial"/>
              <a:cs typeface="Arial"/>
            </a:endParaRPr>
          </a:p>
          <a:p>
            <a:pPr marL="40640">
              <a:lnSpc>
                <a:spcPct val="100000"/>
              </a:lnSpc>
              <a:spcBef>
                <a:spcPts val="160"/>
              </a:spcBef>
            </a:pPr>
            <a:r>
              <a:rPr dirty="0" sz="1850" spc="110">
                <a:solidFill>
                  <a:srgbClr val="4B3180"/>
                </a:solidFill>
                <a:latin typeface="Arial"/>
                <a:cs typeface="Arial"/>
              </a:rPr>
              <a:t>2</a:t>
            </a:r>
            <a:r>
              <a:rPr dirty="0" sz="1850" spc="-12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850" spc="70">
                <a:solidFill>
                  <a:srgbClr val="4B3180"/>
                </a:solidFill>
                <a:latin typeface="Arial"/>
                <a:cs typeface="Arial"/>
              </a:rPr>
              <a:t>areas</a:t>
            </a:r>
            <a:r>
              <a:rPr dirty="0" sz="1850" spc="-65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105" b="1">
                <a:solidFill>
                  <a:srgbClr val="4B3180"/>
                </a:solidFill>
                <a:latin typeface="Arial"/>
                <a:cs typeface="Arial"/>
              </a:rPr>
              <a:t>6x8m</a:t>
            </a:r>
            <a:r>
              <a:rPr dirty="0" sz="1950" spc="-170" b="1">
                <a:solidFill>
                  <a:srgbClr val="4B3180"/>
                </a:solidFill>
                <a:latin typeface="Arial"/>
                <a:cs typeface="Arial"/>
              </a:rPr>
              <a:t> </a:t>
            </a:r>
            <a:r>
              <a:rPr dirty="0" sz="1950" spc="-10" b="1">
                <a:solidFill>
                  <a:srgbClr val="4B3180"/>
                </a:solidFill>
                <a:latin typeface="Arial"/>
                <a:cs typeface="Arial"/>
              </a:rPr>
              <a:t>Entidades</a:t>
            </a:r>
            <a:endParaRPr sz="1950">
              <a:latin typeface="Arial"/>
              <a:cs typeface="Arial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1289265" y="7648221"/>
            <a:ext cx="2778760" cy="675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2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3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250">
              <a:latin typeface="Arial"/>
              <a:cs typeface="Arial"/>
            </a:endParaRPr>
          </a:p>
        </p:txBody>
      </p:sp>
      <p:sp>
        <p:nvSpPr>
          <p:cNvPr id="88" name="object 88" descr=""/>
          <p:cNvSpPr txBox="1"/>
          <p:nvPr/>
        </p:nvSpPr>
        <p:spPr>
          <a:xfrm>
            <a:off x="1263865" y="8218752"/>
            <a:ext cx="2829560" cy="675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28758" sz="6375" spc="127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28758" sz="6375" spc="-825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28758" sz="6375" spc="172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28758" sz="6375" spc="-794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28758" sz="6375" spc="127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28758" sz="6375" spc="-794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baseline="28758" sz="6375" spc="127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baseline="28758" sz="6375" spc="-787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114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3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8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r>
              <a:rPr dirty="0" sz="4250" spc="-550">
                <a:solidFill>
                  <a:srgbClr val="8A99A3"/>
                </a:solidFill>
                <a:latin typeface="Arial"/>
                <a:cs typeface="Arial"/>
              </a:rPr>
              <a:t> </a:t>
            </a:r>
            <a:r>
              <a:rPr dirty="0" sz="4250" spc="35">
                <a:solidFill>
                  <a:srgbClr val="8A99A3"/>
                </a:solidFill>
                <a:latin typeface="Arial"/>
                <a:cs typeface="Arial"/>
              </a:rPr>
              <a:t>•</a:t>
            </a:r>
            <a:endParaRPr sz="4250">
              <a:latin typeface="Arial"/>
              <a:cs typeface="Arial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2514662" y="9125614"/>
            <a:ext cx="1058545" cy="1841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445134" algn="l"/>
                <a:tab pos="1045210" algn="l"/>
              </a:tabLst>
            </a:pPr>
            <a:r>
              <a:rPr dirty="0" sz="1000" spc="-10">
                <a:solidFill>
                  <a:srgbClr val="383831"/>
                </a:solidFill>
                <a:latin typeface="Arial"/>
                <a:cs typeface="Arial"/>
              </a:rPr>
              <a:t>Palco</a:t>
            </a:r>
            <a:r>
              <a:rPr dirty="0" sz="1000">
                <a:solidFill>
                  <a:srgbClr val="383831"/>
                </a:solidFill>
                <a:latin typeface="Arial"/>
                <a:cs typeface="Arial"/>
              </a:rPr>
              <a:t>	</a:t>
            </a:r>
            <a:r>
              <a:rPr dirty="0" u="sng" sz="1000">
                <a:solidFill>
                  <a:srgbClr val="38383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551593" y="9358555"/>
            <a:ext cx="505459" cy="31686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67945" marR="5080" indent="-55880">
              <a:lnSpc>
                <a:spcPct val="102200"/>
              </a:lnSpc>
              <a:spcBef>
                <a:spcPts val="65"/>
              </a:spcBef>
            </a:pPr>
            <a:r>
              <a:rPr dirty="0" sz="950" spc="-25">
                <a:solidFill>
                  <a:srgbClr val="383831"/>
                </a:solidFill>
                <a:latin typeface="Arial"/>
                <a:cs typeface="Arial"/>
              </a:rPr>
              <a:t>Camarim </a:t>
            </a:r>
            <a:r>
              <a:rPr dirty="0" sz="950">
                <a:solidFill>
                  <a:srgbClr val="383831"/>
                </a:solidFill>
                <a:latin typeface="Arial"/>
                <a:cs typeface="Arial"/>
              </a:rPr>
              <a:t>4x6</a:t>
            </a:r>
            <a:r>
              <a:rPr dirty="0" sz="950" spc="345">
                <a:solidFill>
                  <a:srgbClr val="383831"/>
                </a:solidFill>
                <a:latin typeface="Arial"/>
                <a:cs typeface="Arial"/>
              </a:rPr>
              <a:t> </a:t>
            </a:r>
            <a:r>
              <a:rPr dirty="0" sz="950" spc="5">
                <a:solidFill>
                  <a:srgbClr val="383831"/>
                </a:solidFill>
                <a:latin typeface="Arial"/>
                <a:cs typeface="Arial"/>
              </a:rPr>
              <a:t>m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531" y="712421"/>
            <a:ext cx="17494153" cy="988014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006057" y="1977629"/>
            <a:ext cx="876935" cy="720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4550" spc="105">
                <a:solidFill>
                  <a:srgbClr val="414187"/>
                </a:solidFill>
                <a:latin typeface="Arial"/>
                <a:cs typeface="Arial"/>
              </a:rPr>
              <a:t>■</a:t>
            </a:r>
            <a:r>
              <a:rPr dirty="0" sz="4550" spc="-660">
                <a:solidFill>
                  <a:srgbClr val="414187"/>
                </a:solidFill>
                <a:latin typeface="Arial"/>
                <a:cs typeface="Arial"/>
              </a:rPr>
              <a:t> </a:t>
            </a:r>
            <a:r>
              <a:rPr dirty="0" baseline="-20757" sz="6825" spc="44">
                <a:solidFill>
                  <a:srgbClr val="414187"/>
                </a:solidFill>
                <a:latin typeface="Arial"/>
                <a:cs typeface="Arial"/>
              </a:rPr>
              <a:t>■</a:t>
            </a:r>
            <a:endParaRPr baseline="-20757" sz="6825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031457" y="2397226"/>
            <a:ext cx="389255" cy="720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50" spc="110">
                <a:solidFill>
                  <a:srgbClr val="414187"/>
                </a:solidFill>
                <a:latin typeface="Arial"/>
                <a:cs typeface="Arial"/>
              </a:rPr>
              <a:t>■</a:t>
            </a:r>
            <a:endParaRPr sz="45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471978" y="2611553"/>
            <a:ext cx="385445" cy="7200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550" spc="80">
                <a:solidFill>
                  <a:srgbClr val="414187"/>
                </a:solidFill>
                <a:latin typeface="Arial"/>
                <a:cs typeface="Arial"/>
              </a:rPr>
              <a:t>■</a:t>
            </a:r>
            <a:endParaRPr sz="4550">
              <a:latin typeface="Arial"/>
              <a:cs typeface="Arial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670689" y="310925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63" y="0"/>
                </a:lnTo>
              </a:path>
            </a:pathLst>
          </a:custGeom>
          <a:ln w="12577">
            <a:solidFill>
              <a:srgbClr val="41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942243" y="310925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63" y="0"/>
                </a:lnTo>
              </a:path>
            </a:pathLst>
          </a:custGeom>
          <a:ln w="12577">
            <a:solidFill>
              <a:srgbClr val="41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210781" y="3109255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 h="0">
                <a:moveTo>
                  <a:pt x="0" y="0"/>
                </a:moveTo>
                <a:lnTo>
                  <a:pt x="150863" y="0"/>
                </a:lnTo>
              </a:path>
            </a:pathLst>
          </a:custGeom>
          <a:ln w="12577">
            <a:solidFill>
              <a:srgbClr val="41333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966432" y="2430051"/>
          <a:ext cx="1491615" cy="675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"/>
                <a:gridCol w="123825"/>
                <a:gridCol w="965835"/>
              </a:tblGrid>
              <a:tr h="129539">
                <a:tc gridSpan="2" rowSpan="2">
                  <a:txBody>
                    <a:bodyPr/>
                    <a:lstStyle/>
                    <a:p>
                      <a:pPr algn="ctr" marL="18415">
                        <a:lnSpc>
                          <a:spcPts val="585"/>
                        </a:lnSpc>
                        <a:spcBef>
                          <a:spcPts val="425"/>
                        </a:spcBef>
                      </a:pPr>
                      <a:r>
                        <a:rPr dirty="0" sz="500" spc="-25" b="1">
                          <a:solidFill>
                            <a:srgbClr val="424B26"/>
                          </a:solidFill>
                          <a:latin typeface="Times New Roman"/>
                          <a:cs typeface="Times New Roman"/>
                        </a:rPr>
                        <a:t>MOS</a:t>
                      </a:r>
                      <a:endParaRPr sz="500">
                        <a:latin typeface="Times New Roman"/>
                        <a:cs typeface="Times New Roman"/>
                      </a:endParaRPr>
                    </a:p>
                    <a:p>
                      <a:pPr algn="ctr" marL="13970">
                        <a:lnSpc>
                          <a:spcPts val="525"/>
                        </a:lnSpc>
                      </a:pPr>
                      <a:r>
                        <a:rPr dirty="0" sz="450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10,0x6,0</a:t>
                      </a:r>
                      <a:r>
                        <a:rPr dirty="0" sz="450" spc="70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450" spc="-50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m</a:t>
                      </a:r>
                      <a:endParaRPr sz="450">
                        <a:latin typeface="Arial"/>
                        <a:cs typeface="Arial"/>
                      </a:endParaRPr>
                    </a:p>
                  </a:txBody>
                  <a:tcPr marL="0" marR="0" marB="0" marT="539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2715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3975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33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 algn="ctr" marR="6350">
                        <a:lnSpc>
                          <a:spcPts val="475"/>
                        </a:lnSpc>
                        <a:spcBef>
                          <a:spcPts val="270"/>
                        </a:spcBef>
                      </a:pPr>
                      <a:r>
                        <a:rPr dirty="0" sz="400" spc="-25" b="1">
                          <a:solidFill>
                            <a:srgbClr val="424B26"/>
                          </a:solidFill>
                          <a:latin typeface="Arial"/>
                          <a:cs typeface="Arial"/>
                        </a:rPr>
                        <a:t>M04</a:t>
                      </a:r>
                      <a:endParaRPr sz="400">
                        <a:latin typeface="Arial"/>
                        <a:cs typeface="Arial"/>
                      </a:endParaRPr>
                    </a:p>
                    <a:p>
                      <a:pPr algn="ctr" marL="1270">
                        <a:lnSpc>
                          <a:spcPts val="535"/>
                        </a:lnSpc>
                      </a:pPr>
                      <a:r>
                        <a:rPr dirty="0" sz="450" spc="-10" b="1">
                          <a:solidFill>
                            <a:srgbClr val="424B26"/>
                          </a:solidFill>
                          <a:latin typeface="Times New Roman"/>
                          <a:cs typeface="Times New Roman"/>
                        </a:rPr>
                        <a:t>9.Sx7,0m</a:t>
                      </a:r>
                      <a:endParaRPr sz="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93345">
                        <a:lnSpc>
                          <a:spcPts val="850"/>
                        </a:lnSpc>
                        <a:tabLst>
                          <a:tab pos="257175" algn="l"/>
                          <a:tab pos="528955" algn="l"/>
                          <a:tab pos="797560" algn="l"/>
                        </a:tabLst>
                      </a:pPr>
                      <a:r>
                        <a:rPr dirty="0" sz="950" spc="-5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95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50" spc="-40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dirty="0" sz="95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50" spc="-40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dirty="0" sz="95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50" spc="-400">
                          <a:solidFill>
                            <a:srgbClr val="413333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3876407" y="3386982"/>
            <a:ext cx="1219835" cy="70104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80"/>
              </a:spcBef>
            </a:pPr>
            <a:r>
              <a:rPr dirty="0" baseline="-57142" sz="2625" spc="-169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7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7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7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9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5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3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3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27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10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-28571" sz="2625" spc="-1627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650" spc="-7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endParaRPr sz="1650">
              <a:latin typeface="Courier New"/>
              <a:cs typeface="Courier New"/>
            </a:endParaRPr>
          </a:p>
          <a:p>
            <a:pPr marL="51435">
              <a:lnSpc>
                <a:spcPct val="100000"/>
              </a:lnSpc>
              <a:spcBef>
                <a:spcPts val="505"/>
              </a:spcBef>
            </a:pPr>
            <a:r>
              <a:rPr dirty="0" sz="1850" spc="-114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22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179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21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19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20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09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9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2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8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4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7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54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6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7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50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277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sz="1850" spc="-1145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r>
              <a:rPr dirty="0" baseline="30158" sz="2625" spc="-172" i="1">
                <a:solidFill>
                  <a:srgbClr val="8E9AA1"/>
                </a:solidFill>
                <a:latin typeface="Courier New"/>
                <a:cs typeface="Courier New"/>
              </a:rPr>
              <a:t>•</a:t>
            </a:r>
            <a:endParaRPr baseline="30158" sz="2625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12257" y="3998636"/>
            <a:ext cx="1143635" cy="3124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50" spc="-229" i="1">
                <a:solidFill>
                  <a:srgbClr val="8E9AA1"/>
                </a:solidFill>
                <a:latin typeface="Courier New"/>
                <a:cs typeface="Courier New"/>
              </a:rPr>
              <a:t>••••••••••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31528" y="4141773"/>
            <a:ext cx="195580" cy="2749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00" spc="-105">
                <a:solidFill>
                  <a:srgbClr val="8E9AA1"/>
                </a:solidFill>
                <a:latin typeface="Arial"/>
                <a:cs typeface="Arial"/>
              </a:rPr>
              <a:t>•••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430329" y="4494958"/>
            <a:ext cx="142240" cy="93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50" spc="-25" b="1">
                <a:solidFill>
                  <a:srgbClr val="413333"/>
                </a:solidFill>
                <a:latin typeface="Times New Roman"/>
                <a:cs typeface="Times New Roman"/>
              </a:rPr>
              <a:t>P</a:t>
            </a:r>
            <a:r>
              <a:rPr dirty="0" sz="450" spc="-25" b="1">
                <a:solidFill>
                  <a:srgbClr val="624649"/>
                </a:solidFill>
                <a:latin typeface="Times New Roman"/>
                <a:cs typeface="Times New Roman"/>
              </a:rPr>
              <a:t>alc</a:t>
            </a:r>
            <a:r>
              <a:rPr dirty="0" sz="450" spc="-25" b="1">
                <a:solidFill>
                  <a:srgbClr val="413333"/>
                </a:solidFill>
                <a:latin typeface="Times New Roman"/>
                <a:cs typeface="Times New Roman"/>
              </a:rPr>
              <a:t>o</a:t>
            </a:r>
            <a:endParaRPr sz="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48780" y="1261821"/>
            <a:ext cx="6200496" cy="398465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1550" y="8965494"/>
            <a:ext cx="3834954" cy="944847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108242" y="5356539"/>
            <a:ext cx="9827895" cy="2147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50165">
              <a:lnSpc>
                <a:spcPct val="100000"/>
              </a:lnSpc>
              <a:spcBef>
                <a:spcPts val="105"/>
              </a:spcBef>
            </a:pPr>
            <a:r>
              <a:rPr dirty="0" sz="4350" spc="360" b="1">
                <a:solidFill>
                  <a:srgbClr val="F6DB0A"/>
                </a:solidFill>
                <a:latin typeface="Arial"/>
                <a:cs typeface="Arial"/>
              </a:rPr>
              <a:t>2024</a:t>
            </a:r>
            <a:endParaRPr sz="4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5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4700" spc="1335" b="1">
                <a:solidFill>
                  <a:srgbClr val="4B3180"/>
                </a:solidFill>
                <a:latin typeface="Arial"/>
                <a:cs typeface="Arial"/>
                <a:hlinkClick r:id="rId4"/>
              </a:rPr>
              <a:t>www.sudoexpo.com.br</a:t>
            </a:r>
            <a:endParaRPr sz="47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64640" y="8460497"/>
            <a:ext cx="133350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125">
                <a:solidFill>
                  <a:srgbClr val="4B4B4B"/>
                </a:solidFill>
                <a:latin typeface="Arial"/>
                <a:cs typeface="Arial"/>
              </a:rPr>
              <a:t>REALIZA£;.AO: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445389" y="9944179"/>
            <a:ext cx="2712085" cy="2597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100" i="1">
                <a:solidFill>
                  <a:srgbClr val="1C1C1C"/>
                </a:solidFill>
                <a:latin typeface="Arial"/>
                <a:cs typeface="Arial"/>
              </a:rPr>
              <a:t>Presente</a:t>
            </a:r>
            <a:r>
              <a:rPr dirty="0" sz="1500" spc="8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500" spc="145" i="1">
                <a:solidFill>
                  <a:srgbClr val="1C1C1C"/>
                </a:solidFill>
                <a:latin typeface="Arial"/>
                <a:cs typeface="Arial"/>
              </a:rPr>
              <a:t>em</a:t>
            </a:r>
            <a:r>
              <a:rPr dirty="0" sz="1500" spc="229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500" spc="190" i="1">
                <a:solidFill>
                  <a:srgbClr val="1C1C1C"/>
                </a:solidFill>
                <a:latin typeface="Arial"/>
                <a:cs typeface="Arial"/>
              </a:rPr>
              <a:t>coda</a:t>
            </a:r>
            <a:r>
              <a:rPr dirty="0" sz="1500" spc="50" i="1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dirty="0" sz="1500" spc="90" i="1">
                <a:solidFill>
                  <a:srgbClr val="1C1C1C"/>
                </a:solidFill>
                <a:latin typeface="Arial"/>
                <a:cs typeface="Arial"/>
              </a:rPr>
              <a:t>hist6ria!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B318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2023-10-02T12:17:51Z</dcterms:created>
  <dcterms:modified xsi:type="dcterms:W3CDTF">2023-10-02T12:17:51Z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2023-07-20T00:00:00Z</vt:filetime>
  </property>
  <property fmtid="{D5CDD505-2E9C-101B-9397-08002B2CF9AE}" pid="3" name="Creator">
    <vt:lpwstr>Adobe Acrobat 23.3</vt:lpwstr>
  </property>
  <property fmtid="{D5CDD505-2E9C-101B-9397-08002B2CF9AE}" pid="4" name="LastSaved">
    <vt:filetime>2023-10-02T00:00:00Z</vt:filetime>
  </property>
  <property fmtid="{D5CDD505-2E9C-101B-9397-08002B2CF9AE}" pid="5" name="Producer">
    <vt:lpwstr>Adobe Acrobat 23.3 Image Conversion Plug-in</vt:lpwstr>
  </property>
</Properties>
</file>