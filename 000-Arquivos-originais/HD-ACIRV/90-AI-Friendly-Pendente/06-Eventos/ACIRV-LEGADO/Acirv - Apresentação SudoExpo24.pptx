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8780" y="1261821"/>
            <a:ext cx="6200496" cy="398465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1550" y="8965494"/>
            <a:ext cx="3834954" cy="9448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07576" y="5325095"/>
            <a:ext cx="1488946" cy="727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4B337E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4B337E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59854"/>
            <a:ext cx="7226369" cy="872096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35354" y="11271771"/>
            <a:ext cx="944880" cy="0"/>
          </a:xfrm>
          <a:custGeom>
            <a:avLst/>
            <a:gdLst/>
            <a:ahLst/>
            <a:cxnLst/>
            <a:rect l="l" t="t" r="r" b="b"/>
            <a:pathLst>
              <a:path w="944880" h="0">
                <a:moveTo>
                  <a:pt x="0" y="0"/>
                </a:moveTo>
                <a:lnTo>
                  <a:pt x="944406" y="0"/>
                </a:lnTo>
              </a:path>
            </a:pathLst>
          </a:custGeom>
          <a:ln w="181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4B337E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9206" y="1720661"/>
            <a:ext cx="7099644" cy="45582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5689" y="9092279"/>
            <a:ext cx="3783661" cy="95390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829825" y="7112027"/>
            <a:ext cx="0" cy="758190"/>
          </a:xfrm>
          <a:custGeom>
            <a:avLst/>
            <a:gdLst/>
            <a:ahLst/>
            <a:cxnLst/>
            <a:rect l="l" t="t" r="r" b="b"/>
            <a:pathLst>
              <a:path w="0" h="758190">
                <a:moveTo>
                  <a:pt x="0" y="757689"/>
                </a:moveTo>
                <a:lnTo>
                  <a:pt x="0" y="0"/>
                </a:lnTo>
              </a:path>
            </a:pathLst>
          </a:custGeom>
          <a:ln w="301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227275" y="7112027"/>
            <a:ext cx="1071245" cy="758190"/>
          </a:xfrm>
          <a:custGeom>
            <a:avLst/>
            <a:gdLst/>
            <a:ahLst/>
            <a:cxnLst/>
            <a:rect l="l" t="t" r="r" b="b"/>
            <a:pathLst>
              <a:path w="1071245" h="758190">
                <a:moveTo>
                  <a:pt x="1043976" y="757689"/>
                </a:moveTo>
                <a:lnTo>
                  <a:pt x="1043976" y="0"/>
                </a:lnTo>
              </a:path>
              <a:path w="1071245" h="758190">
                <a:moveTo>
                  <a:pt x="0" y="15093"/>
                </a:moveTo>
                <a:lnTo>
                  <a:pt x="1071132" y="15093"/>
                </a:lnTo>
              </a:path>
            </a:pathLst>
          </a:custGeom>
          <a:ln w="30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814738" y="7127120"/>
            <a:ext cx="1071245" cy="0"/>
          </a:xfrm>
          <a:custGeom>
            <a:avLst/>
            <a:gdLst/>
            <a:ahLst/>
            <a:cxnLst/>
            <a:rect l="l" t="t" r="r" b="b"/>
            <a:pathLst>
              <a:path w="1071245" h="0">
                <a:moveTo>
                  <a:pt x="0" y="0"/>
                </a:moveTo>
                <a:lnTo>
                  <a:pt x="1071132" y="0"/>
                </a:lnTo>
              </a:path>
            </a:pathLst>
          </a:custGeom>
          <a:ln w="301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4B337E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03092" y="3210760"/>
            <a:ext cx="1626234" cy="49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4B337E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png"/><Relationship Id="rId9" Type="http://schemas.openxmlformats.org/officeDocument/2006/relationships/image" Target="../media/image32.jp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sudoexpo.com.br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3066" y="6396223"/>
            <a:ext cx="1693545" cy="83311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300" spc="585" b="1">
                <a:solidFill>
                  <a:srgbClr val="F6DB08"/>
                </a:solidFill>
                <a:latin typeface="Times New Roman"/>
                <a:cs typeface="Times New Roman"/>
              </a:rPr>
              <a:t>2024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58906" y="7307361"/>
            <a:ext cx="3721100" cy="485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-640">
                <a:solidFill>
                  <a:srgbClr val="4D317E"/>
                </a:solidFill>
                <a:latin typeface="Arial"/>
                <a:cs typeface="Arial"/>
              </a:rPr>
              <a:t>11</a:t>
            </a:r>
            <a:r>
              <a:rPr dirty="0" sz="3000" spc="100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3000" spc="-110">
                <a:solidFill>
                  <a:srgbClr val="4D317E"/>
                </a:solidFill>
                <a:latin typeface="Arial"/>
                <a:cs typeface="Arial"/>
              </a:rPr>
              <a:t>A </a:t>
            </a:r>
            <a:r>
              <a:rPr dirty="0" u="sng" sz="3000" spc="-145">
                <a:solidFill>
                  <a:srgbClr val="4D317E"/>
                </a:solidFill>
                <a:uFill>
                  <a:solidFill>
                    <a:srgbClr val="4D317E"/>
                  </a:solidFill>
                </a:uFill>
                <a:latin typeface="Arial"/>
                <a:cs typeface="Arial"/>
              </a:rPr>
              <a:t>14</a:t>
            </a:r>
            <a:r>
              <a:rPr dirty="0" u="sng" sz="3000" spc="-65">
                <a:solidFill>
                  <a:srgbClr val="4D317E"/>
                </a:solidFill>
                <a:uFill>
                  <a:solidFill>
                    <a:srgbClr val="4D317E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spc="-120">
                <a:solidFill>
                  <a:srgbClr val="4D317E"/>
                </a:solidFill>
                <a:uFill>
                  <a:solidFill>
                    <a:srgbClr val="4D317E"/>
                  </a:solidFill>
                </a:uFill>
                <a:latin typeface="Arial"/>
                <a:cs typeface="Arial"/>
              </a:rPr>
              <a:t>DE</a:t>
            </a:r>
            <a:r>
              <a:rPr dirty="0" sz="3000" spc="-65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3000" spc="-270">
                <a:solidFill>
                  <a:srgbClr val="4D317E"/>
                </a:solidFill>
                <a:latin typeface="Arial"/>
                <a:cs typeface="Arial"/>
              </a:rPr>
              <a:t>SETEMBRO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94503" y="7884181"/>
            <a:ext cx="5100955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-70">
                <a:solidFill>
                  <a:srgbClr val="4D317E"/>
                </a:solidFill>
                <a:latin typeface="Arial"/>
                <a:cs typeface="Arial"/>
              </a:rPr>
              <a:t>ESTACIONAMEN</a:t>
            </a:r>
            <a:r>
              <a:rPr dirty="0" u="sng" sz="1750" spc="-70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750" spc="-55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50" spc="-70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</a:t>
            </a:r>
            <a:r>
              <a:rPr dirty="0" u="sng" sz="1750" spc="-50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50" spc="-110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sz="1750" spc="-110">
                <a:solidFill>
                  <a:srgbClr val="4D317E"/>
                </a:solidFill>
                <a:latin typeface="Arial"/>
                <a:cs typeface="Arial"/>
              </a:rPr>
              <a:t>EATRO</a:t>
            </a:r>
            <a:r>
              <a:rPr dirty="0" sz="1750" spc="60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4D317E"/>
                </a:solidFill>
                <a:latin typeface="Arial"/>
                <a:cs typeface="Arial"/>
              </a:rPr>
              <a:t>LAURO</a:t>
            </a:r>
            <a:r>
              <a:rPr dirty="0" sz="1750" spc="50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4D317E"/>
                </a:solidFill>
                <a:latin typeface="Arial"/>
                <a:cs typeface="Arial"/>
              </a:rPr>
              <a:t>MARTINS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69798" y="10048827"/>
            <a:ext cx="267589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10" i="1">
                <a:solidFill>
                  <a:srgbClr val="1C1C1C"/>
                </a:solidFill>
                <a:latin typeface="Arial"/>
                <a:cs typeface="Arial"/>
              </a:rPr>
              <a:t>Presente</a:t>
            </a:r>
            <a:r>
              <a:rPr dirty="0" sz="1450" spc="12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700" spc="160">
                <a:solidFill>
                  <a:srgbClr val="1C1C1C"/>
                </a:solidFill>
                <a:latin typeface="Times New Roman"/>
                <a:cs typeface="Times New Roman"/>
              </a:rPr>
              <a:t>em</a:t>
            </a:r>
            <a:r>
              <a:rPr dirty="0" sz="1700" spc="12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1450" spc="215" i="1">
                <a:solidFill>
                  <a:srgbClr val="1C1C1C"/>
                </a:solidFill>
                <a:latin typeface="Arial"/>
                <a:cs typeface="Arial"/>
              </a:rPr>
              <a:t>coda</a:t>
            </a:r>
            <a:r>
              <a:rPr dirty="0" sz="1450" spc="3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450" spc="100" i="1">
                <a:solidFill>
                  <a:srgbClr val="1C1C1C"/>
                </a:solidFill>
                <a:latin typeface="Arial"/>
                <a:cs typeface="Arial"/>
              </a:rPr>
              <a:t>hist6ria!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4873" y="999196"/>
            <a:ext cx="4577203" cy="294925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5219" y="9949584"/>
            <a:ext cx="1753036" cy="4829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94055" y="9777520"/>
            <a:ext cx="2609940" cy="6641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83760" y="999196"/>
            <a:ext cx="7208266" cy="1028162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170702" y="9457542"/>
            <a:ext cx="10603230" cy="0"/>
          </a:xfrm>
          <a:custGeom>
            <a:avLst/>
            <a:gdLst/>
            <a:ahLst/>
            <a:cxnLst/>
            <a:rect l="l" t="t" r="r" b="b"/>
            <a:pathLst>
              <a:path w="10603230" h="0">
                <a:moveTo>
                  <a:pt x="0" y="0"/>
                </a:moveTo>
                <a:lnTo>
                  <a:pt x="1060269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80198" y="9833368"/>
            <a:ext cx="531495" cy="135890"/>
          </a:xfrm>
          <a:custGeom>
            <a:avLst/>
            <a:gdLst/>
            <a:ahLst/>
            <a:cxnLst/>
            <a:rect l="l" t="t" r="r" b="b"/>
            <a:pathLst>
              <a:path w="531494" h="135890">
                <a:moveTo>
                  <a:pt x="0" y="0"/>
                </a:moveTo>
                <a:lnTo>
                  <a:pt x="531040" y="0"/>
                </a:lnTo>
                <a:lnTo>
                  <a:pt x="531040" y="135840"/>
                </a:lnTo>
                <a:lnTo>
                  <a:pt x="0" y="1358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53473" y="10394843"/>
            <a:ext cx="534670" cy="135890"/>
          </a:xfrm>
          <a:custGeom>
            <a:avLst/>
            <a:gdLst/>
            <a:ahLst/>
            <a:cxnLst/>
            <a:rect l="l" t="t" r="r" b="b"/>
            <a:pathLst>
              <a:path w="534669" h="135890">
                <a:moveTo>
                  <a:pt x="0" y="0"/>
                </a:moveTo>
                <a:lnTo>
                  <a:pt x="534057" y="0"/>
                </a:lnTo>
                <a:lnTo>
                  <a:pt x="534057" y="135840"/>
                </a:lnTo>
                <a:lnTo>
                  <a:pt x="0" y="1358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147328" y="4054230"/>
            <a:ext cx="988694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spc="175" b="1">
                <a:solidFill>
                  <a:srgbClr val="F6DB0A"/>
                </a:solidFill>
                <a:latin typeface="Courier New"/>
                <a:cs typeface="Courier New"/>
              </a:rPr>
              <a:t>2D22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57876" y="4917322"/>
            <a:ext cx="10725150" cy="1023619"/>
          </a:xfrm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ct val="97600"/>
              </a:lnSpc>
              <a:spcBef>
                <a:spcPts val="225"/>
              </a:spcBef>
              <a:tabLst>
                <a:tab pos="2208530" algn="l"/>
                <a:tab pos="3087370" algn="l"/>
                <a:tab pos="7793990" algn="l"/>
                <a:tab pos="9135745" algn="l"/>
              </a:tabLst>
            </a:pPr>
            <a:r>
              <a:rPr dirty="0" sz="2600" b="1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2600" spc="2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00" b="1">
                <a:solidFill>
                  <a:srgbClr val="494949"/>
                </a:solidFill>
                <a:latin typeface="Arial"/>
                <a:cs typeface="Arial"/>
              </a:rPr>
              <a:t>SUDOEXPO.</a:t>
            </a:r>
            <a:r>
              <a:rPr dirty="0" sz="2600" b="1">
                <a:solidFill>
                  <a:srgbClr val="494949"/>
                </a:solidFill>
                <a:latin typeface="Arial"/>
                <a:cs typeface="Arial"/>
              </a:rPr>
              <a:t>	</a:t>
            </a:r>
            <a:r>
              <a:rPr dirty="0" spc="-10">
                <a:solidFill>
                  <a:srgbClr val="494949"/>
                </a:solidFill>
                <a:latin typeface="Arial"/>
                <a:cs typeface="Arial"/>
              </a:rPr>
              <a:t>maior</a:t>
            </a:r>
            <a:r>
              <a:rPr dirty="0">
                <a:solidFill>
                  <a:srgbClr val="494949"/>
                </a:solidFill>
                <a:latin typeface="Arial"/>
                <a:cs typeface="Arial"/>
              </a:rPr>
              <a:t>	</a:t>
            </a:r>
            <a:r>
              <a:rPr dirty="0" spc="-90">
                <a:solidFill>
                  <a:srgbClr val="494949"/>
                </a:solidFill>
                <a:latin typeface="Arial"/>
                <a:cs typeface="Arial"/>
              </a:rPr>
              <a:t>feira</a:t>
            </a:r>
            <a:r>
              <a:rPr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105">
                <a:solidFill>
                  <a:srgbClr val="494949"/>
                </a:solidFill>
                <a:latin typeface="Arial"/>
                <a:cs typeface="Arial"/>
              </a:rPr>
              <a:t>multissetorial</a:t>
            </a:r>
            <a:r>
              <a:rPr dirty="0" spc="-65">
                <a:solidFill>
                  <a:srgbClr val="494949"/>
                </a:solidFill>
                <a:latin typeface="Arial"/>
                <a:cs typeface="Arial"/>
              </a:rPr>
              <a:t> do</a:t>
            </a:r>
            <a:r>
              <a:rPr dirty="0" spc="-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204">
                <a:solidFill>
                  <a:srgbClr val="494949"/>
                </a:solidFill>
                <a:latin typeface="Arial"/>
                <a:cs typeface="Arial"/>
              </a:rPr>
              <a:t>Centro-</a:t>
            </a:r>
            <a:r>
              <a:rPr dirty="0" spc="-10">
                <a:solidFill>
                  <a:srgbClr val="494949"/>
                </a:solidFill>
                <a:latin typeface="Arial"/>
                <a:cs typeface="Arial"/>
              </a:rPr>
              <a:t>Oeste</a:t>
            </a:r>
            <a:r>
              <a:rPr dirty="0">
                <a:solidFill>
                  <a:srgbClr val="494949"/>
                </a:solidFill>
                <a:latin typeface="Arial"/>
                <a:cs typeface="Arial"/>
              </a:rPr>
              <a:t>	</a:t>
            </a:r>
            <a:r>
              <a:rPr dirty="0" spc="-55">
                <a:solidFill>
                  <a:srgbClr val="494949"/>
                </a:solidFill>
                <a:latin typeface="Arial"/>
                <a:cs typeface="Arial"/>
              </a:rPr>
              <a:t>brasileiro.</a:t>
            </a:r>
            <a:r>
              <a:rPr dirty="0">
                <a:solidFill>
                  <a:srgbClr val="494949"/>
                </a:solidFill>
                <a:latin typeface="Arial"/>
                <a:cs typeface="Arial"/>
              </a:rPr>
              <a:t>	</a:t>
            </a:r>
            <a:r>
              <a:rPr dirty="0" sz="4050" spc="-630">
                <a:solidFill>
                  <a:srgbClr val="494949"/>
                </a:solidFill>
                <a:latin typeface="Times New Roman"/>
                <a:cs typeface="Times New Roman"/>
              </a:rPr>
              <a:t>e</a:t>
            </a:r>
            <a:r>
              <a:rPr dirty="0" sz="4050" spc="-65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pc="-95">
                <a:solidFill>
                  <a:srgbClr val="494949"/>
                </a:solidFill>
                <a:latin typeface="Arial"/>
                <a:cs typeface="Arial"/>
              </a:rPr>
              <a:t>realizada </a:t>
            </a:r>
            <a:r>
              <a:rPr dirty="0" spc="-155">
                <a:solidFill>
                  <a:srgbClr val="494949"/>
                </a:solidFill>
                <a:latin typeface="Arial"/>
                <a:cs typeface="Arial"/>
              </a:rPr>
              <a:t>bienalmente</a:t>
            </a:r>
            <a:r>
              <a:rPr dirty="0" spc="-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190">
                <a:solidFill>
                  <a:srgbClr val="494949"/>
                </a:solidFill>
                <a:latin typeface="Arial"/>
                <a:cs typeface="Arial"/>
              </a:rPr>
              <a:t>pela</a:t>
            </a:r>
            <a:r>
              <a:rPr dirty="0" spc="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305">
                <a:solidFill>
                  <a:srgbClr val="494949"/>
                </a:solidFill>
                <a:latin typeface="Arial"/>
                <a:cs typeface="Arial"/>
              </a:rPr>
              <a:t>ACIRV</a:t>
            </a:r>
            <a:r>
              <a:rPr dirty="0" spc="1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265">
                <a:solidFill>
                  <a:srgbClr val="494949"/>
                </a:solidFill>
                <a:latin typeface="Arial"/>
                <a:cs typeface="Arial"/>
              </a:rPr>
              <a:t>-</a:t>
            </a:r>
            <a:r>
              <a:rPr dirty="0" spc="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210">
                <a:solidFill>
                  <a:srgbClr val="494949"/>
                </a:solidFill>
                <a:latin typeface="Arial"/>
                <a:cs typeface="Arial"/>
              </a:rPr>
              <a:t>Associa9ao</a:t>
            </a:r>
            <a:r>
              <a:rPr dirty="0" spc="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155">
                <a:solidFill>
                  <a:srgbClr val="494949"/>
                </a:solidFill>
                <a:latin typeface="Arial"/>
                <a:cs typeface="Arial"/>
              </a:rPr>
              <a:t>Comercial</a:t>
            </a:r>
            <a:r>
              <a:rPr dirty="0" spc="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125">
                <a:solidFill>
                  <a:srgbClr val="494949"/>
                </a:solidFill>
                <a:latin typeface="Arial"/>
                <a:cs typeface="Arial"/>
              </a:rPr>
              <a:t>Industrial</a:t>
            </a:r>
            <a:r>
              <a:rPr dirty="0" spc="1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25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160">
                <a:solidFill>
                  <a:srgbClr val="494949"/>
                </a:solidFill>
                <a:latin typeface="Arial"/>
                <a:cs typeface="Arial"/>
              </a:rPr>
              <a:t>Servi9os</a:t>
            </a:r>
            <a:r>
              <a:rPr dirty="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215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pc="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200">
                <a:solidFill>
                  <a:srgbClr val="494949"/>
                </a:solidFill>
                <a:latin typeface="Arial"/>
                <a:cs typeface="Arial"/>
              </a:rPr>
              <a:t>Rio</a:t>
            </a:r>
            <a:r>
              <a:rPr dirty="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pc="-75">
                <a:solidFill>
                  <a:srgbClr val="494949"/>
                </a:solidFill>
                <a:latin typeface="Arial"/>
                <a:cs typeface="Arial"/>
              </a:rPr>
              <a:t>Verde.</a:t>
            </a:r>
            <a:endParaRPr sz="40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8002" y="6177620"/>
            <a:ext cx="10546080" cy="231394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just" marL="15240" marR="21590" indent="-2540">
              <a:lnSpc>
                <a:spcPct val="95600"/>
              </a:lnSpc>
              <a:spcBef>
                <a:spcPts val="259"/>
              </a:spcBef>
            </a:pPr>
            <a:r>
              <a:rPr dirty="0" sz="2550" spc="-225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2550" spc="3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45">
                <a:solidFill>
                  <a:srgbClr val="494949"/>
                </a:solidFill>
                <a:latin typeface="Arial"/>
                <a:cs typeface="Arial"/>
              </a:rPr>
              <a:t>feira</a:t>
            </a:r>
            <a:r>
              <a:rPr dirty="0" sz="2550" spc="204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80">
                <a:solidFill>
                  <a:srgbClr val="494949"/>
                </a:solidFill>
                <a:latin typeface="Arial"/>
                <a:cs typeface="Arial"/>
              </a:rPr>
              <a:t>conta</a:t>
            </a:r>
            <a:r>
              <a:rPr dirty="0" sz="2550" spc="2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65">
                <a:solidFill>
                  <a:srgbClr val="494949"/>
                </a:solidFill>
                <a:latin typeface="Arial"/>
                <a:cs typeface="Arial"/>
              </a:rPr>
              <a:t>com</a:t>
            </a:r>
            <a:r>
              <a:rPr dirty="0" sz="2550" spc="2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10">
                <a:solidFill>
                  <a:srgbClr val="494949"/>
                </a:solidFill>
                <a:latin typeface="Arial"/>
                <a:cs typeface="Arial"/>
              </a:rPr>
              <a:t>estandes</a:t>
            </a:r>
            <a:r>
              <a:rPr dirty="0" sz="2550" spc="29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45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550" spc="18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00">
                <a:solidFill>
                  <a:srgbClr val="494949"/>
                </a:solidFill>
                <a:latin typeface="Arial"/>
                <a:cs typeface="Arial"/>
              </a:rPr>
              <a:t>empresas</a:t>
            </a:r>
            <a:r>
              <a:rPr dirty="0" sz="2550" spc="3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29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550" spc="1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80">
                <a:solidFill>
                  <a:srgbClr val="494949"/>
                </a:solidFill>
                <a:latin typeface="Arial"/>
                <a:cs typeface="Arial"/>
              </a:rPr>
              <a:t>diversos</a:t>
            </a:r>
            <a:r>
              <a:rPr dirty="0" sz="2550" spc="2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85">
                <a:solidFill>
                  <a:srgbClr val="494949"/>
                </a:solidFill>
                <a:latin typeface="Arial"/>
                <a:cs typeface="Arial"/>
              </a:rPr>
              <a:t>segmentos</a:t>
            </a:r>
            <a:r>
              <a:rPr dirty="0" sz="2550" spc="2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45">
                <a:solidFill>
                  <a:srgbClr val="494949"/>
                </a:solidFill>
                <a:latin typeface="Arial"/>
                <a:cs typeface="Arial"/>
              </a:rPr>
              <a:t>com</a:t>
            </a:r>
            <a:r>
              <a:rPr dirty="0" sz="2550" spc="2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40">
                <a:solidFill>
                  <a:srgbClr val="494949"/>
                </a:solidFill>
                <a:latin typeface="Arial"/>
                <a:cs typeface="Arial"/>
              </a:rPr>
              <a:t>exposi9ao</a:t>
            </a:r>
            <a:r>
              <a:rPr dirty="0" sz="2550" spc="-1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29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550" spc="-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50">
                <a:solidFill>
                  <a:srgbClr val="494949"/>
                </a:solidFill>
                <a:latin typeface="Arial"/>
                <a:cs typeface="Arial"/>
              </a:rPr>
              <a:t>produtos</a:t>
            </a:r>
            <a:r>
              <a:rPr dirty="0" sz="2550" spc="1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7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550" spc="-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00">
                <a:solidFill>
                  <a:srgbClr val="494949"/>
                </a:solidFill>
                <a:latin typeface="Arial"/>
                <a:cs typeface="Arial"/>
              </a:rPr>
              <a:t>servi9os.</a:t>
            </a:r>
            <a:r>
              <a:rPr dirty="0" sz="2550" spc="5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95">
                <a:solidFill>
                  <a:srgbClr val="494949"/>
                </a:solidFill>
                <a:latin typeface="Arial"/>
                <a:cs typeface="Arial"/>
              </a:rPr>
              <a:t>palestras.</a:t>
            </a:r>
            <a:r>
              <a:rPr dirty="0" sz="2550" spc="7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04">
                <a:solidFill>
                  <a:srgbClr val="494949"/>
                </a:solidFill>
                <a:latin typeface="Arial"/>
                <a:cs typeface="Arial"/>
              </a:rPr>
              <a:t>Festival</a:t>
            </a:r>
            <a:r>
              <a:rPr dirty="0" sz="2550" spc="8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60">
                <a:solidFill>
                  <a:srgbClr val="494949"/>
                </a:solidFill>
                <a:latin typeface="Arial"/>
                <a:cs typeface="Arial"/>
              </a:rPr>
              <a:t>Gastronomic</a:t>
            </a:r>
            <a:r>
              <a:rPr dirty="0" sz="3150" spc="-160">
                <a:solidFill>
                  <a:srgbClr val="494949"/>
                </a:solidFill>
                <a:latin typeface="Arial"/>
                <a:cs typeface="Arial"/>
              </a:rPr>
              <a:t>□</a:t>
            </a:r>
            <a:r>
              <a:rPr dirty="0" sz="2550" spc="-160">
                <a:solidFill>
                  <a:srgbClr val="494949"/>
                </a:solidFill>
                <a:latin typeface="Arial"/>
                <a:cs typeface="Arial"/>
              </a:rPr>
              <a:t>Barzinho</a:t>
            </a:r>
            <a:r>
              <a:rPr dirty="0" sz="2550" spc="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400" spc="125">
                <a:solidFill>
                  <a:srgbClr val="494949"/>
                </a:solidFill>
                <a:latin typeface="Arial"/>
                <a:cs typeface="Arial"/>
              </a:rPr>
              <a:t>&amp;</a:t>
            </a:r>
            <a:r>
              <a:rPr dirty="0" sz="2400" spc="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20">
                <a:solidFill>
                  <a:srgbClr val="494949"/>
                </a:solidFill>
                <a:latin typeface="Arial"/>
                <a:cs typeface="Arial"/>
              </a:rPr>
              <a:t>Violao.</a:t>
            </a:r>
            <a:r>
              <a:rPr dirty="0" sz="2550" spc="-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80">
                <a:solidFill>
                  <a:srgbClr val="494949"/>
                </a:solidFill>
                <a:latin typeface="Arial"/>
                <a:cs typeface="Arial"/>
              </a:rPr>
              <a:t>Espa90</a:t>
            </a:r>
            <a:r>
              <a:rPr dirty="0" sz="2550" spc="-14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45">
                <a:solidFill>
                  <a:srgbClr val="494949"/>
                </a:solidFill>
                <a:latin typeface="Arial"/>
                <a:cs typeface="Arial"/>
              </a:rPr>
              <a:t>Motor</a:t>
            </a:r>
            <a:r>
              <a:rPr dirty="0" sz="2550" spc="16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45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550" spc="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70">
                <a:solidFill>
                  <a:srgbClr val="494949"/>
                </a:solidFill>
                <a:latin typeface="Arial"/>
                <a:cs typeface="Arial"/>
              </a:rPr>
              <a:t>outras</a:t>
            </a:r>
            <a:r>
              <a:rPr dirty="0" sz="2550" spc="9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90">
                <a:solidFill>
                  <a:srgbClr val="494949"/>
                </a:solidFill>
                <a:latin typeface="Arial"/>
                <a:cs typeface="Arial"/>
              </a:rPr>
              <a:t>atra9oes</a:t>
            </a:r>
            <a:r>
              <a:rPr dirty="0" sz="2550" spc="17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45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550" spc="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80">
                <a:solidFill>
                  <a:srgbClr val="494949"/>
                </a:solidFill>
                <a:latin typeface="Arial"/>
                <a:cs typeface="Arial"/>
              </a:rPr>
              <a:t>neg6cios</a:t>
            </a:r>
            <a:r>
              <a:rPr dirty="0" sz="2550" spc="15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45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550" spc="5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70">
                <a:solidFill>
                  <a:srgbClr val="494949"/>
                </a:solidFill>
                <a:latin typeface="Arial"/>
                <a:cs typeface="Arial"/>
              </a:rPr>
              <a:t>lazer</a:t>
            </a:r>
            <a:endParaRPr sz="2550">
              <a:latin typeface="Arial"/>
              <a:cs typeface="Arial"/>
            </a:endParaRPr>
          </a:p>
          <a:p>
            <a:pPr algn="just" marL="15240" marR="5080" indent="-3175">
              <a:lnSpc>
                <a:spcPct val="96500"/>
              </a:lnSpc>
              <a:spcBef>
                <a:spcPts val="815"/>
              </a:spcBef>
            </a:pPr>
            <a:r>
              <a:rPr dirty="0" sz="2650" spc="-385" b="1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2650" spc="38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29" b="1">
                <a:solidFill>
                  <a:srgbClr val="494949"/>
                </a:solidFill>
                <a:latin typeface="Arial"/>
                <a:cs typeface="Arial"/>
              </a:rPr>
              <a:t>SUDOEXPO</a:t>
            </a:r>
            <a:r>
              <a:rPr dirty="0" sz="2600" spc="58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4000" spc="-605" b="1">
                <a:solidFill>
                  <a:srgbClr val="494949"/>
                </a:solidFill>
                <a:latin typeface="Times New Roman"/>
                <a:cs typeface="Times New Roman"/>
              </a:rPr>
              <a:t>e</a:t>
            </a:r>
            <a:r>
              <a:rPr dirty="0" sz="4000" spc="190" b="1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2550" spc="-355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2550" spc="409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14">
                <a:solidFill>
                  <a:srgbClr val="494949"/>
                </a:solidFill>
                <a:latin typeface="Arial"/>
                <a:cs typeface="Arial"/>
              </a:rPr>
              <a:t>vitrine</a:t>
            </a:r>
            <a:r>
              <a:rPr dirty="0" sz="2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35">
                <a:solidFill>
                  <a:srgbClr val="494949"/>
                </a:solidFill>
                <a:latin typeface="Arial"/>
                <a:cs typeface="Arial"/>
              </a:rPr>
              <a:t>perfeita</a:t>
            </a:r>
            <a:r>
              <a:rPr dirty="0" sz="2550" spc="5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10">
                <a:solidFill>
                  <a:srgbClr val="494949"/>
                </a:solidFill>
                <a:latin typeface="Arial"/>
                <a:cs typeface="Arial"/>
              </a:rPr>
              <a:t>para</a:t>
            </a:r>
            <a:r>
              <a:rPr dirty="0" sz="255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60">
                <a:solidFill>
                  <a:srgbClr val="494949"/>
                </a:solidFill>
                <a:latin typeface="Arial"/>
                <a:cs typeface="Arial"/>
              </a:rPr>
              <a:t>as</a:t>
            </a:r>
            <a:r>
              <a:rPr dirty="0" sz="2550" spc="40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00">
                <a:solidFill>
                  <a:srgbClr val="494949"/>
                </a:solidFill>
                <a:latin typeface="Arial"/>
                <a:cs typeface="Arial"/>
              </a:rPr>
              <a:t>empresas</a:t>
            </a:r>
            <a:r>
              <a:rPr dirty="0" sz="2550" spc="5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20">
                <a:solidFill>
                  <a:srgbClr val="494949"/>
                </a:solidFill>
                <a:latin typeface="Arial"/>
                <a:cs typeface="Arial"/>
              </a:rPr>
              <a:t>se</a:t>
            </a:r>
            <a:r>
              <a:rPr dirty="0" sz="2550" spc="3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85">
                <a:solidFill>
                  <a:srgbClr val="494949"/>
                </a:solidFill>
                <a:latin typeface="Arial"/>
                <a:cs typeface="Arial"/>
              </a:rPr>
              <a:t>apresentarem.</a:t>
            </a:r>
            <a:r>
              <a:rPr dirty="0" sz="2550" spc="6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45">
                <a:solidFill>
                  <a:srgbClr val="494949"/>
                </a:solidFill>
                <a:latin typeface="Arial"/>
                <a:cs typeface="Arial"/>
              </a:rPr>
              <a:t>captar</a:t>
            </a:r>
            <a:r>
              <a:rPr dirty="0" sz="2550" spc="-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20">
                <a:solidFill>
                  <a:srgbClr val="494949"/>
                </a:solidFill>
                <a:latin typeface="Arial"/>
                <a:cs typeface="Arial"/>
              </a:rPr>
              <a:t>novas</a:t>
            </a:r>
            <a:r>
              <a:rPr dirty="0" sz="2550" spc="17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75">
                <a:solidFill>
                  <a:srgbClr val="494949"/>
                </a:solidFill>
                <a:latin typeface="Arial"/>
                <a:cs typeface="Arial"/>
              </a:rPr>
              <a:t>clientes.</a:t>
            </a:r>
            <a:r>
              <a:rPr dirty="0" sz="2550" spc="2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20">
                <a:solidFill>
                  <a:srgbClr val="494949"/>
                </a:solidFill>
                <a:latin typeface="Arial"/>
                <a:cs typeface="Arial"/>
              </a:rPr>
              <a:t>fortalecer</a:t>
            </a:r>
            <a:r>
              <a:rPr dirty="0" sz="2550" spc="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55">
                <a:solidFill>
                  <a:srgbClr val="494949"/>
                </a:solidFill>
                <a:latin typeface="Arial"/>
                <a:cs typeface="Arial"/>
              </a:rPr>
              <a:t>parcerias</a:t>
            </a:r>
            <a:r>
              <a:rPr dirty="0" sz="2550" spc="18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45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55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60">
                <a:solidFill>
                  <a:srgbClr val="494949"/>
                </a:solidFill>
                <a:latin typeface="Arial"/>
                <a:cs typeface="Arial"/>
              </a:rPr>
              <a:t>ampliarem</a:t>
            </a:r>
            <a:r>
              <a:rPr dirty="0" sz="2550" spc="204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260">
                <a:solidFill>
                  <a:srgbClr val="494949"/>
                </a:solidFill>
                <a:latin typeface="Arial"/>
                <a:cs typeface="Arial"/>
              </a:rPr>
              <a:t>suas</a:t>
            </a:r>
            <a:r>
              <a:rPr dirty="0" sz="2550" spc="1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550" spc="-165">
                <a:solidFill>
                  <a:srgbClr val="494949"/>
                </a:solidFill>
                <a:latin typeface="Arial"/>
                <a:cs typeface="Arial"/>
              </a:rPr>
              <a:t>oportunidades.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64052" y="9171145"/>
            <a:ext cx="540385" cy="176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b="1">
                <a:solidFill>
                  <a:srgbClr val="494949"/>
                </a:solidFill>
                <a:latin typeface="Arial"/>
                <a:cs typeface="Arial"/>
              </a:rPr>
              <a:t>APO</a:t>
            </a:r>
            <a:r>
              <a:rPr dirty="0" sz="1000" spc="3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94949"/>
                </a:solidFill>
                <a:latin typeface="Arial"/>
                <a:cs typeface="Arial"/>
              </a:rPr>
              <a:t>I</a:t>
            </a:r>
            <a:r>
              <a:rPr dirty="0" sz="100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494949"/>
                </a:solidFill>
                <a:latin typeface="Arial"/>
                <a:cs typeface="Arial"/>
              </a:rPr>
              <a:t>0: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56668" y="9143977"/>
            <a:ext cx="1064895" cy="176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95" b="1">
                <a:solidFill>
                  <a:srgbClr val="494949"/>
                </a:solidFill>
                <a:latin typeface="Arial"/>
                <a:cs typeface="Arial"/>
              </a:rPr>
              <a:t>REALIZAf;AO: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890605" y="9946947"/>
            <a:ext cx="1564005" cy="4483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50" spc="80" b="1" i="1">
                <a:solidFill>
                  <a:srgbClr val="4679B5"/>
                </a:solidFill>
                <a:latin typeface="Arial"/>
                <a:cs typeface="Arial"/>
              </a:rPr>
              <a:t>SEBRAE</a:t>
            </a:r>
            <a:endParaRPr sz="27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05256" y="10437985"/>
            <a:ext cx="186245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70" i="1">
                <a:solidFill>
                  <a:srgbClr val="212121"/>
                </a:solidFill>
                <a:latin typeface="Times New Roman"/>
                <a:cs typeface="Times New Roman"/>
              </a:rPr>
              <a:t>Presente</a:t>
            </a:r>
            <a:r>
              <a:rPr dirty="0" sz="1150" spc="55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150" spc="100">
                <a:solidFill>
                  <a:srgbClr val="212121"/>
                </a:solidFill>
                <a:latin typeface="Times New Roman"/>
                <a:cs typeface="Times New Roman"/>
              </a:rPr>
              <a:t>em</a:t>
            </a:r>
            <a:r>
              <a:rPr dirty="0" sz="1150" spc="17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150" spc="120" i="1">
                <a:solidFill>
                  <a:srgbClr val="212121"/>
                </a:solidFill>
                <a:latin typeface="Times New Roman"/>
                <a:cs typeface="Times New Roman"/>
              </a:rPr>
              <a:t>coda</a:t>
            </a:r>
            <a:r>
              <a:rPr dirty="0" sz="1150" spc="70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150" spc="-10" i="1">
                <a:solidFill>
                  <a:srgbClr val="212121"/>
                </a:solidFill>
                <a:latin typeface="Times New Roman"/>
                <a:cs typeface="Times New Roman"/>
              </a:rPr>
              <a:t>hist6ria!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239889" y="1232770"/>
            <a:ext cx="5027930" cy="31540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1057275">
              <a:lnSpc>
                <a:spcPct val="92800"/>
              </a:lnSpc>
              <a:spcBef>
                <a:spcPts val="395"/>
              </a:spcBef>
            </a:pPr>
            <a:r>
              <a:rPr dirty="0" sz="3200" spc="-50" b="1">
                <a:solidFill>
                  <a:srgbClr val="4B3180"/>
                </a:solidFill>
                <a:latin typeface="Arial"/>
                <a:cs typeface="Arial"/>
              </a:rPr>
              <a:t>RIO</a:t>
            </a:r>
            <a:r>
              <a:rPr dirty="0" sz="3200" spc="-36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145" b="1">
                <a:solidFill>
                  <a:srgbClr val="4B3180"/>
                </a:solidFill>
                <a:latin typeface="Arial"/>
                <a:cs typeface="Arial"/>
              </a:rPr>
              <a:t>VERDE</a:t>
            </a:r>
            <a:r>
              <a:rPr dirty="0" sz="3200" spc="-23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114" b="1">
                <a:solidFill>
                  <a:srgbClr val="4B3180"/>
                </a:solidFill>
                <a:latin typeface="Arial"/>
                <a:cs typeface="Arial"/>
              </a:rPr>
              <a:t>UMA </a:t>
            </a:r>
            <a:r>
              <a:rPr dirty="0" sz="3200" spc="-135" b="1">
                <a:solidFill>
                  <a:srgbClr val="4B3180"/>
                </a:solidFill>
                <a:latin typeface="Arial"/>
                <a:cs typeface="Arial"/>
              </a:rPr>
              <a:t>CIDADE</a:t>
            </a:r>
            <a:r>
              <a:rPr dirty="0" sz="3200" spc="-204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180" b="1">
                <a:solidFill>
                  <a:srgbClr val="4B3180"/>
                </a:solidFill>
                <a:latin typeface="Arial"/>
                <a:cs typeface="Arial"/>
              </a:rPr>
              <a:t>REPLETA</a:t>
            </a:r>
            <a:r>
              <a:rPr dirty="0" sz="3200" spc="-17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4B3180"/>
                </a:solidFill>
                <a:latin typeface="Arial"/>
                <a:cs typeface="Arial"/>
              </a:rPr>
              <a:t>DE </a:t>
            </a:r>
            <a:r>
              <a:rPr dirty="0" sz="3200" spc="-20" b="1">
                <a:solidFill>
                  <a:srgbClr val="4B3180"/>
                </a:solidFill>
                <a:latin typeface="Arial"/>
                <a:cs typeface="Arial"/>
              </a:rPr>
              <a:t>POTENCIALIDADES</a:t>
            </a:r>
            <a:endParaRPr sz="3200">
              <a:latin typeface="Arial"/>
              <a:cs typeface="Arial"/>
            </a:endParaRPr>
          </a:p>
          <a:p>
            <a:pPr algn="just" marL="21590" marR="5080" indent="-1905">
              <a:lnSpc>
                <a:spcPct val="110700"/>
              </a:lnSpc>
              <a:spcBef>
                <a:spcPts val="2480"/>
              </a:spcBef>
            </a:pP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0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65">
                <a:solidFill>
                  <a:srgbClr val="4B4B4B"/>
                </a:solidFill>
                <a:latin typeface="Arial"/>
                <a:cs typeface="Arial"/>
              </a:rPr>
              <a:t>cerca</a:t>
            </a:r>
            <a:r>
              <a:rPr dirty="0" sz="210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6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250</a:t>
            </a:r>
            <a:r>
              <a:rPr dirty="0" sz="2100" spc="-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mil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habitantes,</a:t>
            </a:r>
            <a:r>
              <a:rPr dirty="0" sz="210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5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0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e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um</a:t>
            </a:r>
            <a:r>
              <a:rPr dirty="0" sz="210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30">
                <a:solidFill>
                  <a:srgbClr val="4B4B4B"/>
                </a:solidFill>
                <a:latin typeface="Arial"/>
                <a:cs typeface="Arial"/>
              </a:rPr>
              <a:t>polo</a:t>
            </a:r>
            <a:r>
              <a:rPr dirty="0" sz="2100" spc="-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regional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mais</a:t>
            </a:r>
            <a:r>
              <a:rPr dirty="0" sz="210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36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2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700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mil</a:t>
            </a:r>
            <a:r>
              <a:rPr dirty="0" sz="210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clientes </a:t>
            </a:r>
            <a:r>
              <a:rPr dirty="0" sz="2100" spc="-75">
                <a:solidFill>
                  <a:srgbClr val="4B4B4B"/>
                </a:solidFill>
                <a:latin typeface="Arial"/>
                <a:cs typeface="Arial"/>
              </a:rPr>
              <a:t>potenciais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55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dirty="0" sz="2100" spc="-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aqui</a:t>
            </a:r>
            <a:r>
              <a:rPr dirty="0" sz="2100" spc="-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veem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em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busca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75">
                <a:solidFill>
                  <a:srgbClr val="4B4B4B"/>
                </a:solidFill>
                <a:latin typeface="Arial"/>
                <a:cs typeface="Arial"/>
              </a:rPr>
              <a:t>servi- </a:t>
            </a:r>
            <a:r>
              <a:rPr dirty="0" sz="2100" spc="-185">
                <a:solidFill>
                  <a:srgbClr val="4B4B4B"/>
                </a:solidFill>
                <a:latin typeface="Arial"/>
                <a:cs typeface="Arial"/>
              </a:rPr>
              <a:t>9os,</a:t>
            </a:r>
            <a:r>
              <a:rPr dirty="0" sz="2100" spc="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diversao</a:t>
            </a:r>
            <a:r>
              <a:rPr dirty="0" sz="210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compras.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212105" y="4702240"/>
            <a:ext cx="5082540" cy="14414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38100" marR="30480" indent="13970">
              <a:lnSpc>
                <a:spcPct val="110400"/>
              </a:lnSpc>
              <a:spcBef>
                <a:spcPts val="114"/>
              </a:spcBef>
            </a:pPr>
            <a:r>
              <a:rPr dirty="0" sz="2100" spc="-160">
                <a:solidFill>
                  <a:srgbClr val="4B4B4B"/>
                </a:solidFill>
                <a:latin typeface="Arial"/>
                <a:cs typeface="Arial"/>
              </a:rPr>
              <a:t>Devido</a:t>
            </a:r>
            <a:r>
              <a:rPr dirty="0" sz="2100" spc="1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04">
                <a:solidFill>
                  <a:srgbClr val="4B4B4B"/>
                </a:solidFill>
                <a:latin typeface="Arial"/>
                <a:cs typeface="Arial"/>
              </a:rPr>
              <a:t>ao</a:t>
            </a:r>
            <a:r>
              <a:rPr dirty="0" sz="2100" spc="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agroneg6cio,</a:t>
            </a:r>
            <a:r>
              <a:rPr dirty="0" sz="2100" spc="2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9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0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municfpio</a:t>
            </a:r>
            <a:r>
              <a:rPr dirty="0" sz="2100" spc="1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atrai</a:t>
            </a:r>
            <a:r>
              <a:rPr dirty="0" sz="210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35">
                <a:solidFill>
                  <a:srgbClr val="4B4B4B"/>
                </a:solidFill>
                <a:latin typeface="Arial"/>
                <a:cs typeface="Arial"/>
              </a:rPr>
              <a:t>aten­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05">
                <a:solidFill>
                  <a:srgbClr val="4B4B4B"/>
                </a:solidFill>
                <a:latin typeface="Arial"/>
                <a:cs typeface="Arial"/>
              </a:rPr>
              <a:t>c</a:t>
            </a:r>
            <a:r>
              <a:rPr dirty="0" baseline="-10683" sz="1950" spc="-60">
                <a:solidFill>
                  <a:srgbClr val="4B4B4B"/>
                </a:solidFill>
                <a:latin typeface="Times New Roman"/>
                <a:cs typeface="Times New Roman"/>
              </a:rPr>
              <a:t>,</a:t>
            </a:r>
            <a:r>
              <a:rPr dirty="0" baseline="-10683" sz="1950" spc="67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ao</a:t>
            </a:r>
            <a:r>
              <a:rPr dirty="0" sz="2100" spc="3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8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2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todos,</a:t>
            </a:r>
            <a:r>
              <a:rPr dirty="0" sz="2100" spc="1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30">
                <a:solidFill>
                  <a:srgbClr val="4B4B4B"/>
                </a:solidFill>
                <a:latin typeface="Arial"/>
                <a:cs typeface="Arial"/>
              </a:rPr>
              <a:t>recebendo</a:t>
            </a:r>
            <a:r>
              <a:rPr dirty="0" sz="2100" spc="3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investimentos</a:t>
            </a:r>
            <a:r>
              <a:rPr dirty="0" sz="2100" spc="4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8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229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di-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5">
                <a:solidFill>
                  <a:srgbClr val="4B4B4B"/>
                </a:solidFill>
                <a:latin typeface="Arial"/>
                <a:cs typeface="Arial"/>
              </a:rPr>
              <a:t>versos</a:t>
            </a:r>
            <a:r>
              <a:rPr dirty="0" sz="2100" spc="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5">
                <a:solidFill>
                  <a:srgbClr val="4B4B4B"/>
                </a:solidFill>
                <a:latin typeface="Arial"/>
                <a:cs typeface="Arial"/>
              </a:rPr>
              <a:t>locais,</a:t>
            </a:r>
            <a:r>
              <a:rPr dirty="0" sz="2100" spc="1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dirty="0" sz="2100" spc="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colocam</a:t>
            </a:r>
            <a:r>
              <a:rPr dirty="0" sz="2100" spc="1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65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00" spc="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00" spc="1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entre</a:t>
            </a:r>
            <a:r>
              <a:rPr dirty="0" sz="2100" spc="1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os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5">
                <a:solidFill>
                  <a:srgbClr val="4B4B4B"/>
                </a:solidFill>
                <a:latin typeface="Arial"/>
                <a:cs typeface="Arial"/>
              </a:rPr>
              <a:t>120</a:t>
            </a:r>
            <a:r>
              <a:rPr dirty="0" sz="2100" spc="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0">
                <a:solidFill>
                  <a:srgbClr val="4B4B4B"/>
                </a:solidFill>
                <a:latin typeface="Arial"/>
                <a:cs typeface="Arial"/>
              </a:rPr>
              <a:t>maiores</a:t>
            </a:r>
            <a:r>
              <a:rPr dirty="0" sz="2100" spc="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PlBs</a:t>
            </a:r>
            <a:r>
              <a:rPr dirty="0" sz="210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do</a:t>
            </a:r>
            <a:r>
              <a:rPr dirty="0" sz="210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5">
                <a:solidFill>
                  <a:srgbClr val="4B4B4B"/>
                </a:solidFill>
                <a:latin typeface="Arial"/>
                <a:cs typeface="Arial"/>
              </a:rPr>
              <a:t>Brasil.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37505" y="6474206"/>
            <a:ext cx="5026660" cy="177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13335">
              <a:lnSpc>
                <a:spcPct val="109600"/>
              </a:lnSpc>
              <a:spcBef>
                <a:spcPts val="90"/>
              </a:spcBef>
            </a:pPr>
            <a:r>
              <a:rPr dirty="0" sz="2100" spc="-240">
                <a:solidFill>
                  <a:srgbClr val="4B4B4B"/>
                </a:solidFill>
                <a:latin typeface="Arial"/>
                <a:cs typeface="Arial"/>
              </a:rPr>
              <a:t>Essa</a:t>
            </a:r>
            <a:r>
              <a:rPr dirty="0" sz="2100" spc="1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5">
                <a:solidFill>
                  <a:srgbClr val="4B4B4B"/>
                </a:solidFill>
                <a:latin typeface="Arial"/>
                <a:cs typeface="Arial"/>
              </a:rPr>
              <a:t>efervescencia</a:t>
            </a:r>
            <a:r>
              <a:rPr dirty="0" sz="2100" spc="2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30">
                <a:solidFill>
                  <a:srgbClr val="4B4B4B"/>
                </a:solidFill>
                <a:latin typeface="Arial"/>
                <a:cs typeface="Arial"/>
              </a:rPr>
              <a:t>economica</a:t>
            </a:r>
            <a:r>
              <a:rPr dirty="0" sz="2100" spc="3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fez</a:t>
            </a:r>
            <a:r>
              <a:rPr dirty="0" sz="210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9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0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comercio</a:t>
            </a:r>
            <a:r>
              <a:rPr dirty="0" sz="2100" spc="-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rio-</a:t>
            </a:r>
            <a:r>
              <a:rPr dirty="0" sz="2100" spc="-125">
                <a:solidFill>
                  <a:srgbClr val="4B4B4B"/>
                </a:solidFill>
                <a:latin typeface="Arial"/>
                <a:cs typeface="Arial"/>
              </a:rPr>
              <a:t>verdense</a:t>
            </a:r>
            <a:r>
              <a:rPr dirty="0" sz="2100" spc="5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forte</a:t>
            </a:r>
            <a:r>
              <a:rPr dirty="0" sz="2100" spc="2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65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20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0">
                <a:solidFill>
                  <a:srgbClr val="4B4B4B"/>
                </a:solidFill>
                <a:latin typeface="Arial"/>
                <a:cs typeface="Arial"/>
              </a:rPr>
              <a:t>competitivo,</a:t>
            </a:r>
            <a:r>
              <a:rPr dirty="0" sz="2100" spc="3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00" spc="2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grande</a:t>
            </a:r>
            <a:r>
              <a:rPr dirty="0" sz="2100" spc="-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variedade</a:t>
            </a:r>
            <a:r>
              <a:rPr dirty="0" sz="210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produtos</a:t>
            </a:r>
            <a:r>
              <a:rPr dirty="0" sz="210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65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5">
                <a:solidFill>
                  <a:srgbClr val="4B4B4B"/>
                </a:solidFill>
                <a:latin typeface="Arial"/>
                <a:cs typeface="Arial"/>
              </a:rPr>
              <a:t>servi9os.</a:t>
            </a:r>
            <a:r>
              <a:rPr dirty="0" sz="2100" spc="-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Entre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pequenas,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medias</a:t>
            </a:r>
            <a:r>
              <a:rPr dirty="0" sz="2100" spc="2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1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grandes,</a:t>
            </a:r>
            <a:r>
              <a:rPr dirty="0" sz="2100" spc="2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65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00" spc="2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00" spc="2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possui</a:t>
            </a:r>
            <a:r>
              <a:rPr dirty="0" sz="2100" spc="2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0">
                <a:solidFill>
                  <a:srgbClr val="4B4B4B"/>
                </a:solidFill>
                <a:latin typeface="Arial"/>
                <a:cs typeface="Arial"/>
              </a:rPr>
              <a:t>cerca</a:t>
            </a:r>
            <a:r>
              <a:rPr dirty="0" sz="2100" spc="3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25">
                <a:solidFill>
                  <a:srgbClr val="4B4B4B"/>
                </a:solidFill>
                <a:latin typeface="Arial"/>
                <a:cs typeface="Arial"/>
              </a:rPr>
              <a:t>10</a:t>
            </a:r>
            <a:r>
              <a:rPr dirty="0" sz="2100" spc="1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75">
                <a:solidFill>
                  <a:srgbClr val="4B4B4B"/>
                </a:solidFill>
                <a:latin typeface="Arial"/>
                <a:cs typeface="Arial"/>
              </a:rPr>
              <a:t>mil</a:t>
            </a:r>
            <a:r>
              <a:rPr dirty="0" sz="210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empresas</a:t>
            </a:r>
            <a:r>
              <a:rPr dirty="0" sz="2100" spc="1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0">
                <a:solidFill>
                  <a:srgbClr val="4B4B4B"/>
                </a:solidFill>
                <a:latin typeface="Arial"/>
                <a:cs typeface="Arial"/>
              </a:rPr>
              <a:t>ativas.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52416" y="8452699"/>
            <a:ext cx="175323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33730" algn="l"/>
                <a:tab pos="1631950" algn="l"/>
              </a:tabLst>
            </a:pP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lsso,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somada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3350" spc="-690">
                <a:solidFill>
                  <a:srgbClr val="4B4B4B"/>
                </a:solidFill>
                <a:latin typeface="Times New Roman"/>
                <a:cs typeface="Times New Roman"/>
              </a:rPr>
              <a:t>a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165236" y="8609923"/>
            <a:ext cx="3088005" cy="350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46735" algn="l"/>
                <a:tab pos="1875155" algn="l"/>
              </a:tabLst>
            </a:pPr>
            <a:r>
              <a:rPr dirty="0" sz="2100" spc="-25">
                <a:solidFill>
                  <a:srgbClr val="4B4B4B"/>
                </a:solidFill>
                <a:latin typeface="Arial"/>
                <a:cs typeface="Arial"/>
              </a:rPr>
              <a:t>sua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localiza9ao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estrategica,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47149" y="8931412"/>
            <a:ext cx="5020945" cy="1438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2540">
              <a:lnSpc>
                <a:spcPct val="110400"/>
              </a:lnSpc>
              <a:spcBef>
                <a:spcPts val="90"/>
              </a:spcBef>
            </a:pP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35">
                <a:solidFill>
                  <a:srgbClr val="4B4B4B"/>
                </a:solidFill>
                <a:latin typeface="Arial"/>
                <a:cs typeface="Arial"/>
              </a:rPr>
              <a:t>acesso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6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00" spc="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excelentes</a:t>
            </a:r>
            <a:r>
              <a:rPr dirty="0" sz="2100" spc="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rodovias,</a:t>
            </a:r>
            <a:r>
              <a:rPr dirty="0" sz="2100" spc="1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ferrovias</a:t>
            </a:r>
            <a:r>
              <a:rPr dirty="0" sz="2100" spc="-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e 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hidrovias,</a:t>
            </a:r>
            <a:r>
              <a:rPr dirty="0" sz="210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fazem</a:t>
            </a:r>
            <a:r>
              <a:rPr dirty="0" sz="210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um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dos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35">
                <a:solidFill>
                  <a:srgbClr val="4B4B4B"/>
                </a:solidFill>
                <a:latin typeface="Arial"/>
                <a:cs typeface="Arial"/>
              </a:rPr>
              <a:t>princi­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pais</a:t>
            </a:r>
            <a:r>
              <a:rPr dirty="0" sz="2100" spc="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centros</a:t>
            </a:r>
            <a:r>
              <a:rPr dirty="0" sz="2100" spc="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economicos</a:t>
            </a:r>
            <a:r>
              <a:rPr dirty="0" sz="210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4B4B4B"/>
                </a:solidFill>
                <a:latin typeface="Arial"/>
                <a:cs typeface="Arial"/>
              </a:rPr>
              <a:t>neg6cios</a:t>
            </a:r>
            <a:r>
              <a:rPr dirty="0" sz="2100" spc="1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do </a:t>
            </a:r>
            <a:r>
              <a:rPr dirty="0" sz="2100" spc="-165">
                <a:solidFill>
                  <a:srgbClr val="4B4B4B"/>
                </a:solidFill>
                <a:latin typeface="Arial"/>
                <a:cs typeface="Arial"/>
              </a:rPr>
              <a:t>Centro-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Oeste.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675896" y="803111"/>
            <a:ext cx="227965" cy="6369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0" spc="-495">
                <a:solidFill>
                  <a:srgbClr val="4B3180"/>
                </a:solidFill>
                <a:latin typeface="Times New Roman"/>
                <a:cs typeface="Times New Roman"/>
              </a:rPr>
              <a:t>...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827540" y="1232770"/>
            <a:ext cx="4036695" cy="516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-130" b="1">
                <a:solidFill>
                  <a:srgbClr val="4B3180"/>
                </a:solidFill>
                <a:latin typeface="Arial"/>
                <a:cs typeface="Arial"/>
              </a:rPr>
              <a:t>ACIRV</a:t>
            </a:r>
            <a:r>
              <a:rPr dirty="0" sz="3200" spc="-26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55" b="1">
                <a:solidFill>
                  <a:srgbClr val="4B3180"/>
                </a:solidFill>
                <a:latin typeface="Arial"/>
                <a:cs typeface="Arial"/>
              </a:rPr>
              <a:t>-</a:t>
            </a:r>
            <a:r>
              <a:rPr dirty="0" sz="3200" spc="-95" b="1">
                <a:solidFill>
                  <a:srgbClr val="4B3180"/>
                </a:solidFill>
                <a:latin typeface="Arial"/>
                <a:cs typeface="Arial"/>
              </a:rPr>
              <a:t>ATUACAO</a:t>
            </a:r>
            <a:r>
              <a:rPr dirty="0" sz="3200" spc="-8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4B3180"/>
                </a:solidFill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472930" y="1598784"/>
            <a:ext cx="12128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25" i="1">
                <a:solidFill>
                  <a:srgbClr val="4B3180"/>
                </a:solidFill>
                <a:latin typeface="Times New Roman"/>
                <a:cs typeface="Times New Roman"/>
              </a:rPr>
              <a:t>:,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796447" y="1682553"/>
            <a:ext cx="5063490" cy="235140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38100" marR="353060">
              <a:lnSpc>
                <a:spcPts val="3590"/>
              </a:lnSpc>
              <a:spcBef>
                <a:spcPts val="445"/>
              </a:spcBef>
            </a:pPr>
            <a:r>
              <a:rPr dirty="0" sz="3200" spc="-175" b="1">
                <a:solidFill>
                  <a:srgbClr val="4B3180"/>
                </a:solidFill>
                <a:latin typeface="Arial"/>
                <a:cs typeface="Arial"/>
              </a:rPr>
              <a:t>EXCELENCIA</a:t>
            </a:r>
            <a:r>
              <a:rPr dirty="0" sz="3200" spc="-17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40" b="1">
                <a:solidFill>
                  <a:srgbClr val="4B3180"/>
                </a:solidFill>
                <a:latin typeface="Arial"/>
                <a:cs typeface="Arial"/>
              </a:rPr>
              <a:t>EIVI</a:t>
            </a:r>
            <a:r>
              <a:rPr dirty="0" sz="3200" spc="-36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4B3180"/>
                </a:solidFill>
                <a:latin typeface="Arial"/>
                <a:cs typeface="Arial"/>
              </a:rPr>
              <a:t>PROL </a:t>
            </a:r>
            <a:r>
              <a:rPr dirty="0" sz="3200" spc="-60" b="1">
                <a:solidFill>
                  <a:srgbClr val="4B3180"/>
                </a:solidFill>
                <a:latin typeface="Arial"/>
                <a:cs typeface="Arial"/>
              </a:rPr>
              <a:t>DO</a:t>
            </a:r>
            <a:r>
              <a:rPr dirty="0" sz="3200" spc="-42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120" b="1">
                <a:solidFill>
                  <a:srgbClr val="4B3180"/>
                </a:solidFill>
                <a:latin typeface="Arial"/>
                <a:cs typeface="Arial"/>
              </a:rPr>
              <a:t>DESENVOLVIIVIENTO</a:t>
            </a:r>
            <a:endParaRPr sz="3200">
              <a:latin typeface="Arial"/>
              <a:cs typeface="Arial"/>
            </a:endParaRPr>
          </a:p>
          <a:p>
            <a:pPr marL="48260">
              <a:lnSpc>
                <a:spcPts val="3540"/>
              </a:lnSpc>
              <a:spcBef>
                <a:spcPts val="1400"/>
              </a:spcBef>
              <a:tabLst>
                <a:tab pos="4676775" algn="l"/>
              </a:tabLst>
            </a:pPr>
            <a:r>
              <a:rPr dirty="0" sz="2100" spc="-100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0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4B4B4B"/>
                </a:solidFill>
                <a:latin typeface="Arial"/>
                <a:cs typeface="Arial"/>
              </a:rPr>
              <a:t>39</a:t>
            </a:r>
            <a:r>
              <a:rPr dirty="0" sz="20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anos</a:t>
            </a:r>
            <a:r>
              <a:rPr dirty="0" sz="210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1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fundacao,</a:t>
            </a:r>
            <a:r>
              <a:rPr dirty="0" sz="2100" spc="1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3350" spc="-640">
                <a:solidFill>
                  <a:srgbClr val="4B4B4B"/>
                </a:solidFill>
                <a:latin typeface="Times New Roman"/>
                <a:cs typeface="Times New Roman"/>
              </a:rPr>
              <a:t>a</a:t>
            </a:r>
            <a:r>
              <a:rPr dirty="0" sz="3350" spc="9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Associacao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135">
                <a:solidFill>
                  <a:srgbClr val="4B4B4B"/>
                </a:solidFill>
                <a:latin typeface="Arial"/>
                <a:cs typeface="Arial"/>
              </a:rPr>
              <a:t>Co-</a:t>
            </a:r>
            <a:endParaRPr sz="2100">
              <a:latin typeface="Arial"/>
              <a:cs typeface="Arial"/>
            </a:endParaRPr>
          </a:p>
          <a:p>
            <a:pPr marL="2661285">
              <a:lnSpc>
                <a:spcPts val="355"/>
              </a:lnSpc>
              <a:tabLst>
                <a:tab pos="4233545" algn="l"/>
              </a:tabLst>
            </a:pPr>
            <a:r>
              <a:rPr dirty="0" sz="600" spc="-50">
                <a:solidFill>
                  <a:srgbClr val="4B4B4B"/>
                </a:solidFill>
                <a:latin typeface="Times New Roman"/>
                <a:cs typeface="Times New Roman"/>
              </a:rPr>
              <a:t>,</a:t>
            </a:r>
            <a:r>
              <a:rPr dirty="0" sz="600">
                <a:solidFill>
                  <a:srgbClr val="4B4B4B"/>
                </a:solidFill>
                <a:latin typeface="Times New Roman"/>
                <a:cs typeface="Times New Roman"/>
              </a:rPr>
              <a:t>	</a:t>
            </a:r>
            <a:r>
              <a:rPr dirty="0" sz="600" spc="-50" i="1">
                <a:solidFill>
                  <a:srgbClr val="4B4B4B"/>
                </a:solidFill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  <a:p>
            <a:pPr marL="49530" marR="40005">
              <a:lnSpc>
                <a:spcPts val="2800"/>
              </a:lnSpc>
              <a:tabLst>
                <a:tab pos="1691005" algn="l"/>
                <a:tab pos="4179570" algn="l"/>
              </a:tabLst>
            </a:pP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mercial</a:t>
            </a:r>
            <a:r>
              <a:rPr dirty="0" sz="210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-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Servi</a:t>
            </a:r>
            <a:r>
              <a:rPr dirty="0" sz="2100" spc="-790">
                <a:solidFill>
                  <a:srgbClr val="4B4B4B"/>
                </a:solidFill>
                <a:latin typeface="Arial"/>
                <a:cs typeface="Arial"/>
              </a:rPr>
              <a:t>c</a:t>
            </a:r>
            <a:r>
              <a:rPr dirty="0" baseline="-12820" sz="1950" spc="-135">
                <a:solidFill>
                  <a:srgbClr val="4B4B4B"/>
                </a:solidFill>
                <a:latin typeface="Times New Roman"/>
                <a:cs typeface="Times New Roman"/>
              </a:rPr>
              <a:t>,</a:t>
            </a:r>
            <a:r>
              <a:rPr dirty="0" baseline="-12820" sz="1950" spc="-1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os</a:t>
            </a:r>
            <a:r>
              <a:rPr dirty="0" sz="2100" spc="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3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00" spc="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00" spc="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30">
                <a:solidFill>
                  <a:srgbClr val="4B4B4B"/>
                </a:solidFill>
                <a:latin typeface="Arial"/>
                <a:cs typeface="Arial"/>
              </a:rPr>
              <a:t>se</a:t>
            </a:r>
            <a:r>
              <a:rPr dirty="0" sz="210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transfor- 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mou</a:t>
            </a:r>
            <a:r>
              <a:rPr dirty="0" sz="210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em</a:t>
            </a:r>
            <a:r>
              <a:rPr dirty="0" sz="2100" spc="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4B4B4B"/>
                </a:solidFill>
                <a:latin typeface="Arial"/>
                <a:cs typeface="Arial"/>
              </a:rPr>
              <a:t>uma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das</a:t>
            </a:r>
            <a:r>
              <a:rPr dirty="0" sz="210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mais</a:t>
            </a:r>
            <a:r>
              <a:rPr dirty="0" sz="2100" spc="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importantes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165">
                <a:solidFill>
                  <a:srgbClr val="4B4B4B"/>
                </a:solidFill>
                <a:latin typeface="Arial"/>
                <a:cs typeface="Arial"/>
              </a:rPr>
              <a:t>associa­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834826" y="4033603"/>
            <a:ext cx="5001895" cy="350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coes</a:t>
            </a:r>
            <a:r>
              <a:rPr dirty="0" sz="210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75">
                <a:solidFill>
                  <a:srgbClr val="4B4B4B"/>
                </a:solidFill>
                <a:latin typeface="Arial"/>
                <a:cs typeface="Arial"/>
              </a:rPr>
              <a:t>comerciais</a:t>
            </a:r>
            <a:r>
              <a:rPr dirty="0" sz="2100" spc="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industriais</a:t>
            </a:r>
            <a:r>
              <a:rPr dirty="0" sz="2100" spc="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5">
                <a:solidFill>
                  <a:srgbClr val="4B4B4B"/>
                </a:solidFill>
                <a:latin typeface="Arial"/>
                <a:cs typeface="Arial"/>
              </a:rPr>
              <a:t>de </a:t>
            </a:r>
            <a:r>
              <a:rPr dirty="0" sz="2100" spc="-175">
                <a:solidFill>
                  <a:srgbClr val="4B4B4B"/>
                </a:solidFill>
                <a:latin typeface="Arial"/>
                <a:cs typeface="Arial"/>
              </a:rPr>
              <a:t>Goias,</a:t>
            </a:r>
            <a:r>
              <a:rPr dirty="0" sz="2100" spc="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dando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831220" y="4291951"/>
            <a:ext cx="4985385" cy="792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95"/>
              </a:spcBef>
            </a:pPr>
            <a:r>
              <a:rPr dirty="0" sz="600" spc="10" i="1">
                <a:solidFill>
                  <a:srgbClr val="4B4B4B"/>
                </a:solidFill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971550" algn="l"/>
                <a:tab pos="1598930" algn="l"/>
                <a:tab pos="1880870" algn="l"/>
                <a:tab pos="3366770" algn="l"/>
                <a:tab pos="3782060" algn="l"/>
              </a:tabLst>
            </a:pP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suporte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crescimento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25">
                <a:solidFill>
                  <a:srgbClr val="4B4B4B"/>
                </a:solidFill>
                <a:latin typeface="Arial"/>
                <a:cs typeface="Arial"/>
              </a:rPr>
              <a:t>do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empresario</a:t>
            </a:r>
            <a:endParaRPr sz="21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15"/>
              </a:spcBef>
            </a:pP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local.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830317" y="5440308"/>
            <a:ext cx="4989830" cy="350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Uma</a:t>
            </a:r>
            <a:r>
              <a:rPr dirty="0" sz="2100" spc="-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-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75">
                <a:solidFill>
                  <a:srgbClr val="4B4B4B"/>
                </a:solidFill>
                <a:latin typeface="Arial"/>
                <a:cs typeface="Arial"/>
              </a:rPr>
              <a:t>suas</a:t>
            </a:r>
            <a:r>
              <a:rPr dirty="0" sz="210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maiores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0">
                <a:solidFill>
                  <a:srgbClr val="4B4B4B"/>
                </a:solidFill>
                <a:latin typeface="Arial"/>
                <a:cs typeface="Arial"/>
              </a:rPr>
              <a:t>iniciativas</a:t>
            </a:r>
            <a:r>
              <a:rPr dirty="0" sz="2100" spc="1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29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0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5">
                <a:solidFill>
                  <a:srgbClr val="4B4B4B"/>
                </a:solidFill>
                <a:latin typeface="Arial"/>
                <a:cs typeface="Arial"/>
              </a:rPr>
              <a:t>realizacao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8482536" y="5701675"/>
            <a:ext cx="4699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5" i="1">
                <a:solidFill>
                  <a:srgbClr val="4B4B4B"/>
                </a:solidFill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836712" y="5636271"/>
            <a:ext cx="500189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100" spc="-200">
                <a:solidFill>
                  <a:srgbClr val="4B4B4B"/>
                </a:solidFill>
                <a:latin typeface="Arial"/>
                <a:cs typeface="Arial"/>
              </a:rPr>
              <a:t>da</a:t>
            </a:r>
            <a:r>
              <a:rPr dirty="0" sz="210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0" b="1">
                <a:solidFill>
                  <a:srgbClr val="4B4B4B"/>
                </a:solidFill>
                <a:latin typeface="Arial"/>
                <a:cs typeface="Arial"/>
              </a:rPr>
              <a:t>SUDOEXPO.</a:t>
            </a:r>
            <a:r>
              <a:rPr dirty="0" sz="2150" spc="65" b="1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10">
                <a:solidFill>
                  <a:srgbClr val="4B4B4B"/>
                </a:solidFill>
                <a:latin typeface="Arial"/>
                <a:cs typeface="Arial"/>
              </a:rPr>
              <a:t>Em</a:t>
            </a:r>
            <a:r>
              <a:rPr dirty="0" sz="210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2024</a:t>
            </a:r>
            <a:r>
              <a:rPr dirty="0" sz="2100" spc="-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85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00" spc="1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feira</a:t>
            </a:r>
            <a:r>
              <a:rPr dirty="0" sz="2100" spc="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chega</a:t>
            </a:r>
            <a:r>
              <a:rPr dirty="0" sz="210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3350" spc="-640">
                <a:solidFill>
                  <a:srgbClr val="4B4B4B"/>
                </a:solidFill>
                <a:latin typeface="Times New Roman"/>
                <a:cs typeface="Times New Roman"/>
              </a:rPr>
              <a:t>a</a:t>
            </a:r>
            <a:r>
              <a:rPr dirty="0" sz="3350" spc="-114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sua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819460" y="6111962"/>
            <a:ext cx="5025390" cy="14382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26034" marR="5080" indent="-13970">
              <a:lnSpc>
                <a:spcPct val="110000"/>
              </a:lnSpc>
              <a:spcBef>
                <a:spcPts val="125"/>
              </a:spcBef>
            </a:pPr>
            <a:r>
              <a:rPr dirty="0" sz="2100" spc="-484">
                <a:solidFill>
                  <a:srgbClr val="4B4B4B"/>
                </a:solidFill>
                <a:latin typeface="Arial"/>
                <a:cs typeface="Arial"/>
              </a:rPr>
              <a:t>17g</a:t>
            </a:r>
            <a:r>
              <a:rPr dirty="0" sz="2100" spc="3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5">
                <a:solidFill>
                  <a:srgbClr val="4B4B4B"/>
                </a:solidFill>
                <a:latin typeface="Arial"/>
                <a:cs typeface="Arial"/>
              </a:rPr>
              <a:t>Edi9ao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 e</a:t>
            </a:r>
            <a:r>
              <a:rPr dirty="0" sz="2100" spc="-1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contara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00" spc="-1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apoio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 do</a:t>
            </a:r>
            <a:r>
              <a:rPr dirty="0" sz="2100" spc="-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80">
                <a:solidFill>
                  <a:srgbClr val="4B4B4B"/>
                </a:solidFill>
                <a:latin typeface="Arial"/>
                <a:cs typeface="Arial"/>
              </a:rPr>
              <a:t>SEBRAE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Prefeitura</a:t>
            </a:r>
            <a:r>
              <a:rPr dirty="0" sz="210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0">
                <a:solidFill>
                  <a:srgbClr val="4B4B4B"/>
                </a:solidFill>
                <a:latin typeface="Arial"/>
                <a:cs typeface="Arial"/>
              </a:rPr>
              <a:t>Verde,</a:t>
            </a:r>
            <a:r>
              <a:rPr dirty="0" sz="210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dando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35">
                <a:solidFill>
                  <a:srgbClr val="4B4B4B"/>
                </a:solidFill>
                <a:latin typeface="Arial"/>
                <a:cs typeface="Arial"/>
              </a:rPr>
              <a:t>espa90</a:t>
            </a:r>
            <a:r>
              <a:rPr dirty="0" sz="2100" spc="-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nao </a:t>
            </a:r>
            <a:r>
              <a:rPr dirty="0" sz="2100" spc="-80">
                <a:solidFill>
                  <a:srgbClr val="4B4B4B"/>
                </a:solidFill>
                <a:latin typeface="Arial"/>
                <a:cs typeface="Arial"/>
              </a:rPr>
              <a:t>apenas</a:t>
            </a:r>
            <a:r>
              <a:rPr dirty="0" sz="210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0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grandes</a:t>
            </a:r>
            <a:r>
              <a:rPr dirty="0" sz="2100" spc="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4B4B4B"/>
                </a:solidFill>
                <a:latin typeface="Arial"/>
                <a:cs typeface="Arial"/>
              </a:rPr>
              <a:t>medias</a:t>
            </a:r>
            <a:r>
              <a:rPr dirty="0" sz="210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empresas,</a:t>
            </a:r>
            <a:r>
              <a:rPr dirty="0" sz="2100" spc="1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40">
                <a:solidFill>
                  <a:srgbClr val="4B4B4B"/>
                </a:solidFill>
                <a:latin typeface="Arial"/>
                <a:cs typeface="Arial"/>
              </a:rPr>
              <a:t>mas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tambem</a:t>
            </a:r>
            <a:r>
              <a:rPr dirty="0" sz="210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dando</a:t>
            </a:r>
            <a:r>
              <a:rPr dirty="0" sz="210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0">
                <a:solidFill>
                  <a:srgbClr val="4B4B4B"/>
                </a:solidFill>
                <a:latin typeface="Arial"/>
                <a:cs typeface="Arial"/>
              </a:rPr>
              <a:t>apoio</a:t>
            </a:r>
            <a:r>
              <a:rPr dirty="0" sz="210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promovendo</a:t>
            </a:r>
            <a:r>
              <a:rPr dirty="0" sz="2100" spc="1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5">
                <a:solidFill>
                  <a:srgbClr val="4B4B4B"/>
                </a:solidFill>
                <a:latin typeface="Arial"/>
                <a:cs typeface="Arial"/>
              </a:rPr>
              <a:t>desen­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830329" y="7533764"/>
            <a:ext cx="5005705" cy="10763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7145" marR="5080" indent="-5080">
              <a:lnSpc>
                <a:spcPct val="109900"/>
              </a:lnSpc>
              <a:spcBef>
                <a:spcPts val="55"/>
              </a:spcBef>
            </a:pPr>
            <a:r>
              <a:rPr dirty="0" sz="2100" spc="-25">
                <a:solidFill>
                  <a:srgbClr val="4B4B4B"/>
                </a:solidFill>
                <a:latin typeface="Arial"/>
                <a:cs typeface="Arial"/>
              </a:rPr>
              <a:t>volvimento</a:t>
            </a:r>
            <a:r>
              <a:rPr dirty="0" sz="210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55">
                <a:solidFill>
                  <a:srgbClr val="4B4B4B"/>
                </a:solidFill>
                <a:latin typeface="Arial"/>
                <a:cs typeface="Arial"/>
              </a:rPr>
              <a:t>sustentavel</a:t>
            </a:r>
            <a:r>
              <a:rPr dirty="0" sz="210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dos</a:t>
            </a:r>
            <a:r>
              <a:rPr dirty="0" sz="2100" spc="-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pequenos</a:t>
            </a:r>
            <a:r>
              <a:rPr dirty="0" sz="2100" spc="-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neg6- 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cios,</a:t>
            </a:r>
            <a:r>
              <a:rPr dirty="0" sz="210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B4B4B"/>
                </a:solidFill>
                <a:latin typeface="Arial"/>
                <a:cs typeface="Arial"/>
              </a:rPr>
              <a:t>fomentando</a:t>
            </a:r>
            <a:r>
              <a:rPr dirty="0" sz="2100" spc="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0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empreendedorismo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0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6B6B6B"/>
                </a:solidFill>
                <a:latin typeface="Arial"/>
                <a:cs typeface="Arial"/>
              </a:rPr>
              <a:t>for­ </a:t>
            </a:r>
            <a:r>
              <a:rPr dirty="0" sz="2100" spc="-110">
                <a:solidFill>
                  <a:srgbClr val="4B4B4B"/>
                </a:solidFill>
                <a:latin typeface="Arial"/>
                <a:cs typeface="Arial"/>
              </a:rPr>
              <a:t>talecendo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6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0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economia</a:t>
            </a:r>
            <a:r>
              <a:rPr dirty="0" sz="2100" spc="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40">
                <a:solidFill>
                  <a:srgbClr val="4B4B4B"/>
                </a:solidFill>
                <a:latin typeface="Arial"/>
                <a:cs typeface="Arial"/>
              </a:rPr>
              <a:t>nacional.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830969" y="8916546"/>
            <a:ext cx="5015230" cy="10998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4604" marR="5080" indent="-2540">
              <a:lnSpc>
                <a:spcPct val="110500"/>
              </a:lnSpc>
              <a:spcBef>
                <a:spcPts val="125"/>
              </a:spcBef>
            </a:pP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Assim</a:t>
            </a:r>
            <a:r>
              <a:rPr dirty="0" sz="2100" spc="-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como</a:t>
            </a:r>
            <a:r>
              <a:rPr dirty="0" sz="2100" spc="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0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B4B4B"/>
                </a:solidFill>
                <a:latin typeface="Arial"/>
                <a:cs typeface="Arial"/>
              </a:rPr>
              <a:t>Verde,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6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00" spc="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90" b="1">
                <a:solidFill>
                  <a:srgbClr val="4B4B4B"/>
                </a:solidFill>
                <a:latin typeface="Arial"/>
                <a:cs typeface="Arial"/>
              </a:rPr>
              <a:t>SUDOEXPO</a:t>
            </a:r>
            <a:r>
              <a:rPr dirty="0" sz="2150" spc="145" b="1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20">
                <a:solidFill>
                  <a:srgbClr val="4B4B4B"/>
                </a:solidFill>
                <a:latin typeface="Arial"/>
                <a:cs typeface="Arial"/>
              </a:rPr>
              <a:t>esta </a:t>
            </a:r>
            <a:r>
              <a:rPr dirty="0" sz="2100" spc="-35">
                <a:solidFill>
                  <a:srgbClr val="4B4B4B"/>
                </a:solidFill>
                <a:latin typeface="Arial"/>
                <a:cs typeface="Arial"/>
              </a:rPr>
              <a:t>aberta</a:t>
            </a:r>
            <a:r>
              <a:rPr dirty="0" sz="2100" spc="-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dirty="0" sz="2100" spc="-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todos</a:t>
            </a:r>
            <a:r>
              <a:rPr dirty="0" sz="2100" spc="-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70">
                <a:solidFill>
                  <a:srgbClr val="4B4B4B"/>
                </a:solidFill>
                <a:latin typeface="Arial"/>
                <a:cs typeface="Arial"/>
              </a:rPr>
              <a:t>possam</a:t>
            </a:r>
            <a:r>
              <a:rPr dirty="0" sz="2100" spc="-60">
                <a:solidFill>
                  <a:srgbClr val="4B4B4B"/>
                </a:solidFill>
                <a:latin typeface="Arial"/>
                <a:cs typeface="Arial"/>
              </a:rPr>
              <a:t> crescer.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B4B4B"/>
                </a:solidFill>
                <a:latin typeface="Arial"/>
                <a:cs typeface="Arial"/>
              </a:rPr>
              <a:t>Pois </a:t>
            </a:r>
            <a:r>
              <a:rPr dirty="0" sz="2100" spc="-150">
                <a:solidFill>
                  <a:srgbClr val="4B4B4B"/>
                </a:solidFill>
                <a:latin typeface="Arial"/>
                <a:cs typeface="Arial"/>
              </a:rPr>
              <a:t>aqui,</a:t>
            </a:r>
            <a:r>
              <a:rPr dirty="0" sz="2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100">
                <a:solidFill>
                  <a:srgbClr val="4B4B4B"/>
                </a:solidFill>
                <a:latin typeface="Arial"/>
                <a:cs typeface="Arial"/>
              </a:rPr>
              <a:t>tudo</a:t>
            </a:r>
            <a:r>
              <a:rPr dirty="0" sz="210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65">
                <a:solidFill>
                  <a:srgbClr val="4B4B4B"/>
                </a:solidFill>
                <a:latin typeface="Arial"/>
                <a:cs typeface="Arial"/>
              </a:rPr>
              <a:t>vira</a:t>
            </a:r>
            <a:r>
              <a:rPr dirty="0" sz="2100" spc="-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4B4B4B"/>
                </a:solidFill>
                <a:latin typeface="Arial"/>
                <a:cs typeface="Arial"/>
              </a:rPr>
              <a:t>neg6cio.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524" y="736571"/>
            <a:ext cx="9963036" cy="967185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24725" y="4377101"/>
            <a:ext cx="3834954" cy="348355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362046" y="3273650"/>
            <a:ext cx="1177925" cy="417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4B337E"/>
                </a:solidFill>
                <a:latin typeface="Courier New"/>
                <a:cs typeface="Courier New"/>
              </a:rPr>
              <a:t>P</a:t>
            </a:r>
            <a:r>
              <a:rPr dirty="0" sz="2550" spc="-114">
                <a:solidFill>
                  <a:srgbClr val="4B337E"/>
                </a:solidFill>
                <a:latin typeface="Courier New"/>
                <a:cs typeface="Courier New"/>
              </a:rPr>
              <a:t> </a:t>
            </a:r>
            <a:r>
              <a:rPr dirty="0" sz="2550" spc="-310">
                <a:solidFill>
                  <a:srgbClr val="4B337E"/>
                </a:solidFill>
                <a:latin typeface="Courier New"/>
                <a:cs typeface="Courier New"/>
              </a:rPr>
              <a:t>R</a:t>
            </a:r>
            <a:r>
              <a:rPr dirty="0" sz="2550" spc="-65">
                <a:solidFill>
                  <a:srgbClr val="4B337E"/>
                </a:solidFill>
                <a:latin typeface="Courier New"/>
                <a:cs typeface="Courier New"/>
              </a:rPr>
              <a:t> </a:t>
            </a:r>
            <a:r>
              <a:rPr dirty="0" sz="2550" spc="-204">
                <a:solidFill>
                  <a:srgbClr val="4B337E"/>
                </a:solidFill>
                <a:latin typeface="Courier New"/>
                <a:cs typeface="Courier New"/>
              </a:rPr>
              <a:t>O </a:t>
            </a:r>
            <a:r>
              <a:rPr dirty="0" sz="2200" spc="-50">
                <a:solidFill>
                  <a:srgbClr val="4B337E"/>
                </a:solidFill>
                <a:latin typeface="Times New Roman"/>
                <a:cs typeface="Times New Roman"/>
              </a:rPr>
              <a:t>J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698500" algn="l"/>
              </a:tabLst>
            </a:pPr>
            <a:r>
              <a:rPr dirty="0" spc="-355"/>
              <a:t>E</a:t>
            </a:r>
            <a:r>
              <a:rPr dirty="0" spc="-190"/>
              <a:t> </a:t>
            </a:r>
            <a:r>
              <a:rPr dirty="0" spc="-1030"/>
              <a:t>C</a:t>
            </a:r>
            <a:r>
              <a:rPr dirty="0" baseline="-50925" sz="900" spc="-104" i="1">
                <a:latin typeface="Times New Roman"/>
                <a:cs typeface="Times New Roman"/>
              </a:rPr>
              <a:t>I</a:t>
            </a:r>
            <a:r>
              <a:rPr dirty="0" baseline="-50925" sz="900" i="1">
                <a:latin typeface="Times New Roman"/>
                <a:cs typeface="Times New Roman"/>
              </a:rPr>
              <a:t>	</a:t>
            </a:r>
            <a:r>
              <a:rPr dirty="0" sz="3050" spc="-480"/>
              <a:t>O</a:t>
            </a:r>
            <a:r>
              <a:rPr dirty="0" sz="3050" spc="-290"/>
              <a:t> </a:t>
            </a:r>
            <a:r>
              <a:rPr dirty="0" sz="2550" spc="-325"/>
              <a:t>E</a:t>
            </a:r>
            <a:r>
              <a:rPr dirty="0" sz="2550" spc="-275"/>
              <a:t> </a:t>
            </a:r>
            <a:r>
              <a:rPr dirty="0" sz="2550" spc="25"/>
              <a:t>5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433742" y="3816761"/>
            <a:ext cx="184340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00405" algn="l"/>
                <a:tab pos="1666239" algn="l"/>
              </a:tabLst>
            </a:pPr>
            <a:r>
              <a:rPr dirty="0" sz="2000" spc="55" b="1">
                <a:solidFill>
                  <a:srgbClr val="4B337E"/>
                </a:solidFill>
                <a:latin typeface="Arial"/>
                <a:cs typeface="Arial"/>
              </a:rPr>
              <a:t>PA</a:t>
            </a:r>
            <a:r>
              <a:rPr dirty="0" sz="2000" b="1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00" spc="55" b="1">
                <a:solidFill>
                  <a:srgbClr val="4B337E"/>
                </a:solidFill>
                <a:latin typeface="Arial"/>
                <a:cs typeface="Arial"/>
              </a:rPr>
              <a:t>RA</a:t>
            </a:r>
            <a:r>
              <a:rPr dirty="0" sz="2000" b="1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00" spc="-105" b="1">
                <a:solidFill>
                  <a:srgbClr val="4B337E"/>
                </a:solidFill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719160" cy="731427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445" y="8268179"/>
            <a:ext cx="11800557" cy="110483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5333784" y="7311260"/>
            <a:ext cx="2251075" cy="1675764"/>
            <a:chOff x="15333784" y="7311260"/>
            <a:chExt cx="2251075" cy="1675764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51892" y="8068946"/>
              <a:ext cx="2232782" cy="91767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342836" y="7311260"/>
              <a:ext cx="1901189" cy="772795"/>
            </a:xfrm>
            <a:custGeom>
              <a:avLst/>
              <a:gdLst/>
              <a:ahLst/>
              <a:cxnLst/>
              <a:rect l="l" t="t" r="r" b="b"/>
              <a:pathLst>
                <a:path w="1901190" h="772795">
                  <a:moveTo>
                    <a:pt x="0" y="772782"/>
                  </a:moveTo>
                  <a:lnTo>
                    <a:pt x="0" y="0"/>
                  </a:lnTo>
                </a:path>
                <a:path w="1901190" h="772795">
                  <a:moveTo>
                    <a:pt x="1900882" y="760707"/>
                  </a:moveTo>
                  <a:lnTo>
                    <a:pt x="1900882" y="0"/>
                  </a:lnTo>
                </a:path>
              </a:pathLst>
            </a:custGeom>
            <a:ln w="18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44391" y="7702054"/>
            <a:ext cx="217995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1200" b="1">
                <a:solidFill>
                  <a:srgbClr val="49347B"/>
                </a:solidFill>
                <a:latin typeface="Arial"/>
                <a:cs typeface="Arial"/>
              </a:rPr>
              <a:t>PILARES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30194" y="7702054"/>
            <a:ext cx="360299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84250" algn="l"/>
              </a:tabLst>
            </a:pPr>
            <a:r>
              <a:rPr dirty="0" sz="1950" spc="1390" b="1">
                <a:solidFill>
                  <a:srgbClr val="49347B"/>
                </a:solidFill>
                <a:latin typeface="Arial"/>
                <a:cs typeface="Arial"/>
              </a:rPr>
              <a:t>DA</a:t>
            </a:r>
            <a:r>
              <a:rPr dirty="0" sz="1950" b="1">
                <a:solidFill>
                  <a:srgbClr val="49347B"/>
                </a:solidFill>
                <a:latin typeface="Arial"/>
                <a:cs typeface="Arial"/>
              </a:rPr>
              <a:t>	</a:t>
            </a:r>
            <a:r>
              <a:rPr dirty="0" sz="1950" spc="1155" b="1">
                <a:solidFill>
                  <a:srgbClr val="49347B"/>
                </a:solidFill>
                <a:latin typeface="Arial"/>
                <a:cs typeface="Arial"/>
              </a:rPr>
              <a:t>SUDOEXPO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61272" y="7702054"/>
            <a:ext cx="121094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1220" b="1">
                <a:solidFill>
                  <a:srgbClr val="49347B"/>
                </a:solidFill>
                <a:latin typeface="Arial"/>
                <a:cs typeface="Arial"/>
              </a:rPr>
              <a:t>2024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6175" y="9493892"/>
            <a:ext cx="15632430" cy="869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540">
              <a:lnSpc>
                <a:spcPct val="100600"/>
              </a:lnSpc>
              <a:spcBef>
                <a:spcPts val="90"/>
              </a:spcBef>
            </a:pPr>
            <a:r>
              <a:rPr dirty="0" sz="2100" spc="-95">
                <a:solidFill>
                  <a:srgbClr val="49347B"/>
                </a:solidFill>
                <a:latin typeface="Arial"/>
                <a:cs typeface="Arial"/>
              </a:rPr>
              <a:t>Abrangendo</a:t>
            </a:r>
            <a:r>
              <a:rPr dirty="0" sz="2100" spc="-2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100">
                <a:solidFill>
                  <a:srgbClr val="49347B"/>
                </a:solidFill>
                <a:latin typeface="Arial"/>
                <a:cs typeface="Arial"/>
              </a:rPr>
              <a:t>todas</a:t>
            </a:r>
            <a:r>
              <a:rPr dirty="0" sz="2100" spc="-4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9347B"/>
                </a:solidFill>
                <a:latin typeface="Arial"/>
                <a:cs typeface="Arial"/>
              </a:rPr>
              <a:t>as</a:t>
            </a:r>
            <a:r>
              <a:rPr dirty="0" sz="2100" spc="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9347B"/>
                </a:solidFill>
                <a:latin typeface="Arial"/>
                <a:cs typeface="Arial"/>
              </a:rPr>
              <a:t>areas</a:t>
            </a:r>
            <a:r>
              <a:rPr dirty="0" sz="2100" spc="-6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55">
                <a:solidFill>
                  <a:srgbClr val="49347B"/>
                </a:solidFill>
                <a:latin typeface="Arial"/>
                <a:cs typeface="Arial"/>
              </a:rPr>
              <a:t>comerciais</a:t>
            </a:r>
            <a:r>
              <a:rPr dirty="0" sz="2100" spc="-2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00" spc="-12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49347B"/>
                </a:solidFill>
                <a:latin typeface="Arial"/>
                <a:cs typeface="Arial"/>
              </a:rPr>
              <a:t>industriaisl</a:t>
            </a:r>
            <a:r>
              <a:rPr dirty="0" sz="2100" spc="6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3400" spc="-515">
                <a:solidFill>
                  <a:srgbClr val="49347B"/>
                </a:solidFill>
                <a:latin typeface="Times New Roman"/>
                <a:cs typeface="Times New Roman"/>
              </a:rPr>
              <a:t>e</a:t>
            </a:r>
            <a:r>
              <a:rPr dirty="0" sz="3400" spc="-175">
                <a:solidFill>
                  <a:srgbClr val="49347B"/>
                </a:solidFill>
                <a:latin typeface="Times New Roman"/>
                <a:cs typeface="Times New Roman"/>
              </a:rPr>
              <a:t> </a:t>
            </a:r>
            <a:r>
              <a:rPr dirty="0" sz="2100" spc="-65">
                <a:solidFill>
                  <a:srgbClr val="49347B"/>
                </a:solidFill>
                <a:latin typeface="Arial"/>
                <a:cs typeface="Arial"/>
              </a:rPr>
              <a:t>uma</a:t>
            </a:r>
            <a:r>
              <a:rPr dirty="0" sz="2100" spc="3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85">
                <a:solidFill>
                  <a:srgbClr val="49347B"/>
                </a:solidFill>
                <a:latin typeface="Arial"/>
                <a:cs typeface="Arial"/>
              </a:rPr>
              <a:t>grande</a:t>
            </a:r>
            <a:r>
              <a:rPr dirty="0" sz="2100" spc="5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9347B"/>
                </a:solidFill>
                <a:latin typeface="Arial"/>
                <a:cs typeface="Arial"/>
              </a:rPr>
              <a:t>oportunidade</a:t>
            </a:r>
            <a:r>
              <a:rPr dirty="0" sz="2100" spc="7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60">
                <a:solidFill>
                  <a:srgbClr val="49347B"/>
                </a:solidFill>
                <a:latin typeface="Arial"/>
                <a:cs typeface="Arial"/>
              </a:rPr>
              <a:t>para</a:t>
            </a:r>
            <a:r>
              <a:rPr dirty="0" sz="2100" spc="-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347B"/>
                </a:solidFill>
                <a:latin typeface="Arial"/>
                <a:cs typeface="Arial"/>
              </a:rPr>
              <a:t>o</a:t>
            </a:r>
            <a:r>
              <a:rPr dirty="0" sz="2100" spc="-8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75">
                <a:solidFill>
                  <a:srgbClr val="49347B"/>
                </a:solidFill>
                <a:latin typeface="Arial"/>
                <a:cs typeface="Arial"/>
              </a:rPr>
              <a:t>empresario</a:t>
            </a:r>
            <a:r>
              <a:rPr dirty="0" sz="2100" spc="13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105">
                <a:solidFill>
                  <a:srgbClr val="49347B"/>
                </a:solidFill>
                <a:latin typeface="Arial"/>
                <a:cs typeface="Arial"/>
              </a:rPr>
              <a:t>negociar.</a:t>
            </a:r>
            <a:r>
              <a:rPr dirty="0" sz="2100" spc="3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347B"/>
                </a:solidFill>
                <a:latin typeface="Arial"/>
                <a:cs typeface="Arial"/>
              </a:rPr>
              <a:t>trocar</a:t>
            </a:r>
            <a:r>
              <a:rPr dirty="0" sz="2100" spc="-4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80">
                <a:solidFill>
                  <a:srgbClr val="49347B"/>
                </a:solidFill>
                <a:latin typeface="Arial"/>
                <a:cs typeface="Arial"/>
              </a:rPr>
              <a:t>experiencias</a:t>
            </a:r>
            <a:r>
              <a:rPr dirty="0" sz="2100" spc="3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00" spc="1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49347B"/>
                </a:solidFill>
                <a:latin typeface="Arial"/>
                <a:cs typeface="Arial"/>
              </a:rPr>
              <a:t>fortalecer </a:t>
            </a:r>
            <a:r>
              <a:rPr dirty="0" sz="2100" spc="-135">
                <a:solidFill>
                  <a:srgbClr val="49347B"/>
                </a:solidFill>
                <a:latin typeface="Arial"/>
                <a:cs typeface="Arial"/>
              </a:rPr>
              <a:t>sua</a:t>
            </a:r>
            <a:r>
              <a:rPr dirty="0" sz="2100" spc="-1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9347B"/>
                </a:solidFill>
                <a:latin typeface="Arial"/>
                <a:cs typeface="Arial"/>
              </a:rPr>
              <a:t>marca.</a:t>
            </a:r>
            <a:r>
              <a:rPr dirty="0" sz="2100" spc="-5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55">
                <a:solidFill>
                  <a:srgbClr val="49347B"/>
                </a:solidFill>
                <a:latin typeface="Arial"/>
                <a:cs typeface="Arial"/>
              </a:rPr>
              <a:t>Na</a:t>
            </a:r>
            <a:r>
              <a:rPr dirty="0" sz="2100" spc="-4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65">
                <a:solidFill>
                  <a:srgbClr val="49347B"/>
                </a:solidFill>
                <a:latin typeface="Arial"/>
                <a:cs typeface="Arial"/>
              </a:rPr>
              <a:t>feiral</a:t>
            </a:r>
            <a:r>
              <a:rPr dirty="0" sz="2100" spc="-8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9347B"/>
                </a:solidFill>
                <a:latin typeface="Arial"/>
                <a:cs typeface="Arial"/>
              </a:rPr>
              <a:t>empresas</a:t>
            </a:r>
            <a:r>
              <a:rPr dirty="0" sz="2100" spc="-5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65">
                <a:solidFill>
                  <a:srgbClr val="49347B"/>
                </a:solidFill>
                <a:latin typeface="Arial"/>
                <a:cs typeface="Arial"/>
              </a:rPr>
              <a:t>de</a:t>
            </a:r>
            <a:r>
              <a:rPr dirty="0" sz="2100" spc="-8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65">
                <a:solidFill>
                  <a:srgbClr val="49347B"/>
                </a:solidFill>
                <a:latin typeface="Arial"/>
                <a:cs typeface="Arial"/>
              </a:rPr>
              <a:t>todos</a:t>
            </a:r>
            <a:r>
              <a:rPr dirty="0" sz="2100" spc="-8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9347B"/>
                </a:solidFill>
                <a:latin typeface="Arial"/>
                <a:cs typeface="Arial"/>
              </a:rPr>
              <a:t>os</a:t>
            </a:r>
            <a:r>
              <a:rPr dirty="0" sz="2100" spc="-5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45">
                <a:solidFill>
                  <a:srgbClr val="49347B"/>
                </a:solidFill>
                <a:latin typeface="Arial"/>
                <a:cs typeface="Arial"/>
              </a:rPr>
              <a:t>portes</a:t>
            </a:r>
            <a:r>
              <a:rPr dirty="0" sz="2100" spc="-4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49347B"/>
                </a:solidFill>
                <a:latin typeface="Arial"/>
                <a:cs typeface="Arial"/>
              </a:rPr>
              <a:t>tern</a:t>
            </a:r>
            <a:r>
              <a:rPr dirty="0" sz="2100" spc="-8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260">
                <a:solidFill>
                  <a:srgbClr val="49347B"/>
                </a:solidFill>
                <a:latin typeface="Arial"/>
                <a:cs typeface="Arial"/>
              </a:rPr>
              <a:t>a</a:t>
            </a:r>
            <a:r>
              <a:rPr dirty="0" sz="2100" spc="10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100">
                <a:solidFill>
                  <a:srgbClr val="49347B"/>
                </a:solidFill>
                <a:latin typeface="Arial"/>
                <a:cs typeface="Arial"/>
              </a:rPr>
              <a:t>possibilidade</a:t>
            </a:r>
            <a:r>
              <a:rPr dirty="0" sz="2100" spc="13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65">
                <a:solidFill>
                  <a:srgbClr val="49347B"/>
                </a:solidFill>
                <a:latin typeface="Arial"/>
                <a:cs typeface="Arial"/>
              </a:rPr>
              <a:t>de</a:t>
            </a:r>
            <a:r>
              <a:rPr dirty="0" sz="2100" spc="-55">
                <a:solidFill>
                  <a:srgbClr val="49347B"/>
                </a:solidFill>
                <a:latin typeface="Arial"/>
                <a:cs typeface="Arial"/>
              </a:rPr>
              <a:t> expor</a:t>
            </a:r>
            <a:r>
              <a:rPr dirty="0" sz="2100" spc="-3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150">
                <a:solidFill>
                  <a:srgbClr val="49347B"/>
                </a:solidFill>
                <a:latin typeface="Arial"/>
                <a:cs typeface="Arial"/>
              </a:rPr>
              <a:t>seus</a:t>
            </a:r>
            <a:r>
              <a:rPr dirty="0" sz="2100" spc="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55">
                <a:solidFill>
                  <a:srgbClr val="49347B"/>
                </a:solidFill>
                <a:latin typeface="Arial"/>
                <a:cs typeface="Arial"/>
              </a:rPr>
              <a:t>produtos</a:t>
            </a:r>
            <a:r>
              <a:rPr dirty="0" sz="2100" spc="1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00" spc="-1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49347B"/>
                </a:solidFill>
                <a:latin typeface="Arial"/>
                <a:cs typeface="Arial"/>
              </a:rPr>
              <a:t>fechar</a:t>
            </a:r>
            <a:r>
              <a:rPr dirty="0" sz="210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90">
                <a:solidFill>
                  <a:srgbClr val="49347B"/>
                </a:solidFill>
                <a:latin typeface="Arial"/>
                <a:cs typeface="Arial"/>
              </a:rPr>
              <a:t>neg6ciosl</a:t>
            </a:r>
            <a:r>
              <a:rPr dirty="0" sz="2100" spc="2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95">
                <a:solidFill>
                  <a:srgbClr val="49347B"/>
                </a:solidFill>
                <a:latin typeface="Arial"/>
                <a:cs typeface="Arial"/>
              </a:rPr>
              <a:t>nacionais</a:t>
            </a:r>
            <a:r>
              <a:rPr dirty="0" sz="2100" spc="4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00" spc="-7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49347B"/>
                </a:solidFill>
                <a:latin typeface="Arial"/>
                <a:cs typeface="Arial"/>
              </a:rPr>
              <a:t>internacionais</a:t>
            </a:r>
            <a:r>
              <a:rPr dirty="0" sz="2100" spc="-10">
                <a:solidFill>
                  <a:srgbClr val="62597B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9676" y="1008251"/>
            <a:ext cx="2848305" cy="77881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915" y="1008251"/>
            <a:ext cx="2450025" cy="86938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26310" y="1159185"/>
            <a:ext cx="16857980" cy="10104120"/>
            <a:chOff x="1626310" y="1159185"/>
            <a:chExt cx="16857980" cy="1010412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310" y="2055734"/>
              <a:ext cx="16857500" cy="828627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27697" y="1159185"/>
              <a:ext cx="3669004" cy="403597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48395" y="6299999"/>
              <a:ext cx="368107" cy="41355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86369" y="1608970"/>
              <a:ext cx="1674586" cy="7667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14812" y="2683620"/>
              <a:ext cx="3669004" cy="401786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13090" y="7981405"/>
              <a:ext cx="3970731" cy="108974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197932" y="10342016"/>
              <a:ext cx="0" cy="920750"/>
            </a:xfrm>
            <a:custGeom>
              <a:avLst/>
              <a:gdLst/>
              <a:ahLst/>
              <a:cxnLst/>
              <a:rect l="l" t="t" r="r" b="b"/>
              <a:pathLst>
                <a:path w="0" h="920750">
                  <a:moveTo>
                    <a:pt x="0" y="920697"/>
                  </a:moveTo>
                  <a:lnTo>
                    <a:pt x="0" y="0"/>
                  </a:lnTo>
                </a:path>
              </a:pathLst>
            </a:custGeom>
            <a:ln w="15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981132" y="5459426"/>
            <a:ext cx="2444750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00" spc="140">
                <a:solidFill>
                  <a:srgbClr val="4B3180"/>
                </a:solidFill>
                <a:latin typeface="Arial"/>
                <a:cs typeface="Arial"/>
              </a:rPr>
              <a:t>EXPOSll;AO</a:t>
            </a:r>
            <a:endParaRPr sz="3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62092" y="5900154"/>
            <a:ext cx="575310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00" spc="-25">
                <a:solidFill>
                  <a:srgbClr val="4B3180"/>
                </a:solidFill>
                <a:latin typeface="Arial"/>
                <a:cs typeface="Arial"/>
              </a:rPr>
              <a:t>DE</a:t>
            </a:r>
            <a:endParaRPr sz="3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723381" y="5623442"/>
            <a:ext cx="2088514" cy="833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00" spc="-135">
                <a:solidFill>
                  <a:srgbClr val="4B3180"/>
                </a:solidFill>
                <a:latin typeface="Arial"/>
                <a:cs typeface="Arial"/>
              </a:rPr>
              <a:t>RO</a:t>
            </a:r>
            <a:r>
              <a:rPr dirty="0" sz="5300" spc="-135">
                <a:solidFill>
                  <a:srgbClr val="4B3180"/>
                </a:solidFill>
                <a:latin typeface="Arial"/>
                <a:cs typeface="Arial"/>
              </a:rPr>
              <a:t>□</a:t>
            </a:r>
            <a:r>
              <a:rPr dirty="0" sz="3100" spc="-135">
                <a:solidFill>
                  <a:srgbClr val="C46241"/>
                </a:solidFill>
                <a:latin typeface="Arial"/>
                <a:cs typeface="Arial"/>
              </a:rPr>
              <a:t>.</a:t>
            </a:r>
            <a:r>
              <a:rPr dirty="0" sz="3100" spc="-135">
                <a:solidFill>
                  <a:srgbClr val="4B3180"/>
                </a:solidFill>
                <a:latin typeface="Arial"/>
                <a:cs typeface="Arial"/>
              </a:rPr>
              <a:t>UTOS</a:t>
            </a:r>
            <a:endParaRPr sz="3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648685" y="6220133"/>
            <a:ext cx="1553210" cy="591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700" spc="-215" i="1">
                <a:solidFill>
                  <a:srgbClr val="C46241"/>
                </a:solidFill>
                <a:latin typeface="Times New Roman"/>
                <a:cs typeface="Times New Roman"/>
              </a:rPr>
              <a:t>de'IJJ/fM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749259" y="8152341"/>
            <a:ext cx="4444365" cy="792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145540">
              <a:lnSpc>
                <a:spcPct val="100000"/>
              </a:lnSpc>
              <a:spcBef>
                <a:spcPts val="130"/>
              </a:spcBef>
              <a:tabLst>
                <a:tab pos="3722370" algn="l"/>
              </a:tabLst>
            </a:pPr>
            <a:r>
              <a:rPr dirty="0" sz="1850" spc="1290">
                <a:solidFill>
                  <a:srgbClr val="4B3180"/>
                </a:solidFill>
                <a:latin typeface="Arial"/>
                <a:cs typeface="Arial"/>
              </a:rPr>
              <a:t>PILARES</a:t>
            </a:r>
            <a:r>
              <a:rPr dirty="0" sz="1850">
                <a:solidFill>
                  <a:srgbClr val="4B3180"/>
                </a:solidFill>
                <a:latin typeface="Arial"/>
                <a:cs typeface="Arial"/>
              </a:rPr>
              <a:t>	</a:t>
            </a:r>
            <a:r>
              <a:rPr dirty="0" sz="1850" spc="1470">
                <a:solidFill>
                  <a:srgbClr val="4B3180"/>
                </a:solidFill>
                <a:latin typeface="Arial"/>
                <a:cs typeface="Arial"/>
              </a:rPr>
              <a:t>DA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850" spc="1420">
                <a:solidFill>
                  <a:srgbClr val="4B3180"/>
                </a:solidFill>
                <a:latin typeface="Arial"/>
                <a:cs typeface="Arial"/>
              </a:rPr>
              <a:t>SUDOEXP02024: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880" y="1509352"/>
            <a:ext cx="6502224" cy="95390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5348" y="1509352"/>
            <a:ext cx="3071584" cy="95390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92690" y="3479043"/>
            <a:ext cx="16800195" cy="439420"/>
            <a:chOff x="1692690" y="3479043"/>
            <a:chExt cx="16800195" cy="439420"/>
          </a:xfrm>
        </p:grpSpPr>
        <p:sp>
          <p:nvSpPr>
            <p:cNvPr id="5" name="object 5" descr=""/>
            <p:cNvSpPr/>
            <p:nvPr/>
          </p:nvSpPr>
          <p:spPr>
            <a:xfrm>
              <a:off x="16489401" y="3522814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w="0" h="395604">
                  <a:moveTo>
                    <a:pt x="0" y="395447"/>
                  </a:moveTo>
                  <a:lnTo>
                    <a:pt x="0" y="0"/>
                  </a:lnTo>
                </a:path>
              </a:pathLst>
            </a:custGeom>
            <a:ln w="12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92690" y="3483571"/>
              <a:ext cx="16800195" cy="0"/>
            </a:xfrm>
            <a:custGeom>
              <a:avLst/>
              <a:gdLst/>
              <a:ahLst/>
              <a:cxnLst/>
              <a:rect l="l" t="t" r="r" b="b"/>
              <a:pathLst>
                <a:path w="16800195" h="0">
                  <a:moveTo>
                    <a:pt x="0" y="0"/>
                  </a:moveTo>
                  <a:lnTo>
                    <a:pt x="16800179" y="0"/>
                  </a:lnTo>
                </a:path>
              </a:pathLst>
            </a:custGeom>
            <a:ln w="9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692690" y="4120513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92690" y="5041211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92690" y="5970965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12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692690" y="6574701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92690" y="7199569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92690" y="7851604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692690" y="8452322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60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692690" y="9092283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6513539" y="9282459"/>
            <a:ext cx="1856105" cy="0"/>
          </a:xfrm>
          <a:custGeom>
            <a:avLst/>
            <a:gdLst/>
            <a:ahLst/>
            <a:cxnLst/>
            <a:rect l="l" t="t" r="r" b="b"/>
            <a:pathLst>
              <a:path w="1856105" h="0">
                <a:moveTo>
                  <a:pt x="0" y="0"/>
                </a:moveTo>
                <a:lnTo>
                  <a:pt x="1855623" y="0"/>
                </a:lnTo>
              </a:path>
            </a:pathLst>
          </a:custGeom>
          <a:ln w="12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847826" y="954800"/>
            <a:ext cx="154241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955">
                <a:solidFill>
                  <a:srgbClr val="C36242"/>
                </a:solidFill>
                <a:latin typeface="Arial"/>
                <a:cs typeface="Arial"/>
              </a:rPr>
              <a:t>COTAS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795891" y="954800"/>
            <a:ext cx="406336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65835" algn="l"/>
              </a:tabLst>
            </a:pPr>
            <a:r>
              <a:rPr dirty="0" sz="2050" spc="955">
                <a:solidFill>
                  <a:srgbClr val="C36242"/>
                </a:solidFill>
                <a:latin typeface="Arial"/>
                <a:cs typeface="Arial"/>
              </a:rPr>
              <a:t>DE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1130">
                <a:solidFill>
                  <a:srgbClr val="C36242"/>
                </a:solidFill>
                <a:latin typeface="Arial"/>
                <a:cs typeface="Arial"/>
              </a:rPr>
              <a:t>PATRONICIO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476940" y="2362259"/>
            <a:ext cx="1725295" cy="501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00" spc="-210">
                <a:solidFill>
                  <a:srgbClr val="EBBC1A"/>
                </a:solidFill>
                <a:latin typeface="Times New Roman"/>
                <a:cs typeface="Times New Roman"/>
              </a:rPr>
              <a:t>r-</a:t>
            </a:r>
            <a:r>
              <a:rPr dirty="0" sz="3100" spc="-350">
                <a:solidFill>
                  <a:srgbClr val="49337E"/>
                </a:solidFill>
                <a:latin typeface="Times New Roman"/>
                <a:cs typeface="Times New Roman"/>
              </a:rPr>
              <a:t>MAS=r-</a:t>
            </a:r>
            <a:r>
              <a:rPr dirty="0" sz="3100" spc="-420">
                <a:solidFill>
                  <a:srgbClr val="49337E"/>
                </a:solidFill>
                <a:latin typeface="Times New Roman"/>
                <a:cs typeface="Times New Roman"/>
              </a:rPr>
              <a:t>ER</a:t>
            </a:r>
            <a:endParaRPr sz="31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1686655" y="2703242"/>
          <a:ext cx="16791940" cy="638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95500"/>
                <a:gridCol w="1907540"/>
              </a:tblGrid>
              <a:tr h="775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737870">
                        <a:lnSpc>
                          <a:spcPts val="280"/>
                        </a:lnSpc>
                        <a:tabLst>
                          <a:tab pos="4448810" algn="l"/>
                          <a:tab pos="7837170" algn="l"/>
                          <a:tab pos="10338435" algn="l"/>
                          <a:tab pos="10962640" algn="l"/>
                        </a:tabLst>
                      </a:pPr>
                      <a:r>
                        <a:rPr dirty="0" sz="500" spc="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5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5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1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5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1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5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1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500">
                        <a:latin typeface="Arial"/>
                        <a:cs typeface="Arial"/>
                      </a:endParaRPr>
                    </a:p>
                    <a:p>
                      <a:pPr marL="3175">
                        <a:lnSpc>
                          <a:spcPts val="1570"/>
                        </a:lnSpc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TODA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DIVULGACAO</a:t>
                      </a:r>
                      <a:r>
                        <a:rPr dirty="0" sz="1750" spc="1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TV,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RADIO,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OUTDOORS,</a:t>
                      </a:r>
                      <a:r>
                        <a:rPr dirty="0" sz="1750" spc="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PAINEIS,</a:t>
                      </a:r>
                      <a:r>
                        <a:rPr dirty="0" sz="1750" spc="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MIDIAS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SOCIAIS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639445">
                        <a:lnSpc>
                          <a:spcPts val="390"/>
                        </a:lnSpc>
                        <a:tabLst>
                          <a:tab pos="4368165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94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6905">
                <a:tc gridSpan="2">
                  <a:txBody>
                    <a:bodyPr/>
                    <a:lstStyle/>
                    <a:p>
                      <a:pPr marL="3175">
                        <a:lnSpc>
                          <a:spcPts val="3454"/>
                        </a:lnSpc>
                        <a:spcBef>
                          <a:spcPts val="270"/>
                        </a:spcBef>
                        <a:tabLst>
                          <a:tab pos="15628619" algn="l"/>
                        </a:tabLst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TODA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COMUNICACAO</a:t>
                      </a:r>
                      <a:r>
                        <a:rPr dirty="0" sz="1750" spc="1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VISUAL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FEIRA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PORTAL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ENTRADA,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PLACAS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INDICATIVAS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5208" sz="4800" spc="-525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baseline="-5208" sz="4800">
                        <a:latin typeface="Arial"/>
                        <a:cs typeface="Arial"/>
                      </a:endParaRPr>
                    </a:p>
                    <a:p>
                      <a:pPr marL="654050">
                        <a:lnSpc>
                          <a:spcPts val="300"/>
                        </a:lnSpc>
                        <a:tabLst>
                          <a:tab pos="4585335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08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9295">
                <a:tc>
                  <a:txBody>
                    <a:bodyPr/>
                    <a:lstStyle/>
                    <a:p>
                      <a:pPr marL="3175">
                        <a:lnSpc>
                          <a:spcPts val="1895"/>
                        </a:lnSpc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NOS</a:t>
                      </a:r>
                      <a:r>
                        <a:rPr dirty="0" sz="17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FESTIVAis</a:t>
                      </a:r>
                      <a:r>
                        <a:rPr dirty="0" sz="1750" spc="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BARZINHO</a:t>
                      </a:r>
                      <a:r>
                        <a:rPr dirty="0" sz="1750" spc="1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VIOLAO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2023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(OUTUBRO)</a:t>
                      </a:r>
                      <a:r>
                        <a:rPr dirty="0" sz="1750" spc="1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(SETEMBRO)</a:t>
                      </a:r>
                      <a:r>
                        <a:rPr dirty="0" sz="1750" spc="1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Durante</a:t>
                      </a:r>
                      <a:r>
                        <a:rPr dirty="0" sz="19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5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9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realizacao</a:t>
                      </a:r>
                      <a:r>
                        <a:rPr dirty="0" sz="1950" spc="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Feira</a:t>
                      </a:r>
                      <a:endParaRPr sz="1950">
                        <a:latin typeface="Arial"/>
                        <a:cs typeface="Arial"/>
                      </a:endParaRPr>
                    </a:p>
                    <a:p>
                      <a:pPr marL="659765">
                        <a:lnSpc>
                          <a:spcPts val="300"/>
                        </a:lnSpc>
                        <a:tabLst>
                          <a:tab pos="12806680" algn="l"/>
                        </a:tabLst>
                      </a:pPr>
                      <a:r>
                        <a:rPr dirty="0" sz="550" spc="-50" i="1">
                          <a:solidFill>
                            <a:srgbClr val="49337E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550" i="1">
                          <a:solidFill>
                            <a:srgbClr val="4933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645683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ts val="2215"/>
                        </a:lnSpc>
                      </a:pPr>
                      <a:r>
                        <a:rPr dirty="0" sz="19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com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direito</a:t>
                      </a:r>
                      <a:r>
                        <a:rPr dirty="0" sz="19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950" spc="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passar</a:t>
                      </a:r>
                      <a:r>
                        <a:rPr dirty="0" sz="1950" spc="1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filme</a:t>
                      </a:r>
                      <a:r>
                        <a:rPr dirty="0" sz="19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9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segundos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65"/>
                        </a:lnSpc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3175">
                        <a:lnSpc>
                          <a:spcPts val="2135"/>
                        </a:lnSpc>
                        <a:spcBef>
                          <a:spcPts val="1400"/>
                        </a:spcBef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LANCAMENTO</a:t>
                      </a:r>
                      <a:r>
                        <a:rPr dirty="0" sz="1750" spc="1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OFICIAL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(06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750" spc="-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OUTUBRO</a:t>
                      </a:r>
                      <a:r>
                        <a:rPr dirty="0" sz="1750" spc="1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2023)</a:t>
                      </a:r>
                      <a:r>
                        <a:rPr dirty="0" sz="1750" spc="1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Teatro</a:t>
                      </a:r>
                      <a:r>
                        <a:rPr dirty="0" sz="1950" spc="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Lauro</a:t>
                      </a:r>
                      <a:r>
                        <a:rPr dirty="0" sz="19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Martins,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com</a:t>
                      </a:r>
                      <a:r>
                        <a:rPr dirty="0" sz="19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direito</a:t>
                      </a:r>
                      <a:r>
                        <a:rPr dirty="0" sz="19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5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9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950">
                        <a:latin typeface="Arial"/>
                        <a:cs typeface="Arial"/>
                      </a:endParaRPr>
                    </a:p>
                    <a:p>
                      <a:pPr marL="654050">
                        <a:lnSpc>
                          <a:spcPts val="285"/>
                        </a:lnSpc>
                        <a:tabLst>
                          <a:tab pos="3209290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  <a:p>
                      <a:pPr marL="4445">
                        <a:lnSpc>
                          <a:spcPts val="2230"/>
                        </a:lnSpc>
                      </a:pPr>
                      <a:r>
                        <a:rPr dirty="0" sz="19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minutos</a:t>
                      </a:r>
                      <a:r>
                        <a:rPr dirty="0" sz="19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para</a:t>
                      </a:r>
                      <a:r>
                        <a:rPr dirty="0" sz="19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apresenta9ao</a:t>
                      </a:r>
                      <a:r>
                        <a:rPr dirty="0" sz="1950" spc="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empresa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7780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943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635">
                        <a:lnSpc>
                          <a:spcPts val="2835"/>
                        </a:lnSpc>
                        <a:spcBef>
                          <a:spcPts val="605"/>
                        </a:spcBef>
                      </a:pPr>
                      <a:r>
                        <a:rPr dirty="0" sz="1750" spc="-10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CITAC</a:t>
                      </a:r>
                      <a:r>
                        <a:rPr dirty="0" sz="1750" spc="-969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baseline="21367" sz="3900" spc="-247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50" spc="1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</a:t>
                      </a:r>
                      <a:r>
                        <a:rPr dirty="0" sz="1750" spc="-9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baseline="21367" sz="3900" spc="-25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50" spc="1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TODDS</a:t>
                      </a:r>
                      <a:r>
                        <a:rPr dirty="0" sz="17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OS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EVENTOS</a:t>
                      </a:r>
                      <a:r>
                        <a:rPr dirty="0" sz="1750" spc="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RELATIVOS</a:t>
                      </a:r>
                      <a:r>
                        <a:rPr dirty="0" sz="1750" spc="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514984">
                        <a:lnSpc>
                          <a:spcPts val="315"/>
                        </a:lnSpc>
                        <a:tabLst>
                          <a:tab pos="1828800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7683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3175">
                        <a:lnSpc>
                          <a:spcPts val="1900"/>
                        </a:lnSpc>
                        <a:spcBef>
                          <a:spcPts val="1645"/>
                        </a:spcBef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NA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RODADA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NEGOCIOS</a:t>
                      </a:r>
                      <a:r>
                        <a:rPr dirty="0" sz="1750" spc="1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PAINEIS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659130">
                        <a:lnSpc>
                          <a:spcPts val="400"/>
                        </a:lnSpc>
                      </a:pPr>
                      <a:r>
                        <a:rPr dirty="0" sz="500" i="1">
                          <a:solidFill>
                            <a:srgbClr val="49337E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8915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marL="774065">
                        <a:lnSpc>
                          <a:spcPts val="2180"/>
                        </a:lnSpc>
                        <a:tabLst>
                          <a:tab pos="3427729" algn="l"/>
                        </a:tabLst>
                      </a:pPr>
                      <a:r>
                        <a:rPr dirty="0" sz="260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6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50" spc="-50">
                          <a:solidFill>
                            <a:srgbClr val="49337E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endParaRPr sz="1250">
                        <a:latin typeface="Courier New"/>
                        <a:cs typeface="Courier New"/>
                      </a:endParaRPr>
                    </a:p>
                    <a:p>
                      <a:pPr marL="3175">
                        <a:lnSpc>
                          <a:spcPts val="1370"/>
                        </a:lnSpc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NOS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PAINEIS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LED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DO</a:t>
                      </a:r>
                      <a:r>
                        <a:rPr dirty="0" sz="17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ESPACO</a:t>
                      </a:r>
                      <a:r>
                        <a:rPr dirty="0" sz="1750" spc="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MULTIUSO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654050">
                        <a:lnSpc>
                          <a:spcPts val="400"/>
                        </a:lnSpc>
                        <a:tabLst>
                          <a:tab pos="5310505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0710">
                <a:tc>
                  <a:txBody>
                    <a:bodyPr/>
                    <a:lstStyle/>
                    <a:p>
                      <a:pPr marL="635">
                        <a:lnSpc>
                          <a:spcPts val="2585"/>
                        </a:lnSpc>
                        <a:spcBef>
                          <a:spcPts val="810"/>
                        </a:spcBef>
                      </a:pPr>
                      <a:r>
                        <a:rPr dirty="0" sz="17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CITACAO</a:t>
                      </a:r>
                      <a:r>
                        <a:rPr dirty="0" sz="17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TODDS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OS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EVENTOS</a:t>
                      </a:r>
                      <a:r>
                        <a:rPr dirty="0" sz="17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RELATIVOS</a:t>
                      </a:r>
                      <a:r>
                        <a:rPr dirty="0" sz="1750" spc="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50" spc="-4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3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502920">
                        <a:lnSpc>
                          <a:spcPts val="305"/>
                        </a:lnSpc>
                        <a:tabLst>
                          <a:tab pos="1833245" algn="l"/>
                        </a:tabLst>
                      </a:pPr>
                      <a:r>
                        <a:rPr dirty="0" sz="45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4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45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45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E6C13A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AREA</a:t>
                      </a:r>
                      <a:r>
                        <a:rPr dirty="0" sz="17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750" spc="5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5X5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M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1750" spc="-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NOBRE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NA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FEIRA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206375"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32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E6C13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 descr=""/>
          <p:cNvSpPr txBox="1"/>
          <p:nvPr/>
        </p:nvSpPr>
        <p:spPr>
          <a:xfrm>
            <a:off x="16463646" y="9037317"/>
            <a:ext cx="8001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-65">
                <a:solidFill>
                  <a:srgbClr val="EBBC1A"/>
                </a:solidFill>
                <a:latin typeface="Times New Roman"/>
                <a:cs typeface="Times New Roman"/>
              </a:rPr>
              <a:t>l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8340923" y="9063982"/>
            <a:ext cx="72390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50" i="1">
                <a:solidFill>
                  <a:srgbClr val="E6C13A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5622537" y="10163914"/>
            <a:ext cx="2561590" cy="0"/>
          </a:xfrm>
          <a:custGeom>
            <a:avLst/>
            <a:gdLst/>
            <a:ahLst/>
            <a:cxnLst/>
            <a:rect l="l" t="t" r="r" b="b"/>
            <a:pathLst>
              <a:path w="2561590" h="0">
                <a:moveTo>
                  <a:pt x="0" y="0"/>
                </a:moveTo>
                <a:lnTo>
                  <a:pt x="2561388" y="0"/>
                </a:lnTo>
              </a:path>
            </a:pathLst>
          </a:custGeom>
          <a:ln w="12577">
            <a:solidFill>
              <a:srgbClr val="4933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3351133" y="9465719"/>
            <a:ext cx="482727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70760" algn="l"/>
                <a:tab pos="4044950" algn="l"/>
              </a:tabLst>
            </a:pPr>
            <a:r>
              <a:rPr dirty="0" sz="5000" spc="-650" b="1">
                <a:solidFill>
                  <a:srgbClr val="C36242"/>
                </a:solidFill>
                <a:latin typeface="Arial"/>
                <a:cs typeface="Arial"/>
              </a:rPr>
              <a:t>C</a:t>
            </a:r>
            <a:r>
              <a:rPr dirty="0" sz="5000" spc="-425" b="1">
                <a:solidFill>
                  <a:srgbClr val="C36242"/>
                </a:solidFill>
                <a:latin typeface="Arial"/>
                <a:cs typeface="Arial"/>
              </a:rPr>
              <a:t> </a:t>
            </a:r>
            <a:r>
              <a:rPr dirty="0" sz="5000" spc="-545" b="1">
                <a:solidFill>
                  <a:srgbClr val="C36242"/>
                </a:solidFill>
                <a:latin typeface="Arial"/>
                <a:cs typeface="Arial"/>
              </a:rPr>
              <a:t>O</a:t>
            </a:r>
            <a:r>
              <a:rPr dirty="0" sz="5000" spc="-475" b="1">
                <a:solidFill>
                  <a:srgbClr val="C36242"/>
                </a:solidFill>
                <a:latin typeface="Arial"/>
                <a:cs typeface="Arial"/>
              </a:rPr>
              <a:t> </a:t>
            </a:r>
            <a:r>
              <a:rPr dirty="0" sz="5400" spc="-25" b="1">
                <a:solidFill>
                  <a:srgbClr val="C36242"/>
                </a:solidFill>
                <a:latin typeface="Times New Roman"/>
                <a:cs typeface="Times New Roman"/>
              </a:rPr>
              <a:t>TA</a:t>
            </a:r>
            <a:r>
              <a:rPr dirty="0" sz="5400" b="1">
                <a:solidFill>
                  <a:srgbClr val="C36242"/>
                </a:solidFill>
                <a:latin typeface="Times New Roman"/>
                <a:cs typeface="Times New Roman"/>
              </a:rPr>
              <a:t>	</a:t>
            </a:r>
            <a:r>
              <a:rPr dirty="0" sz="4600" i="1">
                <a:solidFill>
                  <a:srgbClr val="49337E"/>
                </a:solidFill>
                <a:latin typeface="Arial"/>
                <a:cs typeface="Arial"/>
              </a:rPr>
              <a:t>R$</a:t>
            </a:r>
            <a:r>
              <a:rPr dirty="0" sz="4600" spc="-455" i="1">
                <a:solidFill>
                  <a:srgbClr val="49337E"/>
                </a:solidFill>
                <a:latin typeface="Arial"/>
                <a:cs typeface="Arial"/>
              </a:rPr>
              <a:t> </a:t>
            </a:r>
            <a:r>
              <a:rPr dirty="0" sz="4600" spc="-25" i="1">
                <a:solidFill>
                  <a:srgbClr val="49337E"/>
                </a:solidFill>
                <a:latin typeface="Arial"/>
                <a:cs typeface="Arial"/>
              </a:rPr>
              <a:t>70</a:t>
            </a:r>
            <a:r>
              <a:rPr dirty="0" sz="4600" i="1">
                <a:solidFill>
                  <a:srgbClr val="49337E"/>
                </a:solidFill>
                <a:latin typeface="Arial"/>
                <a:cs typeface="Arial"/>
              </a:rPr>
              <a:t>	</a:t>
            </a:r>
            <a:r>
              <a:rPr dirty="0" sz="4600" spc="25" i="1">
                <a:solidFill>
                  <a:srgbClr val="49337E"/>
                </a:solidFill>
                <a:latin typeface="Arial"/>
                <a:cs typeface="Arial"/>
              </a:rPr>
              <a:t>mil</a:t>
            </a:r>
            <a:endParaRPr sz="4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028" y="1183336"/>
            <a:ext cx="2950893" cy="76674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671" y="3528850"/>
            <a:ext cx="805612" cy="2445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4671" y="3942409"/>
            <a:ext cx="805612" cy="43167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4671" y="4950649"/>
            <a:ext cx="805612" cy="34111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1235" y="4066176"/>
            <a:ext cx="778456" cy="30790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176" y="6284905"/>
            <a:ext cx="1176736" cy="29975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61235" y="4950649"/>
            <a:ext cx="778456" cy="35620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61235" y="5623815"/>
            <a:ext cx="778456" cy="19319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35852" y="2958320"/>
            <a:ext cx="11459604" cy="117426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27208" y="4238240"/>
            <a:ext cx="11562192" cy="30790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40567" y="4814809"/>
            <a:ext cx="11848833" cy="21734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40567" y="5228368"/>
            <a:ext cx="13954890" cy="117728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69012" y="7232771"/>
            <a:ext cx="591385" cy="11772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369012" y="7519546"/>
            <a:ext cx="591385" cy="11772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93580" y="8654570"/>
            <a:ext cx="678886" cy="504119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404314" y="9279441"/>
            <a:ext cx="0" cy="510540"/>
          </a:xfrm>
          <a:custGeom>
            <a:avLst/>
            <a:gdLst/>
            <a:ahLst/>
            <a:cxnLst/>
            <a:rect l="l" t="t" r="r" b="b"/>
            <a:pathLst>
              <a:path w="0" h="510540">
                <a:moveTo>
                  <a:pt x="0" y="51015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10349" y="2970396"/>
            <a:ext cx="0" cy="3314700"/>
          </a:xfrm>
          <a:custGeom>
            <a:avLst/>
            <a:gdLst/>
            <a:ahLst/>
            <a:cxnLst/>
            <a:rect l="l" t="t" r="r" b="b"/>
            <a:pathLst>
              <a:path w="0" h="3314700">
                <a:moveTo>
                  <a:pt x="0" y="3314512"/>
                </a:moveTo>
                <a:lnTo>
                  <a:pt x="0" y="0"/>
                </a:lnTo>
              </a:path>
            </a:pathLst>
          </a:custGeom>
          <a:ln w="90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85788" y="3076049"/>
            <a:ext cx="0" cy="1295400"/>
          </a:xfrm>
          <a:custGeom>
            <a:avLst/>
            <a:gdLst/>
            <a:ahLst/>
            <a:cxnLst/>
            <a:rect l="l" t="t" r="r" b="b"/>
            <a:pathLst>
              <a:path w="0" h="1295400">
                <a:moveTo>
                  <a:pt x="0" y="1295014"/>
                </a:moveTo>
                <a:lnTo>
                  <a:pt x="0" y="0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106057" y="5291762"/>
            <a:ext cx="0" cy="1470660"/>
          </a:xfrm>
          <a:custGeom>
            <a:avLst/>
            <a:gdLst/>
            <a:ahLst/>
            <a:cxnLst/>
            <a:rect l="l" t="t" r="r" b="b"/>
            <a:pathLst>
              <a:path w="0" h="1470659">
                <a:moveTo>
                  <a:pt x="0" y="147009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06057" y="2970396"/>
            <a:ext cx="0" cy="558800"/>
          </a:xfrm>
          <a:custGeom>
            <a:avLst/>
            <a:gdLst/>
            <a:ahLst/>
            <a:cxnLst/>
            <a:rect l="l" t="t" r="r" b="b"/>
            <a:pathLst>
              <a:path w="0" h="558800">
                <a:moveTo>
                  <a:pt x="0" y="55845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676321" y="2967377"/>
            <a:ext cx="0" cy="1099185"/>
          </a:xfrm>
          <a:custGeom>
            <a:avLst/>
            <a:gdLst/>
            <a:ahLst/>
            <a:cxnLst/>
            <a:rect l="l" t="t" r="r" b="b"/>
            <a:pathLst>
              <a:path w="0" h="1099185">
                <a:moveTo>
                  <a:pt x="0" y="109880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240552" y="5940778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90">
                <a:moveTo>
                  <a:pt x="0" y="82108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240552" y="2967377"/>
            <a:ext cx="0" cy="1096010"/>
          </a:xfrm>
          <a:custGeom>
            <a:avLst/>
            <a:gdLst/>
            <a:ahLst/>
            <a:cxnLst/>
            <a:rect l="l" t="t" r="r" b="b"/>
            <a:pathLst>
              <a:path w="0" h="1096010">
                <a:moveTo>
                  <a:pt x="0" y="109578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853058" y="2967377"/>
            <a:ext cx="0" cy="100330"/>
          </a:xfrm>
          <a:custGeom>
            <a:avLst/>
            <a:gdLst/>
            <a:ahLst/>
            <a:cxnLst/>
            <a:rect l="l" t="t" r="r" b="b"/>
            <a:pathLst>
              <a:path w="0" h="100330">
                <a:moveTo>
                  <a:pt x="0" y="0"/>
                </a:moveTo>
                <a:lnTo>
                  <a:pt x="0" y="100185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3853058" y="3264895"/>
            <a:ext cx="0" cy="1106170"/>
          </a:xfrm>
          <a:custGeom>
            <a:avLst/>
            <a:gdLst/>
            <a:ahLst/>
            <a:cxnLst/>
            <a:rect l="l" t="t" r="r" b="b"/>
            <a:pathLst>
              <a:path w="0" h="1106170">
                <a:moveTo>
                  <a:pt x="0" y="0"/>
                </a:moveTo>
                <a:lnTo>
                  <a:pt x="0" y="1106168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8565285" y="4132588"/>
            <a:ext cx="0" cy="1096010"/>
          </a:xfrm>
          <a:custGeom>
            <a:avLst/>
            <a:gdLst/>
            <a:ahLst/>
            <a:cxnLst/>
            <a:rect l="l" t="t" r="r" b="b"/>
            <a:pathLst>
              <a:path w="0" h="1096010">
                <a:moveTo>
                  <a:pt x="0" y="109578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9699780" y="4108439"/>
            <a:ext cx="0" cy="1147445"/>
          </a:xfrm>
          <a:custGeom>
            <a:avLst/>
            <a:gdLst/>
            <a:ahLst/>
            <a:cxnLst/>
            <a:rect l="l" t="t" r="r" b="b"/>
            <a:pathLst>
              <a:path w="0" h="1147445">
                <a:moveTo>
                  <a:pt x="0" y="114709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386211" y="2970396"/>
            <a:ext cx="6750050" cy="0"/>
          </a:xfrm>
          <a:custGeom>
            <a:avLst/>
            <a:gdLst/>
            <a:ahLst/>
            <a:cxnLst/>
            <a:rect l="l" t="t" r="r" b="b"/>
            <a:pathLst>
              <a:path w="6750050" h="0">
                <a:moveTo>
                  <a:pt x="0" y="0"/>
                </a:moveTo>
                <a:lnTo>
                  <a:pt x="6749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89228" y="3082087"/>
            <a:ext cx="805815" cy="0"/>
          </a:xfrm>
          <a:custGeom>
            <a:avLst/>
            <a:gdLst/>
            <a:ahLst/>
            <a:cxnLst/>
            <a:rect l="l" t="t" r="r" b="b"/>
            <a:pathLst>
              <a:path w="805815" h="0">
                <a:moveTo>
                  <a:pt x="0" y="0"/>
                </a:moveTo>
                <a:lnTo>
                  <a:pt x="805612" y="0"/>
                </a:lnTo>
              </a:path>
            </a:pathLst>
          </a:custGeom>
          <a:ln w="150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8553216" y="5246482"/>
            <a:ext cx="1158875" cy="0"/>
          </a:xfrm>
          <a:custGeom>
            <a:avLst/>
            <a:gdLst/>
            <a:ahLst/>
            <a:cxnLst/>
            <a:rect l="l" t="t" r="r" b="b"/>
            <a:pathLst>
              <a:path w="1158875" h="0">
                <a:moveTo>
                  <a:pt x="0" y="0"/>
                </a:moveTo>
                <a:lnTo>
                  <a:pt x="11586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847024" y="6309057"/>
            <a:ext cx="796925" cy="0"/>
          </a:xfrm>
          <a:custGeom>
            <a:avLst/>
            <a:gdLst/>
            <a:ahLst/>
            <a:cxnLst/>
            <a:rect l="l" t="t" r="r" b="b"/>
            <a:pathLst>
              <a:path w="796925" h="0">
                <a:moveTo>
                  <a:pt x="0" y="0"/>
                </a:moveTo>
                <a:lnTo>
                  <a:pt x="796560" y="0"/>
                </a:lnTo>
              </a:path>
            </a:pathLst>
          </a:custGeom>
          <a:ln w="12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321565" y="6375468"/>
            <a:ext cx="3648075" cy="0"/>
          </a:xfrm>
          <a:custGeom>
            <a:avLst/>
            <a:gdLst/>
            <a:ahLst/>
            <a:cxnLst/>
            <a:rect l="l" t="t" r="r" b="b"/>
            <a:pathLst>
              <a:path w="3648075" h="0">
                <a:moveTo>
                  <a:pt x="0" y="0"/>
                </a:moveTo>
                <a:lnTo>
                  <a:pt x="364788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392245" y="9783560"/>
            <a:ext cx="4559300" cy="0"/>
          </a:xfrm>
          <a:custGeom>
            <a:avLst/>
            <a:gdLst/>
            <a:ahLst/>
            <a:cxnLst/>
            <a:rect l="l" t="t" r="r" b="b"/>
            <a:pathLst>
              <a:path w="4559300" h="0">
                <a:moveTo>
                  <a:pt x="0" y="0"/>
                </a:moveTo>
                <a:lnTo>
                  <a:pt x="45591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4365995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4939277" y="3474515"/>
            <a:ext cx="0" cy="417195"/>
          </a:xfrm>
          <a:custGeom>
            <a:avLst/>
            <a:gdLst/>
            <a:ahLst/>
            <a:cxnLst/>
            <a:rect l="l" t="t" r="r" b="b"/>
            <a:pathLst>
              <a:path w="0" h="417195">
                <a:moveTo>
                  <a:pt x="0" y="416578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5500489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6634984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7208266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7766462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8906991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9474239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0044503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1175981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1746246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2316511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3451005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4585500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5719995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6281209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7988985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4362977" y="3882037"/>
            <a:ext cx="579755" cy="0"/>
          </a:xfrm>
          <a:custGeom>
            <a:avLst/>
            <a:gdLst/>
            <a:ahLst/>
            <a:cxnLst/>
            <a:rect l="l" t="t" r="r" b="b"/>
            <a:pathLst>
              <a:path w="579754" h="0">
                <a:moveTo>
                  <a:pt x="0" y="0"/>
                </a:moveTo>
                <a:lnTo>
                  <a:pt x="579316" y="0"/>
                </a:lnTo>
              </a:path>
            </a:pathLst>
          </a:custGeom>
          <a:ln w="150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8342762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0608734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2877724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5146714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4356943" y="6529421"/>
            <a:ext cx="0" cy="434975"/>
          </a:xfrm>
          <a:custGeom>
            <a:avLst/>
            <a:gdLst/>
            <a:ahLst/>
            <a:cxnLst/>
            <a:rect l="l" t="t" r="r" b="b"/>
            <a:pathLst>
              <a:path w="0" h="434975">
                <a:moveTo>
                  <a:pt x="0" y="434690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693972" y="7507475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59">
                <a:moveTo>
                  <a:pt x="0" y="301868"/>
                </a:moveTo>
                <a:lnTo>
                  <a:pt x="0" y="0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2673304" y="8982100"/>
            <a:ext cx="570865" cy="15240"/>
            <a:chOff x="2673304" y="8982100"/>
            <a:chExt cx="570865" cy="15240"/>
          </a:xfrm>
        </p:grpSpPr>
        <p:sp>
          <p:nvSpPr>
            <p:cNvPr id="60" name="object 60" descr=""/>
            <p:cNvSpPr/>
            <p:nvPr/>
          </p:nvSpPr>
          <p:spPr>
            <a:xfrm>
              <a:off x="2673304" y="8989647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19" h="0">
                  <a:moveTo>
                    <a:pt x="0" y="0"/>
                  </a:moveTo>
                  <a:lnTo>
                    <a:pt x="286640" y="0"/>
                  </a:lnTo>
                </a:path>
              </a:pathLst>
            </a:custGeom>
            <a:ln w="6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959945" y="8989647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4" h="0">
                  <a:moveTo>
                    <a:pt x="0" y="0"/>
                  </a:moveTo>
                  <a:lnTo>
                    <a:pt x="283623" y="0"/>
                  </a:lnTo>
                </a:path>
              </a:pathLst>
            </a:custGeom>
            <a:ln w="15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/>
          <p:nvPr/>
        </p:nvSpPr>
        <p:spPr>
          <a:xfrm>
            <a:off x="4356943" y="8748152"/>
            <a:ext cx="0" cy="890905"/>
          </a:xfrm>
          <a:custGeom>
            <a:avLst/>
            <a:gdLst/>
            <a:ahLst/>
            <a:cxnLst/>
            <a:rect l="l" t="t" r="r" b="b"/>
            <a:pathLst>
              <a:path w="0" h="890904">
                <a:moveTo>
                  <a:pt x="0" y="890511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4927207" y="8748152"/>
            <a:ext cx="0" cy="890905"/>
          </a:xfrm>
          <a:custGeom>
            <a:avLst/>
            <a:gdLst/>
            <a:ahLst/>
            <a:cxnLst/>
            <a:rect l="l" t="t" r="r" b="b"/>
            <a:pathLst>
              <a:path w="0" h="890904">
                <a:moveTo>
                  <a:pt x="0" y="890511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822433" y="9339814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 h="0">
                <a:moveTo>
                  <a:pt x="0" y="0"/>
                </a:moveTo>
                <a:lnTo>
                  <a:pt x="567247" y="0"/>
                </a:lnTo>
              </a:path>
            </a:pathLst>
          </a:custGeom>
          <a:ln w="60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4924190" y="951489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 h="0">
                <a:moveTo>
                  <a:pt x="0" y="0"/>
                </a:moveTo>
                <a:lnTo>
                  <a:pt x="4043146" y="0"/>
                </a:lnTo>
              </a:path>
            </a:pathLst>
          </a:custGeom>
          <a:ln w="60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1239393" y="724877"/>
            <a:ext cx="453072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6870" algn="l"/>
                <a:tab pos="721995" algn="l"/>
                <a:tab pos="1082675" algn="l"/>
                <a:tab pos="1437005" algn="l"/>
                <a:tab pos="1776095" algn="l"/>
                <a:tab pos="2106930" algn="l"/>
                <a:tab pos="2469515" algn="l"/>
                <a:tab pos="3078480" algn="l"/>
                <a:tab pos="3420745" algn="l"/>
                <a:tab pos="3775075" algn="l"/>
                <a:tab pos="4102100" algn="l"/>
                <a:tab pos="4432935" algn="l"/>
              </a:tabLst>
            </a:pP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S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U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D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385">
                <a:solidFill>
                  <a:srgbClr val="C36242"/>
                </a:solidFill>
                <a:latin typeface="Arial"/>
                <a:cs typeface="Arial"/>
              </a:rPr>
              <a:t>O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E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X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P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0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150" spc="65">
                <a:solidFill>
                  <a:srgbClr val="C36242"/>
                </a:solidFill>
                <a:latin typeface="Times New Roman"/>
                <a:cs typeface="Times New Roman"/>
              </a:rPr>
              <a:t>2</a:t>
            </a:r>
            <a:r>
              <a:rPr dirty="0" sz="2150">
                <a:solidFill>
                  <a:srgbClr val="C36242"/>
                </a:solidFill>
                <a:latin typeface="Times New Roman"/>
                <a:cs typeface="Times New Roman"/>
              </a:rPr>
              <a:t>	</a:t>
            </a:r>
            <a:r>
              <a:rPr dirty="0" sz="2150" spc="65">
                <a:solidFill>
                  <a:srgbClr val="C36242"/>
                </a:solidFill>
                <a:latin typeface="Times New Roman"/>
                <a:cs typeface="Times New Roman"/>
              </a:rPr>
              <a:t>0</a:t>
            </a:r>
            <a:r>
              <a:rPr dirty="0" sz="2150">
                <a:solidFill>
                  <a:srgbClr val="C36242"/>
                </a:solidFill>
                <a:latin typeface="Times New Roman"/>
                <a:cs typeface="Times New Roman"/>
              </a:rPr>
              <a:t>	</a:t>
            </a:r>
            <a:r>
              <a:rPr dirty="0" sz="2150" spc="65">
                <a:solidFill>
                  <a:srgbClr val="C36242"/>
                </a:solidFill>
                <a:latin typeface="Times New Roman"/>
                <a:cs typeface="Times New Roman"/>
              </a:rPr>
              <a:t>2</a:t>
            </a:r>
            <a:r>
              <a:rPr dirty="0" sz="2150">
                <a:solidFill>
                  <a:srgbClr val="C36242"/>
                </a:solidFill>
                <a:latin typeface="Times New Roman"/>
                <a:cs typeface="Times New Roman"/>
              </a:rPr>
              <a:t>	</a:t>
            </a:r>
            <a:r>
              <a:rPr dirty="0" sz="2150" spc="65">
                <a:solidFill>
                  <a:srgbClr val="C36242"/>
                </a:solidFill>
                <a:latin typeface="Times New Roman"/>
                <a:cs typeface="Times New Roman"/>
              </a:rPr>
              <a:t>4</a:t>
            </a:r>
            <a:r>
              <a:rPr dirty="0" sz="2150">
                <a:solidFill>
                  <a:srgbClr val="C36242"/>
                </a:solidFill>
                <a:latin typeface="Times New Roman"/>
                <a:cs typeface="Times New Roman"/>
              </a:rPr>
              <a:t>	</a:t>
            </a:r>
            <a:r>
              <a:rPr dirty="0" sz="2150" spc="15">
                <a:solidFill>
                  <a:srgbClr val="C36242"/>
                </a:solidFill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4053377" y="1019702"/>
            <a:ext cx="4297045" cy="11125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100" spc="204" b="1">
                <a:solidFill>
                  <a:srgbClr val="4B3180"/>
                </a:solidFill>
                <a:latin typeface="Arial"/>
                <a:cs typeface="Arial"/>
              </a:rPr>
              <a:t>INTERNO</a:t>
            </a:r>
            <a:endParaRPr sz="710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458220" y="3426093"/>
            <a:ext cx="697230" cy="357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97485">
              <a:lnSpc>
                <a:spcPct val="103800"/>
              </a:lnSpc>
              <a:spcBef>
                <a:spcPts val="90"/>
              </a:spcBef>
            </a:pPr>
            <a:r>
              <a:rPr dirty="0" sz="1050" spc="50">
                <a:solidFill>
                  <a:srgbClr val="383831"/>
                </a:solidFill>
                <a:latin typeface="Arial"/>
                <a:cs typeface="Arial"/>
              </a:rPr>
              <a:t>M01 </a:t>
            </a:r>
            <a:r>
              <a:rPr dirty="0" sz="1050" spc="95">
                <a:solidFill>
                  <a:srgbClr val="383831"/>
                </a:solidFill>
                <a:latin typeface="Arial"/>
                <a:cs typeface="Arial"/>
              </a:rPr>
              <a:t>9,Sx7,0m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4030597" y="4032848"/>
            <a:ext cx="794385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242570">
              <a:lnSpc>
                <a:spcPct val="105600"/>
              </a:lnSpc>
              <a:spcBef>
                <a:spcPts val="65"/>
              </a:spcBef>
            </a:pPr>
            <a:r>
              <a:rPr dirty="0" sz="1050" spc="-25">
                <a:solidFill>
                  <a:srgbClr val="383831"/>
                </a:solidFill>
                <a:latin typeface="Arial"/>
                <a:cs typeface="Arial"/>
              </a:rPr>
              <a:t>MOS </a:t>
            </a:r>
            <a:r>
              <a:rPr dirty="0" sz="1050" spc="114">
                <a:solidFill>
                  <a:srgbClr val="383831"/>
                </a:solidFill>
                <a:latin typeface="Arial"/>
                <a:cs typeface="Arial"/>
              </a:rPr>
              <a:t>10,0x6,0m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58220" y="4503762"/>
            <a:ext cx="697230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85420">
              <a:lnSpc>
                <a:spcPct val="105600"/>
              </a:lnSpc>
              <a:spcBef>
                <a:spcPts val="65"/>
              </a:spcBef>
            </a:pPr>
            <a:r>
              <a:rPr dirty="0" sz="1050" spc="125">
                <a:solidFill>
                  <a:srgbClr val="383831"/>
                </a:solidFill>
                <a:latin typeface="Arial"/>
                <a:cs typeface="Arial"/>
              </a:rPr>
              <a:t>M02 </a:t>
            </a:r>
            <a:r>
              <a:rPr dirty="0" sz="1050" spc="95">
                <a:solidFill>
                  <a:srgbClr val="383831"/>
                </a:solidFill>
                <a:latin typeface="Arial"/>
                <a:cs typeface="Arial"/>
              </a:rPr>
              <a:t>9,Sx7,0m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8566793" y="4519610"/>
            <a:ext cx="113157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19405" marR="303530" indent="31115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383831"/>
                </a:solidFill>
                <a:latin typeface="Arial"/>
                <a:cs typeface="Arial"/>
              </a:rPr>
              <a:t>Entrada </a:t>
            </a:r>
            <a:r>
              <a:rPr dirty="0" sz="950" spc="185">
                <a:solidFill>
                  <a:srgbClr val="383831"/>
                </a:solidFill>
                <a:latin typeface="Arial"/>
                <a:cs typeface="Arial"/>
              </a:rPr>
              <a:t>l0xl0</a:t>
            </a:r>
            <a:r>
              <a:rPr dirty="0" sz="950" spc="-65">
                <a:solidFill>
                  <a:srgbClr val="383831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383831"/>
                </a:solidFill>
                <a:latin typeface="Arial"/>
                <a:cs typeface="Arial"/>
              </a:rPr>
              <a:t>m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72" name="object 72" descr=""/>
          <p:cNvGraphicFramePr>
            <a:graphicFrameLocks noGrp="1"/>
          </p:cNvGraphicFramePr>
          <p:nvPr/>
        </p:nvGraphicFramePr>
        <p:xfrm>
          <a:off x="16862034" y="3474515"/>
          <a:ext cx="1014730" cy="248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00"/>
                <a:gridCol w="377190"/>
              </a:tblGrid>
              <a:tr h="2774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610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16230">
                        <a:lnSpc>
                          <a:spcPts val="1160"/>
                        </a:lnSpc>
                      </a:pPr>
                      <a:r>
                        <a:rPr dirty="0" sz="1000" spc="-10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ACIRV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99085">
                        <a:lnSpc>
                          <a:spcPts val="1160"/>
                        </a:lnSpc>
                      </a:pPr>
                      <a:r>
                        <a:rPr dirty="0" sz="1000" spc="-20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6X8m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0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84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7305">
                        <a:lnSpc>
                          <a:spcPts val="1225"/>
                        </a:lnSpc>
                      </a:pPr>
                      <a:r>
                        <a:rPr dirty="0" sz="1050" spc="-10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Prefeitura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algn="ctr" marL="44450">
                        <a:lnSpc>
                          <a:spcPts val="1165"/>
                        </a:lnSpc>
                      </a:pPr>
                      <a:r>
                        <a:rPr dirty="0" sz="1000" spc="-20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6X8m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3" name="object 73" descr=""/>
          <p:cNvSpPr txBox="1"/>
          <p:nvPr/>
        </p:nvSpPr>
        <p:spPr>
          <a:xfrm>
            <a:off x="3906965" y="4911283"/>
            <a:ext cx="701040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85420">
              <a:lnSpc>
                <a:spcPct val="105600"/>
              </a:lnSpc>
              <a:spcBef>
                <a:spcPts val="65"/>
              </a:spcBef>
            </a:pPr>
            <a:r>
              <a:rPr dirty="0" sz="1050" spc="30">
                <a:solidFill>
                  <a:srgbClr val="383831"/>
                </a:solidFill>
                <a:latin typeface="Arial"/>
                <a:cs typeface="Arial"/>
              </a:rPr>
              <a:t>M04 </a:t>
            </a:r>
            <a:r>
              <a:rPr dirty="0" sz="1050" spc="65">
                <a:solidFill>
                  <a:srgbClr val="383831"/>
                </a:solidFill>
                <a:latin typeface="Arial"/>
                <a:cs typeface="Arial"/>
              </a:rPr>
              <a:t>9,Sx7,0</a:t>
            </a:r>
            <a:r>
              <a:rPr dirty="0" sz="1050" spc="-25">
                <a:solidFill>
                  <a:srgbClr val="383831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383831"/>
                </a:solidFill>
                <a:latin typeface="Arial"/>
                <a:cs typeface="Arial"/>
              </a:rPr>
              <a:t>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458220" y="5578412"/>
            <a:ext cx="697230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85420">
              <a:lnSpc>
                <a:spcPct val="105600"/>
              </a:lnSpc>
              <a:spcBef>
                <a:spcPts val="65"/>
              </a:spcBef>
            </a:pPr>
            <a:r>
              <a:rPr dirty="0" sz="1050" spc="65">
                <a:solidFill>
                  <a:srgbClr val="383831"/>
                </a:solidFill>
                <a:latin typeface="Arial"/>
                <a:cs typeface="Arial"/>
              </a:rPr>
              <a:t>M03 </a:t>
            </a:r>
            <a:r>
              <a:rPr dirty="0" sz="1050" spc="95">
                <a:solidFill>
                  <a:srgbClr val="383831"/>
                </a:solidFill>
                <a:latin typeface="Arial"/>
                <a:cs typeface="Arial"/>
              </a:rPr>
              <a:t>9,Sx7,0m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3900238" y="5777645"/>
            <a:ext cx="708025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43510">
              <a:lnSpc>
                <a:spcPct val="105600"/>
              </a:lnSpc>
              <a:spcBef>
                <a:spcPts val="65"/>
              </a:spcBef>
            </a:pPr>
            <a:r>
              <a:rPr dirty="0" sz="1050" spc="-10">
                <a:solidFill>
                  <a:srgbClr val="383831"/>
                </a:solidFill>
                <a:latin typeface="Arial"/>
                <a:cs typeface="Arial"/>
              </a:rPr>
              <a:t>Gamer </a:t>
            </a:r>
            <a:r>
              <a:rPr dirty="0" sz="1050" spc="114">
                <a:solidFill>
                  <a:srgbClr val="383831"/>
                </a:solidFill>
                <a:latin typeface="Arial"/>
                <a:cs typeface="Arial"/>
              </a:rPr>
              <a:t>7,0x6,0m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3818349" y="3067562"/>
            <a:ext cx="75565" cy="197485"/>
          </a:xfrm>
          <a:custGeom>
            <a:avLst/>
            <a:gdLst/>
            <a:ahLst/>
            <a:cxnLst/>
            <a:rect l="l" t="t" r="r" b="b"/>
            <a:pathLst>
              <a:path w="75564" h="197485">
                <a:moveTo>
                  <a:pt x="75431" y="197333"/>
                </a:moveTo>
                <a:lnTo>
                  <a:pt x="0" y="197333"/>
                </a:lnTo>
                <a:lnTo>
                  <a:pt x="0" y="0"/>
                </a:lnTo>
                <a:lnTo>
                  <a:pt x="75431" y="0"/>
                </a:lnTo>
                <a:lnTo>
                  <a:pt x="75431" y="19733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4195311" y="3067562"/>
            <a:ext cx="66675" cy="197485"/>
          </a:xfrm>
          <a:custGeom>
            <a:avLst/>
            <a:gdLst/>
            <a:ahLst/>
            <a:cxnLst/>
            <a:rect l="l" t="t" r="r" b="b"/>
            <a:pathLst>
              <a:path w="66675" h="197485">
                <a:moveTo>
                  <a:pt x="66380" y="197333"/>
                </a:moveTo>
                <a:lnTo>
                  <a:pt x="0" y="197333"/>
                </a:lnTo>
                <a:lnTo>
                  <a:pt x="0" y="0"/>
                </a:lnTo>
                <a:lnTo>
                  <a:pt x="66380" y="0"/>
                </a:lnTo>
                <a:lnTo>
                  <a:pt x="66380" y="19733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4485604" y="3067562"/>
            <a:ext cx="73025" cy="197485"/>
          </a:xfrm>
          <a:custGeom>
            <a:avLst/>
            <a:gdLst/>
            <a:ahLst/>
            <a:cxnLst/>
            <a:rect l="l" t="t" r="r" b="b"/>
            <a:pathLst>
              <a:path w="73025" h="197485">
                <a:moveTo>
                  <a:pt x="72414" y="197333"/>
                </a:moveTo>
                <a:lnTo>
                  <a:pt x="0" y="197333"/>
                </a:lnTo>
                <a:lnTo>
                  <a:pt x="0" y="0"/>
                </a:lnTo>
                <a:lnTo>
                  <a:pt x="72414" y="0"/>
                </a:lnTo>
                <a:lnTo>
                  <a:pt x="72414" y="19733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4775898" y="3067562"/>
            <a:ext cx="191770" cy="197485"/>
          </a:xfrm>
          <a:custGeom>
            <a:avLst/>
            <a:gdLst/>
            <a:ahLst/>
            <a:cxnLst/>
            <a:rect l="l" t="t" r="r" b="b"/>
            <a:pathLst>
              <a:path w="191770" h="197485">
                <a:moveTo>
                  <a:pt x="191340" y="197333"/>
                </a:moveTo>
                <a:lnTo>
                  <a:pt x="0" y="197333"/>
                </a:lnTo>
                <a:lnTo>
                  <a:pt x="0" y="0"/>
                </a:lnTo>
                <a:lnTo>
                  <a:pt x="191340" y="0"/>
                </a:lnTo>
                <a:lnTo>
                  <a:pt x="191340" y="19733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3805649" y="3060580"/>
            <a:ext cx="2721610" cy="1993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520825" algn="l"/>
              </a:tabLst>
            </a:pPr>
            <a:r>
              <a:rPr dirty="0" sz="1100" spc="1555">
                <a:solidFill>
                  <a:srgbClr val="F7F7F9"/>
                </a:solidFill>
                <a:latin typeface="Arial"/>
                <a:cs typeface="Arial"/>
              </a:rPr>
              <a:t>Radio</a:t>
            </a:r>
            <a:r>
              <a:rPr dirty="0" sz="1100">
                <a:solidFill>
                  <a:srgbClr val="F7F7F9"/>
                </a:solidFill>
                <a:latin typeface="Arial"/>
                <a:cs typeface="Arial"/>
              </a:rPr>
              <a:t>	</a:t>
            </a:r>
            <a:r>
              <a:rPr dirty="0" sz="1100" spc="910">
                <a:solidFill>
                  <a:srgbClr val="D87E3D"/>
                </a:solidFill>
                <a:latin typeface="Arial"/>
                <a:cs typeface="Arial"/>
              </a:rPr>
              <a:t>I-</a:t>
            </a:r>
            <a:r>
              <a:rPr dirty="0" sz="1100" spc="1000">
                <a:solidFill>
                  <a:srgbClr val="D87E3D"/>
                </a:solidFill>
                <a:latin typeface="Arial"/>
                <a:cs typeface="Arial"/>
              </a:rPr>
              <a:t>----</a:t>
            </a:r>
            <a:r>
              <a:rPr dirty="0" sz="1100" spc="950">
                <a:solidFill>
                  <a:srgbClr val="D87E3D"/>
                </a:solidFill>
                <a:latin typeface="Arial"/>
                <a:cs typeface="Arial"/>
              </a:rPr>
              <a:t>-</a:t>
            </a:r>
            <a:endParaRPr sz="1100">
              <a:latin typeface="Arial"/>
              <a:cs typeface="Arial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8981496" y="6412826"/>
            <a:ext cx="65913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2600" spc="-125" b="1">
                <a:solidFill>
                  <a:srgbClr val="566483"/>
                </a:solidFill>
                <a:uFill>
                  <a:solidFill>
                    <a:srgbClr val="566483"/>
                  </a:solidFill>
                </a:uFill>
                <a:latin typeface="Times New Roman"/>
                <a:cs typeface="Times New Roman"/>
              </a:rPr>
              <a:t>iffiM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3522487" y="6412826"/>
            <a:ext cx="65913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2600" spc="-125" b="1">
                <a:solidFill>
                  <a:srgbClr val="566483"/>
                </a:solidFill>
                <a:uFill>
                  <a:solidFill>
                    <a:srgbClr val="566483"/>
                  </a:solidFill>
                </a:uFill>
                <a:latin typeface="Times New Roman"/>
                <a:cs typeface="Times New Roman"/>
              </a:rPr>
              <a:t>iffiM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290598" y="6544389"/>
            <a:ext cx="2774950" cy="644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50" spc="-180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14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-180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13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-180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12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84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1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4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4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1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59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7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050">
              <a:latin typeface="Arial"/>
              <a:cs typeface="Arial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288530" y="6803242"/>
            <a:ext cx="2776855" cy="667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0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4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00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25">
                <a:solidFill>
                  <a:srgbClr val="8A99A3"/>
                </a:solidFill>
                <a:latin typeface="Times New Roman"/>
                <a:cs typeface="Times New Roman"/>
              </a:rPr>
              <a:t>••</a:t>
            </a:r>
            <a:r>
              <a:rPr dirty="0" sz="4200" spc="21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38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59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7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050">
              <a:latin typeface="Arial"/>
              <a:cs typeface="Arial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5136276" y="6718970"/>
            <a:ext cx="297180" cy="1112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100" spc="-229">
                <a:solidFill>
                  <a:srgbClr val="566483"/>
                </a:solidFill>
                <a:latin typeface="Times New Roman"/>
                <a:cs typeface="Times New Roman"/>
              </a:rPr>
              <a:t>I</a:t>
            </a:r>
            <a:endParaRPr sz="710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265198" y="7348617"/>
            <a:ext cx="282575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4050" spc="70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38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70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0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1322" sz="6300" spc="-240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baseline="30864" sz="6075" spc="-202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30864" sz="6075" spc="-277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1322" sz="6300" spc="-2385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baseline="30864" sz="6075" spc="-19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30864" sz="6075" spc="-292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34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28409" sz="6600" spc="-2257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1322" sz="6300" spc="-247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baseline="28409" sz="6600" spc="-85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1322" sz="6300" spc="6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baseline="1322" sz="6300" spc="-61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1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6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7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050">
              <a:latin typeface="Arial"/>
              <a:cs typeface="Arial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6324932" y="7439428"/>
            <a:ext cx="2908935" cy="1900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>
                <a:solidFill>
                  <a:srgbClr val="4B3180"/>
                </a:solidFill>
                <a:latin typeface="Arial"/>
                <a:cs typeface="Arial"/>
              </a:rPr>
              <a:t>138</a:t>
            </a:r>
            <a:r>
              <a:rPr dirty="0" sz="1850" spc="19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900" spc="8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45" b="1">
                <a:solidFill>
                  <a:srgbClr val="4B3180"/>
                </a:solidFill>
                <a:latin typeface="Arial"/>
                <a:cs typeface="Arial"/>
              </a:rPr>
              <a:t>3x3m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55">
                <a:solidFill>
                  <a:srgbClr val="4B3180"/>
                </a:solidFill>
                <a:latin typeface="Arial"/>
                <a:cs typeface="Arial"/>
              </a:rPr>
              <a:t>18</a:t>
            </a:r>
            <a:r>
              <a:rPr dirty="0" sz="1850" spc="6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900" spc="4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60" b="1">
                <a:solidFill>
                  <a:srgbClr val="4B3180"/>
                </a:solidFill>
                <a:latin typeface="Arial"/>
                <a:cs typeface="Arial"/>
              </a:rPr>
              <a:t>6x3m</a:t>
            </a:r>
            <a:endParaRPr sz="19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155"/>
              </a:spcBef>
            </a:pPr>
            <a:r>
              <a:rPr dirty="0" sz="1850" spc="100">
                <a:solidFill>
                  <a:srgbClr val="4B3180"/>
                </a:solidFill>
                <a:latin typeface="Arial"/>
                <a:cs typeface="Arial"/>
              </a:rPr>
              <a:t>8</a:t>
            </a:r>
            <a:r>
              <a:rPr dirty="0" sz="1850" spc="-3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00" spc="55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900" spc="-12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85" b="1">
                <a:solidFill>
                  <a:srgbClr val="4B3180"/>
                </a:solidFill>
                <a:latin typeface="Arial"/>
                <a:cs typeface="Arial"/>
              </a:rPr>
              <a:t>6x6m</a:t>
            </a:r>
            <a:endParaRPr sz="195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10"/>
              </a:spcBef>
            </a:pPr>
            <a:r>
              <a:rPr dirty="0" sz="2000" spc="-30">
                <a:solidFill>
                  <a:srgbClr val="4B3180"/>
                </a:solidFill>
                <a:latin typeface="Arial"/>
                <a:cs typeface="Arial"/>
              </a:rPr>
              <a:t>5</a:t>
            </a:r>
            <a:r>
              <a:rPr dirty="0" sz="2000" spc="-8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900" spc="-5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85" b="1">
                <a:solidFill>
                  <a:srgbClr val="4B3180"/>
                </a:solidFill>
                <a:latin typeface="Arial"/>
                <a:cs typeface="Arial"/>
              </a:rPr>
              <a:t>Espa</a:t>
            </a:r>
            <a:r>
              <a:rPr dirty="0" sz="1950" spc="13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95" b="1">
                <a:solidFill>
                  <a:srgbClr val="4B3180"/>
                </a:solidFill>
                <a:latin typeface="Arial"/>
                <a:cs typeface="Arial"/>
              </a:rPr>
              <a:t>o</a:t>
            </a:r>
            <a:r>
              <a:rPr dirty="0" sz="1950" spc="-14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90" b="1">
                <a:solidFill>
                  <a:srgbClr val="4B3180"/>
                </a:solidFill>
                <a:latin typeface="Arial"/>
                <a:cs typeface="Arial"/>
              </a:rPr>
              <a:t>Motor</a:t>
            </a:r>
            <a:endParaRPr sz="1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dirty="0" sz="1900" spc="105">
                <a:solidFill>
                  <a:srgbClr val="4B3180"/>
                </a:solidFill>
                <a:latin typeface="Arial"/>
                <a:cs typeface="Arial"/>
              </a:rPr>
              <a:t>4</a:t>
            </a:r>
            <a:r>
              <a:rPr dirty="0" sz="1900" spc="-6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00" spc="65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900" spc="-14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95" b="1">
                <a:solidFill>
                  <a:srgbClr val="4B3180"/>
                </a:solidFill>
                <a:latin typeface="Arial"/>
                <a:cs typeface="Arial"/>
              </a:rPr>
              <a:t>6x6m</a:t>
            </a:r>
            <a:r>
              <a:rPr dirty="0" sz="1950" spc="-21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100" b="1">
                <a:solidFill>
                  <a:srgbClr val="4B3180"/>
                </a:solidFill>
                <a:latin typeface="Arial"/>
                <a:cs typeface="Arial"/>
              </a:rPr>
              <a:t>Master</a:t>
            </a:r>
            <a:endParaRPr sz="19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160"/>
              </a:spcBef>
            </a:pPr>
            <a:r>
              <a:rPr dirty="0" sz="1850" spc="110">
                <a:solidFill>
                  <a:srgbClr val="4B3180"/>
                </a:solidFill>
                <a:latin typeface="Arial"/>
                <a:cs typeface="Arial"/>
              </a:rPr>
              <a:t>2</a:t>
            </a:r>
            <a:r>
              <a:rPr dirty="0" sz="1850" spc="-6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900" spc="1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105" b="1">
                <a:solidFill>
                  <a:srgbClr val="4B3180"/>
                </a:solidFill>
                <a:latin typeface="Arial"/>
                <a:cs typeface="Arial"/>
              </a:rPr>
              <a:t>6x8m</a:t>
            </a:r>
            <a:r>
              <a:rPr dirty="0" sz="1950" spc="-10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4B3180"/>
                </a:solidFill>
                <a:latin typeface="Arial"/>
                <a:cs typeface="Arial"/>
              </a:rPr>
              <a:t>Entidades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263130" y="7929210"/>
            <a:ext cx="2832735" cy="667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0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4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00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0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-1405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baseline="29100" sz="6300" spc="97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29100" sz="6300" spc="-82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380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baseline="30178" sz="6075" spc="187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30178" sz="6075" spc="-727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29761" sz="6300" spc="12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endParaRPr baseline="29761" sz="6300">
              <a:latin typeface="Times New Roman"/>
              <a:cs typeface="Times New Roma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288530" y="8215985"/>
            <a:ext cx="796925" cy="667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42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200" spc="8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3273895" y="8240889"/>
            <a:ext cx="791845" cy="644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200" spc="130">
                <a:solidFill>
                  <a:srgbClr val="8A99A3"/>
                </a:solidFill>
                <a:latin typeface="Times New Roman"/>
                <a:cs typeface="Times New Roman"/>
              </a:rPr>
              <a:t>•</a:t>
            </a:r>
            <a:r>
              <a:rPr dirty="0" sz="4200" spc="-385">
                <a:solidFill>
                  <a:srgbClr val="8A99A3"/>
                </a:solidFill>
                <a:latin typeface="Times New Roman"/>
                <a:cs typeface="Times New Roman"/>
              </a:rPr>
              <a:t> </a:t>
            </a:r>
            <a:r>
              <a:rPr dirty="0" sz="4050" spc="12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050" spc="-46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050" spc="7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050">
              <a:latin typeface="Arial"/>
              <a:cs typeface="Arial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2514662" y="9125614"/>
            <a:ext cx="1058545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45134" algn="l"/>
                <a:tab pos="1045210" algn="l"/>
              </a:tabLst>
            </a:pPr>
            <a:r>
              <a:rPr dirty="0" sz="1000" spc="-10">
                <a:solidFill>
                  <a:srgbClr val="383831"/>
                </a:solidFill>
                <a:latin typeface="Arial"/>
                <a:cs typeface="Arial"/>
              </a:rPr>
              <a:t>Palco</a:t>
            </a:r>
            <a:r>
              <a:rPr dirty="0" sz="1000">
                <a:solidFill>
                  <a:srgbClr val="383831"/>
                </a:solidFill>
                <a:latin typeface="Arial"/>
                <a:cs typeface="Arial"/>
              </a:rPr>
              <a:t>	</a:t>
            </a:r>
            <a:r>
              <a:rPr dirty="0" u="sng" sz="1000">
                <a:solidFill>
                  <a:srgbClr val="38383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551593" y="9358555"/>
            <a:ext cx="505459" cy="316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67945" marR="5080" indent="-55880">
              <a:lnSpc>
                <a:spcPct val="102200"/>
              </a:lnSpc>
              <a:spcBef>
                <a:spcPts val="65"/>
              </a:spcBef>
            </a:pPr>
            <a:r>
              <a:rPr dirty="0" sz="950" spc="-25">
                <a:solidFill>
                  <a:srgbClr val="383831"/>
                </a:solidFill>
                <a:latin typeface="Arial"/>
                <a:cs typeface="Arial"/>
              </a:rPr>
              <a:t>Camarim </a:t>
            </a:r>
            <a:r>
              <a:rPr dirty="0" sz="950">
                <a:solidFill>
                  <a:srgbClr val="383831"/>
                </a:solidFill>
                <a:latin typeface="Arial"/>
                <a:cs typeface="Arial"/>
              </a:rPr>
              <a:t>4x6</a:t>
            </a:r>
            <a:r>
              <a:rPr dirty="0" sz="950" spc="345">
                <a:solidFill>
                  <a:srgbClr val="383831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383831"/>
                </a:solidFill>
                <a:latin typeface="Arial"/>
                <a:cs typeface="Arial"/>
              </a:rPr>
              <a:t>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531" y="712421"/>
            <a:ext cx="17494153" cy="98801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9215" y="2048820"/>
            <a:ext cx="39052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0">
                <a:solidFill>
                  <a:srgbClr val="414187"/>
                </a:solidFill>
                <a:latin typeface="Arial"/>
                <a:cs typeface="Arial"/>
              </a:rPr>
              <a:t>■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69737" y="2260127"/>
            <a:ext cx="38671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60">
                <a:solidFill>
                  <a:srgbClr val="414187"/>
                </a:solidFill>
                <a:latin typeface="Arial"/>
                <a:cs typeface="Arial"/>
              </a:rPr>
              <a:t>■</a:t>
            </a:r>
            <a:endParaRPr sz="4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29215" y="2465397"/>
            <a:ext cx="39052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0">
                <a:solidFill>
                  <a:srgbClr val="414187"/>
                </a:solidFill>
                <a:latin typeface="Arial"/>
                <a:cs typeface="Arial"/>
              </a:rPr>
              <a:t>■</a:t>
            </a:r>
            <a:endParaRPr sz="4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69737" y="2679724"/>
            <a:ext cx="38671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60">
                <a:solidFill>
                  <a:srgbClr val="414187"/>
                </a:solidFill>
                <a:latin typeface="Arial"/>
                <a:cs typeface="Arial"/>
              </a:rPr>
              <a:t>■</a:t>
            </a:r>
            <a:endParaRPr sz="48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671418" y="310925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63" y="0"/>
                </a:lnTo>
              </a:path>
            </a:pathLst>
          </a:custGeom>
          <a:ln w="12577">
            <a:solidFill>
              <a:srgbClr val="41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942972" y="310925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63" y="0"/>
                </a:lnTo>
              </a:path>
            </a:pathLst>
          </a:custGeom>
          <a:ln w="12577">
            <a:solidFill>
              <a:srgbClr val="41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211510" y="310925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63" y="0"/>
                </a:lnTo>
              </a:path>
            </a:pathLst>
          </a:custGeom>
          <a:ln w="12577">
            <a:solidFill>
              <a:srgbClr val="41333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966432" y="2430051"/>
          <a:ext cx="149161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"/>
                <a:gridCol w="123825"/>
                <a:gridCol w="965835"/>
              </a:tblGrid>
              <a:tr h="129539">
                <a:tc gridSpan="2" rowSpan="2">
                  <a:txBody>
                    <a:bodyPr/>
                    <a:lstStyle/>
                    <a:p>
                      <a:pPr algn="ctr" marL="18415">
                        <a:lnSpc>
                          <a:spcPts val="585"/>
                        </a:lnSpc>
                        <a:spcBef>
                          <a:spcPts val="425"/>
                        </a:spcBef>
                      </a:pPr>
                      <a:r>
                        <a:rPr dirty="0" sz="500" spc="-25" b="1">
                          <a:solidFill>
                            <a:srgbClr val="424B26"/>
                          </a:solidFill>
                          <a:latin typeface="Times New Roman"/>
                          <a:cs typeface="Times New Roman"/>
                        </a:rPr>
                        <a:t>MOS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13970">
                        <a:lnSpc>
                          <a:spcPts val="525"/>
                        </a:lnSpc>
                      </a:pPr>
                      <a:r>
                        <a:rPr dirty="0" sz="450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10,0x6,0</a:t>
                      </a:r>
                      <a:r>
                        <a:rPr dirty="0" sz="450" spc="70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450" spc="-50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sz="45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271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39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 algn="ctr" marR="6350">
                        <a:lnSpc>
                          <a:spcPts val="475"/>
                        </a:lnSpc>
                        <a:spcBef>
                          <a:spcPts val="270"/>
                        </a:spcBef>
                      </a:pPr>
                      <a:r>
                        <a:rPr dirty="0" sz="400" spc="-25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M04</a:t>
                      </a:r>
                      <a:endParaRPr sz="400">
                        <a:latin typeface="Arial"/>
                        <a:cs typeface="Arial"/>
                      </a:endParaRPr>
                    </a:p>
                    <a:p>
                      <a:pPr algn="ctr" marL="2540">
                        <a:lnSpc>
                          <a:spcPts val="535"/>
                        </a:lnSpc>
                      </a:pPr>
                      <a:r>
                        <a:rPr dirty="0" sz="450" spc="-10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9.Sx7,0m</a:t>
                      </a:r>
                      <a:endParaRPr sz="4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ts val="800"/>
                        </a:lnSpc>
                        <a:tabLst>
                          <a:tab pos="257810" algn="l"/>
                          <a:tab pos="529590" algn="l"/>
                          <a:tab pos="798195" algn="l"/>
                        </a:tabLst>
                      </a:pPr>
                      <a:r>
                        <a:rPr dirty="0" sz="900" spc="-5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90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375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dirty="0" sz="90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375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dirty="0" sz="90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 spc="-375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3876407" y="3389841"/>
            <a:ext cx="1219835" cy="69469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55"/>
              </a:spcBef>
            </a:pPr>
            <a:r>
              <a:rPr dirty="0" baseline="-55555" sz="2625" spc="-169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7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7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7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3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3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27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27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7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endParaRPr sz="1650">
              <a:latin typeface="Courier New"/>
              <a:cs typeface="Courier New"/>
            </a:endParaRPr>
          </a:p>
          <a:p>
            <a:pPr marL="51435">
              <a:lnSpc>
                <a:spcPct val="100000"/>
              </a:lnSpc>
              <a:spcBef>
                <a:spcPts val="484"/>
              </a:spcBef>
            </a:pPr>
            <a:r>
              <a:rPr dirty="0" sz="1850" spc="-114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22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179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21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19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20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09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9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2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8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4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7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54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6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7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50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77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45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172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endParaRPr baseline="30158" sz="2625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912257" y="3995617"/>
            <a:ext cx="114363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229">
                <a:solidFill>
                  <a:srgbClr val="8E9AA1"/>
                </a:solidFill>
                <a:latin typeface="Courier New"/>
                <a:cs typeface="Courier New"/>
              </a:rPr>
              <a:t>••••••••••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704266" y="4129445"/>
            <a:ext cx="375920" cy="2825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60">
                <a:solidFill>
                  <a:srgbClr val="8E9AA1"/>
                </a:solidFill>
                <a:latin typeface="Courier New"/>
                <a:cs typeface="Courier New"/>
              </a:rPr>
              <a:t>•••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30329" y="4494958"/>
            <a:ext cx="142240" cy="93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50" spc="-25" b="1">
                <a:solidFill>
                  <a:srgbClr val="413333"/>
                </a:solidFill>
                <a:latin typeface="Times New Roman"/>
                <a:cs typeface="Times New Roman"/>
              </a:rPr>
              <a:t>P</a:t>
            </a:r>
            <a:r>
              <a:rPr dirty="0" sz="450" spc="-25" b="1">
                <a:solidFill>
                  <a:srgbClr val="624649"/>
                </a:solidFill>
                <a:latin typeface="Times New Roman"/>
                <a:cs typeface="Times New Roman"/>
              </a:rPr>
              <a:t>alc</a:t>
            </a:r>
            <a:r>
              <a:rPr dirty="0" sz="450" spc="-25" b="1">
                <a:solidFill>
                  <a:srgbClr val="413333"/>
                </a:solidFill>
                <a:latin typeface="Times New Roman"/>
                <a:cs typeface="Times New Roman"/>
              </a:rPr>
              <a:t>o</a:t>
            </a:r>
            <a:endParaRPr sz="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4600" spc="530" b="1">
                <a:solidFill>
                  <a:srgbClr val="F6DB0A"/>
                </a:solidFill>
                <a:latin typeface="Times New Roman"/>
                <a:cs typeface="Times New Roman"/>
              </a:rPr>
              <a:t>2024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108266" y="6767772"/>
            <a:ext cx="9789160" cy="735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1350" b="1">
                <a:solidFill>
                  <a:srgbClr val="4B3180"/>
                </a:solidFill>
                <a:latin typeface="Arial"/>
                <a:cs typeface="Arial"/>
                <a:hlinkClick r:id="rId2"/>
              </a:rPr>
              <a:t>www.sudoexpo.com.br</a:t>
            </a:r>
            <a:endParaRPr sz="4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74277" y="8454208"/>
            <a:ext cx="1321435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90">
                <a:solidFill>
                  <a:srgbClr val="4B4B4B"/>
                </a:solidFill>
                <a:latin typeface="Times New Roman"/>
                <a:cs typeface="Times New Roman"/>
              </a:rPr>
              <a:t>REALIZA£;.AO: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45389" y="9944179"/>
            <a:ext cx="2712085" cy="259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100" i="1">
                <a:solidFill>
                  <a:srgbClr val="1C1C1C"/>
                </a:solidFill>
                <a:latin typeface="Arial"/>
                <a:cs typeface="Arial"/>
              </a:rPr>
              <a:t>Presente</a:t>
            </a:r>
            <a:r>
              <a:rPr dirty="0" sz="1500" spc="8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500" spc="145" i="1">
                <a:solidFill>
                  <a:srgbClr val="1C1C1C"/>
                </a:solidFill>
                <a:latin typeface="Arial"/>
                <a:cs typeface="Arial"/>
              </a:rPr>
              <a:t>em</a:t>
            </a:r>
            <a:r>
              <a:rPr dirty="0" sz="1500" spc="229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500" spc="190" i="1">
                <a:solidFill>
                  <a:srgbClr val="1C1C1C"/>
                </a:solidFill>
                <a:latin typeface="Arial"/>
                <a:cs typeface="Arial"/>
              </a:rPr>
              <a:t>coda</a:t>
            </a:r>
            <a:r>
              <a:rPr dirty="0" sz="1500" spc="5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500" spc="90" i="1">
                <a:solidFill>
                  <a:srgbClr val="1C1C1C"/>
                </a:solidFill>
                <a:latin typeface="Arial"/>
                <a:cs typeface="Arial"/>
              </a:rPr>
              <a:t>hist6ria!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B318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2023-08-23T12:05:54Z</dcterms:created>
  <dcterms:modified xsi:type="dcterms:W3CDTF">2023-08-23T12:05:54Z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2023-07-20T00:00:00Z</vt:filetime>
  </property>
  <property fmtid="{D5CDD505-2E9C-101B-9397-08002B2CF9AE}" pid="3" name="Creator">
    <vt:lpwstr>Adobe Acrobat 23.3</vt:lpwstr>
  </property>
  <property fmtid="{D5CDD505-2E9C-101B-9397-08002B2CF9AE}" pid="4" name="LastSaved">
    <vt:filetime>2023-08-23T00:00:00Z</vt:filetime>
  </property>
  <property fmtid="{D5CDD505-2E9C-101B-9397-08002B2CF9AE}" pid="5" name="Producer">
    <vt:lpwstr>Adobe Acrobat 23.3 Image Conversion Plug-in</vt:lpwstr>
  </property>
</Properties>
</file>