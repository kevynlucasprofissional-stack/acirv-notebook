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81" r:id="rId4"/>
    <p:sldId id="285" r:id="rId5"/>
    <p:sldId id="286" r:id="rId6"/>
    <p:sldId id="261" r:id="rId7"/>
    <p:sldId id="287" r:id="rId8"/>
    <p:sldId id="283" r:id="rId9"/>
    <p:sldId id="260" r:id="rId10"/>
    <p:sldId id="288" r:id="rId11"/>
    <p:sldId id="280" r:id="rId12"/>
  </p:sldIdLst>
  <p:sldSz cx="9753600" cy="73152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tserrat Classic Bold" panose="020B0604020202020204" charset="0"/>
      <p:regular r:id="rId17"/>
    </p:embeddedFont>
    <p:embeddedFont>
      <p:font typeface="Montserrat Light" panose="020B0604020202020204" charset="0"/>
      <p:regular r:id="rId18"/>
    </p:embeddedFont>
    <p:embeddedFont>
      <p:font typeface="Montserrat Classic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381"/>
    <a:srgbClr val="CCFF33"/>
    <a:srgbClr val="F7CC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4622" autoAdjust="0"/>
  </p:normalViewPr>
  <p:slideViewPr>
    <p:cSldViewPr>
      <p:cViewPr varScale="1">
        <p:scale>
          <a:sx n="66" d="100"/>
          <a:sy n="66" d="100"/>
        </p:scale>
        <p:origin x="1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2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660083" y="-315137"/>
            <a:ext cx="10302505" cy="6868337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 rot="2700000">
            <a:off x="-3254446" y="1029972"/>
            <a:ext cx="12868526" cy="8203081"/>
          </a:xfrm>
          <a:prstGeom prst="rect">
            <a:avLst/>
          </a:prstGeom>
          <a:solidFill>
            <a:srgbClr val="342D47"/>
          </a:solidFill>
        </p:spPr>
      </p:sp>
      <p:sp>
        <p:nvSpPr>
          <p:cNvPr id="6" name="AutoShape 6"/>
          <p:cNvSpPr/>
          <p:nvPr/>
        </p:nvSpPr>
        <p:spPr>
          <a:xfrm rot="2700000">
            <a:off x="-822971" y="419563"/>
            <a:ext cx="8656320" cy="18001"/>
          </a:xfrm>
          <a:prstGeom prst="rect">
            <a:avLst/>
          </a:prstGeom>
          <a:solidFill>
            <a:srgbClr val="F8FBF8"/>
          </a:solidFill>
        </p:spPr>
      </p:sp>
      <p:sp>
        <p:nvSpPr>
          <p:cNvPr id="7" name="TextBox 7"/>
          <p:cNvSpPr txBox="1"/>
          <p:nvPr/>
        </p:nvSpPr>
        <p:spPr>
          <a:xfrm>
            <a:off x="152400" y="3550717"/>
            <a:ext cx="6781800" cy="1859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algn="r">
              <a:lnSpc>
                <a:spcPts val="2916"/>
              </a:lnSpc>
            </a:pPr>
            <a:r>
              <a:rPr lang="en-US" sz="2700" spc="189" dirty="0">
                <a:solidFill>
                  <a:srgbClr val="F8FBF8"/>
                </a:solidFill>
                <a:latin typeface="Montserrat Classic Bold"/>
              </a:rPr>
              <a:t>OPORTUNIDADES E IMPACTOS PARA OS MUNICÍPIOS DO SUDOESTE GOIANO COM O INÍCIO DAS OPERAÇÕES DA FERROVIA NORTE-SUL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34840" y="5791200"/>
            <a:ext cx="5318760" cy="605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 dirty="0">
                <a:solidFill>
                  <a:srgbClr val="F8FBF8"/>
                </a:solidFill>
                <a:latin typeface="Montserrat Classic"/>
              </a:rPr>
              <a:t>2º </a:t>
            </a:r>
            <a:r>
              <a:rPr lang="en-US" sz="1800" spc="126" dirty="0" err="1">
                <a:solidFill>
                  <a:srgbClr val="F8FBF8"/>
                </a:solidFill>
                <a:latin typeface="Montserrat Classic"/>
              </a:rPr>
              <a:t>Fórum</a:t>
            </a:r>
            <a:r>
              <a:rPr lang="en-US" sz="1800" spc="126" dirty="0">
                <a:solidFill>
                  <a:srgbClr val="F8FBF8"/>
                </a:solidFill>
                <a:latin typeface="Montserrat Classic"/>
              </a:rPr>
              <a:t> de </a:t>
            </a:r>
            <a:r>
              <a:rPr lang="en-US" sz="1800" spc="126" dirty="0" err="1">
                <a:solidFill>
                  <a:srgbClr val="F8FBF8"/>
                </a:solidFill>
                <a:latin typeface="Montserrat Classic"/>
              </a:rPr>
              <a:t>Desenvolvimento</a:t>
            </a:r>
            <a:r>
              <a:rPr lang="en-US" sz="1800" spc="126" dirty="0">
                <a:solidFill>
                  <a:srgbClr val="F8FBF8"/>
                </a:solidFill>
                <a:latin typeface="Montserrat Classic"/>
              </a:rPr>
              <a:t> </a:t>
            </a:r>
            <a:r>
              <a:rPr lang="en-US" sz="1800" spc="126" dirty="0" err="1">
                <a:solidFill>
                  <a:srgbClr val="F8FBF8"/>
                </a:solidFill>
                <a:latin typeface="Montserrat Classic"/>
              </a:rPr>
              <a:t>Econômico</a:t>
            </a:r>
            <a:r>
              <a:rPr lang="en-US" sz="1800" spc="126" dirty="0">
                <a:solidFill>
                  <a:srgbClr val="F8FBF8"/>
                </a:solidFill>
                <a:latin typeface="Montserrat Classic"/>
              </a:rPr>
              <a:t> do Sudoeste </a:t>
            </a:r>
            <a:r>
              <a:rPr lang="en-US" sz="1800" spc="126" dirty="0" err="1">
                <a:solidFill>
                  <a:srgbClr val="F8FBF8"/>
                </a:solidFill>
                <a:latin typeface="Montserrat Classic"/>
              </a:rPr>
              <a:t>Goiano</a:t>
            </a:r>
            <a:endParaRPr lang="en-US" sz="1800" spc="126" dirty="0">
              <a:solidFill>
                <a:srgbClr val="F8FBF8"/>
              </a:solidFill>
              <a:latin typeface="Montserrat Classi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9141" y="1277082"/>
            <a:ext cx="2907060" cy="533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176" dirty="0">
                <a:solidFill>
                  <a:srgbClr val="F8FBF8"/>
                </a:solidFill>
                <a:latin typeface="Montserrat Classic"/>
              </a:rPr>
              <a:t>EDWAL PORTILHO</a:t>
            </a:r>
          </a:p>
          <a:p>
            <a:pPr algn="r">
              <a:lnSpc>
                <a:spcPts val="2240"/>
              </a:lnSpc>
            </a:pPr>
            <a:r>
              <a:rPr lang="en-US" sz="1600" spc="176" dirty="0">
                <a:solidFill>
                  <a:srgbClr val="F8FBF8"/>
                </a:solidFill>
                <a:latin typeface="Montserrat Classic"/>
              </a:rPr>
              <a:t>TCHEQUINHO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rcRect l="12499" t="15730" r="12499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 rot="-2700000">
            <a:off x="-845073" y="881276"/>
            <a:ext cx="13308739" cy="8941639"/>
          </a:xfrm>
          <a:prstGeom prst="rect">
            <a:avLst/>
          </a:prstGeom>
          <a:solidFill>
            <a:srgbClr val="F8FBF8"/>
          </a:solidFill>
        </p:spPr>
        <p:txBody>
          <a:bodyPr/>
          <a:lstStyle/>
          <a:p>
            <a:r>
              <a:rPr lang="pt-BR" dirty="0"/>
              <a:t>{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0" y="382456"/>
            <a:ext cx="5013961" cy="1293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292"/>
              </a:lnSpc>
            </a:pPr>
            <a:r>
              <a:rPr lang="en-US" sz="4200" spc="37" dirty="0" err="1">
                <a:solidFill>
                  <a:srgbClr val="342D47"/>
                </a:solidFill>
                <a:latin typeface="Montserrat Classic Bold"/>
              </a:rPr>
              <a:t>Força</a:t>
            </a:r>
            <a:r>
              <a:rPr lang="en-US" sz="4200" spc="37" dirty="0">
                <a:solidFill>
                  <a:srgbClr val="342D47"/>
                </a:solidFill>
                <a:latin typeface="Montserrat Classic Bold"/>
              </a:rPr>
              <a:t> </a:t>
            </a:r>
            <a:r>
              <a:rPr lang="en-US" sz="4200" spc="37" dirty="0" err="1">
                <a:solidFill>
                  <a:srgbClr val="342D47"/>
                </a:solidFill>
                <a:latin typeface="Montserrat Classic Bold"/>
              </a:rPr>
              <a:t>Econômica</a:t>
            </a:r>
            <a:r>
              <a:rPr lang="en-US" sz="4200" spc="37" dirty="0">
                <a:solidFill>
                  <a:srgbClr val="342D47"/>
                </a:solidFill>
                <a:latin typeface="Montserrat Classic Bold"/>
              </a:rPr>
              <a:t> de </a:t>
            </a:r>
            <a:r>
              <a:rPr lang="en-US" sz="4200" spc="37" dirty="0" err="1">
                <a:solidFill>
                  <a:srgbClr val="342D47"/>
                </a:solidFill>
                <a:latin typeface="Montserrat Classic Bold"/>
              </a:rPr>
              <a:t>Goiás</a:t>
            </a:r>
            <a:endParaRPr lang="en-US" sz="4200" spc="37" dirty="0">
              <a:solidFill>
                <a:srgbClr val="342D47"/>
              </a:solidFill>
              <a:latin typeface="Montserrat Classic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648200" y="1905000"/>
            <a:ext cx="3860653" cy="1193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400" b="1" spc="16" dirty="0">
                <a:solidFill>
                  <a:srgbClr val="342D47"/>
                </a:solidFill>
                <a:latin typeface="Montserrat Light"/>
              </a:rPr>
              <a:t>9º PIB 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ESTADUAL BRASILEIRO, HOJE SUPERA </a:t>
            </a:r>
          </a:p>
          <a:p>
            <a:pPr algn="r">
              <a:lnSpc>
                <a:spcPts val="2400"/>
              </a:lnSpc>
            </a:pPr>
            <a:r>
              <a:rPr lang="en-US" sz="2400" b="1" spc="16" dirty="0">
                <a:solidFill>
                  <a:srgbClr val="342D47"/>
                </a:solidFill>
                <a:latin typeface="Montserrat Light"/>
              </a:rPr>
              <a:t>R$ 200 BILHÕES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 </a:t>
            </a:r>
          </a:p>
          <a:p>
            <a:pPr algn="r">
              <a:lnSpc>
                <a:spcPts val="2400"/>
              </a:lnSpc>
            </a:pPr>
            <a:endParaRPr lang="en-US" sz="1600" spc="16" dirty="0">
              <a:solidFill>
                <a:srgbClr val="342D47"/>
              </a:solidFill>
              <a:latin typeface="Montserrat Light"/>
            </a:endParaRPr>
          </a:p>
        </p:txBody>
      </p:sp>
      <p:sp>
        <p:nvSpPr>
          <p:cNvPr id="7" name="AutoShape 7"/>
          <p:cNvSpPr/>
          <p:nvPr/>
        </p:nvSpPr>
        <p:spPr>
          <a:xfrm rot="-2700000">
            <a:off x="643676" y="314636"/>
            <a:ext cx="8656320" cy="18001"/>
          </a:xfrm>
          <a:prstGeom prst="rect">
            <a:avLst/>
          </a:prstGeom>
          <a:solidFill>
            <a:srgbClr val="342D47">
              <a:alpha val="49804"/>
            </a:srgbClr>
          </a:solidFill>
        </p:spPr>
      </p:sp>
      <p:grpSp>
        <p:nvGrpSpPr>
          <p:cNvPr id="8" name="Group 8"/>
          <p:cNvGrpSpPr/>
          <p:nvPr/>
        </p:nvGrpSpPr>
        <p:grpSpPr>
          <a:xfrm rot="5400000">
            <a:off x="425013" y="419595"/>
            <a:ext cx="4276229" cy="4269387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FBF8">
                <a:alpha val="9804"/>
              </a:srgbClr>
            </a:solidFill>
          </p:spPr>
        </p:sp>
      </p:grpSp>
      <p:sp>
        <p:nvSpPr>
          <p:cNvPr id="10" name="AutoShape 10"/>
          <p:cNvSpPr/>
          <p:nvPr/>
        </p:nvSpPr>
        <p:spPr>
          <a:xfrm>
            <a:off x="3461145" y="7144799"/>
            <a:ext cx="8656320" cy="18001"/>
          </a:xfrm>
          <a:prstGeom prst="rect">
            <a:avLst/>
          </a:prstGeom>
          <a:solidFill>
            <a:srgbClr val="342D47">
              <a:alpha val="49804"/>
            </a:srgbClr>
          </a:solidFill>
        </p:spPr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7E50C7FA-9860-4F42-9908-D64B15EB92F8}"/>
              </a:ext>
            </a:extLst>
          </p:cNvPr>
          <p:cNvSpPr txBox="1"/>
          <p:nvPr/>
        </p:nvSpPr>
        <p:spPr>
          <a:xfrm>
            <a:off x="1828800" y="3111308"/>
            <a:ext cx="3327253" cy="3670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200" b="1" spc="16" dirty="0">
                <a:solidFill>
                  <a:srgbClr val="342D47"/>
                </a:solidFill>
                <a:latin typeface="+mj-lt"/>
              </a:rPr>
              <a:t>7º PARQUE INDUSTRIAL  </a:t>
            </a:r>
          </a:p>
          <a:p>
            <a:pPr algn="r">
              <a:lnSpc>
                <a:spcPts val="2400"/>
              </a:lnSpc>
            </a:pPr>
            <a:r>
              <a:rPr lang="en-US" sz="1600" spc="16" dirty="0">
                <a:solidFill>
                  <a:srgbClr val="342D47"/>
                </a:solidFill>
                <a:latin typeface="+mj-lt"/>
              </a:rPr>
              <a:t>DO BRASIL – MONTADO EM MENOS </a:t>
            </a:r>
          </a:p>
          <a:p>
            <a:pPr algn="r">
              <a:lnSpc>
                <a:spcPts val="2400"/>
              </a:lnSpc>
            </a:pPr>
            <a:r>
              <a:rPr lang="en-US" sz="1600" spc="16" dirty="0">
                <a:solidFill>
                  <a:srgbClr val="342D47"/>
                </a:solidFill>
                <a:latin typeface="+mj-lt"/>
              </a:rPr>
              <a:t>DE QUATRO DÉCADAS </a:t>
            </a:r>
          </a:p>
          <a:p>
            <a:pPr algn="r">
              <a:lnSpc>
                <a:spcPts val="2400"/>
              </a:lnSpc>
            </a:pPr>
            <a:endParaRPr lang="en-US" sz="1000" spc="16" dirty="0">
              <a:solidFill>
                <a:srgbClr val="342D47"/>
              </a:solidFill>
              <a:latin typeface="+mj-lt"/>
            </a:endParaRPr>
          </a:p>
          <a:p>
            <a:pPr algn="r">
              <a:lnSpc>
                <a:spcPts val="2400"/>
              </a:lnSpc>
            </a:pPr>
            <a:r>
              <a:rPr lang="en-US" sz="2000" b="1" spc="16" dirty="0">
                <a:solidFill>
                  <a:srgbClr val="342D47"/>
                </a:solidFill>
                <a:latin typeface="+mj-lt"/>
              </a:rPr>
              <a:t>DIVERSIFICADO</a:t>
            </a:r>
            <a:r>
              <a:rPr lang="en-US" sz="2000" spc="16" dirty="0">
                <a:solidFill>
                  <a:srgbClr val="342D47"/>
                </a:solidFill>
                <a:latin typeface="+mj-lt"/>
              </a:rPr>
              <a:t> </a:t>
            </a:r>
          </a:p>
          <a:p>
            <a:pPr algn="r">
              <a:lnSpc>
                <a:spcPts val="2400"/>
              </a:lnSpc>
            </a:pPr>
            <a:r>
              <a:rPr lang="en-US" sz="1600" spc="16" dirty="0">
                <a:solidFill>
                  <a:srgbClr val="342D47"/>
                </a:solidFill>
                <a:latin typeface="+mj-lt"/>
              </a:rPr>
              <a:t>10 SETORES ESTRATÉGICOS</a:t>
            </a:r>
          </a:p>
          <a:p>
            <a:pPr marL="285750" indent="-285750" algn="r">
              <a:buFontTx/>
              <a:buChar char="-"/>
            </a:pPr>
            <a:endParaRPr lang="en-US" sz="1600" spc="16" dirty="0">
              <a:solidFill>
                <a:srgbClr val="342D47"/>
              </a:solidFill>
              <a:latin typeface="+mj-lt"/>
            </a:endParaRPr>
          </a:p>
          <a:p>
            <a:pPr algn="r">
              <a:lnSpc>
                <a:spcPts val="2400"/>
              </a:lnSpc>
            </a:pPr>
            <a:r>
              <a:rPr lang="en-US" sz="2000" spc="16" dirty="0">
                <a:solidFill>
                  <a:srgbClr val="342D47"/>
                </a:solidFill>
                <a:latin typeface="+mj-lt"/>
              </a:rPr>
              <a:t>DISTRIBUÍDO </a:t>
            </a:r>
          </a:p>
          <a:p>
            <a:pPr algn="r">
              <a:lnSpc>
                <a:spcPts val="2400"/>
              </a:lnSpc>
            </a:pPr>
            <a:r>
              <a:rPr lang="en-US" sz="1600" b="1" spc="16" dirty="0">
                <a:solidFill>
                  <a:srgbClr val="342D47"/>
                </a:solidFill>
                <a:latin typeface="+mj-lt"/>
              </a:rPr>
              <a:t>200 CIDADES</a:t>
            </a:r>
          </a:p>
          <a:p>
            <a:pPr algn="r">
              <a:lnSpc>
                <a:spcPts val="2400"/>
              </a:lnSpc>
            </a:pPr>
            <a:endParaRPr lang="en-US" sz="1600" b="1" spc="16" dirty="0">
              <a:solidFill>
                <a:srgbClr val="342D47"/>
              </a:solidFill>
              <a:latin typeface="+mj-lt"/>
            </a:endParaRPr>
          </a:p>
          <a:p>
            <a:pPr algn="r">
              <a:lnSpc>
                <a:spcPts val="2400"/>
              </a:lnSpc>
            </a:pPr>
            <a:r>
              <a:rPr lang="en-US" sz="2000" spc="16" dirty="0">
                <a:solidFill>
                  <a:srgbClr val="342D47"/>
                </a:solidFill>
                <a:latin typeface="+mj-lt"/>
              </a:rPr>
              <a:t>RENDA </a:t>
            </a:r>
          </a:p>
          <a:p>
            <a:pPr algn="r">
              <a:lnSpc>
                <a:spcPts val="2400"/>
              </a:lnSpc>
            </a:pPr>
            <a:r>
              <a:rPr lang="en-US" sz="1600" b="1" spc="16" dirty="0">
                <a:solidFill>
                  <a:srgbClr val="342D47"/>
                </a:solidFill>
                <a:latin typeface="+mj-lt"/>
              </a:rPr>
              <a:t>1,5 MILHÃO DE GOIANOS</a:t>
            </a:r>
            <a:endParaRPr lang="en-US" sz="1600" spc="16" dirty="0">
              <a:solidFill>
                <a:srgbClr val="342D47"/>
              </a:solidFill>
              <a:latin typeface="+mj-lt"/>
            </a:endParaRP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04B9B38B-7D0D-4523-A6A4-DE202D5DF096}"/>
              </a:ext>
            </a:extLst>
          </p:cNvPr>
          <p:cNvSpPr txBox="1"/>
          <p:nvPr/>
        </p:nvSpPr>
        <p:spPr>
          <a:xfrm>
            <a:off x="5867400" y="3266685"/>
            <a:ext cx="3452139" cy="3362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200" b="1" spc="16" dirty="0">
                <a:solidFill>
                  <a:srgbClr val="342D47"/>
                </a:solidFill>
                <a:latin typeface="+mj-lt"/>
              </a:rPr>
              <a:t>RIO VERDE E JATAÍ </a:t>
            </a:r>
            <a:r>
              <a:rPr lang="en-US" sz="1600" spc="16" dirty="0">
                <a:solidFill>
                  <a:srgbClr val="342D47"/>
                </a:solidFill>
                <a:latin typeface="+mj-lt"/>
              </a:rPr>
              <a:t> </a:t>
            </a:r>
          </a:p>
          <a:p>
            <a:pPr algn="r">
              <a:lnSpc>
                <a:spcPts val="2400"/>
              </a:lnSpc>
            </a:pPr>
            <a:r>
              <a:rPr lang="en-US" sz="1600" spc="16" dirty="0">
                <a:solidFill>
                  <a:srgbClr val="342D47"/>
                </a:solidFill>
                <a:latin typeface="+mj-lt"/>
              </a:rPr>
              <a:t>FICARAM EM 2ª E 4ª CIDADES COM MAIOR DESEMPENHO ECONÔMICO DE GOIÁS, SEGUNDO IMB. RIO VERDE RECUPEROU A VICE-LIDERANÇA.</a:t>
            </a:r>
          </a:p>
          <a:p>
            <a:pPr algn="r">
              <a:lnSpc>
                <a:spcPts val="2400"/>
              </a:lnSpc>
            </a:pPr>
            <a:endParaRPr lang="en-US" sz="2000" b="1" spc="16" dirty="0">
              <a:solidFill>
                <a:srgbClr val="342D47"/>
              </a:solidFill>
              <a:latin typeface="+mj-lt"/>
            </a:endParaRPr>
          </a:p>
          <a:p>
            <a:pPr algn="r">
              <a:lnSpc>
                <a:spcPts val="2400"/>
              </a:lnSpc>
            </a:pPr>
            <a:r>
              <a:rPr lang="en-US" sz="2000" b="1" spc="16" dirty="0">
                <a:solidFill>
                  <a:srgbClr val="342D47"/>
                </a:solidFill>
                <a:latin typeface="+mj-lt"/>
              </a:rPr>
              <a:t>SANTA HELENA E MINEIROS</a:t>
            </a:r>
            <a:r>
              <a:rPr lang="en-US" sz="2000" spc="16" dirty="0">
                <a:solidFill>
                  <a:srgbClr val="342D47"/>
                </a:solidFill>
                <a:latin typeface="+mj-lt"/>
              </a:rPr>
              <a:t> </a:t>
            </a:r>
          </a:p>
          <a:p>
            <a:pPr algn="r">
              <a:lnSpc>
                <a:spcPts val="2400"/>
              </a:lnSpc>
            </a:pPr>
            <a:r>
              <a:rPr lang="en-US" sz="1600" spc="16" dirty="0">
                <a:solidFill>
                  <a:srgbClr val="342D47"/>
                </a:solidFill>
                <a:latin typeface="+mj-lt"/>
              </a:rPr>
              <a:t>DESTAQUE EMERGENTES DO ESTADO </a:t>
            </a:r>
          </a:p>
          <a:p>
            <a:pPr algn="r">
              <a:lnSpc>
                <a:spcPts val="2400"/>
              </a:lnSpc>
            </a:pPr>
            <a:r>
              <a:rPr lang="en-US" sz="1600" spc="16" dirty="0">
                <a:solidFill>
                  <a:srgbClr val="342D47"/>
                </a:solidFill>
                <a:latin typeface="+mj-lt"/>
              </a:rPr>
              <a:t>E NA REGIÃO E PODEM ALCANÇAR O TOP 10 DO ESTADO COM O AVANÇO DO CLUSTER LOGÍSTICO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>
            <a:extLst>
              <a:ext uri="{FF2B5EF4-FFF2-40B4-BE49-F238E27FC236}">
                <a16:creationId xmlns:a16="http://schemas.microsoft.com/office/drawing/2014/main" id="{8C1B1ABB-A306-4A28-B36D-E31CA24D1DF0}"/>
              </a:ext>
            </a:extLst>
          </p:cNvPr>
          <p:cNvSpPr/>
          <p:nvPr/>
        </p:nvSpPr>
        <p:spPr>
          <a:xfrm rot="1073336">
            <a:off x="-1254664" y="888345"/>
            <a:ext cx="11982909" cy="6739736"/>
          </a:xfrm>
          <a:prstGeom prst="rect">
            <a:avLst/>
          </a:prstGeom>
          <a:solidFill>
            <a:srgbClr val="342D47"/>
          </a:solidFill>
        </p:spPr>
        <p:txBody>
          <a:bodyPr/>
          <a:lstStyle/>
          <a:p>
            <a:r>
              <a:rPr lang="pt-BR" dirty="0"/>
              <a:t>/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42D77C-4729-4D0A-9CE9-55E1B5BBF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804111"/>
            <a:ext cx="7467600" cy="5511089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4038C93E-B4B3-44FC-9E77-E1ECE7DF3961}"/>
              </a:ext>
            </a:extLst>
          </p:cNvPr>
          <p:cNvSpPr/>
          <p:nvPr/>
        </p:nvSpPr>
        <p:spPr>
          <a:xfrm rot="11846407" flipV="1">
            <a:off x="3700561" y="1442940"/>
            <a:ext cx="5059513" cy="45719"/>
          </a:xfrm>
          <a:prstGeom prst="rect">
            <a:avLst/>
          </a:prstGeom>
          <a:solidFill>
            <a:srgbClr val="F8FBF8"/>
          </a:solidFill>
        </p:spPr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098B5D29-2EF6-462A-9799-784DAF705B7F}"/>
              </a:ext>
            </a:extLst>
          </p:cNvPr>
          <p:cNvSpPr/>
          <p:nvPr/>
        </p:nvSpPr>
        <p:spPr>
          <a:xfrm rot="11846407" flipV="1">
            <a:off x="1643161" y="7462740"/>
            <a:ext cx="5059513" cy="45719"/>
          </a:xfrm>
          <a:prstGeom prst="rect">
            <a:avLst/>
          </a:prstGeom>
          <a:solidFill>
            <a:srgbClr val="F8FBF8"/>
          </a:solidFill>
        </p:spPr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829C7163-7B03-49FA-9E38-81BD8FF34363}"/>
              </a:ext>
            </a:extLst>
          </p:cNvPr>
          <p:cNvSpPr txBox="1"/>
          <p:nvPr/>
        </p:nvSpPr>
        <p:spPr>
          <a:xfrm>
            <a:off x="6019800" y="381000"/>
            <a:ext cx="329468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200" kern="100" spc="37" dirty="0" err="1">
                <a:solidFill>
                  <a:srgbClr val="342D47"/>
                </a:solidFill>
                <a:latin typeface="Montserrat Classic Bold"/>
              </a:rPr>
              <a:t>Goiás</a:t>
            </a:r>
            <a:r>
              <a:rPr lang="en-US" sz="2200" kern="100" spc="37" dirty="0">
                <a:solidFill>
                  <a:srgbClr val="342D47"/>
                </a:solidFill>
                <a:latin typeface="Montserrat Classic Bold"/>
              </a:rPr>
              <a:t>: </a:t>
            </a:r>
            <a:r>
              <a:rPr lang="en-US" sz="2200" kern="100" spc="37" dirty="0" err="1">
                <a:solidFill>
                  <a:srgbClr val="342D47"/>
                </a:solidFill>
                <a:latin typeface="Montserrat Classic Bold"/>
              </a:rPr>
              <a:t>vários</a:t>
            </a:r>
            <a:r>
              <a:rPr lang="en-US" sz="2200" kern="100" spc="37" dirty="0">
                <a:solidFill>
                  <a:srgbClr val="342D47"/>
                </a:solidFill>
                <a:latin typeface="Montserrat Classic Bold"/>
              </a:rPr>
              <a:t> </a:t>
            </a:r>
            <a:r>
              <a:rPr lang="en-US" sz="2200" kern="100" spc="37" dirty="0" err="1">
                <a:solidFill>
                  <a:srgbClr val="342D47"/>
                </a:solidFill>
                <a:latin typeface="Montserrat Classic Bold"/>
              </a:rPr>
              <a:t>modais</a:t>
            </a:r>
            <a:r>
              <a:rPr lang="en-US" sz="2200" kern="100" spc="37" dirty="0">
                <a:solidFill>
                  <a:srgbClr val="342D47"/>
                </a:solidFill>
                <a:latin typeface="Montserrat Classic Bold"/>
              </a:rPr>
              <a:t> e </a:t>
            </a:r>
            <a:r>
              <a:rPr lang="en-US" sz="2200" kern="100" spc="37" dirty="0" err="1">
                <a:solidFill>
                  <a:srgbClr val="342D47"/>
                </a:solidFill>
                <a:latin typeface="Montserrat Classic Bold"/>
              </a:rPr>
              <a:t>plataformas</a:t>
            </a:r>
            <a:r>
              <a:rPr lang="en-US" sz="2200" kern="100" spc="37" dirty="0">
                <a:solidFill>
                  <a:srgbClr val="342D47"/>
                </a:solidFill>
                <a:latin typeface="Montserrat Classic Bold"/>
              </a:rPr>
              <a:t> </a:t>
            </a:r>
            <a:r>
              <a:rPr lang="en-US" sz="2200" kern="100" spc="37" dirty="0" err="1">
                <a:solidFill>
                  <a:srgbClr val="342D47"/>
                </a:solidFill>
                <a:latin typeface="Montserrat Classic Bold"/>
              </a:rPr>
              <a:t>logísticas</a:t>
            </a:r>
            <a:endParaRPr lang="en-US" sz="2200" spc="37" dirty="0">
              <a:solidFill>
                <a:srgbClr val="342D47"/>
              </a:solidFill>
              <a:latin typeface="Montserrat Classic Bold"/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52809086-837F-45EA-9550-825E31A7F746}"/>
              </a:ext>
            </a:extLst>
          </p:cNvPr>
          <p:cNvSpPr txBox="1"/>
          <p:nvPr/>
        </p:nvSpPr>
        <p:spPr>
          <a:xfrm>
            <a:off x="0" y="1752600"/>
            <a:ext cx="2220777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Estado é o </a:t>
            </a:r>
            <a:r>
              <a:rPr lang="en-US" b="1" kern="100" spc="37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centro</a:t>
            </a:r>
            <a:r>
              <a:rPr lang="en-US" b="1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ts val="2400"/>
              </a:lnSpc>
            </a:pPr>
            <a:r>
              <a:rPr lang="en-US" b="1" kern="100" spc="37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logístico</a:t>
            </a:r>
            <a:r>
              <a:rPr lang="en-US" b="1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PIB do AGRONEGÓCIO</a:t>
            </a:r>
            <a:r>
              <a:rPr lang="en-US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ts val="2400"/>
              </a:lnSpc>
            </a:pPr>
            <a:r>
              <a:rPr lang="en-US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País, </a:t>
            </a:r>
            <a:r>
              <a:rPr lang="en-US" kern="100" spc="37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lang="en-US" kern="100" spc="37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raio</a:t>
            </a:r>
            <a:r>
              <a:rPr lang="en-US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1,5 mil KM</a:t>
            </a:r>
            <a:r>
              <a:rPr lang="en-US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ctr">
              <a:lnSpc>
                <a:spcPts val="2400"/>
              </a:lnSpc>
            </a:pPr>
            <a:endParaRPr lang="en-US" kern="100" spc="37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400"/>
              </a:lnSpc>
            </a:pPr>
            <a:r>
              <a:rPr lang="en-US" b="1" kern="100" spc="37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Ferrovias</a:t>
            </a:r>
            <a:endParaRPr lang="en-US" b="1" kern="100" spc="37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400"/>
              </a:lnSpc>
            </a:pPr>
            <a:r>
              <a:rPr lang="en-US" b="1" kern="100" spc="37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Rodovias</a:t>
            </a:r>
            <a:endParaRPr lang="en-US" b="1" kern="100" spc="37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400"/>
              </a:lnSpc>
            </a:pPr>
            <a:r>
              <a:rPr lang="en-US" b="1" kern="100" spc="37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Hidrovias</a:t>
            </a:r>
            <a:endParaRPr lang="en-US" b="1" kern="100" spc="37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400"/>
              </a:lnSpc>
            </a:pPr>
            <a:r>
              <a:rPr lang="en-US" b="1" kern="100" spc="37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Aeroportos</a:t>
            </a:r>
            <a:endParaRPr lang="en-US" b="1" kern="100" spc="37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400"/>
              </a:lnSpc>
            </a:pPr>
            <a:r>
              <a:rPr lang="en-US" b="1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US" b="1" kern="100" spc="37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portos</a:t>
            </a:r>
            <a:r>
              <a:rPr lang="en-US" b="1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ts val="2400"/>
              </a:lnSpc>
            </a:pPr>
            <a:endParaRPr lang="en-US" kern="100" spc="37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400"/>
              </a:lnSpc>
            </a:pPr>
            <a:r>
              <a:rPr lang="en-US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b="1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Sudoeste</a:t>
            </a:r>
            <a:r>
              <a:rPr lang="en-US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a capital </a:t>
            </a:r>
            <a:r>
              <a:rPr lang="en-US" kern="100" spc="37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goiana</a:t>
            </a:r>
            <a:r>
              <a:rPr lang="en-US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kern="100" spc="37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Agro</a:t>
            </a:r>
            <a:r>
              <a:rPr lang="en-US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ts val="2400"/>
              </a:lnSpc>
            </a:pPr>
            <a:endParaRPr lang="en-US" kern="100" spc="37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400"/>
              </a:lnSpc>
            </a:pPr>
            <a:endParaRPr lang="en-US" sz="2200" kern="100" spc="37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400"/>
              </a:lnSpc>
            </a:pPr>
            <a:endParaRPr lang="en-US" sz="2200" spc="37" dirty="0">
              <a:solidFill>
                <a:schemeClr val="bg1"/>
              </a:solidFill>
              <a:latin typeface="Montserrat Classic Bold"/>
            </a:endParaRPr>
          </a:p>
        </p:txBody>
      </p:sp>
    </p:spTree>
    <p:extLst>
      <p:ext uri="{BB962C8B-B14F-4D97-AF65-F5344CB8AC3E}">
        <p14:creationId xmlns:p14="http://schemas.microsoft.com/office/powerpoint/2010/main" val="359098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2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8562" y="561703"/>
            <a:ext cx="7482438" cy="1011116"/>
            <a:chOff x="0" y="0"/>
            <a:chExt cx="4646725" cy="1348155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-535" y="535"/>
              <a:ext cx="669090" cy="668019"/>
              <a:chOff x="0" y="0"/>
              <a:chExt cx="6350000" cy="633984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3984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39840">
                    <a:moveTo>
                      <a:pt x="6350000" y="6339840"/>
                    </a:moveTo>
                    <a:lnTo>
                      <a:pt x="0" y="63398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8FBF8"/>
              </a:solidFill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668019" y="529127"/>
              <a:ext cx="3978706" cy="8190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292"/>
                </a:lnSpc>
              </a:pPr>
              <a:endParaRPr lang="en-US" sz="4200" spc="37" dirty="0">
                <a:solidFill>
                  <a:srgbClr val="F8FBF8"/>
                </a:solidFill>
                <a:latin typeface="Montserrat Classic Bold"/>
              </a:endParaRPr>
            </a:p>
          </p:txBody>
        </p:sp>
      </p:grpSp>
      <p:sp>
        <p:nvSpPr>
          <p:cNvPr id="15" name="TextBox 6"/>
          <p:cNvSpPr txBox="1"/>
          <p:nvPr/>
        </p:nvSpPr>
        <p:spPr>
          <a:xfrm>
            <a:off x="914400" y="1460365"/>
            <a:ext cx="83058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pt-BR" sz="3200" b="1" spc="16" dirty="0" smtClean="0">
                <a:solidFill>
                  <a:schemeClr val="bg1"/>
                </a:solidFill>
                <a:latin typeface="+mj-lt"/>
              </a:rPr>
              <a:t>RIO VERDE</a:t>
            </a:r>
            <a:endParaRPr lang="pt-BR" sz="3200" b="1" spc="16" dirty="0">
              <a:solidFill>
                <a:schemeClr val="bg1"/>
              </a:solidFill>
              <a:latin typeface="Montserrat Light"/>
            </a:endParaRPr>
          </a:p>
          <a:p>
            <a:pPr>
              <a:lnSpc>
                <a:spcPts val="2400"/>
              </a:lnSpc>
            </a:pPr>
            <a:endParaRPr lang="pt-BR" sz="1600" b="1" spc="16" dirty="0">
              <a:solidFill>
                <a:schemeClr val="bg1"/>
              </a:solidFill>
              <a:latin typeface="Montserrat Light"/>
            </a:endParaRPr>
          </a:p>
          <a:p>
            <a:pPr>
              <a:lnSpc>
                <a:spcPts val="2400"/>
              </a:lnSpc>
            </a:pPr>
            <a:endParaRPr lang="pt-BR" sz="1600" b="1" spc="16" dirty="0">
              <a:solidFill>
                <a:schemeClr val="bg1"/>
              </a:solidFill>
              <a:latin typeface="Montserrat Light"/>
            </a:endParaRPr>
          </a:p>
          <a:p>
            <a:pPr>
              <a:lnSpc>
                <a:spcPts val="2400"/>
              </a:lnSpc>
            </a:pPr>
            <a:endParaRPr lang="pt-BR" sz="1600" b="1" spc="16" dirty="0">
              <a:solidFill>
                <a:schemeClr val="bg1"/>
              </a:solidFill>
              <a:latin typeface="Montserrat Light"/>
            </a:endParaRPr>
          </a:p>
        </p:txBody>
      </p:sp>
      <p:pic>
        <p:nvPicPr>
          <p:cNvPr id="9" name="Imagem 8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917450"/>
            <a:ext cx="8229600" cy="494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30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2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8562" y="561703"/>
            <a:ext cx="7482438" cy="1011116"/>
            <a:chOff x="0" y="0"/>
            <a:chExt cx="4646725" cy="1348155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-535" y="535"/>
              <a:ext cx="669090" cy="668019"/>
              <a:chOff x="0" y="0"/>
              <a:chExt cx="6350000" cy="633984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3984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39840">
                    <a:moveTo>
                      <a:pt x="6350000" y="6339840"/>
                    </a:moveTo>
                    <a:lnTo>
                      <a:pt x="0" y="63398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8FBF8"/>
              </a:solidFill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668019" y="529127"/>
              <a:ext cx="3978706" cy="8190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292"/>
                </a:lnSpc>
              </a:pPr>
              <a:endParaRPr lang="en-US" sz="4200" spc="37" dirty="0">
                <a:solidFill>
                  <a:srgbClr val="F8FBF8"/>
                </a:solidFill>
                <a:latin typeface="Montserrat Classic Bold"/>
              </a:endParaRPr>
            </a:p>
          </p:txBody>
        </p:sp>
      </p:grpSp>
      <p:sp>
        <p:nvSpPr>
          <p:cNvPr id="15" name="TextBox 6"/>
          <p:cNvSpPr txBox="1"/>
          <p:nvPr/>
        </p:nvSpPr>
        <p:spPr>
          <a:xfrm>
            <a:off x="914400" y="1460365"/>
            <a:ext cx="83058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pt-BR" sz="3200" b="1" spc="16" dirty="0" smtClean="0">
                <a:solidFill>
                  <a:schemeClr val="bg1"/>
                </a:solidFill>
                <a:latin typeface="+mj-lt"/>
              </a:rPr>
              <a:t>QUIRINÓPOLIS</a:t>
            </a:r>
            <a:endParaRPr lang="pt-BR" sz="3200" b="1" spc="16" dirty="0">
              <a:solidFill>
                <a:schemeClr val="bg1"/>
              </a:solidFill>
              <a:latin typeface="Montserrat Light"/>
            </a:endParaRPr>
          </a:p>
          <a:p>
            <a:pPr>
              <a:lnSpc>
                <a:spcPts val="2400"/>
              </a:lnSpc>
            </a:pPr>
            <a:endParaRPr lang="pt-BR" sz="1600" b="1" spc="16" dirty="0">
              <a:solidFill>
                <a:schemeClr val="bg1"/>
              </a:solidFill>
              <a:latin typeface="Montserrat Light"/>
            </a:endParaRPr>
          </a:p>
          <a:p>
            <a:pPr>
              <a:lnSpc>
                <a:spcPts val="2400"/>
              </a:lnSpc>
            </a:pPr>
            <a:endParaRPr lang="pt-BR" sz="1600" b="1" spc="16" dirty="0">
              <a:solidFill>
                <a:schemeClr val="bg1"/>
              </a:solidFill>
              <a:latin typeface="Montserrat Light"/>
            </a:endParaRPr>
          </a:p>
          <a:p>
            <a:pPr>
              <a:lnSpc>
                <a:spcPts val="2400"/>
              </a:lnSpc>
            </a:pPr>
            <a:endParaRPr lang="pt-BR" sz="1600" b="1" spc="16" dirty="0">
              <a:solidFill>
                <a:schemeClr val="bg1"/>
              </a:solidFill>
              <a:latin typeface="Montserrat Light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67" y="2074636"/>
            <a:ext cx="8141955" cy="3411764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681" y="5486400"/>
            <a:ext cx="5895884" cy="35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2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2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8562" y="561703"/>
            <a:ext cx="7482438" cy="1011116"/>
            <a:chOff x="0" y="0"/>
            <a:chExt cx="4646725" cy="1348155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-535" y="535"/>
              <a:ext cx="669090" cy="668019"/>
              <a:chOff x="0" y="0"/>
              <a:chExt cx="6350000" cy="633984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3984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39840">
                    <a:moveTo>
                      <a:pt x="6350000" y="6339840"/>
                    </a:moveTo>
                    <a:lnTo>
                      <a:pt x="0" y="63398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8FBF8"/>
              </a:solidFill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668019" y="529127"/>
              <a:ext cx="3978706" cy="8190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292"/>
                </a:lnSpc>
              </a:pPr>
              <a:r>
                <a:rPr lang="en-US" sz="4200" spc="37" dirty="0">
                  <a:solidFill>
                    <a:srgbClr val="F8FBF8"/>
                  </a:solidFill>
                  <a:latin typeface="Montserrat Classic Bold"/>
                </a:rPr>
                <a:t>Agricluster Sudoeste</a:t>
              </a:r>
            </a:p>
          </p:txBody>
        </p:sp>
      </p:grpSp>
      <p:sp>
        <p:nvSpPr>
          <p:cNvPr id="15" name="TextBox 6"/>
          <p:cNvSpPr txBox="1"/>
          <p:nvPr/>
        </p:nvSpPr>
        <p:spPr>
          <a:xfrm>
            <a:off x="6400800" y="4916795"/>
            <a:ext cx="3581400" cy="585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endParaRPr lang="pt-BR" sz="1100" spc="16" dirty="0" smtClean="0">
              <a:solidFill>
                <a:schemeClr val="bg1"/>
              </a:solidFill>
              <a:latin typeface="+mj-lt"/>
            </a:endParaRPr>
          </a:p>
          <a:p>
            <a:pPr>
              <a:lnSpc>
                <a:spcPts val="2400"/>
              </a:lnSpc>
            </a:pPr>
            <a:r>
              <a:rPr lang="pt-BR" sz="1400" spc="16" dirty="0" smtClean="0">
                <a:solidFill>
                  <a:schemeClr val="bg1"/>
                </a:solidFill>
                <a:latin typeface="+mj-lt"/>
              </a:rPr>
              <a:t>Fonte</a:t>
            </a:r>
            <a:r>
              <a:rPr lang="pt-BR" sz="1400" spc="16" dirty="0">
                <a:solidFill>
                  <a:schemeClr val="bg1"/>
                </a:solidFill>
                <a:latin typeface="+mj-lt"/>
              </a:rPr>
              <a:t>: RAIS – Ministério do Trabalho e </a:t>
            </a:r>
            <a:r>
              <a:rPr lang="pt-BR" sz="1400" spc="16" dirty="0" smtClean="0">
                <a:solidFill>
                  <a:schemeClr val="bg1"/>
                </a:solidFill>
                <a:latin typeface="+mj-lt"/>
              </a:rPr>
              <a:t>IBGE</a:t>
            </a:r>
            <a:endParaRPr lang="pt-BR" sz="1400" spc="16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BA7A3999-A61B-4912-83CC-92BCF09C83F8}"/>
              </a:ext>
            </a:extLst>
          </p:cNvPr>
          <p:cNvSpPr/>
          <p:nvPr/>
        </p:nvSpPr>
        <p:spPr>
          <a:xfrm>
            <a:off x="1219200" y="5849399"/>
            <a:ext cx="8656320" cy="18001"/>
          </a:xfrm>
          <a:prstGeom prst="rect">
            <a:avLst/>
          </a:prstGeom>
          <a:solidFill>
            <a:schemeClr val="bg1"/>
          </a:solidFill>
        </p:spPr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204909"/>
              </p:ext>
            </p:extLst>
          </p:nvPr>
        </p:nvGraphicFramePr>
        <p:xfrm>
          <a:off x="228600" y="1825162"/>
          <a:ext cx="9372600" cy="3390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3098">
                  <a:extLst>
                    <a:ext uri="{9D8B030D-6E8A-4147-A177-3AD203B41FA5}">
                      <a16:colId xmlns:a16="http://schemas.microsoft.com/office/drawing/2014/main" val="1485139524"/>
                    </a:ext>
                  </a:extLst>
                </a:gridCol>
                <a:gridCol w="2419834">
                  <a:extLst>
                    <a:ext uri="{9D8B030D-6E8A-4147-A177-3AD203B41FA5}">
                      <a16:colId xmlns:a16="http://schemas.microsoft.com/office/drawing/2014/main" val="3755218004"/>
                    </a:ext>
                  </a:extLst>
                </a:gridCol>
                <a:gridCol w="2419834">
                  <a:extLst>
                    <a:ext uri="{9D8B030D-6E8A-4147-A177-3AD203B41FA5}">
                      <a16:colId xmlns:a16="http://schemas.microsoft.com/office/drawing/2014/main" val="3530789621"/>
                    </a:ext>
                  </a:extLst>
                </a:gridCol>
                <a:gridCol w="2419834">
                  <a:extLst>
                    <a:ext uri="{9D8B030D-6E8A-4147-A177-3AD203B41FA5}">
                      <a16:colId xmlns:a16="http://schemas.microsoft.com/office/drawing/2014/main" val="2156086440"/>
                    </a:ext>
                  </a:extLst>
                </a:gridCol>
              </a:tblGrid>
              <a:tr h="521197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Massa salarial por município</a:t>
                      </a:r>
                      <a:endParaRPr lang="pt-BR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844527"/>
                  </a:ext>
                </a:extLst>
              </a:tr>
              <a:tr h="547256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 </a:t>
                      </a:r>
                      <a:endParaRPr lang="pt-BR" sz="2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2000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2006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2019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886501"/>
                  </a:ext>
                </a:extLst>
              </a:tr>
              <a:tr h="679915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Rio Verde</a:t>
                      </a:r>
                      <a:endParaRPr lang="pt-BR" sz="2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R$ 1.001.598.538,00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R$ 1.609.420.098,06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R$ 6.016.257.228,80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280668"/>
                  </a:ext>
                </a:extLst>
              </a:tr>
              <a:tr h="547256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População (</a:t>
                      </a:r>
                      <a:r>
                        <a:rPr lang="pt-BR" sz="2400" b="1" u="none" strike="noStrik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Hab</a:t>
                      </a:r>
                      <a:r>
                        <a:rPr lang="pt-BR" sz="2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pt-BR" sz="2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119.549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133.231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235.647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046871"/>
                  </a:ext>
                </a:extLst>
              </a:tr>
              <a:tr h="547256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Quirinópolis</a:t>
                      </a:r>
                      <a:endParaRPr lang="pt-BR" sz="2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R$ 27.649.468,32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R$ 49.658.882,00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R$ 397.984.707,60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360992"/>
                  </a:ext>
                </a:extLst>
              </a:tr>
              <a:tr h="547256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População (</a:t>
                      </a:r>
                      <a:r>
                        <a:rPr lang="pt-BR" sz="2400" b="1" u="none" strike="noStrik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Hab</a:t>
                      </a:r>
                      <a:r>
                        <a:rPr lang="pt-BR" sz="2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pt-BR" sz="2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36.764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37.913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50.065</a:t>
                      </a:r>
                      <a:endParaRPr lang="pt-BR" sz="20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80458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>
            <a:extLst>
              <a:ext uri="{FF2B5EF4-FFF2-40B4-BE49-F238E27FC236}">
                <a16:creationId xmlns:a16="http://schemas.microsoft.com/office/drawing/2014/main" id="{8C1B1ABB-A306-4A28-B36D-E31CA24D1DF0}"/>
              </a:ext>
            </a:extLst>
          </p:cNvPr>
          <p:cNvSpPr/>
          <p:nvPr/>
        </p:nvSpPr>
        <p:spPr>
          <a:xfrm rot="1073336">
            <a:off x="-1254664" y="888345"/>
            <a:ext cx="11982909" cy="6739736"/>
          </a:xfrm>
          <a:prstGeom prst="rect">
            <a:avLst/>
          </a:prstGeom>
          <a:solidFill>
            <a:srgbClr val="342D47"/>
          </a:solidFill>
        </p:spPr>
        <p:txBody>
          <a:bodyPr/>
          <a:lstStyle/>
          <a:p>
            <a:r>
              <a:rPr lang="pt-BR" dirty="0"/>
              <a:t>/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038C93E-B4B3-44FC-9E77-E1ECE7DF3961}"/>
              </a:ext>
            </a:extLst>
          </p:cNvPr>
          <p:cNvSpPr/>
          <p:nvPr/>
        </p:nvSpPr>
        <p:spPr>
          <a:xfrm rot="11846407" flipV="1">
            <a:off x="3700561" y="1442940"/>
            <a:ext cx="5059513" cy="45719"/>
          </a:xfrm>
          <a:prstGeom prst="rect">
            <a:avLst/>
          </a:prstGeom>
          <a:solidFill>
            <a:srgbClr val="F8FBF8"/>
          </a:solidFill>
        </p:spPr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098B5D29-2EF6-462A-9799-784DAF705B7F}"/>
              </a:ext>
            </a:extLst>
          </p:cNvPr>
          <p:cNvSpPr/>
          <p:nvPr/>
        </p:nvSpPr>
        <p:spPr>
          <a:xfrm rot="11846407" flipV="1">
            <a:off x="1643161" y="7462740"/>
            <a:ext cx="5059513" cy="45719"/>
          </a:xfrm>
          <a:prstGeom prst="rect">
            <a:avLst/>
          </a:prstGeom>
          <a:solidFill>
            <a:srgbClr val="F8FBF8"/>
          </a:solidFill>
        </p:spPr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829C7163-7B03-49FA-9E38-81BD8FF34363}"/>
              </a:ext>
            </a:extLst>
          </p:cNvPr>
          <p:cNvSpPr txBox="1"/>
          <p:nvPr/>
        </p:nvSpPr>
        <p:spPr>
          <a:xfrm>
            <a:off x="6019799" y="381000"/>
            <a:ext cx="351099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3200" kern="100" spc="37" dirty="0" smtClean="0">
                <a:solidFill>
                  <a:srgbClr val="342D47"/>
                </a:solidFill>
                <a:latin typeface="Montserrat Classic Bold"/>
              </a:rPr>
              <a:t>CLUSTERS</a:t>
            </a:r>
          </a:p>
          <a:p>
            <a:pPr>
              <a:lnSpc>
                <a:spcPts val="2400"/>
              </a:lnSpc>
            </a:pPr>
            <a:r>
              <a:rPr lang="en-US" sz="2000" kern="100" spc="37" dirty="0" err="1" smtClean="0">
                <a:solidFill>
                  <a:srgbClr val="342D47"/>
                </a:solidFill>
                <a:latin typeface="Montserrat Classic Bold"/>
              </a:rPr>
              <a:t>Composição</a:t>
            </a:r>
            <a:endParaRPr lang="en-US" sz="2000" kern="100" spc="37" dirty="0">
              <a:solidFill>
                <a:srgbClr val="342D47"/>
              </a:solidFill>
              <a:latin typeface="Montserrat Classic Bold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90" y="1301353"/>
            <a:ext cx="7924800" cy="535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4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>
            <a:extLst>
              <a:ext uri="{FF2B5EF4-FFF2-40B4-BE49-F238E27FC236}">
                <a16:creationId xmlns:a16="http://schemas.microsoft.com/office/drawing/2014/main" id="{8C1B1ABB-A306-4A28-B36D-E31CA24D1DF0}"/>
              </a:ext>
            </a:extLst>
          </p:cNvPr>
          <p:cNvSpPr/>
          <p:nvPr/>
        </p:nvSpPr>
        <p:spPr>
          <a:xfrm rot="1073336">
            <a:off x="-1254664" y="888345"/>
            <a:ext cx="11982909" cy="6739736"/>
          </a:xfrm>
          <a:prstGeom prst="rect">
            <a:avLst/>
          </a:prstGeom>
          <a:solidFill>
            <a:srgbClr val="342D47"/>
          </a:solidFill>
        </p:spPr>
        <p:txBody>
          <a:bodyPr/>
          <a:lstStyle/>
          <a:p>
            <a:r>
              <a:rPr lang="pt-BR" dirty="0"/>
              <a:t>/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038C93E-B4B3-44FC-9E77-E1ECE7DF3961}"/>
              </a:ext>
            </a:extLst>
          </p:cNvPr>
          <p:cNvSpPr/>
          <p:nvPr/>
        </p:nvSpPr>
        <p:spPr>
          <a:xfrm rot="11846407" flipV="1">
            <a:off x="3700561" y="1442940"/>
            <a:ext cx="5059513" cy="45719"/>
          </a:xfrm>
          <a:prstGeom prst="rect">
            <a:avLst/>
          </a:prstGeom>
          <a:solidFill>
            <a:srgbClr val="F8FBF8"/>
          </a:solidFill>
        </p:spPr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098B5D29-2EF6-462A-9799-784DAF705B7F}"/>
              </a:ext>
            </a:extLst>
          </p:cNvPr>
          <p:cNvSpPr/>
          <p:nvPr/>
        </p:nvSpPr>
        <p:spPr>
          <a:xfrm rot="11846407" flipV="1">
            <a:off x="1643161" y="7462740"/>
            <a:ext cx="5059513" cy="45719"/>
          </a:xfrm>
          <a:prstGeom prst="rect">
            <a:avLst/>
          </a:prstGeom>
          <a:solidFill>
            <a:srgbClr val="F8FBF8"/>
          </a:solidFill>
        </p:spPr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829C7163-7B03-49FA-9E38-81BD8FF34363}"/>
              </a:ext>
            </a:extLst>
          </p:cNvPr>
          <p:cNvSpPr txBox="1"/>
          <p:nvPr/>
        </p:nvSpPr>
        <p:spPr>
          <a:xfrm>
            <a:off x="6019799" y="381000"/>
            <a:ext cx="351099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200" kern="100" spc="37" dirty="0">
                <a:solidFill>
                  <a:srgbClr val="342D47"/>
                </a:solidFill>
                <a:latin typeface="Montserrat Classic Bold"/>
              </a:rPr>
              <a:t>Cluster </a:t>
            </a:r>
            <a:r>
              <a:rPr lang="en-US" sz="2200" kern="100" spc="37" dirty="0" err="1">
                <a:solidFill>
                  <a:srgbClr val="342D47"/>
                </a:solidFill>
                <a:latin typeface="Montserrat Classic Bold"/>
              </a:rPr>
              <a:t>logístico</a:t>
            </a:r>
            <a:r>
              <a:rPr lang="en-US" sz="2200" kern="100" spc="37" dirty="0">
                <a:solidFill>
                  <a:srgbClr val="342D47"/>
                </a:solidFill>
                <a:latin typeface="Montserrat Classic Bold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sz="2200" kern="100" spc="37" dirty="0">
                <a:solidFill>
                  <a:srgbClr val="342D47"/>
                </a:solidFill>
                <a:latin typeface="Montserrat Classic Bold"/>
              </a:rPr>
              <a:t>e </a:t>
            </a:r>
            <a:r>
              <a:rPr lang="en-US" sz="2200" kern="100" spc="37" dirty="0" err="1">
                <a:solidFill>
                  <a:srgbClr val="342D47"/>
                </a:solidFill>
                <a:latin typeface="Montserrat Classic Bold"/>
              </a:rPr>
              <a:t>modelos</a:t>
            </a:r>
            <a:r>
              <a:rPr lang="en-US" sz="2200" kern="100" spc="37" dirty="0">
                <a:solidFill>
                  <a:srgbClr val="342D47"/>
                </a:solidFill>
                <a:latin typeface="Montserrat Classic Bold"/>
              </a:rPr>
              <a:t> </a:t>
            </a:r>
            <a:r>
              <a:rPr lang="en-US" sz="2200" kern="100" spc="37" dirty="0" err="1" smtClean="0">
                <a:solidFill>
                  <a:srgbClr val="342D47"/>
                </a:solidFill>
                <a:latin typeface="Montserrat Classic Bold"/>
              </a:rPr>
              <a:t>pelo</a:t>
            </a:r>
            <a:r>
              <a:rPr lang="en-US" sz="2200" kern="100" spc="37" dirty="0" smtClean="0">
                <a:solidFill>
                  <a:srgbClr val="342D47"/>
                </a:solidFill>
                <a:latin typeface="Montserrat Classic Bold"/>
              </a:rPr>
              <a:t> </a:t>
            </a:r>
            <a:r>
              <a:rPr lang="en-US" sz="2200" kern="100" spc="37" dirty="0" err="1" smtClean="0">
                <a:solidFill>
                  <a:srgbClr val="342D47"/>
                </a:solidFill>
                <a:latin typeface="Montserrat Classic Bold"/>
              </a:rPr>
              <a:t>Mundo</a:t>
            </a:r>
            <a:endParaRPr lang="en-US" sz="2200" kern="100" spc="37" dirty="0">
              <a:solidFill>
                <a:srgbClr val="342D47"/>
              </a:solidFill>
              <a:latin typeface="Montserrat Classic Bold"/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52809086-837F-45EA-9550-825E31A7F746}"/>
              </a:ext>
            </a:extLst>
          </p:cNvPr>
          <p:cNvSpPr txBox="1"/>
          <p:nvPr/>
        </p:nvSpPr>
        <p:spPr>
          <a:xfrm>
            <a:off x="228600" y="1972307"/>
            <a:ext cx="304800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HESSEN</a:t>
            </a:r>
          </a:p>
          <a:p>
            <a:pPr algn="ctr">
              <a:lnSpc>
                <a:spcPts val="2400"/>
              </a:lnSpc>
            </a:pPr>
            <a:r>
              <a:rPr lang="en-US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VALÔNIA</a:t>
            </a:r>
          </a:p>
          <a:p>
            <a:pPr algn="ctr">
              <a:lnSpc>
                <a:spcPts val="2400"/>
              </a:lnSpc>
            </a:pPr>
            <a:r>
              <a:rPr lang="en-US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INTERMODAL CENTER</a:t>
            </a:r>
          </a:p>
          <a:p>
            <a:pPr algn="ctr">
              <a:lnSpc>
                <a:spcPts val="2400"/>
              </a:lnSpc>
            </a:pPr>
            <a:r>
              <a:rPr lang="en-US" sz="1400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(ELWOOD – ILLINOIS)</a:t>
            </a:r>
          </a:p>
          <a:p>
            <a:pPr algn="ctr">
              <a:lnSpc>
                <a:spcPts val="2400"/>
              </a:lnSpc>
            </a:pPr>
            <a:r>
              <a:rPr lang="en-US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SUAPE</a:t>
            </a:r>
          </a:p>
          <a:p>
            <a:pPr algn="ctr">
              <a:lnSpc>
                <a:spcPts val="2400"/>
              </a:lnSpc>
            </a:pPr>
            <a:r>
              <a:rPr lang="en-US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ANÁPOLIS</a:t>
            </a:r>
          </a:p>
          <a:p>
            <a:pPr algn="ctr">
              <a:lnSpc>
                <a:spcPts val="2400"/>
              </a:lnSpc>
            </a:pPr>
            <a:r>
              <a:rPr lang="en-US" sz="1400" b="1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400" b="1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Centro de Excelência </a:t>
            </a:r>
            <a:r>
              <a:rPr lang="pt-BR" sz="1400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Tec. </a:t>
            </a:r>
            <a:r>
              <a:rPr lang="pt-BR" sz="1400" b="1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Ferroviária)</a:t>
            </a:r>
            <a:endParaRPr lang="en-US" sz="1400" b="1" kern="100" spc="37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400"/>
              </a:lnSpc>
            </a:pPr>
            <a:endParaRPr lang="en-US" b="1" kern="100" spc="37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400"/>
              </a:lnSpc>
            </a:pPr>
            <a:r>
              <a:rPr lang="en-US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REGIÃO SUDOESTE</a:t>
            </a:r>
            <a:endParaRPr lang="en-US" b="1" kern="100" spc="37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400"/>
              </a:lnSpc>
            </a:pPr>
            <a:endParaRPr lang="en-US" sz="2200" kern="100" spc="37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400"/>
              </a:lnSpc>
            </a:pPr>
            <a:endParaRPr lang="en-US" sz="2200" spc="37" dirty="0">
              <a:solidFill>
                <a:schemeClr val="bg1"/>
              </a:solidFill>
              <a:latin typeface="Montserrat Classic Bold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876022"/>
            <a:ext cx="6254197" cy="4706157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437" y="277600"/>
            <a:ext cx="1181100" cy="159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4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2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2700000">
            <a:off x="-354345" y="1616537"/>
            <a:ext cx="13368016" cy="7983395"/>
          </a:xfrm>
          <a:prstGeom prst="rect">
            <a:avLst/>
          </a:prstGeom>
          <a:solidFill>
            <a:srgbClr val="F8FBF8"/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rot="-2700000" flipV="1">
            <a:off x="-1118124" y="1955173"/>
            <a:ext cx="10069389" cy="45719"/>
          </a:xfrm>
          <a:prstGeom prst="rect">
            <a:avLst/>
          </a:prstGeom>
          <a:solidFill>
            <a:srgbClr val="F8FBF8"/>
          </a:solidFill>
        </p:spPr>
      </p:sp>
      <p:sp>
        <p:nvSpPr>
          <p:cNvPr id="6" name="TextBox 6"/>
          <p:cNvSpPr txBox="1"/>
          <p:nvPr/>
        </p:nvSpPr>
        <p:spPr>
          <a:xfrm>
            <a:off x="6096001" y="1035122"/>
            <a:ext cx="2765622" cy="619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389"/>
              </a:lnSpc>
            </a:pPr>
            <a:r>
              <a:rPr lang="en-US" sz="2400" spc="187" dirty="0">
                <a:solidFill>
                  <a:srgbClr val="342D47"/>
                </a:solidFill>
                <a:latin typeface="+mj-lt"/>
              </a:rPr>
              <a:t>SETOR EM TRANSFORMAÇÃO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96000" y="1854019"/>
            <a:ext cx="2765622" cy="2801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1600" spc="16" dirty="0" err="1">
                <a:solidFill>
                  <a:srgbClr val="342D47"/>
                </a:solidFill>
                <a:latin typeface="Montserrat Light"/>
              </a:rPr>
              <a:t>Agriclusters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 </a:t>
            </a:r>
            <a:r>
              <a:rPr lang="en-US" sz="1600" spc="16" dirty="0" err="1">
                <a:solidFill>
                  <a:srgbClr val="342D47"/>
                </a:solidFill>
                <a:latin typeface="Montserrat Light"/>
              </a:rPr>
              <a:t>Logísticos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 </a:t>
            </a:r>
            <a:r>
              <a:rPr lang="en-US" sz="1600" spc="16" dirty="0" err="1">
                <a:solidFill>
                  <a:srgbClr val="342D47"/>
                </a:solidFill>
                <a:latin typeface="Montserrat Light"/>
              </a:rPr>
              <a:t>devem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 </a:t>
            </a:r>
            <a:r>
              <a:rPr lang="en-US" sz="1600" spc="16" dirty="0" err="1">
                <a:solidFill>
                  <a:srgbClr val="342D47"/>
                </a:solidFill>
                <a:latin typeface="Montserrat Light"/>
              </a:rPr>
              <a:t>passar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 por </a:t>
            </a:r>
            <a:r>
              <a:rPr lang="en-US" sz="1600" spc="16" dirty="0" err="1">
                <a:solidFill>
                  <a:srgbClr val="342D47"/>
                </a:solidFill>
                <a:latin typeface="Montserrat Light"/>
              </a:rPr>
              <a:t>ampla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 </a:t>
            </a:r>
            <a:r>
              <a:rPr lang="en-US" sz="1600" spc="16" dirty="0" err="1">
                <a:solidFill>
                  <a:srgbClr val="342D47"/>
                </a:solidFill>
                <a:latin typeface="Montserrat Light"/>
              </a:rPr>
              <a:t>expansão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 no País, com </a:t>
            </a:r>
            <a:r>
              <a:rPr lang="en-US" sz="1600" spc="16" dirty="0" err="1">
                <a:solidFill>
                  <a:srgbClr val="342D47"/>
                </a:solidFill>
                <a:latin typeface="Montserrat Light"/>
              </a:rPr>
              <a:t>novas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 </a:t>
            </a:r>
            <a:r>
              <a:rPr lang="en-US" sz="1600" spc="16" dirty="0" err="1">
                <a:solidFill>
                  <a:srgbClr val="342D47"/>
                </a:solidFill>
                <a:latin typeface="Montserrat Light"/>
              </a:rPr>
              <a:t>regras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 e </a:t>
            </a:r>
            <a:r>
              <a:rPr lang="en-US" sz="1600" spc="16" dirty="0" err="1">
                <a:solidFill>
                  <a:srgbClr val="342D47"/>
                </a:solidFill>
                <a:latin typeface="Montserrat Light"/>
              </a:rPr>
              <a:t>maior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 </a:t>
            </a:r>
            <a:r>
              <a:rPr lang="en-US" sz="1600" spc="16" dirty="0" err="1">
                <a:solidFill>
                  <a:srgbClr val="342D47"/>
                </a:solidFill>
                <a:latin typeface="Montserrat Light"/>
              </a:rPr>
              <a:t>concorrência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 </a:t>
            </a:r>
            <a:r>
              <a:rPr lang="en-US" sz="1600" spc="16" dirty="0" err="1">
                <a:solidFill>
                  <a:srgbClr val="342D47"/>
                </a:solidFill>
                <a:latin typeface="Montserrat Light"/>
              </a:rPr>
              <a:t>privada</a:t>
            </a:r>
            <a:r>
              <a:rPr lang="en-US" sz="1600" spc="16" dirty="0">
                <a:solidFill>
                  <a:srgbClr val="342D47"/>
                </a:solidFill>
                <a:latin typeface="Montserrat Light"/>
              </a:rPr>
              <a:t>.</a:t>
            </a:r>
          </a:p>
          <a:p>
            <a:pPr algn="r">
              <a:lnSpc>
                <a:spcPts val="2400"/>
              </a:lnSpc>
            </a:pPr>
            <a:endParaRPr lang="en-US" sz="1600" spc="16" dirty="0">
              <a:solidFill>
                <a:srgbClr val="342D47"/>
              </a:solidFill>
              <a:latin typeface="Montserrat Light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destacar recente política ferroviária, estabelecido na </a:t>
            </a:r>
            <a:r>
              <a:rPr lang="pt-BR" sz="2200" kern="100" spc="37" dirty="0" smtClean="0">
                <a:solidFill>
                  <a:srgbClr val="342D47"/>
                </a:solidFill>
                <a:latin typeface="Montserrat Classic Bold"/>
              </a:rPr>
              <a:t>MP 1.065/2021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194543F-797D-404A-9017-6AB47CA30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1035122"/>
            <a:ext cx="6019800" cy="451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>
            <a:extLst>
              <a:ext uri="{FF2B5EF4-FFF2-40B4-BE49-F238E27FC236}">
                <a16:creationId xmlns:a16="http://schemas.microsoft.com/office/drawing/2014/main" id="{8C1B1ABB-A306-4A28-B36D-E31CA24D1DF0}"/>
              </a:ext>
            </a:extLst>
          </p:cNvPr>
          <p:cNvSpPr/>
          <p:nvPr/>
        </p:nvSpPr>
        <p:spPr>
          <a:xfrm rot="1073336">
            <a:off x="-1254664" y="888345"/>
            <a:ext cx="11982909" cy="6739736"/>
          </a:xfrm>
          <a:prstGeom prst="rect">
            <a:avLst/>
          </a:prstGeom>
          <a:solidFill>
            <a:srgbClr val="342D47"/>
          </a:solidFill>
        </p:spPr>
        <p:txBody>
          <a:bodyPr/>
          <a:lstStyle/>
          <a:p>
            <a:r>
              <a:rPr lang="pt-BR" dirty="0"/>
              <a:t>/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038C93E-B4B3-44FC-9E77-E1ECE7DF3961}"/>
              </a:ext>
            </a:extLst>
          </p:cNvPr>
          <p:cNvSpPr/>
          <p:nvPr/>
        </p:nvSpPr>
        <p:spPr>
          <a:xfrm rot="11846407" flipV="1">
            <a:off x="3700561" y="1442940"/>
            <a:ext cx="5059513" cy="45719"/>
          </a:xfrm>
          <a:prstGeom prst="rect">
            <a:avLst/>
          </a:prstGeom>
          <a:solidFill>
            <a:srgbClr val="F8FBF8"/>
          </a:solidFill>
        </p:spPr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098B5D29-2EF6-462A-9799-784DAF705B7F}"/>
              </a:ext>
            </a:extLst>
          </p:cNvPr>
          <p:cNvSpPr/>
          <p:nvPr/>
        </p:nvSpPr>
        <p:spPr>
          <a:xfrm rot="11846407" flipV="1">
            <a:off x="1643161" y="7462740"/>
            <a:ext cx="5059513" cy="45719"/>
          </a:xfrm>
          <a:prstGeom prst="rect">
            <a:avLst/>
          </a:prstGeom>
          <a:solidFill>
            <a:srgbClr val="F8FBF8"/>
          </a:solidFill>
        </p:spPr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829C7163-7B03-49FA-9E38-81BD8FF34363}"/>
              </a:ext>
            </a:extLst>
          </p:cNvPr>
          <p:cNvSpPr txBox="1"/>
          <p:nvPr/>
        </p:nvSpPr>
        <p:spPr>
          <a:xfrm>
            <a:off x="6242603" y="320380"/>
            <a:ext cx="351099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3200" kern="100" spc="37" dirty="0" err="1">
                <a:solidFill>
                  <a:srgbClr val="342D47"/>
                </a:solidFill>
                <a:latin typeface="Montserrat Classic Bold"/>
              </a:rPr>
              <a:t>Consolidação</a:t>
            </a:r>
            <a:r>
              <a:rPr lang="en-US" sz="2200" kern="100" spc="37" dirty="0" smtClean="0">
                <a:solidFill>
                  <a:srgbClr val="342D47"/>
                </a:solidFill>
                <a:latin typeface="Montserrat Classic Bold"/>
              </a:rPr>
              <a:t/>
            </a:r>
            <a:br>
              <a:rPr lang="en-US" sz="2200" kern="100" spc="37" dirty="0" smtClean="0">
                <a:solidFill>
                  <a:srgbClr val="342D47"/>
                </a:solidFill>
                <a:latin typeface="Montserrat Classic Bold"/>
              </a:rPr>
            </a:br>
            <a:r>
              <a:rPr lang="en-US" sz="2200" kern="100" spc="37" dirty="0" smtClean="0">
                <a:solidFill>
                  <a:srgbClr val="342D47"/>
                </a:solidFill>
                <a:latin typeface="Montserrat Classic Bold"/>
              </a:rPr>
              <a:t>Cluster </a:t>
            </a:r>
            <a:r>
              <a:rPr lang="en-US" sz="2200" kern="100" spc="37" dirty="0" err="1">
                <a:solidFill>
                  <a:srgbClr val="342D47"/>
                </a:solidFill>
                <a:latin typeface="Montserrat Classic Bold"/>
              </a:rPr>
              <a:t>logístico</a:t>
            </a:r>
            <a:r>
              <a:rPr lang="en-US" sz="2200" kern="100" spc="37" dirty="0">
                <a:solidFill>
                  <a:srgbClr val="342D47"/>
                </a:solidFill>
                <a:latin typeface="Montserrat Classic Bold"/>
              </a:rPr>
              <a:t> </a:t>
            </a:r>
            <a:r>
              <a:rPr lang="en-US" sz="2200" kern="100" spc="37" dirty="0" smtClean="0">
                <a:solidFill>
                  <a:srgbClr val="342D47"/>
                </a:solidFill>
                <a:latin typeface="Montserrat Classic Bold"/>
              </a:rPr>
              <a:t>do Sudoeste</a:t>
            </a:r>
            <a:endParaRPr lang="en-US" sz="2200" kern="100" spc="37" dirty="0">
              <a:solidFill>
                <a:srgbClr val="342D47"/>
              </a:solidFill>
              <a:latin typeface="Montserrat Classic Bold"/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52809086-837F-45EA-9550-825E31A7F746}"/>
              </a:ext>
            </a:extLst>
          </p:cNvPr>
          <p:cNvSpPr txBox="1"/>
          <p:nvPr/>
        </p:nvSpPr>
        <p:spPr>
          <a:xfrm>
            <a:off x="5865561" y="2611219"/>
            <a:ext cx="36576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2000" algn="ctr">
              <a:lnSpc>
                <a:spcPts val="2400"/>
              </a:lnSpc>
            </a:pPr>
            <a:r>
              <a:rPr lang="en-US" sz="1600" b="1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CAPTURA DE </a:t>
            </a:r>
            <a:r>
              <a:rPr lang="en-US" sz="1600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SINERGIA</a:t>
            </a:r>
          </a:p>
          <a:p>
            <a:pPr marL="252000" algn="ctr">
              <a:lnSpc>
                <a:spcPts val="2400"/>
              </a:lnSpc>
            </a:pPr>
            <a:endParaRPr lang="en-US" sz="1600" b="1" kern="100" spc="37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2000" algn="ctr">
              <a:lnSpc>
                <a:spcPts val="2400"/>
              </a:lnSpc>
            </a:pPr>
            <a:r>
              <a:rPr lang="en-US" sz="1600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ALINHAMENTO DE PROPÓSITOS</a:t>
            </a:r>
          </a:p>
          <a:p>
            <a:pPr marL="252000" algn="ctr">
              <a:lnSpc>
                <a:spcPts val="2400"/>
              </a:lnSpc>
            </a:pPr>
            <a:endParaRPr lang="en-US" sz="1600" b="1" kern="100" spc="37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2000" algn="ctr">
              <a:lnSpc>
                <a:spcPts val="2400"/>
              </a:lnSpc>
            </a:pPr>
            <a:r>
              <a:rPr lang="en-US" sz="1600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PROFISSIONALISMO</a:t>
            </a:r>
          </a:p>
          <a:p>
            <a:pPr marL="252000" algn="ctr">
              <a:lnSpc>
                <a:spcPts val="2400"/>
              </a:lnSpc>
            </a:pPr>
            <a:endParaRPr lang="en-US" sz="1600" b="1" kern="100" spc="37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2000" algn="ctr">
              <a:lnSpc>
                <a:spcPts val="2400"/>
              </a:lnSpc>
            </a:pPr>
            <a:r>
              <a:rPr lang="en-US" sz="1600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CONSTITUIÇÃO DE OS/ FÓRUM</a:t>
            </a:r>
          </a:p>
          <a:p>
            <a:pPr marL="252000" algn="ctr">
              <a:lnSpc>
                <a:spcPts val="2400"/>
              </a:lnSpc>
            </a:pPr>
            <a:endParaRPr lang="en-US" sz="1600" b="1" kern="100" spc="37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2000" algn="ctr">
              <a:lnSpc>
                <a:spcPts val="2400"/>
              </a:lnSpc>
            </a:pPr>
            <a:r>
              <a:rPr lang="en-US" sz="1600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ESTRATÉGICO</a:t>
            </a:r>
          </a:p>
          <a:p>
            <a:pPr marL="252000" algn="ctr">
              <a:lnSpc>
                <a:spcPts val="2400"/>
              </a:lnSpc>
            </a:pPr>
            <a:endParaRPr lang="en-US" sz="1600" b="1" kern="100" spc="37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2000" algn="ctr">
              <a:lnSpc>
                <a:spcPts val="2400"/>
              </a:lnSpc>
            </a:pPr>
            <a:r>
              <a:rPr lang="en-US" sz="1600" b="1" kern="100" spc="37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IMPLANTAÇÃO PROJETOS EXECUTIVOS</a:t>
            </a:r>
            <a:r>
              <a:rPr lang="en-US" b="1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kern="100" spc="3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kern="100" spc="37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400"/>
              </a:lnSpc>
            </a:pPr>
            <a:endParaRPr lang="en-US" sz="2200" spc="37" dirty="0">
              <a:solidFill>
                <a:schemeClr val="bg1"/>
              </a:solidFill>
              <a:latin typeface="Montserrat Classic Bold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0050"/>
            <a:ext cx="6019800" cy="450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6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2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2700000">
            <a:off x="623601" y="1502156"/>
            <a:ext cx="12644019" cy="7863238"/>
          </a:xfrm>
          <a:prstGeom prst="rect">
            <a:avLst/>
          </a:prstGeom>
          <a:solidFill>
            <a:srgbClr val="F8FBF8"/>
          </a:solidFill>
        </p:spPr>
      </p:sp>
      <p:sp>
        <p:nvSpPr>
          <p:cNvPr id="3" name="TextBox 3"/>
          <p:cNvSpPr txBox="1"/>
          <p:nvPr/>
        </p:nvSpPr>
        <p:spPr>
          <a:xfrm>
            <a:off x="561703" y="542653"/>
            <a:ext cx="3042803" cy="61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92"/>
              </a:lnSpc>
            </a:pPr>
            <a:r>
              <a:rPr lang="en-US" sz="4200" spc="37" dirty="0" err="1">
                <a:solidFill>
                  <a:srgbClr val="F8FBF8"/>
                </a:solidFill>
                <a:latin typeface="Montserrat Classic Bold"/>
              </a:rPr>
              <a:t>Obrigado</a:t>
            </a:r>
            <a:endParaRPr lang="en-US" sz="4200" spc="37" dirty="0">
              <a:solidFill>
                <a:srgbClr val="F8FBF8"/>
              </a:solidFill>
              <a:latin typeface="Montserrat Classic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974549" y="2971086"/>
            <a:ext cx="5047531" cy="3612594"/>
            <a:chOff x="0" y="-9525"/>
            <a:chExt cx="4603427" cy="4816792"/>
          </a:xfrm>
        </p:grpSpPr>
        <p:sp>
          <p:nvSpPr>
            <p:cNvPr id="5" name="TextBox 5"/>
            <p:cNvSpPr txBox="1"/>
            <p:nvPr/>
          </p:nvSpPr>
          <p:spPr>
            <a:xfrm>
              <a:off x="0" y="1529870"/>
              <a:ext cx="4603427" cy="3704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389"/>
                </a:lnSpc>
              </a:pPr>
              <a:r>
                <a:rPr lang="en-US" sz="1706" spc="187" dirty="0">
                  <a:solidFill>
                    <a:srgbClr val="342D47"/>
                  </a:solidFill>
                  <a:latin typeface="Montserrat Classic"/>
                </a:rPr>
                <a:t>EDWAL </a:t>
              </a:r>
              <a:r>
                <a:rPr lang="en-US" sz="1706" spc="187" dirty="0" smtClean="0">
                  <a:solidFill>
                    <a:srgbClr val="342D47"/>
                  </a:solidFill>
                  <a:latin typeface="Montserrat Classic"/>
                </a:rPr>
                <a:t>PORTILHO - TCHEQUINHO</a:t>
              </a:r>
              <a:endParaRPr lang="en-US" sz="1706" spc="187" dirty="0">
                <a:solidFill>
                  <a:srgbClr val="342D47"/>
                </a:solidFill>
                <a:latin typeface="Montserrat Classic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99947"/>
              <a:ext cx="4603427" cy="36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400"/>
                </a:lnSpc>
              </a:pPr>
              <a:r>
                <a:rPr lang="en-US" sz="1600" spc="16" dirty="0" err="1" smtClean="0">
                  <a:solidFill>
                    <a:srgbClr val="342D47"/>
                  </a:solidFill>
                  <a:latin typeface="Montserrat Light"/>
                </a:rPr>
                <a:t>Presidente-Executivo</a:t>
              </a:r>
              <a:r>
                <a:rPr lang="en-US" sz="1600" spc="16" dirty="0" smtClean="0">
                  <a:solidFill>
                    <a:srgbClr val="342D47"/>
                  </a:solidFill>
                  <a:latin typeface="Montserrat Light"/>
                </a:rPr>
                <a:t> </a:t>
              </a:r>
              <a:r>
                <a:rPr lang="en-US" sz="1600" spc="16" dirty="0">
                  <a:solidFill>
                    <a:srgbClr val="342D47"/>
                  </a:solidFill>
                  <a:latin typeface="Montserrat Light"/>
                </a:rPr>
                <a:t>da </a:t>
              </a:r>
              <a:r>
                <a:rPr lang="en-US" sz="1600" spc="16" dirty="0" smtClean="0">
                  <a:solidFill>
                    <a:srgbClr val="342D47"/>
                  </a:solidFill>
                  <a:latin typeface="Montserrat Light"/>
                </a:rPr>
                <a:t>ADIAL/ADIAL LOG</a:t>
              </a:r>
              <a:endParaRPr lang="en-US" sz="1600" spc="16" dirty="0">
                <a:solidFill>
                  <a:srgbClr val="342D47"/>
                </a:solidFill>
                <a:latin typeface="Montserrat Light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747158"/>
              <a:ext cx="4603427" cy="370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89"/>
                </a:lnSpc>
              </a:pPr>
              <a:r>
                <a:rPr lang="en-US" sz="1706" spc="187" dirty="0">
                  <a:solidFill>
                    <a:srgbClr val="342D47"/>
                  </a:solidFill>
                  <a:latin typeface="Montserrat Classic"/>
                </a:rPr>
                <a:t>SITE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217234"/>
              <a:ext cx="4603427" cy="372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400"/>
                </a:lnSpc>
              </a:pPr>
              <a:r>
                <a:rPr lang="en-US" sz="1600" spc="16" dirty="0">
                  <a:solidFill>
                    <a:srgbClr val="342D47"/>
                  </a:solidFill>
                  <a:latin typeface="Montserrat Light"/>
                </a:rPr>
                <a:t>www.adial.com.br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964446"/>
              <a:ext cx="4603427" cy="370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89"/>
                </a:lnSpc>
              </a:pPr>
              <a:r>
                <a:rPr lang="en-US" sz="1706" spc="187">
                  <a:solidFill>
                    <a:srgbClr val="342D47"/>
                  </a:solidFill>
                  <a:latin typeface="Montserrat Classic"/>
                </a:rPr>
                <a:t>EMAIL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434522"/>
              <a:ext cx="4603427" cy="372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400"/>
                </a:lnSpc>
              </a:pPr>
              <a:r>
                <a:rPr lang="en-US" sz="1600" spc="16" dirty="0">
                  <a:solidFill>
                    <a:srgbClr val="342D47"/>
                  </a:solidFill>
                  <a:latin typeface="Montserrat Light"/>
                </a:rPr>
                <a:t>adial@adial.com.br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5795" y="-9525"/>
              <a:ext cx="3627632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432"/>
                </a:lnSpc>
              </a:pPr>
              <a:endParaRPr lang="en-US" sz="2026" spc="149" dirty="0">
                <a:solidFill>
                  <a:srgbClr val="342D47"/>
                </a:solidFill>
                <a:latin typeface="Montserrat Classic Bold"/>
              </a:endParaRPr>
            </a:p>
          </p:txBody>
        </p:sp>
      </p:grpSp>
      <p:sp>
        <p:nvSpPr>
          <p:cNvPr id="12" name="AutoShape 12"/>
          <p:cNvSpPr/>
          <p:nvPr/>
        </p:nvSpPr>
        <p:spPr>
          <a:xfrm rot="-2700000">
            <a:off x="-3420447" y="6391800"/>
            <a:ext cx="8656320" cy="18001"/>
          </a:xfrm>
          <a:prstGeom prst="rect">
            <a:avLst/>
          </a:prstGeom>
          <a:solidFill>
            <a:srgbClr val="342D47"/>
          </a:solidFill>
        </p:spPr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B99229E-AB78-49FB-9862-647FD00080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897" y="1085834"/>
            <a:ext cx="2286000" cy="19442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3613</TotalTime>
  <Words>315</Words>
  <Application>Microsoft Office PowerPoint</Application>
  <PresentationFormat>Personalizar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Calibri</vt:lpstr>
      <vt:lpstr>Montserrat Classic Bold</vt:lpstr>
      <vt:lpstr>Arial</vt:lpstr>
      <vt:lpstr>Times New Roman</vt:lpstr>
      <vt:lpstr>Montserrat Light</vt:lpstr>
      <vt:lpstr>Montserrat Classic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Violet Employee On Boarding Professional Presentation</dc:title>
  <dc:creator>Ana Manuela</dc:creator>
  <cp:lastModifiedBy>ADIAL LOG</cp:lastModifiedBy>
  <cp:revision>33</cp:revision>
  <dcterms:created xsi:type="dcterms:W3CDTF">2006-08-16T00:00:00Z</dcterms:created>
  <dcterms:modified xsi:type="dcterms:W3CDTF">2021-11-24T18:02:10Z</dcterms:modified>
  <dc:identifier>DAEwG5Tb5hE</dc:identifier>
</cp:coreProperties>
</file>