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5"/>
  </p:notesMasterIdLst>
  <p:handoutMasterIdLst>
    <p:handoutMasterId r:id="rId16"/>
  </p:handoutMasterIdLst>
  <p:sldIdLst>
    <p:sldId id="298" r:id="rId4"/>
    <p:sldId id="283" r:id="rId5"/>
    <p:sldId id="304" r:id="rId6"/>
    <p:sldId id="292" r:id="rId7"/>
    <p:sldId id="284" r:id="rId8"/>
    <p:sldId id="299" r:id="rId9"/>
    <p:sldId id="300" r:id="rId10"/>
    <p:sldId id="301" r:id="rId11"/>
    <p:sldId id="302" r:id="rId12"/>
    <p:sldId id="303" r:id="rId13"/>
    <p:sldId id="293" r:id="rId14"/>
  </p:sldIdLst>
  <p:sldSz cx="12192000" cy="6858000"/>
  <p:notesSz cx="6858000" cy="9947275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6" autoAdjust="0"/>
    <p:restoredTop sz="94574" autoAdjust="0"/>
  </p:normalViewPr>
  <p:slideViewPr>
    <p:cSldViewPr snapToGrid="0">
      <p:cViewPr varScale="1">
        <p:scale>
          <a:sx n="72" d="100"/>
          <a:sy n="72" d="100"/>
        </p:scale>
        <p:origin x="61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374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9696519-77A5-42E9-9F7C-68841B76CE9F}" type="datetime1">
              <a:rPr lang="pt-BR" smtClean="0"/>
              <a:t>23/11/2021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01C0E-6041-40BD-877C-FB9FBD0CE1C9}" type="datetime1">
              <a:rPr lang="pt-BR" smtClean="0"/>
              <a:pPr/>
              <a:t>23/11/2021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dirty="0"/>
              <a:t>Editar estilos de texto Mestre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5012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de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ço Reservado par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 Aqui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120000"/>
              </a:lnSpc>
              <a:defRPr lang="en-ZA" sz="4400" b="1" spc="-300" dirty="0"/>
            </a:lvl1pPr>
          </a:lstStyle>
          <a:p>
            <a:pPr lvl="0" algn="r" rtl="0"/>
            <a:r>
              <a:rPr lang="pt-BR" dirty="0"/>
              <a:t>Clique para editar o título da apresentação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 rtl="0"/>
            <a:r>
              <a:rPr lang="pt-BR" dirty="0"/>
              <a:t>Clique para editar o estilo de subtítulo Mestre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so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ço Reservado par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</a:t>
            </a:r>
            <a:br>
              <a:rPr lang="pt-BR" dirty="0"/>
            </a:br>
            <a:r>
              <a:rPr lang="pt-BR" dirty="0"/>
              <a:t>sua Foto Aqui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 rtl="0"/>
            <a:r>
              <a:rPr lang="pt-BR" dirty="0"/>
              <a:t>Clique para editar o divisor de seção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dirty="0"/>
              <a:t>Clique para editar o estilo de subtítulo Mestre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sor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ço Reservado par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</a:t>
            </a:r>
            <a:br>
              <a:rPr lang="pt-BR" dirty="0"/>
            </a:br>
            <a:r>
              <a:rPr lang="pt-BR" dirty="0"/>
              <a:t>sua Foto Aqui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pt-BR" dirty="0"/>
              <a:t>Clique para editar o divisor de seção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dirty="0"/>
              <a:t>Clique para editar o estilo de subtítulo Mestre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de Imagem de Tex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defRPr sz="42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Editar título da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de Imagem de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defRPr sz="39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mparação à Esquerda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12" name="Espaço Reservado para Comparação à Esquerda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8" name="Espaço reservado para texto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dirty="0"/>
              <a:t>Insira sua legenda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ço Reservado par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 Aqui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 rtl="0"/>
            <a:r>
              <a:rPr lang="pt-BR" dirty="0"/>
              <a:t>Obrigado</a:t>
            </a:r>
          </a:p>
        </p:txBody>
      </p:sp>
      <p:sp>
        <p:nvSpPr>
          <p:cNvPr id="9" name="Espaço Reservado para Texto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Nome completo</a:t>
            </a:r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Número do telefone</a:t>
            </a:r>
          </a:p>
        </p:txBody>
      </p:sp>
      <p:sp>
        <p:nvSpPr>
          <p:cNvPr id="11" name="Espaço Reservado para Texto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lnSpc>
                <a:spcPct val="70000"/>
              </a:lnSpc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Contato por </a:t>
            </a:r>
            <a:r>
              <a:rPr lang="pt-BR" dirty="0" err="1"/>
              <a:t>Email</a:t>
            </a:r>
            <a:r>
              <a:rPr lang="pt-BR" dirty="0"/>
              <a:t> ou Mídia Social</a:t>
            </a:r>
          </a:p>
        </p:txBody>
      </p:sp>
      <p:sp>
        <p:nvSpPr>
          <p:cNvPr id="12" name="Espaço Reservado para Texto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Site da empresa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11" name="Espaço Reservado para Texto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13" name="Espaço Reservado para Texto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15" name="Espaço Reservado para Texto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17" name="Espaço Reservado para Texto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pt-BR" dirty="0"/>
              <a:t>Editar estilos de texto Mestre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Caixa de texto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 rtl="0">
              <a:lnSpc>
                <a:spcPts val="1000"/>
              </a:lnSpc>
            </a:pPr>
            <a:r>
              <a:rPr lang="pt-BR" sz="2500" b="1" i="0" spc="-100" dirty="0">
                <a:solidFill>
                  <a:schemeClr val="accent1"/>
                </a:solidFill>
                <a:latin typeface="+mj-lt"/>
              </a:rPr>
              <a:t>TREY</a:t>
            </a:r>
            <a:r>
              <a:rPr lang="pt-BR" sz="1600" b="1" i="0" spc="-100" dirty="0">
                <a:solidFill>
                  <a:schemeClr val="accent1"/>
                </a:solidFill>
                <a:latin typeface="+mj-lt"/>
              </a:rPr>
              <a:t> </a:t>
            </a:r>
            <a:br>
              <a:rPr lang="pt-BR" sz="1600" b="1" i="0" spc="-100" baseline="0" dirty="0">
                <a:solidFill>
                  <a:schemeClr val="accent1"/>
                </a:solidFill>
                <a:latin typeface="+mj-lt"/>
              </a:rPr>
            </a:br>
            <a:r>
              <a:rPr lang="pt-BR" sz="1200" b="0" i="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A24E447-77A1-4C64-B374-4A5AE9188E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942"/>
          <a:stretch/>
        </p:blipFill>
        <p:spPr>
          <a:xfrm>
            <a:off x="1073426" y="137428"/>
            <a:ext cx="8613913" cy="6626087"/>
          </a:xfrm>
          <a:prstGeom prst="rect">
            <a:avLst/>
          </a:prstGeom>
        </p:spPr>
      </p:pic>
      <p:pic>
        <p:nvPicPr>
          <p:cNvPr id="12" name="Espaço Reservado para Imagem 11" descr="Mãos unidas em círculo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497" r="4142"/>
          <a:stretch/>
        </p:blipFill>
        <p:spPr>
          <a:xfrm flipH="1">
            <a:off x="11849576" y="94485"/>
            <a:ext cx="245246" cy="163539"/>
          </a:xfr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D3082C4-B320-4EF5-A575-AE872C3A32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78" y="94485"/>
            <a:ext cx="2997092" cy="75365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7937B02-B28E-4103-A920-4E4697808A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0042" y="6142581"/>
            <a:ext cx="708532" cy="72463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1D8D613-9B35-4898-807A-837817B84B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5442" y="6117679"/>
            <a:ext cx="765455" cy="74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52057" y="1327398"/>
            <a:ext cx="6794308" cy="4159836"/>
          </a:xfrm>
        </p:spPr>
        <p:txBody>
          <a:bodyPr rtlCol="0"/>
          <a:lstStyle/>
          <a:p>
            <a:r>
              <a:rPr lang="pt-BR" dirty="0"/>
              <a:t>Especialista em Direito do Estado (UFU/MG);</a:t>
            </a:r>
          </a:p>
          <a:p>
            <a:r>
              <a:rPr lang="pt-BR" dirty="0"/>
              <a:t>Especialista em gestão pública municipal(PUC/MG);</a:t>
            </a:r>
          </a:p>
          <a:p>
            <a:r>
              <a:rPr lang="pt-BR" dirty="0"/>
              <a:t>Especializando em Tecnologias para gestão em negócios (UFG/GO);</a:t>
            </a:r>
          </a:p>
          <a:p>
            <a:r>
              <a:rPr lang="pt-BR" dirty="0"/>
              <a:t>Mestre em Direito (UNB/DF);</a:t>
            </a:r>
          </a:p>
          <a:p>
            <a:r>
              <a:rPr lang="pt-BR" dirty="0"/>
              <a:t>Advogado;</a:t>
            </a:r>
          </a:p>
          <a:p>
            <a:r>
              <a:rPr lang="pt-BR" dirty="0"/>
              <a:t>Gestor do Lagoa Hotel;</a:t>
            </a:r>
          </a:p>
          <a:p>
            <a:r>
              <a:rPr lang="pt-BR" dirty="0"/>
              <a:t>Gestor Norte Cobranças;</a:t>
            </a:r>
          </a:p>
          <a:p>
            <a:r>
              <a:rPr lang="pt-BR" dirty="0"/>
              <a:t>Produtor Rural;</a:t>
            </a:r>
          </a:p>
          <a:p>
            <a:r>
              <a:rPr lang="pt-BR" dirty="0"/>
              <a:t>Ex-presidente da Aciap;</a:t>
            </a:r>
          </a:p>
          <a:p>
            <a:r>
              <a:rPr lang="pt-BR" dirty="0"/>
              <a:t>Vice presidente da FACIEG;</a:t>
            </a:r>
          </a:p>
        </p:txBody>
      </p:sp>
      <p:sp>
        <p:nvSpPr>
          <p:cNvPr id="20" name="Retângulo 19" descr="Bloco em destaque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4558" y="4101410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44423" y="1021599"/>
            <a:ext cx="2091504" cy="544207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/>
          <a:lstStyle/>
          <a:p>
            <a:pPr algn="ctr" rtl="0"/>
            <a:r>
              <a:rPr lang="pt-BR" dirty="0"/>
              <a:t>Márcio Luís  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/>
              <a:t>2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72426C0-076B-45B0-84DC-72FD973FC2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797" t="27499" r="6013" b="46220"/>
          <a:stretch/>
        </p:blipFill>
        <p:spPr>
          <a:xfrm>
            <a:off x="644423" y="1719842"/>
            <a:ext cx="2131681" cy="207349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5799533D-EC86-4949-934B-1535C6527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8450" y="6117679"/>
            <a:ext cx="765455" cy="740321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B2DE917E-C264-4BA0-A732-40A296A8D9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880" t="29615" r="18257" b="28003"/>
          <a:stretch/>
        </p:blipFill>
        <p:spPr>
          <a:xfrm>
            <a:off x="9681203" y="4101410"/>
            <a:ext cx="1903602" cy="1429192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AD02E5AA-53ED-4019-88F2-7A1457BA67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8" y="57765"/>
            <a:ext cx="2131681" cy="53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0564" y="-654373"/>
            <a:ext cx="11499436" cy="5597433"/>
          </a:xfrm>
        </p:spPr>
        <p:txBody>
          <a:bodyPr rtlCol="0"/>
          <a:lstStyle/>
          <a:p>
            <a:pPr marL="0" indent="0">
              <a:buNone/>
            </a:pPr>
            <a:r>
              <a:rPr lang="pt-BR" sz="3500" b="1" dirty="0"/>
              <a:t>Finalidade do Guia:</a:t>
            </a:r>
          </a:p>
          <a:p>
            <a:pPr algn="just"/>
            <a:r>
              <a:rPr lang="pt-BR" sz="2200" dirty="0"/>
              <a:t>Permitir  aos empresários e empreendedores  uma </a:t>
            </a:r>
            <a:r>
              <a:rPr lang="pt-BR" sz="2200" b="1" u="sng" dirty="0"/>
              <a:t>visão sistêmica do seu negócio</a:t>
            </a:r>
            <a:r>
              <a:rPr lang="pt-BR" sz="2200" dirty="0"/>
              <a:t>, com conteúdo atualizado e estruturado para melhoria da gestão empresarial. </a:t>
            </a:r>
          </a:p>
          <a:p>
            <a:pPr algn="just"/>
            <a:r>
              <a:rPr lang="pt-BR" sz="2200" dirty="0"/>
              <a:t>Aplicação de conceitos do  </a:t>
            </a:r>
            <a:r>
              <a:rPr lang="pt-BR" sz="2200" b="1" u="sng" dirty="0"/>
              <a:t>planejamento estratégico e gestão empresarial sistematizado em macroprocessos, rotinas e  fluxos internos</a:t>
            </a:r>
            <a:r>
              <a:rPr lang="pt-BR" sz="2200" dirty="0"/>
              <a:t>;</a:t>
            </a:r>
          </a:p>
          <a:p>
            <a:pPr algn="just"/>
            <a:r>
              <a:rPr lang="pt-BR" sz="2200" dirty="0"/>
              <a:t>Reúne ainda, informações de soluções que permitem auxiliar os empresários em ações voltadas para </a:t>
            </a:r>
            <a:r>
              <a:rPr lang="pt-BR" sz="2200" b="1" u="sng" dirty="0"/>
              <a:t>melhoria da produtividade, acesso a mercados, obtenção de crédito, inovação, entre outros serviços disponíveis.</a:t>
            </a:r>
          </a:p>
        </p:txBody>
      </p:sp>
      <p:sp>
        <p:nvSpPr>
          <p:cNvPr id="20" name="Retângulo 19" descr="Bloco em destaque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567" y="5615441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3</a:t>
            </a:fld>
            <a:endParaRPr lang="pt-BR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5799533D-EC86-4949-934B-1535C6527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450" y="6117679"/>
            <a:ext cx="765455" cy="74032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AD02E5AA-53ED-4019-88F2-7A1457BA6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8" y="57765"/>
            <a:ext cx="2131681" cy="536036"/>
          </a:xfrm>
          <a:prstGeom prst="rect">
            <a:avLst/>
          </a:prstGeom>
        </p:spPr>
      </p:pic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EA23A73-A2A4-41B3-9D4A-54F8A481D07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0564" y="592538"/>
            <a:ext cx="11499436" cy="904958"/>
          </a:xfrm>
        </p:spPr>
        <p:txBody>
          <a:bodyPr/>
          <a:lstStyle/>
          <a:p>
            <a:pPr algn="ctr"/>
            <a:r>
              <a:rPr lang="pt-BR" sz="2200" dirty="0"/>
              <a:t>Capacitação do Guia Empresarial </a:t>
            </a:r>
            <a:br>
              <a:rPr lang="pt-BR" sz="2200" dirty="0"/>
            </a:br>
            <a:r>
              <a:rPr lang="pt-BR" sz="2200" dirty="0"/>
              <a:t>Associações Comerciais</a:t>
            </a:r>
          </a:p>
        </p:txBody>
      </p:sp>
    </p:spTree>
    <p:extLst>
      <p:ext uri="{BB962C8B-B14F-4D97-AF65-F5344CB8AC3E}">
        <p14:creationId xmlns:p14="http://schemas.microsoft.com/office/powerpoint/2010/main" val="584537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ço Reservado para Imagem 10" descr="Mesa com computador, telefone, livros etc.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12191999" y="0"/>
            <a:ext cx="83891" cy="54649"/>
          </a:xfrm>
          <a:noFill/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4155311" cy="810228"/>
          </a:xfrm>
        </p:spPr>
        <p:txBody>
          <a:bodyPr rtlCol="0"/>
          <a:lstStyle/>
          <a:p>
            <a:pPr algn="ctr" rtl="0"/>
            <a:r>
              <a:rPr lang="pt-BR" sz="2800" dirty="0"/>
              <a:t>Planejamento Estratégico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4</a:t>
            </a:fld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D2C25C4-8660-4F9C-97C8-A29AE11E9C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867" t="19394" r="5918" b="14413"/>
          <a:stretch/>
        </p:blipFill>
        <p:spPr>
          <a:xfrm>
            <a:off x="1696168" y="810227"/>
            <a:ext cx="8260801" cy="3338632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E693C4CD-D917-41B7-9780-6812CC448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214" y="54649"/>
            <a:ext cx="2133785" cy="536494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9C7D2504-281D-44CC-9D71-5839069DA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8450" y="6117679"/>
            <a:ext cx="765455" cy="740321"/>
          </a:xfrm>
          <a:prstGeom prst="rect">
            <a:avLst/>
          </a:prstGeom>
        </p:spPr>
      </p:pic>
      <p:sp>
        <p:nvSpPr>
          <p:cNvPr id="9" name="Espaço Reservado para Conteúdo 3">
            <a:extLst>
              <a:ext uri="{FF2B5EF4-FFF2-40B4-BE49-F238E27FC236}">
                <a16:creationId xmlns:a16="http://schemas.microsoft.com/office/drawing/2014/main" id="{3CFED307-85BE-4F37-AC89-82465C14CF54}"/>
              </a:ext>
            </a:extLst>
          </p:cNvPr>
          <p:cNvSpPr txBox="1">
            <a:spLocks/>
          </p:cNvSpPr>
          <p:nvPr/>
        </p:nvSpPr>
        <p:spPr>
          <a:xfrm>
            <a:off x="304800" y="4148859"/>
            <a:ext cx="11043539" cy="2543489"/>
          </a:xfrm>
          <a:prstGeom prst="rect">
            <a:avLst/>
          </a:prstGeom>
        </p:spPr>
        <p:txBody>
          <a:bodyPr rtlCol="0"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pt-BR" b="1" dirty="0"/>
              <a:t>Combate: </a:t>
            </a:r>
            <a:r>
              <a:rPr lang="pt-BR" dirty="0"/>
              <a:t>Falta de visão sistêmica, ações intuitivas e perca do foco perante prioridades.</a:t>
            </a:r>
          </a:p>
          <a:p>
            <a:pPr marL="0" indent="0" algn="just">
              <a:buNone/>
            </a:pPr>
            <a:r>
              <a:rPr lang="pt-BR" b="1" dirty="0"/>
              <a:t>Atributos estratégicos: </a:t>
            </a:r>
            <a:r>
              <a:rPr lang="pt-BR" dirty="0"/>
              <a:t>Missão (razão de ser), Visão (sonho) e Valores (filosofia);</a:t>
            </a:r>
          </a:p>
          <a:p>
            <a:pPr marL="0" indent="0" algn="just">
              <a:buNone/>
            </a:pPr>
            <a:r>
              <a:rPr lang="pt-BR" b="1" dirty="0"/>
              <a:t>Análise do ambiente: </a:t>
            </a:r>
            <a:r>
              <a:rPr lang="pt-BR" dirty="0"/>
              <a:t>interno e externo;</a:t>
            </a:r>
          </a:p>
          <a:p>
            <a:pPr marL="0" indent="0" algn="just">
              <a:buNone/>
            </a:pPr>
            <a:r>
              <a:rPr lang="pt-BR" b="1" dirty="0"/>
              <a:t>Desenvolvimento da estratégia: </a:t>
            </a:r>
            <a:r>
              <a:rPr lang="pt-BR" dirty="0"/>
              <a:t>qual caminho a seguir, diretrizes e perspectivas;</a:t>
            </a:r>
          </a:p>
          <a:p>
            <a:pPr marL="0" indent="0" algn="just">
              <a:buNone/>
            </a:pPr>
            <a:r>
              <a:rPr lang="pt-BR" b="1" dirty="0"/>
              <a:t>Definição de metas: </a:t>
            </a:r>
            <a:r>
              <a:rPr lang="pt-BR" dirty="0"/>
              <a:t>identificar indicadores de desempenho;</a:t>
            </a:r>
          </a:p>
          <a:p>
            <a:pPr marL="0" indent="0" algn="just">
              <a:buNone/>
            </a:pPr>
            <a:r>
              <a:rPr lang="pt-BR" b="1" dirty="0"/>
              <a:t>Definir plano de ação: </a:t>
            </a:r>
            <a:r>
              <a:rPr lang="pt-BR" dirty="0"/>
              <a:t>definir responsáveis, prazos, meios e recursos;</a:t>
            </a:r>
          </a:p>
          <a:p>
            <a:pPr marL="0" indent="0" algn="just">
              <a:buNone/>
            </a:pPr>
            <a:r>
              <a:rPr lang="pt-BR" b="1" dirty="0"/>
              <a:t>Acompanhamento de resultados: </a:t>
            </a:r>
            <a:r>
              <a:rPr lang="pt-BR" dirty="0"/>
              <a:t>mecanismos de controle e formas de intervenção. </a:t>
            </a:r>
            <a:endParaRPr lang="pt-BR" b="1" dirty="0"/>
          </a:p>
          <a:p>
            <a:pPr marL="0" indent="0" algn="just">
              <a:buNone/>
            </a:pPr>
            <a:endParaRPr lang="pt-BR" b="1" dirty="0"/>
          </a:p>
          <a:p>
            <a:pPr marL="0" indent="0" algn="just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Plano de Marketing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0" y="1008000"/>
            <a:ext cx="11339513" cy="737680"/>
          </a:xfrm>
        </p:spPr>
        <p:txBody>
          <a:bodyPr rtlCol="0"/>
          <a:lstStyle/>
          <a:p>
            <a:pPr rtl="0"/>
            <a:r>
              <a:rPr lang="pt-BR" dirty="0"/>
              <a:t>Pandemia acelerou mudanças nos hábitos de consumo;</a:t>
            </a:r>
          </a:p>
          <a:p>
            <a:pPr rtl="0"/>
            <a:r>
              <a:rPr lang="pt-BR" dirty="0"/>
              <a:t>Explosão do comércio virtual.</a:t>
            </a:r>
          </a:p>
        </p:txBody>
      </p:sp>
      <p:cxnSp>
        <p:nvCxnSpPr>
          <p:cNvPr id="11" name="Conector reto 10" descr="Divisor de slide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5</a:t>
            </a:fld>
            <a:endParaRPr lang="pt-BR" dirty="0"/>
          </a:p>
        </p:txBody>
      </p:sp>
      <p:pic>
        <p:nvPicPr>
          <p:cNvPr id="18" name="Espaço Reservado para Conteúdo 17">
            <a:extLst>
              <a:ext uri="{FF2B5EF4-FFF2-40B4-BE49-F238E27FC236}">
                <a16:creationId xmlns:a16="http://schemas.microsoft.com/office/drawing/2014/main" id="{171DDF15-1BC4-44EB-8656-0C563F2211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2855" t="17116" r="10775" b="9274"/>
          <a:stretch/>
        </p:blipFill>
        <p:spPr>
          <a:xfrm>
            <a:off x="776357" y="1803599"/>
            <a:ext cx="9008798" cy="4316721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D2156756-53C8-41A4-A2F4-99BCFCDA1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6992" y="6120320"/>
            <a:ext cx="762066" cy="73768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710F0851-26C0-4A83-99B5-E39403ED7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250" y="91753"/>
            <a:ext cx="2133785" cy="53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Plano de Gestão de Pessoas</a:t>
            </a:r>
          </a:p>
        </p:txBody>
      </p:sp>
      <p:cxnSp>
        <p:nvCxnSpPr>
          <p:cNvPr id="11" name="Conector reto 10" descr="Divisor de slide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6</a:t>
            </a:fld>
            <a:endParaRPr lang="pt-BR" dirty="0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FAA76DB5-0993-49EC-9D3E-B7BAEE708B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26561" t="17025" r="27641" b="7754"/>
          <a:stretch/>
        </p:blipFill>
        <p:spPr>
          <a:xfrm>
            <a:off x="566663" y="1040060"/>
            <a:ext cx="6231702" cy="513062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93B0922-DB9E-40BD-8D0A-575AE7115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8417" y="6120320"/>
            <a:ext cx="762066" cy="73768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5B05C10-AA09-4C84-8C17-B1013A085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0928" y="111506"/>
            <a:ext cx="2133785" cy="53649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573DDDB-B02E-4937-896F-730410C04043}"/>
              </a:ext>
            </a:extLst>
          </p:cNvPr>
          <p:cNvSpPr/>
          <p:nvPr/>
        </p:nvSpPr>
        <p:spPr>
          <a:xfrm>
            <a:off x="7142922" y="1040060"/>
            <a:ext cx="462907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Recrutamento e seleção: </a:t>
            </a:r>
            <a:r>
              <a:rPr lang="pt-BR" dirty="0"/>
              <a:t>admissão, transferência ou promoção;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Administração de pessoal: </a:t>
            </a:r>
            <a:r>
              <a:rPr lang="pt-BR" dirty="0"/>
              <a:t>responsável por questões trabalhistas e previdenciárias, gestão de rotinas;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Desenvolvimento e treinamento: </a:t>
            </a:r>
            <a:r>
              <a:rPr lang="pt-BR" dirty="0"/>
              <a:t>capacitação, autoestima e produtividade;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Plano de carreira e avaliação de desempenho;</a:t>
            </a:r>
          </a:p>
          <a:p>
            <a:pPr algn="just"/>
            <a:endParaRPr lang="pt-BR" b="1" dirty="0"/>
          </a:p>
          <a:p>
            <a:pPr algn="just"/>
            <a:r>
              <a:rPr lang="pt-BR" b="1" dirty="0"/>
              <a:t>Gestão dos conhecimentos e retenção dos talentos;</a:t>
            </a:r>
          </a:p>
          <a:p>
            <a:pPr algn="just"/>
            <a:endParaRPr lang="pt-BR" b="1" dirty="0"/>
          </a:p>
          <a:p>
            <a:pPr algn="just"/>
            <a:r>
              <a:rPr lang="pt-BR" b="1" dirty="0"/>
              <a:t>Medicina e segurança do trabalho: </a:t>
            </a:r>
            <a:r>
              <a:rPr lang="pt-BR" dirty="0"/>
              <a:t>redução dos afastamentos com ações de conscientização.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343960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Plano Financeiro</a:t>
            </a:r>
          </a:p>
        </p:txBody>
      </p:sp>
      <p:cxnSp>
        <p:nvCxnSpPr>
          <p:cNvPr id="11" name="Conector reto 10" descr="Divisor de slide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7</a:t>
            </a:fld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3FF92E4-A487-4153-A1AE-7D3C27174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1279" y="6065671"/>
            <a:ext cx="762066" cy="73768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38777AD-D4E9-4593-AAAF-7A0389961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449" y="79680"/>
            <a:ext cx="2133785" cy="536494"/>
          </a:xfrm>
          <a:prstGeom prst="rect">
            <a:avLst/>
          </a:prstGeom>
        </p:spPr>
      </p:pic>
      <p:pic>
        <p:nvPicPr>
          <p:cNvPr id="14" name="Espaço Reservado para Conteúdo 3">
            <a:extLst>
              <a:ext uri="{FF2B5EF4-FFF2-40B4-BE49-F238E27FC236}">
                <a16:creationId xmlns:a16="http://schemas.microsoft.com/office/drawing/2014/main" id="{CAF05B44-1C6B-49D2-8A82-CB9ACDA329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948" y="1166281"/>
            <a:ext cx="9586212" cy="4802166"/>
          </a:xfrm>
        </p:spPr>
      </p:pic>
    </p:spTree>
    <p:extLst>
      <p:ext uri="{BB962C8B-B14F-4D97-AF65-F5344CB8AC3E}">
        <p14:creationId xmlns:p14="http://schemas.microsoft.com/office/powerpoint/2010/main" val="3346630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00" y="185194"/>
            <a:ext cx="11340000" cy="432000"/>
          </a:xfrm>
        </p:spPr>
        <p:txBody>
          <a:bodyPr rtlCol="0"/>
          <a:lstStyle/>
          <a:p>
            <a:pPr rtl="0"/>
            <a:r>
              <a:rPr lang="pt-BR" dirty="0"/>
              <a:t>Plano de Contabilidade</a:t>
            </a:r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8</a:t>
            </a:fld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1EE60F7-A19D-46E2-A294-F5D808EA5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6992" y="6120320"/>
            <a:ext cx="762066" cy="73768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3109320C-A54D-422E-8C24-63890FF00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215" y="185194"/>
            <a:ext cx="2133785" cy="53649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57118AE-C7AB-4FEC-B871-2927EA2F94D2}"/>
              </a:ext>
            </a:extLst>
          </p:cNvPr>
          <p:cNvSpPr/>
          <p:nvPr/>
        </p:nvSpPr>
        <p:spPr>
          <a:xfrm>
            <a:off x="3241823" y="5072608"/>
            <a:ext cx="526315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500" dirty="0"/>
              <a:t>Valorização da contabilidade;</a:t>
            </a:r>
          </a:p>
          <a:p>
            <a:pPr algn="just"/>
            <a:r>
              <a:rPr lang="pt-BR" sz="2500" b="1" dirty="0"/>
              <a:t>Rotina de acompanhamento</a:t>
            </a:r>
            <a:r>
              <a:rPr lang="pt-BR" b="1" dirty="0"/>
              <a:t>.</a:t>
            </a:r>
          </a:p>
        </p:txBody>
      </p:sp>
      <p:pic>
        <p:nvPicPr>
          <p:cNvPr id="11" name="Espaço Reservado para Conteúdo 4">
            <a:extLst>
              <a:ext uri="{FF2B5EF4-FFF2-40B4-BE49-F238E27FC236}">
                <a16:creationId xmlns:a16="http://schemas.microsoft.com/office/drawing/2014/main" id="{1ABDDD2F-7FBD-487A-8644-F11D1EEAE8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715" y="846595"/>
            <a:ext cx="8694224" cy="4096466"/>
          </a:xfrm>
        </p:spPr>
      </p:pic>
    </p:spTree>
    <p:extLst>
      <p:ext uri="{BB962C8B-B14F-4D97-AF65-F5344CB8AC3E}">
        <p14:creationId xmlns:p14="http://schemas.microsoft.com/office/powerpoint/2010/main" val="2779843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Plano de Logística</a:t>
            </a:r>
          </a:p>
        </p:txBody>
      </p:sp>
      <p:cxnSp>
        <p:nvCxnSpPr>
          <p:cNvPr id="11" name="Conector reto 10" descr="Divisor de slide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9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D4E22DA-ADFD-428C-A925-9277D9620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6992" y="6120320"/>
            <a:ext cx="762066" cy="73768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7428B74-6415-4AFF-9B56-3498A8CB1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998" y="152543"/>
            <a:ext cx="2133785" cy="53649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36415F6-ACA7-4641-A63B-9F6796C21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068" y="1143457"/>
            <a:ext cx="10018615" cy="485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495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Plano de Produção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2000" y="948794"/>
            <a:ext cx="11339513" cy="360000"/>
          </a:xfrm>
        </p:spPr>
        <p:txBody>
          <a:bodyPr rtlCol="0"/>
          <a:lstStyle/>
          <a:p>
            <a:pPr rtl="0"/>
            <a:r>
              <a:rPr lang="pt-BR" dirty="0"/>
              <a:t> </a:t>
            </a:r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10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3E1F5A8-5B6D-43AE-ADC0-22DE999B6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6992" y="6120320"/>
            <a:ext cx="762066" cy="73768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C410CD9-902E-41D7-801D-ADDAE398D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450" y="155857"/>
            <a:ext cx="2133785" cy="53649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633C2A9-7A88-45AE-A3F9-B279D13F79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56" y="1012498"/>
            <a:ext cx="10058400" cy="503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264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795"/>
            <a:ext cx="10098158" cy="1032597"/>
          </a:xfrm>
        </p:spPr>
        <p:txBody>
          <a:bodyPr/>
          <a:lstStyle/>
          <a:p>
            <a:r>
              <a:rPr lang="pt-BR" sz="3600" dirty="0"/>
              <a:t>Apresentação Resute :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pt-BR" smtClean="0"/>
              <a:pPr/>
              <a:t>11</a:t>
            </a:fld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39899FD-B101-40D2-BF2C-646E2DB1D0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703" t="17825" r="31914" b="22239"/>
          <a:stretch/>
        </p:blipFill>
        <p:spPr>
          <a:xfrm>
            <a:off x="153857" y="1333822"/>
            <a:ext cx="4322590" cy="328503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BD49C3-D304-4424-A7B6-4ADA6DD81C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121" t="88169" r="33437" b="9951"/>
          <a:stretch/>
        </p:blipFill>
        <p:spPr>
          <a:xfrm>
            <a:off x="689113" y="5704718"/>
            <a:ext cx="6016487" cy="40519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8B8CF6E-2638-4F34-884B-452AAF743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6992" y="6120320"/>
            <a:ext cx="762066" cy="73768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0BC1054-F296-4978-9876-86CA09948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0354" y="206456"/>
            <a:ext cx="2133785" cy="536494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25A831E1-3F32-4C93-9B39-7902E9A95AEC}"/>
              </a:ext>
            </a:extLst>
          </p:cNvPr>
          <p:cNvSpPr txBox="1"/>
          <p:nvPr/>
        </p:nvSpPr>
        <p:spPr>
          <a:xfrm>
            <a:off x="8257004" y="3864809"/>
            <a:ext cx="31866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Aldhabi" panose="020B0604020202020204" pitchFamily="2" charset="-78"/>
                <a:cs typeface="Aldhabi" panose="020B0604020202020204" pitchFamily="2" charset="-78"/>
              </a:rPr>
              <a:t>Contato Comercial </a:t>
            </a:r>
            <a:r>
              <a:rPr lang="pt-BR" sz="3200" dirty="0">
                <a:latin typeface="Aldhabi" panose="020B0604020202020204" pitchFamily="2" charset="-78"/>
                <a:cs typeface="Aldhabi" panose="020B0604020202020204" pitchFamily="2" charset="-78"/>
              </a:rPr>
              <a:t>:</a:t>
            </a:r>
          </a:p>
          <a:p>
            <a:r>
              <a:rPr lang="pt-BR" sz="3200" dirty="0">
                <a:latin typeface="Aldhabi" panose="020B0604020202020204" pitchFamily="2" charset="-78"/>
                <a:cs typeface="Aldhabi" panose="020B0604020202020204" pitchFamily="2" charset="-78"/>
              </a:rPr>
              <a:t> Silmar:  (62) 99111-1111</a:t>
            </a:r>
          </a:p>
          <a:p>
            <a:r>
              <a:rPr lang="pt-BR" sz="3200" dirty="0">
                <a:latin typeface="Aldhabi" panose="020B0604020202020204" pitchFamily="2" charset="-78"/>
                <a:cs typeface="Aldhabi" panose="020B0604020202020204" pitchFamily="2" charset="-78"/>
              </a:rPr>
              <a:t>Juliano (61) 98411-6622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AD930D2-0EDE-4485-AA73-DB4558FA1E54}"/>
              </a:ext>
            </a:extLst>
          </p:cNvPr>
          <p:cNvSpPr/>
          <p:nvPr/>
        </p:nvSpPr>
        <p:spPr>
          <a:xfrm>
            <a:off x="4476447" y="1249745"/>
            <a:ext cx="728355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b="1" i="1" dirty="0"/>
          </a:p>
          <a:p>
            <a:r>
              <a:rPr lang="pt-BR" b="1" dirty="0"/>
              <a:t>Consultorias e Assessorias Empresariais: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i="1" dirty="0"/>
              <a:t>Finanças e Planejamento Estratégico;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i="1" dirty="0"/>
              <a:t> Engenharia  da Produção e Logística.</a:t>
            </a:r>
          </a:p>
          <a:p>
            <a:r>
              <a:rPr lang="pt-BR" b="1" dirty="0"/>
              <a:t>Projetos Personalizados: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i="1" dirty="0"/>
              <a:t>Layout para empresas do  varejo e da indústria;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i="1" dirty="0"/>
              <a:t>Design de Ambientes e Comunicação (Identidade Visual);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i="1" dirty="0"/>
              <a:t>Melhoria de Processos  e  Programação e Controle da Produção.</a:t>
            </a:r>
          </a:p>
          <a:p>
            <a:r>
              <a:rPr lang="pt-BR" b="1" dirty="0"/>
              <a:t>Palestras e Treinamentos: </a:t>
            </a:r>
          </a:p>
          <a:p>
            <a:endParaRPr lang="pt-BR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0A5933F7-4497-4240-871F-94008937F2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599" t="90079" r="33437" b="6873"/>
          <a:stretch/>
        </p:blipFill>
        <p:spPr>
          <a:xfrm>
            <a:off x="810419" y="6120320"/>
            <a:ext cx="5629194" cy="55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5358_TF16411250.potx" id="{ADA3E8C3-89B5-42F4-B40B-445B02320158}" vid="{73F44004-0E06-4849-A377-12E0D1D74C9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2218FC-8412-44B9-9E82-D51F1F531141}">
  <ds:schemaRefs>
    <ds:schemaRef ds:uri="http://schemas.microsoft.com/sharepoint/v3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6dc4bcd6-49db-4c07-9060-8acfc67cef9f"/>
    <ds:schemaRef ds:uri="http://schemas.microsoft.com/office/infopath/2007/PartnerControls"/>
    <ds:schemaRef ds:uri="http://purl.org/dc/terms/"/>
    <ds:schemaRef ds:uri="fb0879af-3eba-417a-a55a-ffe6dcd6ca77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64A4C9D-F801-4923-BC6D-E0006F512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brilhante de negócios</Template>
  <TotalTime>805</TotalTime>
  <Words>427</Words>
  <Application>Microsoft Office PowerPoint</Application>
  <PresentationFormat>Widescreen</PresentationFormat>
  <Paragraphs>70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Aldhabi</vt:lpstr>
      <vt:lpstr>Arial</vt:lpstr>
      <vt:lpstr>Calibri</vt:lpstr>
      <vt:lpstr>Candara</vt:lpstr>
      <vt:lpstr>Corbel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Planejamento Estratégico</vt:lpstr>
      <vt:lpstr>Plano de Marketing</vt:lpstr>
      <vt:lpstr>Plano de Gestão de Pessoas</vt:lpstr>
      <vt:lpstr>Plano Financeiro</vt:lpstr>
      <vt:lpstr>Plano de Contabilidade</vt:lpstr>
      <vt:lpstr>Plano de Logística</vt:lpstr>
      <vt:lpstr>Plano de Produção</vt:lpstr>
      <vt:lpstr>Apresentação Resute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 REGIONAL  DO  GUIA:  PLANEJAMENTO  ESTRATÉGICO   CAMINHO  PARA   A  RETOMADA DA ECONOMIA</dc:title>
  <dc:creator>Juliano Azd</dc:creator>
  <cp:lastModifiedBy>Marcio Luis</cp:lastModifiedBy>
  <cp:revision>41</cp:revision>
  <cp:lastPrinted>2021-11-23T13:10:56Z</cp:lastPrinted>
  <dcterms:created xsi:type="dcterms:W3CDTF">2021-11-15T15:10:51Z</dcterms:created>
  <dcterms:modified xsi:type="dcterms:W3CDTF">2021-11-23T16:37:21Z</dcterms:modified>
</cp:coreProperties>
</file>