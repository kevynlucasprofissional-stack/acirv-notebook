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9469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charset="0"/>
        <a:ea typeface="+mn-ea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charset="0"/>
        <a:ea typeface="+mn-ea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charset="0"/>
        <a:ea typeface="+mn-ea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charset="0"/>
        <a:ea typeface="+mn-ea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00"/>
    <a:srgbClr val="0066FF"/>
    <a:srgbClr val="0099FF"/>
    <a:srgbClr val="99CCFF"/>
    <a:srgbClr val="3366CC"/>
    <a:srgbClr val="CCECFF"/>
    <a:srgbClr val="0033CC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0" autoAdjust="0"/>
    <p:restoredTop sz="83371" autoAdjust="0"/>
  </p:normalViewPr>
  <p:slideViewPr>
    <p:cSldViewPr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3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738" tIns="46368" rIns="92738" bIns="46368" numCol="1" anchor="t" anchorCtr="0" compatLnSpc="1">
            <a:prstTxWarp prst="textNoShape">
              <a:avLst/>
            </a:prstTxWarp>
          </a:bodyPr>
          <a:lstStyle>
            <a:lvl1pPr defTabSz="925513">
              <a:defRPr kumimoji="0"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7000" y="0"/>
            <a:ext cx="3009900" cy="463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738" tIns="46368" rIns="92738" bIns="46368" numCol="1" anchor="t" anchorCtr="0" compatLnSpc="1">
            <a:prstTxWarp prst="textNoShape">
              <a:avLst/>
            </a:prstTxWarp>
          </a:bodyPr>
          <a:lstStyle>
            <a:lvl1pPr algn="r" defTabSz="925513">
              <a:defRPr kumimoji="0"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25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5513" y="4410075"/>
            <a:ext cx="5095875" cy="4176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738" tIns="46368" rIns="92738" bIns="4636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os estilos do texto mestre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09900" cy="463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738" tIns="46368" rIns="92738" bIns="46368" numCol="1" anchor="b" anchorCtr="0" compatLnSpc="1">
            <a:prstTxWarp prst="textNoShape">
              <a:avLst/>
            </a:prstTxWarp>
          </a:bodyPr>
          <a:lstStyle>
            <a:lvl1pPr defTabSz="925513">
              <a:defRPr kumimoji="0"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7000" y="8820150"/>
            <a:ext cx="3009900" cy="463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738" tIns="46368" rIns="92738" bIns="46368" numCol="1" anchor="b" anchorCtr="0" compatLnSpc="1">
            <a:prstTxWarp prst="textNoShape">
              <a:avLst/>
            </a:prstTxWarp>
          </a:bodyPr>
          <a:lstStyle>
            <a:lvl1pPr algn="r" defTabSz="925513">
              <a:defRPr kumimoji="0" sz="1200">
                <a:latin typeface="Times New Roman" pitchFamily="18" charset="0"/>
              </a:defRPr>
            </a:lvl1pPr>
          </a:lstStyle>
          <a:p>
            <a:fld id="{CB18E71E-16D9-4D77-8C52-F48D7C648EE3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8E71E-16D9-4D77-8C52-F48D7C648EE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93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1828800" y="2173288"/>
            <a:ext cx="4954588" cy="1219200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429000"/>
            <a:ext cx="4953000" cy="1868488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898C900-8BB9-4FAF-8DA3-4AB97B10F6E5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BC0377-16A7-4EBB-B0E2-E3BB3D94E658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E31B63-D9C6-4518-8292-BCB6A283CD1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371600" y="1676400"/>
            <a:ext cx="33528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876800" y="1676400"/>
            <a:ext cx="33528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735B70-584A-4452-B36C-5FFD9EB1A419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660D1C-218D-4CD9-AC82-196509FDE67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FAA3AE-BE67-461C-BC91-BF37F026FA94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B8B913-33FA-4CDD-A77C-5C1151D83B3A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5F80B-9940-4947-84F5-90B15E96542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E18F25-D45C-46D9-9261-124EE8D55AC5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EAC04-7502-4E61-8E9C-72ECB90424EF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381000"/>
            <a:ext cx="1714500" cy="55626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370013" y="381000"/>
            <a:ext cx="4992687" cy="55626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36377B-82FF-484C-9974-4C9D342E8222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81000"/>
            <a:ext cx="685958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7" rIns="92075" bIns="46037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 estilo do título mestre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1600" y="1676400"/>
            <a:ext cx="6858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7" rIns="92075" bIns="4603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os estilos do texto mestre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228600" y="6326188"/>
            <a:ext cx="1905000" cy="37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7" rIns="92075" bIns="46037" numCol="1" anchor="ctr" anchorCtr="0" compatLnSpc="1">
            <a:prstTxWarp prst="textNoShape">
              <a:avLst/>
            </a:prstTxWarp>
          </a:bodyPr>
          <a:lstStyle>
            <a:lvl1pPr eaLnBrk="1" hangingPunct="1">
              <a:defRPr kumimoji="0" sz="1200"/>
            </a:lvl1pPr>
          </a:lstStyle>
          <a:p>
            <a:endParaRPr lang="en-US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0" y="6324600"/>
            <a:ext cx="28956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7" rIns="92075" bIns="46037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/>
            </a:lvl1pPr>
          </a:lstStyle>
          <a:p>
            <a:endParaRPr lang="en-US"/>
          </a:p>
        </p:txBody>
      </p:sp>
      <p:sp>
        <p:nvSpPr>
          <p:cNvPr id="1038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410200" y="6324600"/>
            <a:ext cx="19050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075" tIns="46037" rIns="92075" bIns="46037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b="1"/>
            </a:lvl1pPr>
          </a:lstStyle>
          <a:p>
            <a:fld id="{BD435BFD-AACE-486B-A66C-88508E80FFD0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Tahoma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Tahoma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Tahoma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Tahoma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Tahoma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Tahoma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Tahoma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Tahoma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200">
          <a:solidFill>
            <a:srgbClr val="000000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rgbClr val="000000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rgbClr val="000000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rgbClr val="000000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rgbClr val="000000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rgbClr val="000000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rgbClr val="000000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LOGOACIRV-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85852" y="928670"/>
            <a:ext cx="7429520" cy="3538943"/>
          </a:xfrm>
          <a:prstGeom prst="rect">
            <a:avLst/>
          </a:prstGeom>
        </p:spPr>
      </p:pic>
      <p:sp>
        <p:nvSpPr>
          <p:cNvPr id="11" name="Subtítulo 10"/>
          <p:cNvSpPr>
            <a:spLocks noGrp="1"/>
          </p:cNvSpPr>
          <p:nvPr>
            <p:ph type="subTitle" sz="quarter" idx="1"/>
          </p:nvPr>
        </p:nvSpPr>
        <p:spPr>
          <a:xfrm>
            <a:off x="1857356" y="4286256"/>
            <a:ext cx="5786478" cy="857256"/>
          </a:xfrm>
        </p:spPr>
        <p:txBody>
          <a:bodyPr/>
          <a:lstStyle/>
          <a:p>
            <a:r>
              <a:rPr lang="pt-BR" sz="3800" b="1" dirty="0"/>
              <a:t>30 ANOS DE HISTÓRIA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ixaDeTexto 18"/>
          <p:cNvSpPr txBox="1"/>
          <p:nvPr/>
        </p:nvSpPr>
        <p:spPr>
          <a:xfrm>
            <a:off x="642910" y="424506"/>
            <a:ext cx="8215370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pt-BR" sz="1900" dirty="0">
                <a:solidFill>
                  <a:srgbClr val="000000"/>
                </a:solidFill>
              </a:rPr>
              <a:t>	A Associação Comercial e Industrial de Rio Verde – ACIRV nasceu do uma ideal de um grupo de empresários que sonhavam com uma entidade representativa. O sonho que se tornou realidade em agosto de 1984. No dia 06 de junho de 1984, reuniram se os empresários, Lázaro José de Almeida, Jones </a:t>
            </a:r>
            <a:r>
              <a:rPr lang="pt-BR" sz="1900" dirty="0" err="1">
                <a:solidFill>
                  <a:srgbClr val="000000"/>
                </a:solidFill>
              </a:rPr>
              <a:t>Emrich</a:t>
            </a:r>
            <a:r>
              <a:rPr lang="pt-BR" sz="1900" dirty="0">
                <a:solidFill>
                  <a:srgbClr val="000000"/>
                </a:solidFill>
              </a:rPr>
              <a:t>, </a:t>
            </a:r>
            <a:r>
              <a:rPr lang="pt-BR" sz="1900" dirty="0" err="1">
                <a:solidFill>
                  <a:srgbClr val="000000"/>
                </a:solidFill>
              </a:rPr>
              <a:t>Idalício</a:t>
            </a:r>
            <a:r>
              <a:rPr lang="pt-BR" sz="1900" dirty="0">
                <a:solidFill>
                  <a:srgbClr val="000000"/>
                </a:solidFill>
              </a:rPr>
              <a:t> Álvares de Aquino, Guaracy Leão Macedo, Clovis Silva Freitas, José Maurício Leão, José Antônio Ribeiro, Ivo Lacerda dos Santos e Oscar Antônio </a:t>
            </a:r>
            <a:r>
              <a:rPr lang="pt-BR" sz="1900" dirty="0" err="1">
                <a:solidFill>
                  <a:srgbClr val="000000"/>
                </a:solidFill>
              </a:rPr>
              <a:t>Hayala</a:t>
            </a:r>
            <a:r>
              <a:rPr lang="pt-BR" sz="1900" dirty="0">
                <a:solidFill>
                  <a:srgbClr val="000000"/>
                </a:solidFill>
              </a:rPr>
              <a:t>. O grupo reuniu no escritório da empresa Sr. Guaracy Leão Macedo, na ocasião discutiram a fundação da entidade. Após a elaboração do estatuto que ficou a cargo do empresário Jones </a:t>
            </a:r>
            <a:r>
              <a:rPr lang="pt-BR" sz="1900" dirty="0" err="1">
                <a:solidFill>
                  <a:srgbClr val="000000"/>
                </a:solidFill>
              </a:rPr>
              <a:t>Emrich</a:t>
            </a:r>
            <a:r>
              <a:rPr lang="pt-BR" sz="1900" dirty="0">
                <a:solidFill>
                  <a:srgbClr val="000000"/>
                </a:solidFill>
              </a:rPr>
              <a:t> reuniu-se o grupo de empresários no dia 07 de Julho para a discussão e aprovação do estatuto. Tendo sido aprovado, uma nova reunião no dia 12 de Agosto aconteceu como pauta a fundação da ACIRV sendo convidados todos empresários de Rio Verde e  Associações filiadas na FACIEG e vários dirigentes de Clube Lojistas de Goiás . Compareceram 12 empresários de Rio Verde e 18 de outras cidades, com a presença do presidente da FACIEG. Após todo trabalho desenvolvido, em 04 de Agosto de 1986, foram apresentadas a chapa para a escolha do primeiro presidente da associação, sendo uma única chapa encabeçada pelo empresário Lázaro José de Almeida.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endParaRPr lang="pt-BR" sz="19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24" y="357166"/>
            <a:ext cx="6215106" cy="714372"/>
          </a:xfrm>
        </p:spPr>
        <p:txBody>
          <a:bodyPr/>
          <a:lstStyle/>
          <a:p>
            <a:pPr algn="ctr"/>
            <a:r>
              <a:rPr lang="pt-BR" dirty="0"/>
              <a:t>LAZARO JOSÉ DE ALMEIDA</a:t>
            </a:r>
            <a:endParaRPr lang="en-US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571472" y="2390780"/>
            <a:ext cx="8072494" cy="4181492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700" dirty="0"/>
              <a:t>Empossado em 17 de Agosto, com uma diretoria formada por 12 empresários locais, além do conselho consultivo com mais de 50 empresários locais.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700" dirty="0"/>
              <a:t>Lázaro José teve como principal ação a promoção de reuniões empresarias com intuito de fortalecer a classe, além da parceria firmada com a Federação das Indústrias de Goiás – FACIEG 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700" dirty="0"/>
              <a:t>Na época, ainda sem sede a associação, os grupos de empresários se reuniam na hora do almoço para discutirem as principais demandas do setor.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700" dirty="0"/>
              <a:t>O presidente deixou o cargo no mês de fevereiro de 1988 por motivos particulares, passando o cargo para o vice-presidente Sr. Jones </a:t>
            </a:r>
            <a:r>
              <a:rPr lang="pt-BR" sz="1700" dirty="0" err="1"/>
              <a:t>Emrich</a:t>
            </a:r>
            <a:r>
              <a:rPr lang="pt-BR" sz="1700" dirty="0"/>
              <a:t>. 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pt-BR" sz="1700" dirty="0"/>
          </a:p>
        </p:txBody>
      </p:sp>
      <p:sp>
        <p:nvSpPr>
          <p:cNvPr id="7" name="Espaço Reservado para Conteúdo 5"/>
          <p:cNvSpPr txBox="1">
            <a:spLocks/>
          </p:cNvSpPr>
          <p:nvPr/>
        </p:nvSpPr>
        <p:spPr bwMode="auto">
          <a:xfrm>
            <a:off x="642910" y="1214422"/>
            <a:ext cx="6357982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7" rIns="92075" bIns="46037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Empossado em 17 de Agosto, com uma diretoria formada por 12 empresários locais, além do conselho consultivo com mais de 50 empresários locais. </a:t>
            </a:r>
          </a:p>
        </p:txBody>
      </p:sp>
      <p:pic>
        <p:nvPicPr>
          <p:cNvPr id="2050" name="Picture 2" descr="C:\Users\ACIRV\Desktop\DSCN0234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15206" y="357166"/>
            <a:ext cx="1571628" cy="20955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480" y="142852"/>
            <a:ext cx="5786478" cy="714372"/>
          </a:xfrm>
        </p:spPr>
        <p:txBody>
          <a:bodyPr/>
          <a:lstStyle/>
          <a:p>
            <a:pPr algn="ctr"/>
            <a:br>
              <a:rPr lang="pt-BR" dirty="0"/>
            </a:br>
            <a:r>
              <a:rPr lang="pt-BR" dirty="0"/>
              <a:t>JONES EMRICH</a:t>
            </a:r>
            <a:endParaRPr lang="en-US" dirty="0"/>
          </a:p>
        </p:txBody>
      </p:sp>
      <p:sp>
        <p:nvSpPr>
          <p:cNvPr id="17" name="Espaço Reservado para Conteúdo 5"/>
          <p:cNvSpPr>
            <a:spLocks noGrp="1"/>
          </p:cNvSpPr>
          <p:nvPr>
            <p:ph idx="1"/>
          </p:nvPr>
        </p:nvSpPr>
        <p:spPr>
          <a:xfrm>
            <a:off x="500034" y="2428892"/>
            <a:ext cx="8072494" cy="4286256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2000" dirty="0"/>
              <a:t>Permaneceu durante 6 meses na presidência da casa. Deu continuidade aos trabalhos. Na época, a 1ª diretoria filiou no total 68 empresas na associação.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2000" dirty="0"/>
              <a:t>Em 10 de Agosto de 1988 o Sr. Jones anuncia a composição da nova chapa formada, tendo como candidato a presidente da ACIRV o empresário Evaristo Lira Baraúna. No dia 19 de Agosto de 1.988, O Salão nobre da COMIGO foi palco da sessão solene de posse da nova diretoria da ACIRV, durante o biênio 1988/1990 sendo eleito presidente Evaristo Baraúna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endParaRPr lang="pt-BR" sz="2000" dirty="0"/>
          </a:p>
        </p:txBody>
      </p:sp>
      <p:pic>
        <p:nvPicPr>
          <p:cNvPr id="1026" name="Picture 2" descr="C:\Users\ACIRV\Desktop\DSCN0242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16" y="333353"/>
            <a:ext cx="1643066" cy="2190755"/>
          </a:xfrm>
          <a:prstGeom prst="rect">
            <a:avLst/>
          </a:prstGeom>
          <a:noFill/>
        </p:spPr>
      </p:pic>
      <p:sp>
        <p:nvSpPr>
          <p:cNvPr id="6" name="Espaço Reservado para Conteúdo 5"/>
          <p:cNvSpPr txBox="1">
            <a:spLocks/>
          </p:cNvSpPr>
          <p:nvPr/>
        </p:nvSpPr>
        <p:spPr bwMode="auto">
          <a:xfrm>
            <a:off x="642910" y="928670"/>
            <a:ext cx="6072230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7" rIns="92075" bIns="46037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Permaneceu durante 6 meses na presidência da casa. Deu continuidade aos trabalhos. Na época, a 1ª diretoria filiou no total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38" y="500042"/>
            <a:ext cx="5786478" cy="714372"/>
          </a:xfrm>
        </p:spPr>
        <p:txBody>
          <a:bodyPr/>
          <a:lstStyle/>
          <a:p>
            <a:pPr algn="ctr"/>
            <a:br>
              <a:rPr lang="pt-BR" dirty="0"/>
            </a:br>
            <a:r>
              <a:rPr lang="pt-BR" dirty="0"/>
              <a:t> EVARISTO LIRA BARAÚNA</a:t>
            </a:r>
            <a:endParaRPr lang="en-US" dirty="0"/>
          </a:p>
        </p:txBody>
      </p:sp>
      <p:sp>
        <p:nvSpPr>
          <p:cNvPr id="10" name="Espaço Reservado para Conteúdo 5"/>
          <p:cNvSpPr>
            <a:spLocks noGrp="1"/>
          </p:cNvSpPr>
          <p:nvPr>
            <p:ph idx="1"/>
          </p:nvPr>
        </p:nvSpPr>
        <p:spPr>
          <a:xfrm>
            <a:off x="357158" y="2500306"/>
            <a:ext cx="8072494" cy="4071966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sz="1600" dirty="0"/>
              <a:t>Em sua gestão, Evaristo celebrou uma parceira com o Instituto </a:t>
            </a:r>
            <a:r>
              <a:rPr lang="pt-BR" sz="1600" dirty="0" err="1"/>
              <a:t>Euvaldo</a:t>
            </a:r>
            <a:r>
              <a:rPr lang="pt-BR" sz="1600" dirty="0"/>
              <a:t> </a:t>
            </a:r>
            <a:r>
              <a:rPr lang="pt-BR" sz="1600" dirty="0" err="1"/>
              <a:t>Lodi</a:t>
            </a:r>
            <a:r>
              <a:rPr lang="pt-BR" sz="1600" dirty="0"/>
              <a:t> – IEL, esta acordada com os demais diretores. Toda diretoria se reuniam semanalmente no escritório da associação que funcionava no centro da cidade. Na época os diretores e empresários da diretoria fizeram doações de dinheiro e móveis para a nova sede da entidade.</a:t>
            </a:r>
          </a:p>
          <a:p>
            <a:pPr algn="just">
              <a:lnSpc>
                <a:spcPct val="150000"/>
              </a:lnSpc>
            </a:pPr>
            <a:r>
              <a:rPr lang="pt-BR" sz="1600" dirty="0"/>
              <a:t>Com uma gestão marcada de encontro e reuniões, Evaristo estava sempre em contato direto com todos os representantes dos seguimentos comercias do município, desde a grande até as pequenas empresas.</a:t>
            </a:r>
          </a:p>
          <a:p>
            <a:pPr algn="just">
              <a:lnSpc>
                <a:spcPct val="150000"/>
              </a:lnSpc>
            </a:pPr>
            <a:r>
              <a:rPr lang="pt-BR" sz="1600" dirty="0"/>
              <a:t>O Sr. Evaristo Baraúna. Durante seu pleito não mediu esforços para tornar a ACIRV uma forte entidade, que atenderia as necessidades da comunidade empresarial. </a:t>
            </a:r>
          </a:p>
          <a:p>
            <a:pPr algn="just">
              <a:lnSpc>
                <a:spcPct val="150000"/>
              </a:lnSpc>
            </a:pPr>
            <a:endParaRPr lang="pt-BR" sz="1600" dirty="0"/>
          </a:p>
        </p:txBody>
      </p:sp>
      <p:sp>
        <p:nvSpPr>
          <p:cNvPr id="6" name="Espaço Reservado para Conteúdo 5"/>
          <p:cNvSpPr txBox="1">
            <a:spLocks/>
          </p:cNvSpPr>
          <p:nvPr/>
        </p:nvSpPr>
        <p:spPr bwMode="auto">
          <a:xfrm>
            <a:off x="428596" y="1357298"/>
            <a:ext cx="6429420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7" rIns="92075" bIns="46037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 sua gestão, Evaristo celebrou uma parceira com o Instituto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Euvaldo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Lodi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IEL, esta acordada com os demais diretores. Toda diretoria se reuniam semanalmente</a:t>
            </a:r>
          </a:p>
        </p:txBody>
      </p:sp>
      <p:pic>
        <p:nvPicPr>
          <p:cNvPr id="19458" name="Picture 2" descr="http://www.sophusatualiza.com.br/img_sophusatualiza_tinymce/DSCN0246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16" y="500042"/>
            <a:ext cx="1571628" cy="20955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472" y="500042"/>
            <a:ext cx="8001056" cy="592935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sz="2000" dirty="0"/>
              <a:t>Com passar dos dias, todos os diretores acharam por bem alugar uma sede mais espaçosa, assim foi feito, a entidade se instalou nos fundos da Igreja Matriz de Rio Verde. </a:t>
            </a:r>
          </a:p>
          <a:p>
            <a:pPr algn="just">
              <a:lnSpc>
                <a:spcPct val="150000"/>
              </a:lnSpc>
            </a:pPr>
            <a:r>
              <a:rPr lang="pt-BR" sz="2000" dirty="0"/>
              <a:t>A instalação do Batalhão do Corpo de Bombeiros, a criação de um distrito industrial próximo a saída de Goiânia e a instalação do SENAC, foi fruto da gestão.</a:t>
            </a:r>
          </a:p>
          <a:p>
            <a:pPr algn="just">
              <a:lnSpc>
                <a:spcPct val="150000"/>
              </a:lnSpc>
            </a:pPr>
            <a:r>
              <a:rPr lang="pt-BR" sz="2000" dirty="0"/>
              <a:t>Evaristo realizou ainda, a 1ª edição do baile do empresário. Trouxe também a Junta Comercial para o município. Promoveu a 1ª edição da tradicional feira SUDOEXPO, que aconteceu no parque de exposição de Rio Verde.   </a:t>
            </a:r>
          </a:p>
          <a:p>
            <a:pPr algn="just">
              <a:lnSpc>
                <a:spcPct val="150000"/>
              </a:lnSpc>
            </a:pPr>
            <a:r>
              <a:rPr lang="pt-BR" sz="2000" dirty="0"/>
              <a:t>Em seguida, em 26 de julho de 1990 assumi a presidência da ACIRV pelo período de 1 ano o Sr. José Walter Alves </a:t>
            </a:r>
            <a:r>
              <a:rPr lang="pt-BR" sz="2000" dirty="0" err="1"/>
              <a:t>Louly</a:t>
            </a:r>
            <a:r>
              <a:rPr lang="pt-BR" sz="2000" dirty="0"/>
              <a:t> (in </a:t>
            </a:r>
            <a:r>
              <a:rPr lang="pt-BR" sz="2000" dirty="0" err="1"/>
              <a:t>memorian</a:t>
            </a:r>
            <a:r>
              <a:rPr lang="pt-BR" sz="2000" dirty="0"/>
              <a:t>).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0" y="142852"/>
            <a:ext cx="6715172" cy="1214422"/>
          </a:xfrm>
        </p:spPr>
        <p:txBody>
          <a:bodyPr/>
          <a:lstStyle/>
          <a:p>
            <a:pPr algn="ctr"/>
            <a:br>
              <a:rPr lang="pt-BR" dirty="0"/>
            </a:br>
            <a:r>
              <a:rPr lang="en-US" dirty="0"/>
              <a:t>JOSÉ WALTER ALVES LOULY </a:t>
            </a:r>
            <a:br>
              <a:rPr lang="en-US" dirty="0"/>
            </a:br>
            <a:r>
              <a:rPr lang="en-US" dirty="0"/>
              <a:t>(in </a:t>
            </a:r>
            <a:r>
              <a:rPr lang="en-US" dirty="0" err="1"/>
              <a:t>memorian</a:t>
            </a:r>
            <a:r>
              <a:rPr lang="en-US" dirty="0"/>
              <a:t>)</a:t>
            </a:r>
            <a:endParaRPr lang="pt-BR" dirty="0"/>
          </a:p>
        </p:txBody>
      </p:sp>
      <p:sp>
        <p:nvSpPr>
          <p:cNvPr id="9" name="Espaço Reservado para Conteúdo 5"/>
          <p:cNvSpPr>
            <a:spLocks noGrp="1"/>
          </p:cNvSpPr>
          <p:nvPr>
            <p:ph idx="1"/>
          </p:nvPr>
        </p:nvSpPr>
        <p:spPr>
          <a:xfrm>
            <a:off x="214282" y="2428868"/>
            <a:ext cx="8572528" cy="4214842"/>
          </a:xfrm>
        </p:spPr>
        <p:txBody>
          <a:bodyPr/>
          <a:lstStyle/>
          <a:p>
            <a:pPr algn="just"/>
            <a:r>
              <a:rPr lang="pt-BR" sz="1900" dirty="0"/>
              <a:t>No período de sua gestão, a prefeitura municipal desenvolveu um programa para menores, onde pediu o apoio dos empresários para que os mesmos empregassem os jovens em suas empresas, sendo está uma causa abraçada pelos membros da diretoria.  </a:t>
            </a:r>
          </a:p>
          <a:p>
            <a:pPr algn="just"/>
            <a:r>
              <a:rPr lang="pt-BR" sz="1900" dirty="0"/>
              <a:t>Uma palestra realizada sobre Indústrias e Potencialidades foi realizada em sua gestão, esta ministrada por um representante da Associação Comercial e Industrial de Maringá – ACIM que visitou a associação.  </a:t>
            </a:r>
          </a:p>
          <a:p>
            <a:pPr algn="just"/>
            <a:r>
              <a:rPr lang="pt-BR" sz="1900" dirty="0"/>
              <a:t>Na sua gestão, anúncio para a diretoria que a ACIRV havia ganhado uma área para a construção da sua sede própria, onde seria construído o Teatro Municipal. </a:t>
            </a:r>
          </a:p>
          <a:p>
            <a:pPr algn="just"/>
            <a:r>
              <a:rPr lang="pt-BR" sz="1900" dirty="0"/>
              <a:t>Por motivo de mudança de cidade, </a:t>
            </a:r>
            <a:r>
              <a:rPr lang="pt-BR" sz="1900" dirty="0" err="1"/>
              <a:t>Louly</a:t>
            </a:r>
            <a:r>
              <a:rPr lang="pt-BR" sz="1900" dirty="0"/>
              <a:t> não completou seus 2 anos na presidência, mudou-se para Goiânia, sendo substituído pelo seu vice-presidente Sr. José Lopes Ribeiro. 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endParaRPr lang="pt-BR" sz="1900" dirty="0"/>
          </a:p>
        </p:txBody>
      </p:sp>
      <p:pic>
        <p:nvPicPr>
          <p:cNvPr id="17410" name="Picture 2" descr="http://www.sophusatualiza.com.br/img_sophusatualiza_tinymce/DSCN0256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86644" y="357166"/>
            <a:ext cx="1500190" cy="2000255"/>
          </a:xfrm>
          <a:prstGeom prst="rect">
            <a:avLst/>
          </a:prstGeom>
          <a:noFill/>
        </p:spPr>
      </p:pic>
      <p:sp>
        <p:nvSpPr>
          <p:cNvPr id="5" name="Espaço Reservado para Conteúdo 5"/>
          <p:cNvSpPr txBox="1">
            <a:spLocks/>
          </p:cNvSpPr>
          <p:nvPr/>
        </p:nvSpPr>
        <p:spPr bwMode="auto">
          <a:xfrm>
            <a:off x="214282" y="1428736"/>
            <a:ext cx="7000924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7" rIns="92075" bIns="46037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mediou e participou de reuniões com os empresários e autoridades do município, na busca de fortalecer a categoria e angariar mais associados.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BR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Char char="•"/>
              <a:tabLst/>
              <a:defRPr/>
            </a:pPr>
            <a:endParaRPr kumimoji="0" lang="pt-BR" sz="1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"/>
          <p:cNvSpPr>
            <a:spLocks noGrp="1" noChangeArrowheads="1"/>
          </p:cNvSpPr>
          <p:nvPr>
            <p:ph type="title"/>
          </p:nvPr>
        </p:nvSpPr>
        <p:spPr>
          <a:xfrm>
            <a:off x="785786" y="71414"/>
            <a:ext cx="6715172" cy="714380"/>
          </a:xfrm>
        </p:spPr>
        <p:txBody>
          <a:bodyPr/>
          <a:lstStyle/>
          <a:p>
            <a:pPr algn="ctr"/>
            <a:r>
              <a:rPr lang="pt-BR" dirty="0"/>
              <a:t>JOSÉ LOPES RIBEIRO</a:t>
            </a:r>
          </a:p>
        </p:txBody>
      </p:sp>
      <p:sp>
        <p:nvSpPr>
          <p:cNvPr id="26" name="Espaço Reservado para Conteúdo 5"/>
          <p:cNvSpPr>
            <a:spLocks noGrp="1"/>
          </p:cNvSpPr>
          <p:nvPr>
            <p:ph idx="1"/>
          </p:nvPr>
        </p:nvSpPr>
        <p:spPr>
          <a:xfrm>
            <a:off x="285720" y="3000372"/>
            <a:ext cx="8572528" cy="378621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sz="1900" dirty="0"/>
              <a:t>Firmou um convênio com o SENAC para a promoção de palestras, sobre temas relevantes como, informatização, código do consumidor, entre outros, realizadas no auditório da Comigo. </a:t>
            </a:r>
          </a:p>
          <a:p>
            <a:pPr algn="just">
              <a:lnSpc>
                <a:spcPct val="150000"/>
              </a:lnSpc>
            </a:pPr>
            <a:r>
              <a:rPr lang="pt-BR" sz="1900" dirty="0"/>
              <a:t>O presidente realizou ainda reuniões com os moradores da Rafael Nascimento para discutirem sobre a construção do calçadão no local. </a:t>
            </a:r>
          </a:p>
          <a:p>
            <a:pPr algn="just">
              <a:lnSpc>
                <a:spcPct val="150000"/>
              </a:lnSpc>
            </a:pPr>
            <a:r>
              <a:rPr lang="pt-BR" sz="1900" dirty="0"/>
              <a:t>Em sua gestão, a ACIRV e a empresa de instalações TECNOPRON participou da realização da Exposição “Feira Country” promovida pelo Sindicato Rural de Rio Verde. </a:t>
            </a:r>
          </a:p>
        </p:txBody>
      </p:sp>
      <p:pic>
        <p:nvPicPr>
          <p:cNvPr id="16386" name="Picture 2" descr="http://www.sophusatualiza.com.br/img_sophusatualiza_tinymce/DSCN0257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65166" y="285728"/>
            <a:ext cx="1821668" cy="2428892"/>
          </a:xfrm>
          <a:prstGeom prst="rect">
            <a:avLst/>
          </a:prstGeom>
          <a:noFill/>
        </p:spPr>
      </p:pic>
      <p:sp>
        <p:nvSpPr>
          <p:cNvPr id="5" name="Espaço Reservado para Conteúdo 5"/>
          <p:cNvSpPr txBox="1">
            <a:spLocks/>
          </p:cNvSpPr>
          <p:nvPr/>
        </p:nvSpPr>
        <p:spPr bwMode="auto">
          <a:xfrm>
            <a:off x="357158" y="785794"/>
            <a:ext cx="6572296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7" rIns="92075" bIns="46037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Deu seqüência aos trabalhos. Promoveu uma reunião com toda diretoria para discutir o plano de ação da entidade classista, dando prioridade às reuniões semanais que aconteciam no restaurante casarão todas as quartas-feiras, realizadas no horário do almoço.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571472" y="642918"/>
            <a:ext cx="8286808" cy="607223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sz="1900" dirty="0"/>
              <a:t>Lutou pela criação de uma delegacia representativa, que atendesse diferentes segmentos. </a:t>
            </a:r>
          </a:p>
          <a:p>
            <a:pPr algn="just">
              <a:lnSpc>
                <a:spcPct val="150000"/>
              </a:lnSpc>
            </a:pPr>
            <a:r>
              <a:rPr lang="pt-BR" sz="1900" dirty="0"/>
              <a:t>Na época, a Ordem dos Advogados do Brasil – OAB, solicitou o apoio da ACIRV em uma campanha em relação às condições do presídio da cidade, este com excesso de presos. </a:t>
            </a:r>
          </a:p>
          <a:p>
            <a:pPr algn="just">
              <a:lnSpc>
                <a:spcPct val="150000"/>
              </a:lnSpc>
            </a:pPr>
            <a:r>
              <a:rPr lang="pt-BR" sz="1900" dirty="0"/>
              <a:t>Promoveu a 2ª edição da feira SUDOEXPO no mês de Junho de 92. No dia 14 de Abril, o diretor da ACIRV. </a:t>
            </a:r>
          </a:p>
          <a:p>
            <a:pPr algn="just">
              <a:lnSpc>
                <a:spcPct val="150000"/>
              </a:lnSpc>
            </a:pPr>
            <a:r>
              <a:rPr lang="pt-BR" sz="1900" dirty="0"/>
              <a:t>Neste mandato, a diretoria coordenou e realizou a instalação de 494 placas com denominações de ruas na cidade. </a:t>
            </a:r>
          </a:p>
          <a:p>
            <a:pPr algn="just">
              <a:lnSpc>
                <a:spcPct val="150000"/>
              </a:lnSpc>
            </a:pPr>
            <a:r>
              <a:rPr lang="pt-BR" sz="1900" dirty="0"/>
              <a:t>No final da sua gestão, Ribeiro Aprovou a utilização de 50% da liquidez da ACIRV para a compra de materiais para dar início à construção da nova sede da ACIRV. Chega a vez do presidente, Romeu </a:t>
            </a:r>
            <a:r>
              <a:rPr lang="pt-BR" sz="1900" dirty="0" err="1"/>
              <a:t>Bello</a:t>
            </a:r>
            <a:r>
              <a:rPr lang="pt-BR" sz="1900" dirty="0"/>
              <a:t> Macedo</a:t>
            </a:r>
          </a:p>
          <a:p>
            <a:pPr algn="just">
              <a:lnSpc>
                <a:spcPct val="150000"/>
              </a:lnSpc>
            </a:pPr>
            <a:endParaRPr lang="pt-BR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24" y="428604"/>
            <a:ext cx="6072230" cy="714380"/>
          </a:xfrm>
        </p:spPr>
        <p:txBody>
          <a:bodyPr/>
          <a:lstStyle/>
          <a:p>
            <a:pPr algn="ctr"/>
            <a:r>
              <a:rPr lang="pt-BR" dirty="0"/>
              <a:t>ROMEU BELLO MACEDO </a:t>
            </a:r>
          </a:p>
        </p:txBody>
      </p:sp>
      <p:sp>
        <p:nvSpPr>
          <p:cNvPr id="9" name="Espaço Reservado para Conteúdo 5"/>
          <p:cNvSpPr>
            <a:spLocks noGrp="1"/>
          </p:cNvSpPr>
          <p:nvPr>
            <p:ph idx="1"/>
          </p:nvPr>
        </p:nvSpPr>
        <p:spPr>
          <a:xfrm>
            <a:off x="285720" y="2928934"/>
            <a:ext cx="8572528" cy="314327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sz="1800" dirty="0"/>
              <a:t>Deu andamento nos treinamentos promovidos pela ACIRV em parceria com outras entidades. </a:t>
            </a:r>
          </a:p>
          <a:p>
            <a:pPr algn="just">
              <a:lnSpc>
                <a:spcPct val="150000"/>
              </a:lnSpc>
            </a:pPr>
            <a:r>
              <a:rPr lang="pt-BR" sz="1800" dirty="0"/>
              <a:t>Na época elaborou questionários onde solicitaram dos associados suas principais demandas, com objetivo de levantar suas principais necessidades, sendo estas, tratadas através de palestras, cursos entre outros. </a:t>
            </a:r>
          </a:p>
          <a:p>
            <a:pPr algn="just">
              <a:lnSpc>
                <a:spcPct val="150000"/>
              </a:lnSpc>
            </a:pPr>
            <a:r>
              <a:rPr lang="pt-BR" sz="1800" dirty="0"/>
              <a:t>Após eleição para prefeito, eleito na época, o Sr. Osório Santa Cruz, o presidente da ACIRV, achou por bem convidá-lo para participar das reuniões semanais que aconteciam semanalmente no restaurante casarão. 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714348" y="1285860"/>
            <a:ext cx="57150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700" dirty="0">
                <a:solidFill>
                  <a:srgbClr val="080808"/>
                </a:solidFill>
              </a:rPr>
              <a:t> </a:t>
            </a:r>
          </a:p>
          <a:p>
            <a:endParaRPr lang="pt-BR" sz="1700" dirty="0"/>
          </a:p>
        </p:txBody>
      </p:sp>
      <p:sp>
        <p:nvSpPr>
          <p:cNvPr id="6" name="Espaço Reservado para Conteúdo 5"/>
          <p:cNvSpPr txBox="1">
            <a:spLocks/>
          </p:cNvSpPr>
          <p:nvPr/>
        </p:nvSpPr>
        <p:spPr bwMode="auto">
          <a:xfrm>
            <a:off x="357158" y="1500174"/>
            <a:ext cx="6357982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7" rIns="92075" bIns="46037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Ao assumir as atividades, solicitou um encontro com o governador do estado de Goiás, para pressioná-lo sobre a instalação do Parque Industrial de Rio Verde. </a:t>
            </a:r>
          </a:p>
        </p:txBody>
      </p:sp>
      <p:pic>
        <p:nvPicPr>
          <p:cNvPr id="14338" name="Picture 2" descr="http://www.sophusatualiza.com.br/img_sophusatualiza_tinymce/DSCN0261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29454" y="285728"/>
            <a:ext cx="1785942" cy="23812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5"/>
          <p:cNvSpPr>
            <a:spLocks noGrp="1"/>
          </p:cNvSpPr>
          <p:nvPr>
            <p:ph idx="1"/>
          </p:nvPr>
        </p:nvSpPr>
        <p:spPr>
          <a:xfrm>
            <a:off x="285720" y="714356"/>
            <a:ext cx="8572528" cy="5500726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pt-BR" sz="1900" dirty="0"/>
              <a:t>Em uma reunião da diretoria destacou a possível vinda de um posto avançado do SEBRAE para Rio Verde, sendo o mesmo, instalado no prédio da ACIRV.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pt-BR" sz="1900" dirty="0"/>
              <a:t>Em outro encontro, Romeu anunciou aos demais colegas à construção da sede da entidade no terreno da Associação.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pt-BR" sz="1900" dirty="0"/>
              <a:t>O Ex. presidente participou também na época de uma reunião na companhia do prefeito, Sr. Osório para discutir a construção de um novo Fórum para de Rio Verde, pois, o município contava com 8 varas, mas somente 4 funcionavam, por falta de espaço físico na casa de leis. A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pt-BR" sz="1900" dirty="0"/>
              <a:t>Anunciou  em uma reunião que a prefeitura iniciaria o aterro do terreno para o início da nova sede da associação.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pt-BR" sz="1900" dirty="0"/>
              <a:t>Assinou convênio com SEBRAE.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pt-BR" sz="1900" dirty="0"/>
              <a:t>Realizou a feira </a:t>
            </a:r>
            <a:r>
              <a:rPr lang="pt-BR" sz="1900" dirty="0" err="1"/>
              <a:t>Sudoexpo</a:t>
            </a:r>
            <a:r>
              <a:rPr lang="pt-BR" sz="1900" dirty="0"/>
              <a:t>, Baile do Empresário, promoveu o Programa Engraxate. Logo em seguida, a ACIRV é administrada pelo Sr. Jorge </a:t>
            </a:r>
            <a:r>
              <a:rPr lang="pt-BR" sz="1900" dirty="0" err="1"/>
              <a:t>Coga</a:t>
            </a:r>
            <a:r>
              <a:rPr lang="pt-BR" sz="1900" dirty="0"/>
              <a:t> Pedroso.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62" y="285728"/>
            <a:ext cx="6715172" cy="714380"/>
          </a:xfrm>
        </p:spPr>
        <p:txBody>
          <a:bodyPr/>
          <a:lstStyle/>
          <a:p>
            <a:pPr algn="ctr"/>
            <a:r>
              <a:rPr lang="pt-BR" dirty="0"/>
              <a:t>JORGE COGA PEDROSO</a:t>
            </a:r>
          </a:p>
        </p:txBody>
      </p:sp>
      <p:sp>
        <p:nvSpPr>
          <p:cNvPr id="9" name="Espaço Reservado para Conteúdo 5"/>
          <p:cNvSpPr>
            <a:spLocks noGrp="1"/>
          </p:cNvSpPr>
          <p:nvPr>
            <p:ph idx="1"/>
          </p:nvPr>
        </p:nvSpPr>
        <p:spPr>
          <a:xfrm>
            <a:off x="214282" y="2714620"/>
            <a:ext cx="8572528" cy="3786214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pt-BR" sz="1500" dirty="0"/>
              <a:t>No início do ano de 95 firmou um convênio com o SCPC ( Serviço de proteção de crédito).  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pt-BR" sz="1500" dirty="0"/>
              <a:t>O presidente assinou também na época um convênio com o SENAI x ACIRV e Prefeitura com a </a:t>
            </a:r>
            <a:r>
              <a:rPr lang="pt-BR" sz="1500" dirty="0" err="1"/>
              <a:t>incubêcia</a:t>
            </a:r>
            <a:r>
              <a:rPr lang="pt-BR" sz="1500" dirty="0"/>
              <a:t> de doação e repasse ao SENAI. 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pt-BR" sz="1500" dirty="0"/>
              <a:t>Sempre participava de reuniões na prefeitura, câmara municipal, na FACIEG e secretárias. 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pt-BR" sz="1500" dirty="0"/>
              <a:t>Neste período agricultores rio-verdenses realizaram uma movimentação agrícola com intuito de sensibilizar o governo federal, para que encontre medidas que atenda os anseios e necessidades da classe.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pt-BR" sz="1500" dirty="0"/>
              <a:t> Exatamente no dia 5 de Agosto de 95 foi inaugurada a Academia </a:t>
            </a:r>
            <a:r>
              <a:rPr lang="pt-BR" sz="1500" dirty="0" err="1"/>
              <a:t>Rio-verdense</a:t>
            </a:r>
            <a:r>
              <a:rPr lang="pt-BR" sz="1500" dirty="0"/>
              <a:t> de Letras e Ofício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pt-BR" sz="1500" dirty="0"/>
              <a:t>s. Já em 96, promoveu uma rifa de um veículo Escort, onde pedia doações de empresas para angariar fundo, toda renda seria revertida na construção da nova sede a ACIRV.  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pt-BR" sz="1500" dirty="0"/>
              <a:t>Promoveu o baile do empresário e a </a:t>
            </a:r>
            <a:r>
              <a:rPr lang="pt-BR" sz="1500" dirty="0" err="1"/>
              <a:t>Sudoexpo</a:t>
            </a:r>
            <a:r>
              <a:rPr lang="pt-BR" sz="1500" dirty="0"/>
              <a:t>. Promoveram a campanha do Agasalho. Em seguida, assume a casa em Outubro de 96, Sr. Luiz Carlos Fávero. </a:t>
            </a:r>
          </a:p>
        </p:txBody>
      </p:sp>
      <p:sp>
        <p:nvSpPr>
          <p:cNvPr id="5" name="Espaço Reservado para Conteúdo 5"/>
          <p:cNvSpPr txBox="1">
            <a:spLocks/>
          </p:cNvSpPr>
          <p:nvPr/>
        </p:nvSpPr>
        <p:spPr bwMode="auto">
          <a:xfrm>
            <a:off x="214282" y="1357298"/>
            <a:ext cx="6858048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7" rIns="92075" bIns="46037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Ao assumir a administração da casa, teve como intuito maior aumentar o número de associados, onde realizou visitações nas empresas apresentando as atividades da entidade.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Cursos em parceria com o SENAC era outros destaque da gestão do presidente </a:t>
            </a:r>
            <a:r>
              <a:rPr kumimoji="0" lang="pt-BR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Coga</a:t>
            </a:r>
            <a:r>
              <a:rPr kumimoji="0" lang="pt-BR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</p:txBody>
      </p:sp>
      <p:pic>
        <p:nvPicPr>
          <p:cNvPr id="12290" name="Picture 2" descr="http://www.sophusatualiza.com.br/img_sophusatualiza_tinymce/DSCN0263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2331" y="428612"/>
            <a:ext cx="1714504" cy="22860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04" y="0"/>
            <a:ext cx="5572164" cy="714380"/>
          </a:xfrm>
        </p:spPr>
        <p:txBody>
          <a:bodyPr/>
          <a:lstStyle/>
          <a:p>
            <a:pPr algn="ctr"/>
            <a:r>
              <a:rPr lang="pt-BR" dirty="0"/>
              <a:t>LUIZ CARLOS FÁVERO</a:t>
            </a:r>
          </a:p>
        </p:txBody>
      </p:sp>
      <p:sp>
        <p:nvSpPr>
          <p:cNvPr id="9" name="Espaço Reservado para Conteúdo 5"/>
          <p:cNvSpPr>
            <a:spLocks noGrp="1"/>
          </p:cNvSpPr>
          <p:nvPr>
            <p:ph idx="1"/>
          </p:nvPr>
        </p:nvSpPr>
        <p:spPr>
          <a:xfrm>
            <a:off x="142844" y="2571744"/>
            <a:ext cx="8572528" cy="4000528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pt-BR" sz="1900" dirty="0"/>
              <a:t>Em 97, a TV </a:t>
            </a:r>
            <a:r>
              <a:rPr lang="pt-BR" sz="1900" dirty="0" err="1"/>
              <a:t>Riviera</a:t>
            </a:r>
            <a:r>
              <a:rPr lang="pt-BR" sz="1900" dirty="0"/>
              <a:t> anúncio que terá um espaço jornalístico no horário do almoço.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pt-BR" sz="1900" dirty="0"/>
              <a:t> Neste mesmo ano, ano Luiz Carlos reuniu com a atual prefeita, na época Sra. </a:t>
            </a:r>
            <a:r>
              <a:rPr lang="pt-BR" sz="1900" dirty="0" err="1"/>
              <a:t>Nelci</a:t>
            </a:r>
            <a:r>
              <a:rPr lang="pt-BR" sz="1900" dirty="0"/>
              <a:t> </a:t>
            </a:r>
            <a:r>
              <a:rPr lang="pt-BR" sz="1900" dirty="0" err="1"/>
              <a:t>Spadoni</a:t>
            </a:r>
            <a:r>
              <a:rPr lang="pt-BR" sz="1900" dirty="0"/>
              <a:t> onde falaram sobre a construção do calçadão, pois está estava causando transtornos aos comerciantes.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pt-BR" sz="1900" dirty="0"/>
              <a:t>  Promoveu um churrasco de confraternização com o sorteio de um computador em prol a construção da nova sede. 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pt-BR" sz="1900" dirty="0"/>
              <a:t> Em 98, é inaugurado em Rio Verde camelódromo (Shopping Popular em Rio Verde).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pt-BR" sz="1900" dirty="0"/>
              <a:t>Realizou-se o baile do empresário, logo após a feira </a:t>
            </a:r>
            <a:r>
              <a:rPr lang="pt-BR" sz="1900" dirty="0" err="1"/>
              <a:t>Sudoexpo</a:t>
            </a:r>
            <a:r>
              <a:rPr lang="pt-BR" sz="1900" dirty="0"/>
              <a:t>, que contou com uma inovação, onde palestras aconteceram em um auditório montado na feira. Chega à vez do Sr. Milton Vieira Ramos. </a:t>
            </a:r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 bwMode="auto">
          <a:xfrm>
            <a:off x="285720" y="1142984"/>
            <a:ext cx="6643734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7" rIns="92075" bIns="46037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 época, Luiz visitou a unidade da empresa perdição no município de Videira no estado de Santa Catarina, com objetivo de buscar maiores conhecimentos sobre a empresa, que possivelmente iria se instalar em Rio Verde. </a:t>
            </a:r>
          </a:p>
        </p:txBody>
      </p:sp>
      <p:pic>
        <p:nvPicPr>
          <p:cNvPr id="11266" name="Picture 2" descr="http://www.sophusatualiza.com.br/img_sophusatualiza_tinymce/DSCN0266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90183" y="500042"/>
            <a:ext cx="1553775" cy="20717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04" y="285728"/>
            <a:ext cx="5143536" cy="714380"/>
          </a:xfrm>
        </p:spPr>
        <p:txBody>
          <a:bodyPr/>
          <a:lstStyle/>
          <a:p>
            <a:r>
              <a:rPr lang="pt-BR" dirty="0"/>
              <a:t>MILTON VIEIRA RAMOS</a:t>
            </a:r>
          </a:p>
        </p:txBody>
      </p:sp>
      <p:sp>
        <p:nvSpPr>
          <p:cNvPr id="9" name="Espaço Reservado para Conteúdo 5"/>
          <p:cNvSpPr>
            <a:spLocks noGrp="1"/>
          </p:cNvSpPr>
          <p:nvPr>
            <p:ph idx="1"/>
          </p:nvPr>
        </p:nvSpPr>
        <p:spPr>
          <a:xfrm>
            <a:off x="428628" y="1142984"/>
            <a:ext cx="6500826" cy="1500198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pt-BR" sz="1600" dirty="0"/>
              <a:t>Logo na sua 1ª reunião pediu o empenho de toda a diretoria no empenho de associar novas empresas, além da promoção de cursos de capacitação e motivação aos colaboradores das empresas associadas, visando uma melhor movimentação no período natalino. </a:t>
            </a:r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 bwMode="auto">
          <a:xfrm>
            <a:off x="214282" y="2428868"/>
            <a:ext cx="8572528" cy="442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7" rIns="92075" bIns="46037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Logo na sua 1ª reunião pediu o empenho de toda a diretoria no empenho de associar novas empresas, além da promoção de cursos de capacitação e motivação aos colaboradores das empresas associadas, visando uma melhor movimentação no período natalino.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ano seguinte, em 99 as principais demandas levantadas pelos associados foram sobre a iluminação da cidade, os buracos, lixo nas ruas, segurança, redução do ICMS, entre outros. De imediato, Milton reuniu com a prefeita Sra.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Nelci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Spadoni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para tratar dos assuntos.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Neste mesmo ano, fechou o supermercado SUPER SERVI localizado no shopping da cidade e inaugurou a empresa GESSY LEVER em Rio Verde.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Um ano também difícil para o setor de agricultura, onde muitos produtores perderam a safrinha, e estavam com dificuldade em liquidar seus débitos nas instituições financeiras.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Jornal do empresário era uma discussão em todos os encontros da diretoria. O Sr. Jesus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Catarino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ficou responsável a tomar frente da elaboração do material. Já, em 2000 começa os preparativos para a feira SUDOEXPO, realizada no final mês de Maio. Em seguida, o Sr. Rubéns Leão de Lemos Barroso.</a:t>
            </a:r>
          </a:p>
        </p:txBody>
      </p:sp>
      <p:pic>
        <p:nvPicPr>
          <p:cNvPr id="10242" name="Picture 2" descr="http://www.sophusatualiza.com.br/img_sophusatualiza_tinymce/DSCN0269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2330" y="261914"/>
            <a:ext cx="1643066" cy="21907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28" y="-24"/>
            <a:ext cx="6858048" cy="714380"/>
          </a:xfrm>
        </p:spPr>
        <p:txBody>
          <a:bodyPr/>
          <a:lstStyle/>
          <a:p>
            <a:r>
              <a:rPr lang="pt-BR" sz="2800" dirty="0"/>
              <a:t>RUBÉNS LEÃO DE LEMOS BARROSO</a:t>
            </a:r>
          </a:p>
        </p:txBody>
      </p:sp>
      <p:sp>
        <p:nvSpPr>
          <p:cNvPr id="10" name="Espaço Reservado para Conteúdo 5"/>
          <p:cNvSpPr>
            <a:spLocks noGrp="1"/>
          </p:cNvSpPr>
          <p:nvPr>
            <p:ph idx="1"/>
          </p:nvPr>
        </p:nvSpPr>
        <p:spPr>
          <a:xfrm>
            <a:off x="71438" y="2714620"/>
            <a:ext cx="8572528" cy="3929090"/>
          </a:xfrm>
        </p:spPr>
        <p:txBody>
          <a:bodyPr/>
          <a:lstStyle/>
          <a:p>
            <a:pPr algn="just"/>
            <a:r>
              <a:rPr lang="pt-BR" sz="1600" dirty="0"/>
              <a:t>Permaneceu frente à entidade classista por 4 anos, de 2000 a 2014.  </a:t>
            </a:r>
          </a:p>
          <a:p>
            <a:pPr algn="just"/>
            <a:r>
              <a:rPr lang="pt-BR" sz="1600" dirty="0"/>
              <a:t>Implantou o Projeto Empreender em parceria com SEBRAE. </a:t>
            </a:r>
          </a:p>
          <a:p>
            <a:pPr algn="just"/>
            <a:r>
              <a:rPr lang="pt-BR" sz="1600" dirty="0"/>
              <a:t>Em sua gestão recebeu representantes da Perdigão para apresentar a história da empresa e suas perspectivas no município aos diretores e associados, </a:t>
            </a:r>
          </a:p>
          <a:p>
            <a:pPr algn="just"/>
            <a:r>
              <a:rPr lang="pt-BR" sz="1600" dirty="0"/>
              <a:t>Lançou o Centro empresarial Lê Monde. </a:t>
            </a:r>
          </a:p>
          <a:p>
            <a:pPr algn="just"/>
            <a:r>
              <a:rPr lang="pt-BR" sz="1600" dirty="0"/>
              <a:t>Reivindicou o asfaltamento de algumas GO, para o tráfego e escoamento de produção. </a:t>
            </a:r>
          </a:p>
          <a:p>
            <a:pPr algn="just"/>
            <a:r>
              <a:rPr lang="pt-BR" sz="1600" dirty="0"/>
              <a:t>O prédio da ACIRV é inaugurado oficialmente em sua gestão. </a:t>
            </a:r>
          </a:p>
          <a:p>
            <a:pPr algn="just"/>
            <a:r>
              <a:rPr lang="pt-BR" sz="1600" dirty="0"/>
              <a:t>Viajou para o México e para o Peru, na companhia de outras autoridades com o objetivo de buscar maiores informações sobre Exportação e Política de Processo. </a:t>
            </a:r>
          </a:p>
          <a:p>
            <a:pPr algn="just"/>
            <a:r>
              <a:rPr lang="pt-BR" sz="1600" dirty="0"/>
              <a:t>O estatuto da ACIRV sofreu alterações no art.23º onde fala sobre a reeleição de presidente e diretores da ACIRV. </a:t>
            </a:r>
          </a:p>
          <a:p>
            <a:pPr algn="just"/>
            <a:r>
              <a:rPr lang="pt-BR" sz="1600" dirty="0"/>
              <a:t> Realizou as </a:t>
            </a:r>
            <a:r>
              <a:rPr lang="pt-BR" sz="1600" dirty="0" err="1"/>
              <a:t>Sudoexpos</a:t>
            </a:r>
            <a:r>
              <a:rPr lang="pt-BR" sz="1600" dirty="0"/>
              <a:t> de 2002 e 2004, além dos tradicionais bailes do empresário. Ao encerrar seu mandato, assumi o Sr. </a:t>
            </a:r>
            <a:r>
              <a:rPr lang="pt-BR" sz="1600" dirty="0" err="1"/>
              <a:t>Oduvaldo</a:t>
            </a:r>
            <a:r>
              <a:rPr lang="pt-BR" sz="1600" dirty="0"/>
              <a:t> Lopes.</a:t>
            </a:r>
          </a:p>
        </p:txBody>
      </p:sp>
      <p:pic>
        <p:nvPicPr>
          <p:cNvPr id="4" name="Imagem 3" descr="rubens_leao"/>
          <p:cNvPicPr/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29454" y="714356"/>
            <a:ext cx="1901423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spaço Reservado para Conteúdo 5"/>
          <p:cNvSpPr txBox="1">
            <a:spLocks/>
          </p:cNvSpPr>
          <p:nvPr/>
        </p:nvSpPr>
        <p:spPr bwMode="auto">
          <a:xfrm>
            <a:off x="214282" y="1071546"/>
            <a:ext cx="6572296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7" rIns="92075" bIns="46037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08" y="428604"/>
            <a:ext cx="3929090" cy="714380"/>
          </a:xfrm>
        </p:spPr>
        <p:txBody>
          <a:bodyPr/>
          <a:lstStyle/>
          <a:p>
            <a:r>
              <a:rPr lang="pt-BR" sz="2800" dirty="0"/>
              <a:t>ODUVALDO LOPES</a:t>
            </a:r>
          </a:p>
        </p:txBody>
      </p:sp>
      <p:sp>
        <p:nvSpPr>
          <p:cNvPr id="9" name="Espaço Reservado para Conteúdo 5"/>
          <p:cNvSpPr>
            <a:spLocks noGrp="1"/>
          </p:cNvSpPr>
          <p:nvPr>
            <p:ph idx="1"/>
          </p:nvPr>
        </p:nvSpPr>
        <p:spPr>
          <a:xfrm>
            <a:off x="214282" y="2643182"/>
            <a:ext cx="8572528" cy="4000528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600" dirty="0"/>
              <a:t>Deu seqüência aos trabalhos, promovendo palestras com temas enriquecedores para os empresários, como: O Novo Código Civil, Gestão Eficiente.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600" dirty="0"/>
              <a:t>Em sua gestão, a Agência de Fomento Goiás firmou convênio com a associação, além da parceria com a UNIODONTO.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600" dirty="0"/>
              <a:t> Realiza o projeto ACIRV em Ação no salão Paroquial no Bairro Popular.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600" dirty="0"/>
              <a:t>Solicitou na época um ajuste do conduta do PROCON.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600" dirty="0"/>
              <a:t>Promoveu o FEIRÃO do IMPOSTO em parcerias com a prefeitura municipal e demais parceiros, reivindicando contra a carga abusiva de tributos, sendo está uma oportunidade dos empresários entenderem melhor sobre os pagamentos de impostos, tanto para produtos quanto para serviços.</a:t>
            </a:r>
          </a:p>
        </p:txBody>
      </p:sp>
      <p:sp>
        <p:nvSpPr>
          <p:cNvPr id="5" name="Espaço Reservado para Conteúdo 5"/>
          <p:cNvSpPr txBox="1">
            <a:spLocks/>
          </p:cNvSpPr>
          <p:nvPr/>
        </p:nvSpPr>
        <p:spPr bwMode="auto">
          <a:xfrm>
            <a:off x="285720" y="1428736"/>
            <a:ext cx="6429420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7" rIns="92075" bIns="46037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Deu seqüência aos trabalhos, promovendo palestras com temas enriquecedores para os empresários, como: O Novo Código Civil, Gestão Eficiente. </a:t>
            </a:r>
          </a:p>
        </p:txBody>
      </p:sp>
      <p:pic>
        <p:nvPicPr>
          <p:cNvPr id="8194" name="Picture 2" descr="http://www.sophusatualiza.com.br/img_sophusatualiza_tinymce/DSCN0275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00900" y="404791"/>
            <a:ext cx="1785942" cy="23812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ço Reservado para Conteúdo 27"/>
          <p:cNvSpPr>
            <a:spLocks noGrp="1"/>
          </p:cNvSpPr>
          <p:nvPr>
            <p:ph idx="1"/>
          </p:nvPr>
        </p:nvSpPr>
        <p:spPr>
          <a:xfrm>
            <a:off x="571472" y="785794"/>
            <a:ext cx="8215370" cy="5643578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O Instituto </a:t>
            </a:r>
            <a:r>
              <a:rPr lang="pt-BR" sz="2000" dirty="0" err="1"/>
              <a:t>Euvaldo</a:t>
            </a:r>
            <a:r>
              <a:rPr lang="pt-BR" sz="2000" dirty="0"/>
              <a:t> </a:t>
            </a:r>
            <a:r>
              <a:rPr lang="pt-BR" sz="2000" dirty="0" err="1"/>
              <a:t>Lodi</a:t>
            </a:r>
            <a:r>
              <a:rPr lang="pt-BR" sz="2000" dirty="0"/>
              <a:t> - IEL abre escritório em Rio Verde com sede na ACIRV.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É instituído o Fórum de Recursos Humanos.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Inaugura-se a Cooperativa </a:t>
            </a:r>
            <a:r>
              <a:rPr lang="pt-BR" sz="2000" dirty="0" err="1"/>
              <a:t>Siccob</a:t>
            </a:r>
            <a:r>
              <a:rPr lang="pt-BR" sz="2000" dirty="0"/>
              <a:t> Empresarial.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ACIRV participa do prêmio POP LIST, uma parceria com a TV </a:t>
            </a:r>
            <a:r>
              <a:rPr lang="pt-BR" sz="2000" dirty="0" err="1"/>
              <a:t>Riviera</a:t>
            </a:r>
            <a:r>
              <a:rPr lang="pt-BR" sz="2000" dirty="0"/>
              <a:t>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Firmou uma parceria com a FESURV nos cursos de secretariado executivo e processos gerencias (10% de desconto para associados).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Realizou as </a:t>
            </a:r>
            <a:r>
              <a:rPr lang="pt-BR" sz="2000" dirty="0" err="1"/>
              <a:t>Sudoexpos</a:t>
            </a:r>
            <a:r>
              <a:rPr lang="pt-BR" sz="2000" dirty="0"/>
              <a:t> de 2006 e 2008, também permaneceu por 2 mandatos na presidência, em seguida assumi o Sr. </a:t>
            </a:r>
            <a:r>
              <a:rPr lang="pt-BR" sz="2000" dirty="0" err="1"/>
              <a:t>Angelo</a:t>
            </a:r>
            <a:r>
              <a:rPr lang="pt-BR" sz="2000" dirty="0"/>
              <a:t> Thomaz Landim Júnior.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43042" y="71414"/>
            <a:ext cx="6643734" cy="714380"/>
          </a:xfrm>
        </p:spPr>
        <p:txBody>
          <a:bodyPr/>
          <a:lstStyle/>
          <a:p>
            <a:r>
              <a:rPr lang="pt-BR" sz="2800" dirty="0"/>
              <a:t>ANGELO THOMAZ LANDIM JÚNIOR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285720" y="3429000"/>
            <a:ext cx="8572528" cy="292895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sz="1700" dirty="0"/>
              <a:t>Lançou o Fórum de Responsabilidade Sócio Ambiental de Rio Verde. </a:t>
            </a:r>
          </a:p>
          <a:p>
            <a:pPr algn="just">
              <a:lnSpc>
                <a:spcPct val="150000"/>
              </a:lnSpc>
            </a:pPr>
            <a:r>
              <a:rPr lang="pt-BR" sz="1700" dirty="0"/>
              <a:t>Assinou um contrato com a empresa CERTISIGN – de certificação digital. </a:t>
            </a:r>
          </a:p>
          <a:p>
            <a:pPr algn="just">
              <a:lnSpc>
                <a:spcPct val="150000"/>
              </a:lnSpc>
            </a:pPr>
            <a:r>
              <a:rPr lang="pt-BR" sz="1700" dirty="0"/>
              <a:t>Adquiriu o Plano de Saúde UNIMED para os colaboradores da ACIRV. </a:t>
            </a:r>
          </a:p>
          <a:p>
            <a:pPr algn="just">
              <a:lnSpc>
                <a:spcPct val="150000"/>
              </a:lnSpc>
            </a:pPr>
            <a:r>
              <a:rPr lang="pt-BR" sz="1700" dirty="0"/>
              <a:t>Promoveu a copa ACIRV- </a:t>
            </a:r>
            <a:r>
              <a:rPr lang="pt-BR" sz="1700" dirty="0" err="1"/>
              <a:t>Sociate</a:t>
            </a:r>
            <a:r>
              <a:rPr lang="pt-BR" sz="1700" dirty="0"/>
              <a:t> e Futsal. </a:t>
            </a:r>
          </a:p>
          <a:p>
            <a:pPr algn="just">
              <a:lnSpc>
                <a:spcPct val="150000"/>
              </a:lnSpc>
            </a:pPr>
            <a:r>
              <a:rPr lang="pt-BR" sz="1700" dirty="0"/>
              <a:t>Assinou um convênio com a Faculdade Objetivo. </a:t>
            </a:r>
          </a:p>
          <a:p>
            <a:pPr algn="just">
              <a:lnSpc>
                <a:spcPct val="150000"/>
              </a:lnSpc>
            </a:pPr>
            <a:r>
              <a:rPr lang="pt-BR" sz="1700" dirty="0"/>
              <a:t>A ACIRV promoveu uma palestra, mediada pelo jornalista Paulo Henrique Amorim. </a:t>
            </a:r>
          </a:p>
        </p:txBody>
      </p:sp>
      <p:sp>
        <p:nvSpPr>
          <p:cNvPr id="7" name="Espaço Reservado para Conteúdo 5"/>
          <p:cNvSpPr txBox="1">
            <a:spLocks/>
          </p:cNvSpPr>
          <p:nvPr/>
        </p:nvSpPr>
        <p:spPr bwMode="auto">
          <a:xfrm>
            <a:off x="357158" y="1071546"/>
            <a:ext cx="6286544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7" rIns="92075" bIns="46037" numCol="1" anchor="t" anchorCtr="0" compatLnSpc="1">
            <a:prstTxWarp prst="textNoShape">
              <a:avLst/>
            </a:prstTxWarp>
          </a:bodyPr>
          <a:lstStyle/>
          <a:p>
            <a:pPr marL="342900" indent="-342900" algn="just" eaLnBrk="1" hangingPunct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pt-BR" sz="1700" dirty="0">
                <a:solidFill>
                  <a:srgbClr val="080808"/>
                </a:solidFill>
              </a:rPr>
              <a:t>Permaneceu de 2008 até 2013, deu continuidades nos eventos como, palestras, cursos e seminários conduzido pelo Fórum de RH.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pt-BR" sz="1700" b="0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pt-BR" sz="1700" b="0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6" name="Picture 2" descr="http://www.sophusatualiza.com.br/img_sophusatualiza_tinymce/023b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2330" y="857232"/>
            <a:ext cx="1788140" cy="24288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5"/>
          <p:cNvSpPr>
            <a:spLocks noGrp="1"/>
          </p:cNvSpPr>
          <p:nvPr>
            <p:ph idx="1"/>
          </p:nvPr>
        </p:nvSpPr>
        <p:spPr>
          <a:xfrm>
            <a:off x="357158" y="500042"/>
            <a:ext cx="8429684" cy="6072206"/>
          </a:xfrm>
        </p:spPr>
        <p:txBody>
          <a:bodyPr/>
          <a:lstStyle/>
          <a:p>
            <a:pPr lvl="0" algn="just">
              <a:spcBef>
                <a:spcPts val="0"/>
              </a:spcBef>
              <a:spcAft>
                <a:spcPts val="1200"/>
              </a:spcAft>
            </a:pPr>
            <a:r>
              <a:rPr lang="pt-BR" sz="1800" dirty="0"/>
              <a:t>Em sua gestão, assinou um convênio entre o Tribunal de Justiça e a 1ª CCA – Corte de Conciliação e Arbitragem, sendo a corte, a 2ª que assinou o convênio do  estado de Goiás.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pt-BR" sz="1800" dirty="0" err="1"/>
              <a:t>Angelo</a:t>
            </a:r>
            <a:r>
              <a:rPr lang="pt-BR" sz="1800" dirty="0"/>
              <a:t> na época, recebeu o título de Cidadão Rio-Verdense. 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pt-BR" sz="1800" dirty="0"/>
              <a:t>Através do Fórum Social, a ACIRV com apoio da Fundação Orsa, o Centro de Referência em Assistência Social (CREAS), SENAI, Ministério Público, e Juizado de Infância e Juventude lançaram o Programa “ Jovem Aprendiz, onde formaram mais 20 aprendizes. 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pt-BR" sz="1800" dirty="0"/>
              <a:t>O presidente participou de uma marcha contra a não unificação do ICMS, que aconteceu na Espanada dos Ministérios em Brasília. 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pt-BR" sz="1800" dirty="0"/>
              <a:t>O ex-presidente permaneceu por 5 anos na presidência da ACIRV, por conta da feira </a:t>
            </a:r>
            <a:r>
              <a:rPr lang="pt-BR" sz="1800" dirty="0" err="1"/>
              <a:t>Sudoexpo</a:t>
            </a:r>
            <a:r>
              <a:rPr lang="pt-BR" sz="1800" dirty="0"/>
              <a:t> sua gestão que seria até 2012 foi prorrogada para 2013, esta foi uma decisão unânime de toda diretoria. 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pt-BR" sz="1800" dirty="0" err="1"/>
              <a:t>Angelo</a:t>
            </a:r>
            <a:r>
              <a:rPr lang="pt-BR" sz="1800" dirty="0"/>
              <a:t> promoveu reuniões onde tratou da ampliação e reforma do aeroporto, além da situação de carga e descarga, na época reivindicou com apoio de entidades classistas um terminal de carga e descarga para Rio Verde.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pt-BR" sz="1800" dirty="0"/>
              <a:t>Pediu apoio da VALEC na idealização do projeto de instalar o PORTO SECO em Rio Verde.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pt-BR" sz="1800" dirty="0"/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571472" y="2000240"/>
            <a:ext cx="8143932" cy="4643470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dirty="0"/>
              <a:t>A presidente relançou o Programa Empreender em 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parceria com o SEBRAE.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dirty="0"/>
              <a:t>A ACIRV através do NUPOT (Núcleo De Psicologia Organizacional e do Trabalho da UNIRV) realizou uma pesquisa de satisfação com os associados.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dirty="0"/>
              <a:t>Assinou um convênio com a escola CIEE - Centro de Integração Empresa Escola.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dirty="0"/>
              <a:t>Participou e promoveu várias reuniões para discutir o Sistema de Área Verde do município, este cobrado pela categoria empresarial.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dirty="0"/>
              <a:t>Realizou o Natal solidário, onde foram distribuídas 220 cestas para entidades carentes, estas adquiridas com o patrocínio dos associados.</a:t>
            </a:r>
          </a:p>
        </p:txBody>
      </p:sp>
      <p:pic>
        <p:nvPicPr>
          <p:cNvPr id="3" name="Picture 1" descr="C:\Users\ACIRV\Desktop\2008290605022014IMG_461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57102" y="214290"/>
            <a:ext cx="1801178" cy="2428892"/>
          </a:xfrm>
          <a:prstGeom prst="rect">
            <a:avLst/>
          </a:prstGeom>
          <a:noFill/>
        </p:spPr>
      </p:pic>
      <p:sp>
        <p:nvSpPr>
          <p:cNvPr id="4" name="Espaço Reservado para Conteúdo 6"/>
          <p:cNvSpPr txBox="1">
            <a:spLocks/>
          </p:cNvSpPr>
          <p:nvPr/>
        </p:nvSpPr>
        <p:spPr bwMode="auto">
          <a:xfrm>
            <a:off x="642910" y="785794"/>
            <a:ext cx="6286544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7" rIns="92075" bIns="46037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Atualmente, preside a presidência da casa a Sra.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Dejane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Mara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Maffissoni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sendo ela, a 1ª mulher presidente da entidade de classe.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28" y="71414"/>
            <a:ext cx="5357850" cy="714380"/>
          </a:xfrm>
        </p:spPr>
        <p:txBody>
          <a:bodyPr/>
          <a:lstStyle/>
          <a:p>
            <a:r>
              <a:rPr lang="pt-BR" sz="2800" dirty="0"/>
              <a:t>DEJANE MARA MAFFISSONI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6"/>
          <p:cNvSpPr>
            <a:spLocks noGrp="1"/>
          </p:cNvSpPr>
          <p:nvPr>
            <p:ph idx="1"/>
          </p:nvPr>
        </p:nvSpPr>
        <p:spPr>
          <a:xfrm>
            <a:off x="642910" y="785794"/>
            <a:ext cx="8072494" cy="5214974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Firmou uma nova parceria com a Faculdade Objetivo.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Promoveu o projeto ACIRV EM AÇÃO, com a parceria de outras entidades.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Homenageou empresários locais com o Prêmio Pop </a:t>
            </a:r>
            <a:r>
              <a:rPr lang="pt-BR" sz="2000" dirty="0" err="1"/>
              <a:t>List</a:t>
            </a:r>
            <a:r>
              <a:rPr lang="pt-BR" sz="2000" dirty="0"/>
              <a:t> em 2013. Já, neste ano a homenagem foi dedicada aos ex-presidentes.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Promoveu a Feira </a:t>
            </a:r>
            <a:r>
              <a:rPr lang="pt-BR" sz="2000" dirty="0" err="1"/>
              <a:t>Sudoexpo</a:t>
            </a:r>
            <a:r>
              <a:rPr lang="pt-BR" sz="2000" dirty="0"/>
              <a:t>. Na ocasião, homenageou o prefeito e instituições parceiras da ACIRV com uma placa de agradecimento.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Recebeu o Ministro dos Transportes, Sr. Paulo Sérgio Passos na ACIRV, onde aconteceu a inauguração da duplicação e restauração da BR-060/GO – Trecho Goiânia/ Rio Verde/ Jataí.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sentação de plano de marketing">
  <a:themeElements>
    <a:clrScheme name="ms_pptmarketplan_tp01017812 1">
      <a:dk1>
        <a:srgbClr val="336699"/>
      </a:dk1>
      <a:lt1>
        <a:srgbClr val="FFFFFF"/>
      </a:lt1>
      <a:dk2>
        <a:srgbClr val="0066FF"/>
      </a:dk2>
      <a:lt2>
        <a:srgbClr val="AFB5D2"/>
      </a:lt2>
      <a:accent1>
        <a:srgbClr val="66CCFF"/>
      </a:accent1>
      <a:accent2>
        <a:srgbClr val="99FFCC"/>
      </a:accent2>
      <a:accent3>
        <a:srgbClr val="FFFFFF"/>
      </a:accent3>
      <a:accent4>
        <a:srgbClr val="2A5682"/>
      </a:accent4>
      <a:accent5>
        <a:srgbClr val="B8E2FF"/>
      </a:accent5>
      <a:accent6>
        <a:srgbClr val="8AE7B9"/>
      </a:accent6>
      <a:hlink>
        <a:srgbClr val="FF99FF"/>
      </a:hlink>
      <a:folHlink>
        <a:srgbClr val="CCCCFF"/>
      </a:folHlink>
    </a:clrScheme>
    <a:fontScheme name="ms_pptmarketplan_tp01017812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ms_pptmarketplan_tp01017812 1">
        <a:dk1>
          <a:srgbClr val="336699"/>
        </a:dk1>
        <a:lt1>
          <a:srgbClr val="FFFFFF"/>
        </a:lt1>
        <a:dk2>
          <a:srgbClr val="0066FF"/>
        </a:dk2>
        <a:lt2>
          <a:srgbClr val="AFB5D2"/>
        </a:lt2>
        <a:accent1>
          <a:srgbClr val="66CCFF"/>
        </a:accent1>
        <a:accent2>
          <a:srgbClr val="99FFCC"/>
        </a:accent2>
        <a:accent3>
          <a:srgbClr val="FFFFFF"/>
        </a:accent3>
        <a:accent4>
          <a:srgbClr val="2A5682"/>
        </a:accent4>
        <a:accent5>
          <a:srgbClr val="B8E2FF"/>
        </a:accent5>
        <a:accent6>
          <a:srgbClr val="8AE7B9"/>
        </a:accent6>
        <a:hlink>
          <a:srgbClr val="FF99FF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_pptmarketplan_tp01017812 2">
        <a:dk1>
          <a:srgbClr val="003366"/>
        </a:dk1>
        <a:lt1>
          <a:srgbClr val="CCECFF"/>
        </a:lt1>
        <a:dk2>
          <a:srgbClr val="4B3384"/>
        </a:dk2>
        <a:lt2>
          <a:srgbClr val="849CBB"/>
        </a:lt2>
        <a:accent1>
          <a:srgbClr val="90DBFF"/>
        </a:accent1>
        <a:accent2>
          <a:srgbClr val="99FFCC"/>
        </a:accent2>
        <a:accent3>
          <a:srgbClr val="E2F4FF"/>
        </a:accent3>
        <a:accent4>
          <a:srgbClr val="002A56"/>
        </a:accent4>
        <a:accent5>
          <a:srgbClr val="C6EAFF"/>
        </a:accent5>
        <a:accent6>
          <a:srgbClr val="8AE7B9"/>
        </a:accent6>
        <a:hlink>
          <a:srgbClr val="DFC0FF"/>
        </a:hlink>
        <a:folHlink>
          <a:srgbClr val="6DC5D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_pptmarketplan_tp01017812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plano de marketing</Template>
  <TotalTime>606</TotalTime>
  <Words>2775</Words>
  <Application>Microsoft Office PowerPoint</Application>
  <PresentationFormat>Apresentação na tela (4:3)</PresentationFormat>
  <Paragraphs>126</Paragraphs>
  <Slides>21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4" baseType="lpstr">
      <vt:lpstr>Tahoma</vt:lpstr>
      <vt:lpstr>Times New Roman</vt:lpstr>
      <vt:lpstr>Apresentação de plano de marketing</vt:lpstr>
      <vt:lpstr>Apresentação do PowerPoint</vt:lpstr>
      <vt:lpstr>Apresentação do PowerPoint</vt:lpstr>
      <vt:lpstr>LAZARO JOSÉ DE ALMEIDA</vt:lpstr>
      <vt:lpstr> JONES EMRICH</vt:lpstr>
      <vt:lpstr>  EVARISTO LIRA BARAÚNA</vt:lpstr>
      <vt:lpstr>Apresentação do PowerPoint</vt:lpstr>
      <vt:lpstr> JOSÉ WALTER ALVES LOULY  (in memorian)</vt:lpstr>
      <vt:lpstr>JOSÉ LOPES RIBEIRO</vt:lpstr>
      <vt:lpstr>Apresentação do PowerPoint</vt:lpstr>
      <vt:lpstr>ROMEU BELLO MACEDO </vt:lpstr>
      <vt:lpstr>Apresentação do PowerPoint</vt:lpstr>
      <vt:lpstr>JORGE COGA PEDROSO</vt:lpstr>
      <vt:lpstr>LUIZ CARLOS FÁVERO</vt:lpstr>
      <vt:lpstr>MILTON VIEIRA RAMOS</vt:lpstr>
      <vt:lpstr>RUBÉNS LEÃO DE LEMOS BARROSO</vt:lpstr>
      <vt:lpstr>ODUVALDO LOPES</vt:lpstr>
      <vt:lpstr>Apresentação do PowerPoint</vt:lpstr>
      <vt:lpstr>ANGELO THOMAZ LANDIM JÚNIOR</vt:lpstr>
      <vt:lpstr>Apresentação do PowerPoint</vt:lpstr>
      <vt:lpstr>DEJANE MARA MAFFISSONI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marketing do [nome do produto]</dc:title>
  <dc:creator>ACIRV</dc:creator>
  <cp:lastModifiedBy>usuario</cp:lastModifiedBy>
  <cp:revision>70</cp:revision>
  <dcterms:created xsi:type="dcterms:W3CDTF">2014-11-20T10:28:46Z</dcterms:created>
  <dcterms:modified xsi:type="dcterms:W3CDTF">2020-09-29T13:08:46Z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TC010178121046</vt:lpwstr>
  </property>
</Properties>
</file>