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8" r:id="rId1"/>
    <p:sldMasterId id="2147484036" r:id="rId2"/>
  </p:sldMasterIdLst>
  <p:sldIdLst>
    <p:sldId id="256" r:id="rId3"/>
    <p:sldId id="320" r:id="rId4"/>
    <p:sldId id="279" r:id="rId5"/>
    <p:sldId id="312" r:id="rId6"/>
    <p:sldId id="313" r:id="rId7"/>
    <p:sldId id="314" r:id="rId8"/>
    <p:sldId id="260" r:id="rId9"/>
    <p:sldId id="262" r:id="rId10"/>
    <p:sldId id="265" r:id="rId11"/>
    <p:sldId id="267" r:id="rId12"/>
    <p:sldId id="272" r:id="rId13"/>
    <p:sldId id="274" r:id="rId14"/>
    <p:sldId id="276" r:id="rId15"/>
    <p:sldId id="277" r:id="rId16"/>
    <p:sldId id="282" r:id="rId17"/>
    <p:sldId id="286" r:id="rId18"/>
    <p:sldId id="287" r:id="rId19"/>
    <p:sldId id="263" r:id="rId20"/>
    <p:sldId id="296" r:id="rId21"/>
    <p:sldId id="289" r:id="rId22"/>
    <p:sldId id="290" r:id="rId23"/>
    <p:sldId id="305" r:id="rId24"/>
    <p:sldId id="291" r:id="rId25"/>
    <p:sldId id="292" r:id="rId26"/>
    <p:sldId id="308" r:id="rId27"/>
    <p:sldId id="309" r:id="rId28"/>
    <p:sldId id="310" r:id="rId29"/>
    <p:sldId id="316" r:id="rId30"/>
    <p:sldId id="311" r:id="rId31"/>
    <p:sldId id="293" r:id="rId32"/>
    <p:sldId id="297" r:id="rId33"/>
    <p:sldId id="299" r:id="rId34"/>
    <p:sldId id="300" r:id="rId35"/>
    <p:sldId id="302" r:id="rId36"/>
    <p:sldId id="319" r:id="rId37"/>
    <p:sldId id="317" r:id="rId38"/>
    <p:sldId id="303" r:id="rId39"/>
    <p:sldId id="304" r:id="rId40"/>
    <p:sldId id="322" r:id="rId41"/>
    <p:sldId id="323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6C9219EC-A192-433E-937C-D22A709BEE0D}">
          <p14:sldIdLst>
            <p14:sldId id="256"/>
            <p14:sldId id="320"/>
          </p14:sldIdLst>
        </p14:section>
        <p14:section name="jul.18 jun.19" id="{EB79EBAF-34EB-43A7-8466-BF308C2234B1}">
          <p14:sldIdLst>
            <p14:sldId id="279"/>
            <p14:sldId id="312"/>
            <p14:sldId id="313"/>
            <p14:sldId id="314"/>
            <p14:sldId id="260"/>
            <p14:sldId id="262"/>
            <p14:sldId id="265"/>
            <p14:sldId id="267"/>
            <p14:sldId id="272"/>
            <p14:sldId id="274"/>
            <p14:sldId id="276"/>
            <p14:sldId id="277"/>
            <p14:sldId id="282"/>
            <p14:sldId id="286"/>
            <p14:sldId id="287"/>
            <p14:sldId id="263"/>
            <p14:sldId id="296"/>
            <p14:sldId id="289"/>
            <p14:sldId id="290"/>
            <p14:sldId id="305"/>
            <p14:sldId id="291"/>
            <p14:sldId id="292"/>
            <p14:sldId id="308"/>
            <p14:sldId id="309"/>
            <p14:sldId id="310"/>
            <p14:sldId id="316"/>
            <p14:sldId id="311"/>
          </p14:sldIdLst>
        </p14:section>
        <p14:section name="Seção sem Título" id="{390DD229-1C6B-4C17-B63A-5BDBAB8BF87B}">
          <p14:sldIdLst>
            <p14:sldId id="293"/>
          </p14:sldIdLst>
        </p14:section>
        <p14:section name="Seção sem Título" id="{71F8AB99-03FD-4B86-9131-F1CE2D1186F3}">
          <p14:sldIdLst>
            <p14:sldId id="297"/>
            <p14:sldId id="299"/>
            <p14:sldId id="300"/>
            <p14:sldId id="302"/>
            <p14:sldId id="319"/>
          </p14:sldIdLst>
        </p14:section>
        <p14:section name="Seção sem Título" id="{B2118338-2B99-43FE-88CB-E998129BC874}">
          <p14:sldIdLst>
            <p14:sldId id="317"/>
            <p14:sldId id="303"/>
            <p14:sldId id="304"/>
            <p14:sldId id="322"/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5" autoAdjust="0"/>
    <p:restoredTop sz="92449" autoAdjust="0"/>
  </p:normalViewPr>
  <p:slideViewPr>
    <p:cSldViewPr snapToGrid="0">
      <p:cViewPr varScale="1">
        <p:scale>
          <a:sx n="67" d="100"/>
          <a:sy n="67" d="100"/>
        </p:scale>
        <p:origin x="88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72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50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71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9966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464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401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76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40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07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51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4749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7623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414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176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8269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283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0057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259A6-FC05-4E4A-BA84-12605F29B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838831-5A0C-4304-9343-2582D7801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E9CC58-0F34-4EB5-9EFF-CD58E7F8A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788422-DDDF-40BB-B463-74C34BD14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B8F7DC-EB00-430C-A6D1-37408437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2502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B66B9-6FCB-44B4-BBB5-2248FDA6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01812F-1D49-4462-9494-221FF92F3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3E939A-B016-4603-B8C2-DC4DBCF3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4A4E5-0259-4CB6-982D-8E8D97DA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8284AF-7A03-49BE-8CC6-64E1F087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020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78F80-89EB-46D0-8126-E2462105D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31CB4-6745-463F-B07A-F6C0F45D5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D4DE9E-0280-48BC-A9FE-0E0960ED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4658C-370C-4249-8E56-483A0A04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430BD1-67DE-4198-BA45-393B9BD5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8657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9EB9E-D1BF-425C-B8FC-D63B1350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43183F-44C2-4BE6-87AE-4DA952731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4E4EC8-B702-4184-B032-17AC02F7F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4A8CA7-E419-4EB7-A768-1095421A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E1C1B4-7D41-4605-88BE-7FDC1CED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9E85CC-C6DC-49CE-B409-F2FE39BD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3624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560B9-9BBC-4EAF-999D-DF6622E6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5016A2-1247-42F6-98D6-A11C5D4B2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2984E7-CCEC-46C0-BB8D-F4AAC6226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A0B39DF-A654-434C-85D8-E89D3DB5B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9ED393D-B8A4-4018-A9B2-D446A8735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F7A5D70-FDFC-4ED4-B4E4-5C855385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C36D96E-44A2-4E2E-A31C-138F8CBB2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4639C00-72CF-4A97-A66A-AD407954D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316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28340-8B09-4577-BE8F-63E48F59E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364452-D89B-48F5-9D86-4D6BAC8EB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39D7CE-C119-4159-9159-C6F4EAC2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3D019C-C010-47B7-94B7-7CB971A89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4077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CDEAAC4-F9D9-4338-9E22-7D4FF4C5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CDDE75-1F2B-487F-ABCF-55887AB6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B0116C-B37D-4199-A32B-D17CA84B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598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2F0C7-22F4-45BF-A726-BC0B199C7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845CE-B168-4919-8439-D20EC56DB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78D960-67CA-4DA0-A219-F210BD6DC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6D27E5-3DB2-4009-A5ED-0900C18D9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C60247-AE5E-435A-91B8-5A97915E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D607C9-3AE6-4E22-A029-2069876B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336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564A1-3CE9-4227-8E9A-111548CDF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48A3E0-34C5-43FA-9D90-773188DC8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3CF2F4-C0F8-4B3F-9CAF-AC9AA26D1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F60955-5661-45EA-828E-971507F2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BD0640-C32B-49EE-9C4B-8BFE0FA0F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DAD1E5-BD5D-4B81-AC95-C8920B36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10374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57003-0E14-4543-855C-55C7241A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35CDFF-239F-427B-B6F7-EB3ABE01A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EDD174-AFFF-4C4C-910A-DDB5FBAA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51D8B0-AA65-4B79-BFCA-0C5C10F1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C5A532-95E0-4FD6-A690-023E3E01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8899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BD51A4-FCB3-45D4-B02D-BA1F27CDF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00404C-3C7D-497A-B552-8E891A8B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6DF541-DD9D-481B-BCE2-2C82ED82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75BC8E-EDE2-40A2-B170-4AE2CB3EF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2C2044-C0A6-4F08-95C6-CCCA2386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72878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7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7608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24" r:id="rId6"/>
    <p:sldLayoutId id="2147484025" r:id="rId7"/>
    <p:sldLayoutId id="2147484026" r:id="rId8"/>
    <p:sldLayoutId id="2147484027" r:id="rId9"/>
    <p:sldLayoutId id="2147484028" r:id="rId10"/>
    <p:sldLayoutId id="2147484029" r:id="rId11"/>
    <p:sldLayoutId id="2147484030" r:id="rId12"/>
    <p:sldLayoutId id="2147484031" r:id="rId13"/>
    <p:sldLayoutId id="2147484032" r:id="rId14"/>
    <p:sldLayoutId id="2147484033" r:id="rId15"/>
    <p:sldLayoutId id="2147484034" r:id="rId16"/>
    <p:sldLayoutId id="214748403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71B331-B9E4-4257-ACDB-06BB9570B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BB4C3B-DC26-4E2D-ACFE-D65C8B58B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D7FE60-0FB9-4B21-A4BB-218786D87F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F3032-9D60-4D22-AAC4-373E453B4783}" type="datetimeFigureOut">
              <a:rPr lang="pt-BR" smtClean="0"/>
              <a:t>02/07/2019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7BF476-4BE5-4570-B3A4-4FF49100C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633DD-7FFD-42A9-ABBB-FDE47FB34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6E688-761D-4997-B241-DE4291C2B2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965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12" Type="http://schemas.openxmlformats.org/officeDocument/2006/relationships/image" Target="../media/image33.jpe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jpe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2.jp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70.jpg"/><Relationship Id="rId4" Type="http://schemas.openxmlformats.org/officeDocument/2006/relationships/image" Target="../media/image6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7" Type="http://schemas.openxmlformats.org/officeDocument/2006/relationships/image" Target="../media/image76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75.jp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7" Type="http://schemas.openxmlformats.org/officeDocument/2006/relationships/image" Target="../media/image89.jpeg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88.jpeg"/><Relationship Id="rId5" Type="http://schemas.openxmlformats.org/officeDocument/2006/relationships/image" Target="../media/image87.jpeg"/><Relationship Id="rId4" Type="http://schemas.openxmlformats.org/officeDocument/2006/relationships/image" Target="../media/image8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6.jpeg"/><Relationship Id="rId4" Type="http://schemas.openxmlformats.org/officeDocument/2006/relationships/image" Target="../media/image105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cirv.com.br/" TargetMode="External"/><Relationship Id="rId2" Type="http://schemas.openxmlformats.org/officeDocument/2006/relationships/hyperlink" Target="http://www.facebook.com/acirv/" TargetMode="Externa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17.jpg"/><Relationship Id="rId4" Type="http://schemas.openxmlformats.org/officeDocument/2006/relationships/image" Target="../media/image11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jpeg"/><Relationship Id="rId7" Type="http://schemas.openxmlformats.org/officeDocument/2006/relationships/image" Target="../media/image123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0" Type="http://schemas.openxmlformats.org/officeDocument/2006/relationships/image" Target="../media/image126.jpg"/><Relationship Id="rId4" Type="http://schemas.openxmlformats.org/officeDocument/2006/relationships/image" Target="../media/image120.png"/><Relationship Id="rId9" Type="http://schemas.openxmlformats.org/officeDocument/2006/relationships/image" Target="../media/image125.jp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jpeg"/><Relationship Id="rId7" Type="http://schemas.openxmlformats.org/officeDocument/2006/relationships/image" Target="../media/image133.png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2.jpg"/><Relationship Id="rId5" Type="http://schemas.openxmlformats.org/officeDocument/2006/relationships/image" Target="../media/image131.jpg"/><Relationship Id="rId4" Type="http://schemas.openxmlformats.org/officeDocument/2006/relationships/image" Target="../media/image130.png"/><Relationship Id="rId9" Type="http://schemas.openxmlformats.org/officeDocument/2006/relationships/image" Target="../media/image13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eg"/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39.jpg"/><Relationship Id="rId4" Type="http://schemas.openxmlformats.org/officeDocument/2006/relationships/image" Target="../media/image138.jp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8CF0ED2-00D1-43A5-835D-542126BB7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2082" y="3242731"/>
            <a:ext cx="6815669" cy="2581599"/>
          </a:xfrm>
        </p:spPr>
        <p:txBody>
          <a:bodyPr>
            <a:noAutofit/>
          </a:bodyPr>
          <a:lstStyle/>
          <a:p>
            <a:pPr algn="ctr"/>
            <a:r>
              <a:rPr lang="pt-BR" sz="5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AÇÕES REALIZADAS pela </a:t>
            </a:r>
            <a:r>
              <a:rPr lang="pt-BR" sz="5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acirv</a:t>
            </a:r>
            <a:r>
              <a:rPr lang="pt-BR" sz="5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período de </a:t>
            </a:r>
            <a:br>
              <a:rPr lang="pt-BR" sz="5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5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JUL/18 a JUN/19</a:t>
            </a:r>
          </a:p>
        </p:txBody>
      </p:sp>
      <p:pic>
        <p:nvPicPr>
          <p:cNvPr id="3" name="Imagem 2" descr="C:\Users\diretor\Desktop\NOVA LOGOMARCA\LOGOACIRV-01 - Cópia.png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589" y="372979"/>
            <a:ext cx="5618747" cy="18408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585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8CF0ED2-00D1-43A5-835D-542126BB7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342900"/>
            <a:ext cx="10129837" cy="4814887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pt-B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MISSÃO: </a:t>
            </a:r>
            <a:br>
              <a:rPr lang="pt-BR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“Impulsionar o desenvolvimento </a:t>
            </a:r>
            <a:r>
              <a:rPr lang="pt-BR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social,político</a:t>
            </a:r>
            <a:r>
              <a:rPr lang="pt-BR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econômico da região, representando os interesses da classe empresarial em todas as esferas institucionais.”</a:t>
            </a:r>
          </a:p>
        </p:txBody>
      </p:sp>
      <p:pic>
        <p:nvPicPr>
          <p:cNvPr id="5" name="Imagem 4" descr="C:\Users\diretor\Desktop\NOVA LOGOMARCA\LOGOACIRV-01 - Cópia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305" y="5914023"/>
            <a:ext cx="2438400" cy="781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241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1D076-9873-4AA7-91FA-CB1314A0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7" y="6268702"/>
            <a:ext cx="9609666" cy="566738"/>
          </a:xfrm>
        </p:spPr>
        <p:txBody>
          <a:bodyPr>
            <a:noAutofit/>
          </a:bodyPr>
          <a:lstStyle/>
          <a:p>
            <a:r>
              <a:rPr lang="pt-BR" sz="3200" dirty="0">
                <a:latin typeface="Bahnschrift Condensed" panose="020B0502040204020203" pitchFamily="34" charset="0"/>
              </a:rPr>
              <a:t>Reuniões com a ENEL/ANEEL em busca de melhorias na distribuição de energia elétrica em Rio Verde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38624F-F94B-44DC-AE9D-E3DEE1FAF9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369" y="3577982"/>
            <a:ext cx="3063240" cy="22337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85E14A8-F576-4430-BE32-00E2C0600F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767" y="799243"/>
            <a:ext cx="3063240" cy="22974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BF3253F-0973-49E6-B5D3-F1D9987290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369" y="841900"/>
            <a:ext cx="3063240" cy="22974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90BF01A-12BC-47EF-8592-EA1F9BA8A3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632" y="3514306"/>
            <a:ext cx="3063239" cy="22974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A71444D-442F-4918-8AB9-D93A59A21E53}"/>
              </a:ext>
            </a:extLst>
          </p:cNvPr>
          <p:cNvSpPr/>
          <p:nvPr/>
        </p:nvSpPr>
        <p:spPr>
          <a:xfrm>
            <a:off x="8855683" y="367435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07.02.2019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C5B868E-9FD1-4153-949A-BD1A31EAAB5F}"/>
              </a:ext>
            </a:extLst>
          </p:cNvPr>
          <p:cNvSpPr/>
          <p:nvPr/>
        </p:nvSpPr>
        <p:spPr>
          <a:xfrm>
            <a:off x="4806865" y="353426"/>
            <a:ext cx="1289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05.02.2019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CC2881-9B34-41F9-9B7E-71D40C5E6106}"/>
              </a:ext>
            </a:extLst>
          </p:cNvPr>
          <p:cNvSpPr/>
          <p:nvPr/>
        </p:nvSpPr>
        <p:spPr>
          <a:xfrm>
            <a:off x="4859764" y="3126375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22.04.2019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2B8DC24-80BF-4555-B228-A1F3D1A786ED}"/>
              </a:ext>
            </a:extLst>
          </p:cNvPr>
          <p:cNvSpPr/>
          <p:nvPr/>
        </p:nvSpPr>
        <p:spPr>
          <a:xfrm>
            <a:off x="8892871" y="3245601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23.05.2019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4653288-A327-4514-BC59-6430623785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22" y="773964"/>
            <a:ext cx="2819931" cy="22209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A97000CE-2388-4E69-B864-A4D85602BAFA}"/>
              </a:ext>
            </a:extLst>
          </p:cNvPr>
          <p:cNvSpPr/>
          <p:nvPr/>
        </p:nvSpPr>
        <p:spPr>
          <a:xfrm>
            <a:off x="1399826" y="40463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29.06.2018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0AE13BB-12BB-4A6C-ABE0-838F1D0CB58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22" y="3533494"/>
            <a:ext cx="2928516" cy="21963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B2E9C395-8BDE-4318-8250-78A1FB91AAF4}"/>
              </a:ext>
            </a:extLst>
          </p:cNvPr>
          <p:cNvSpPr/>
          <p:nvPr/>
        </p:nvSpPr>
        <p:spPr>
          <a:xfrm>
            <a:off x="1418325" y="3120262"/>
            <a:ext cx="1289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21.03.2019 </a:t>
            </a:r>
          </a:p>
        </p:txBody>
      </p:sp>
    </p:spTree>
    <p:extLst>
      <p:ext uri="{BB962C8B-B14F-4D97-AF65-F5344CB8AC3E}">
        <p14:creationId xmlns:p14="http://schemas.microsoft.com/office/powerpoint/2010/main" val="43055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8A588-8CE0-4D53-998E-ABCE2EF94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56" y="5852160"/>
            <a:ext cx="9609666" cy="840617"/>
          </a:xfrm>
        </p:spPr>
        <p:txBody>
          <a:bodyPr>
            <a:noAutofit/>
          </a:bodyPr>
          <a:lstStyle/>
          <a:p>
            <a:r>
              <a:rPr lang="pt-BR" sz="5400" dirty="0">
                <a:latin typeface="Bahnschrift Condensed" panose="020B0502040204020203" pitchFamily="34" charset="0"/>
              </a:rPr>
              <a:t>SUDOEXPO 2018 - 12 a 15 de Setembro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D42B80D-5340-4149-B139-BBAAFFF559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907" y="385699"/>
            <a:ext cx="3670997" cy="24473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134" name="Picture 14" descr="A imagem pode conter: 3 pessoas, pessoas no palco e pessoas tocando instrumentos musicais">
            <a:extLst>
              <a:ext uri="{FF2B5EF4-FFF2-40B4-BE49-F238E27FC236}">
                <a16:creationId xmlns:a16="http://schemas.microsoft.com/office/drawing/2014/main" id="{EB1137F0-096A-4406-B6BC-8C46478F0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190" y="385699"/>
            <a:ext cx="3661709" cy="24411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A58CE83-310F-4794-B624-FD541AA514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77" y="3122025"/>
            <a:ext cx="3261750" cy="24473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68E98D4-236D-413D-B54A-4D811363B0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906" y="3122025"/>
            <a:ext cx="3670997" cy="24473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FDF7FF0-96DA-470D-AE55-B9F193C90F7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190" y="3122024"/>
            <a:ext cx="3670997" cy="24473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F0A9B099-0449-4D05-9F18-DBF5B24913A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77" y="379507"/>
            <a:ext cx="3261750" cy="24473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7165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8A588-8CE0-4D53-998E-ABCE2EF94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56" y="5852160"/>
            <a:ext cx="9609666" cy="840617"/>
          </a:xfrm>
        </p:spPr>
        <p:txBody>
          <a:bodyPr>
            <a:noAutofit/>
          </a:bodyPr>
          <a:lstStyle/>
          <a:p>
            <a:r>
              <a:rPr lang="pt-BR" sz="5400" dirty="0">
                <a:latin typeface="Bahnschrift Condensed" panose="020B0502040204020203" pitchFamily="34" charset="0"/>
              </a:rPr>
              <a:t>SUDOEXPO 2018 - 12 a 15 de Setembro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DAFD270-FE47-4C3C-973E-5D03FF0047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13" y="165223"/>
            <a:ext cx="3695516" cy="24636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57CA4CD-ED97-470A-B04C-D4E5AED878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242" y="2880101"/>
            <a:ext cx="3695516" cy="24636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4940B46-B130-4F91-90C0-3D2D36B56B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13" y="2880103"/>
            <a:ext cx="3695516" cy="24636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2583993-56D0-4A1F-9537-790B192121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419" y="2880102"/>
            <a:ext cx="3695516" cy="24636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46B03AC-D044-43CA-B2B3-C3321D34919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242" y="165222"/>
            <a:ext cx="3695516" cy="24636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8D617D7-12DB-4838-8887-0EB91E9CFAA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419" y="181565"/>
            <a:ext cx="3695516" cy="24473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9536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8A588-8CE0-4D53-998E-ABCE2EF94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75" y="5641764"/>
            <a:ext cx="10222537" cy="967379"/>
          </a:xfrm>
        </p:spPr>
        <p:txBody>
          <a:bodyPr>
            <a:noAutofit/>
          </a:bodyPr>
          <a:lstStyle/>
          <a:p>
            <a:r>
              <a:rPr lang="pt-BR" sz="2800" dirty="0">
                <a:latin typeface="Bahnschrift Condensed" panose="020B0502040204020203" pitchFamily="34" charset="0"/>
              </a:rPr>
              <a:t>Atrações da Arena do Conhecimento na SUDOEXPO 2018</a:t>
            </a:r>
            <a:br>
              <a:rPr lang="pt-BR" sz="2800" dirty="0">
                <a:latin typeface="Bahnschrift Condensed" panose="020B0502040204020203" pitchFamily="34" charset="0"/>
              </a:rPr>
            </a:br>
            <a:r>
              <a:rPr lang="pt-BR" sz="2800" dirty="0">
                <a:latin typeface="Bahnschrift Condensed" panose="020B0502040204020203" pitchFamily="34" charset="0"/>
              </a:rPr>
              <a:t>Parceiros: SEBRAE/SESI SENAI/SENAC/FGV/IPOG/INSTITUTO VOCÊ/EDUARDO DI CASTRO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A2DC0B-D392-4212-8384-FC377079FF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315" y="248857"/>
            <a:ext cx="1693985" cy="169398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DB21021-945A-455F-9372-E07FBBAD9E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809" y="245286"/>
            <a:ext cx="1694902" cy="169490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802529-8128-4A0A-BA05-793A54745C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807" y="245286"/>
            <a:ext cx="1694902" cy="169490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127E0B3-4B65-4AEB-A825-3A09EE7CB6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28" y="245286"/>
            <a:ext cx="1693985" cy="169398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6BB8932-7867-4D90-87D1-09F561CC33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908" y="245286"/>
            <a:ext cx="1693985" cy="169398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D8FC9A2-0B20-4B35-875F-C8B14E8CB0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1499" y="221088"/>
            <a:ext cx="1693984" cy="169398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BA7F9AA-73AD-4131-A167-01080788ADC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56" y="4015269"/>
            <a:ext cx="1693985" cy="1693985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3187E48C-7E17-4B8E-B742-CAF4C1779A2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714" y="3991069"/>
            <a:ext cx="1693985" cy="1693985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9544906-A39F-4DAC-BB28-BB71A1036EB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447" y="4015268"/>
            <a:ext cx="1693986" cy="1693986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6495DDC9-10F4-4EC8-A32B-7A12614009A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809" y="2112052"/>
            <a:ext cx="1691879" cy="1691879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A7BEA7F-2FC5-49CF-B1B0-1BBAEB8F33E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406" y="3991069"/>
            <a:ext cx="1693984" cy="169398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F12CAC4-8D24-4CC5-A239-94D353521CA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221" y="2112053"/>
            <a:ext cx="1691880" cy="169188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611F4352-A9B8-4DBA-9296-D8DAC3614A5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140" y="4020431"/>
            <a:ext cx="1704967" cy="1704967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C83F0DA1-202A-404F-A282-CB418347A5C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410" y="2120819"/>
            <a:ext cx="1693984" cy="1693984"/>
          </a:xfrm>
          <a:prstGeom prst="rect">
            <a:avLst/>
          </a:prstGeom>
        </p:spPr>
      </p:pic>
      <p:pic>
        <p:nvPicPr>
          <p:cNvPr id="1025" name="Imagem 1024">
            <a:extLst>
              <a:ext uri="{FF2B5EF4-FFF2-40B4-BE49-F238E27FC236}">
                <a16:creationId xmlns:a16="http://schemas.microsoft.com/office/drawing/2014/main" id="{A51446A5-98BC-419E-9864-EB43E6B663D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315" y="2121269"/>
            <a:ext cx="1691880" cy="169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80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8FA81-F7FA-45A4-A3E0-8712A445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3961950" cy="1054253"/>
          </a:xfrm>
        </p:spPr>
        <p:txBody>
          <a:bodyPr>
            <a:noAutofit/>
          </a:bodyPr>
          <a:lstStyle/>
          <a:p>
            <a:r>
              <a:rPr lang="pt-BR" dirty="0">
                <a:latin typeface="Bahnschrift Light Condensed" panose="020B0502040204020203" pitchFamily="34" charset="0"/>
              </a:rPr>
              <a:t>22.09.2018 - Competição de Arbitragem Dr. José </a:t>
            </a:r>
            <a:br>
              <a:rPr lang="pt-BR" dirty="0">
                <a:latin typeface="Bahnschrift Light Condensed" panose="020B0502040204020203" pitchFamily="34" charset="0"/>
              </a:rPr>
            </a:br>
            <a:r>
              <a:rPr lang="pt-BR" dirty="0">
                <a:latin typeface="Bahnschrift Light Condensed" panose="020B0502040204020203" pitchFamily="34" charset="0"/>
              </a:rPr>
              <a:t> (CAM-ACIRV)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548E63D-9A88-455E-BB5A-8096FF52C2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06" y="1601812"/>
            <a:ext cx="3198250" cy="23986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6404797-AAE8-4841-8DE8-C45C861661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06" y="4319459"/>
            <a:ext cx="3198250" cy="22781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9FC6528-FC33-44E3-9A23-CF2AE0E2D4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341" y="1601812"/>
            <a:ext cx="3046233" cy="22846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FF005CF-8394-4FBB-87FD-5D8EEA5832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342" y="4345717"/>
            <a:ext cx="3046232" cy="22846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D742D390-90BD-4C7D-A1D8-50FEBC055AE9}"/>
              </a:ext>
            </a:extLst>
          </p:cNvPr>
          <p:cNvSpPr txBox="1">
            <a:spLocks/>
          </p:cNvSpPr>
          <p:nvPr/>
        </p:nvSpPr>
        <p:spPr>
          <a:xfrm>
            <a:off x="4073884" y="206286"/>
            <a:ext cx="3241146" cy="13955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Bahnschrift Condensed" panose="020B0502040204020203" pitchFamily="34" charset="0"/>
              </a:rPr>
              <a:t>23.11.2018 – Lançamento do Livro “Arbitragem no Agronegócio” (Resolução de disputas para o produtor rural)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2277C66-C1BA-4DA3-A327-84FB94E99B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367" y="1642235"/>
            <a:ext cx="2935525" cy="23178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131E8920-EAA2-4AB6-A9D9-97B22BDE9279}"/>
              </a:ext>
            </a:extLst>
          </p:cNvPr>
          <p:cNvSpPr txBox="1">
            <a:spLocks/>
          </p:cNvSpPr>
          <p:nvPr/>
        </p:nvSpPr>
        <p:spPr>
          <a:xfrm>
            <a:off x="7811215" y="14478"/>
            <a:ext cx="4041842" cy="1627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dirty="0">
              <a:latin typeface="Bahnschrift Condensed" panose="020B0502040204020203" pitchFamily="34" charset="0"/>
            </a:endParaRPr>
          </a:p>
          <a:p>
            <a:endParaRPr lang="pt-BR" dirty="0">
              <a:latin typeface="Bahnschrift Condensed" panose="020B0502040204020203" pitchFamily="34" charset="0"/>
            </a:endParaRPr>
          </a:p>
          <a:p>
            <a:endParaRPr lang="pt-BR" dirty="0">
              <a:latin typeface="Bahnschrift Condensed" panose="020B0502040204020203" pitchFamily="34" charset="0"/>
            </a:endParaRPr>
          </a:p>
          <a:p>
            <a:endParaRPr lang="pt-BR" dirty="0">
              <a:latin typeface="Bahnschrift Condensed" panose="020B0502040204020203" pitchFamily="34" charset="0"/>
            </a:endParaRPr>
          </a:p>
          <a:p>
            <a:endParaRPr lang="pt-BR" dirty="0">
              <a:latin typeface="Bahnschrift Condensed" panose="020B0502040204020203" pitchFamily="34" charset="0"/>
            </a:endParaRPr>
          </a:p>
          <a:p>
            <a:endParaRPr lang="pt-BR" dirty="0">
              <a:latin typeface="Bahnschrift Condensed" panose="020B0502040204020203" pitchFamily="34" charset="0"/>
            </a:endParaRPr>
          </a:p>
          <a:p>
            <a:endParaRPr lang="pt-BR" dirty="0">
              <a:latin typeface="Bahnschrift Condensed" panose="020B0502040204020203" pitchFamily="34" charset="0"/>
            </a:endParaRPr>
          </a:p>
          <a:p>
            <a:endParaRPr lang="pt-BR" dirty="0">
              <a:latin typeface="Bahnschrift Condensed" panose="020B0502040204020203" pitchFamily="34" charset="0"/>
            </a:endParaRPr>
          </a:p>
          <a:p>
            <a:r>
              <a:rPr lang="pt-BR" dirty="0">
                <a:latin typeface="Bahnschrift Condensed" panose="020B0502040204020203" pitchFamily="34" charset="0"/>
              </a:rPr>
              <a:t>07.02./ 02.05 DE 2019 – Visitas à CAM-ACIRV  da Comissão OAB e da Procuradoria de Roraima para conhecer os procedimentos adotados. 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E96FDE3-A299-446A-B07E-1E86CE03D70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367" y="4345715"/>
            <a:ext cx="3046233" cy="22846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8693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186BC-5656-4DBA-9517-31582C116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509" y="4159045"/>
            <a:ext cx="10316910" cy="2271250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Bahnschrift Condensed" panose="020B0502040204020203" pitchFamily="34" charset="0"/>
              </a:rPr>
              <a:t>09.11.2018 – Assinatura do Protocolo para captação de água do Rio Verdinho (Ministro das Cidades Alexandre </a:t>
            </a:r>
            <a:r>
              <a:rPr lang="pt-BR" sz="4000" dirty="0" err="1">
                <a:latin typeface="Bahnschrift Condensed" panose="020B0502040204020203" pitchFamily="34" charset="0"/>
              </a:rPr>
              <a:t>Baldy</a:t>
            </a:r>
            <a:r>
              <a:rPr lang="pt-BR" sz="4000" dirty="0">
                <a:latin typeface="Bahnschrift Condensed" panose="020B0502040204020203" pitchFamily="34" charset="0"/>
              </a:rPr>
              <a:t>)</a:t>
            </a:r>
            <a:endParaRPr lang="pt-BR" sz="32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83C3973-1512-4FC1-B171-23B81F1E3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09" y="656304"/>
            <a:ext cx="5149423" cy="38567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85ED09B-89A9-4871-BB1D-6F4A61A44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978" y="656304"/>
            <a:ext cx="5389279" cy="38567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74042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33BF9-EB32-4C66-A50A-0594F656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46" y="770059"/>
            <a:ext cx="3655744" cy="1143000"/>
          </a:xfrm>
        </p:spPr>
        <p:txBody>
          <a:bodyPr>
            <a:noAutofit/>
          </a:bodyPr>
          <a:lstStyle/>
          <a:p>
            <a:r>
              <a:rPr lang="pt-BR" dirty="0">
                <a:latin typeface="Bahnschrift Condensed" panose="020B0502040204020203" pitchFamily="34" charset="0"/>
              </a:rPr>
              <a:t>27.11.2018 - Entrevista na rádio com empresários sobre redução dos incentivos fiscais para as empresas de Goiás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A2930E4-6339-4AA4-AC9A-A9AA12AE97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2154555"/>
            <a:ext cx="3858190" cy="28936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 descr="A imagem pode conter: 4 pessoas, pessoas sorrindo, pessoas em pé">
            <a:extLst>
              <a:ext uri="{FF2B5EF4-FFF2-40B4-BE49-F238E27FC236}">
                <a16:creationId xmlns:a16="http://schemas.microsoft.com/office/drawing/2014/main" id="{F920CD0D-3E0F-4E53-9E3A-7D8A9F09D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128" y="2154554"/>
            <a:ext cx="3655744" cy="28936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imagem pode conter: 4 pessoas, pessoas sorrindo, pessoas em pé e área interna">
            <a:extLst>
              <a:ext uri="{FF2B5EF4-FFF2-40B4-BE49-F238E27FC236}">
                <a16:creationId xmlns:a16="http://schemas.microsoft.com/office/drawing/2014/main" id="{7425DF8B-0AA0-45B4-9FC5-CD97DC2C1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510" y="2154555"/>
            <a:ext cx="3579544" cy="28936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BC0E1DBC-309E-42B1-AEBD-23F9A8A1F2F6}"/>
              </a:ext>
            </a:extLst>
          </p:cNvPr>
          <p:cNvSpPr txBox="1">
            <a:spLocks/>
          </p:cNvSpPr>
          <p:nvPr/>
        </p:nvSpPr>
        <p:spPr>
          <a:xfrm>
            <a:off x="4957762" y="57223"/>
            <a:ext cx="6300788" cy="14256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Bahnschrift Condensed" panose="020B0502040204020203" pitchFamily="34" charset="0"/>
              </a:rPr>
              <a:t>03.12.2018 - Reunião na Assembleia Legislativa referente à redução dos incentivos fiscais com os deputados </a:t>
            </a:r>
            <a:r>
              <a:rPr lang="pt-BR" dirty="0" err="1">
                <a:latin typeface="Bahnschrift Condensed" panose="020B0502040204020203" pitchFamily="34" charset="0"/>
              </a:rPr>
              <a:t>Lissauer</a:t>
            </a:r>
            <a:r>
              <a:rPr lang="pt-BR" dirty="0">
                <a:latin typeface="Bahnschrift Condensed" panose="020B0502040204020203" pitchFamily="34" charset="0"/>
              </a:rPr>
              <a:t> Vieira e </a:t>
            </a:r>
            <a:r>
              <a:rPr lang="pt-BR" dirty="0" err="1">
                <a:latin typeface="Bahnschrift Condensed" panose="020B0502040204020203" pitchFamily="34" charset="0"/>
              </a:rPr>
              <a:t>Karlos</a:t>
            </a:r>
            <a:r>
              <a:rPr lang="pt-BR" dirty="0">
                <a:latin typeface="Bahnschrift Condensed" panose="020B0502040204020203" pitchFamily="34" charset="0"/>
              </a:rPr>
              <a:t> Cabral.</a:t>
            </a:r>
          </a:p>
        </p:txBody>
      </p:sp>
    </p:spTree>
    <p:extLst>
      <p:ext uri="{BB962C8B-B14F-4D97-AF65-F5344CB8AC3E}">
        <p14:creationId xmlns:p14="http://schemas.microsoft.com/office/powerpoint/2010/main" val="3411682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732C7-D648-47A5-859F-9F2EBAEA4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06" y="760534"/>
            <a:ext cx="3552661" cy="1738426"/>
          </a:xfrm>
        </p:spPr>
        <p:txBody>
          <a:bodyPr>
            <a:noAutofit/>
          </a:bodyPr>
          <a:lstStyle/>
          <a:p>
            <a:r>
              <a:rPr lang="pt-BR" dirty="0">
                <a:latin typeface="Bahnschrift Condensed" panose="020B0502040204020203" pitchFamily="34" charset="0"/>
              </a:rPr>
              <a:t>29.11.2018 – Reunião dos diretores junto ao Prefeito, Paulo do Vale, cobrando melhorias para classe empresarial e desenvolvimento do município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615D5EB-BDEA-4F2F-BE67-B9C1C2896C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8" y="2855852"/>
            <a:ext cx="3838218" cy="30385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4EF77D4-8B06-465A-8518-711E408D3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96" y="2855852"/>
            <a:ext cx="3838218" cy="30385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DAD4C647-3EB9-44B1-9701-A29AA749343C}"/>
              </a:ext>
            </a:extLst>
          </p:cNvPr>
          <p:cNvSpPr txBox="1">
            <a:spLocks/>
          </p:cNvSpPr>
          <p:nvPr/>
        </p:nvSpPr>
        <p:spPr>
          <a:xfrm>
            <a:off x="4384807" y="187386"/>
            <a:ext cx="3641196" cy="1884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Bahnschrift Condensed" panose="020B0502040204020203" pitchFamily="34" charset="0"/>
              </a:rPr>
              <a:t>15.02.2019 – Reunião com o presidente da Assembleia Legislativa de Goiás, </a:t>
            </a:r>
            <a:r>
              <a:rPr lang="pt-BR" dirty="0" err="1">
                <a:latin typeface="Bahnschrift Condensed" panose="020B0502040204020203" pitchFamily="34" charset="0"/>
              </a:rPr>
              <a:t>Lissauer</a:t>
            </a:r>
            <a:r>
              <a:rPr lang="pt-BR" dirty="0">
                <a:latin typeface="Bahnschrift Condensed" panose="020B0502040204020203" pitchFamily="34" charset="0"/>
              </a:rPr>
              <a:t> Vieira, para reivindicar melhorias em Rio Verde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D9076A-2813-4FCA-91FD-6425BE0A11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64" y="2855852"/>
            <a:ext cx="3619407" cy="30385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4DE02A33-8888-4EC1-81BD-AE419BA85C39}"/>
              </a:ext>
            </a:extLst>
          </p:cNvPr>
          <p:cNvSpPr txBox="1">
            <a:spLocks/>
          </p:cNvSpPr>
          <p:nvPr/>
        </p:nvSpPr>
        <p:spPr>
          <a:xfrm>
            <a:off x="8223025" y="223138"/>
            <a:ext cx="3786146" cy="1884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Bahnschrift Condensed" panose="020B0502040204020203" pitchFamily="34" charset="0"/>
              </a:rPr>
              <a:t>08.04.2019 – Reunião com o Senador e Secretário de Indústria e Comércio de Goiás, Wilder Morais, para reivindicar demandas no setor empresarial</a:t>
            </a:r>
          </a:p>
        </p:txBody>
      </p:sp>
    </p:spTree>
    <p:extLst>
      <p:ext uri="{BB962C8B-B14F-4D97-AF65-F5344CB8AC3E}">
        <p14:creationId xmlns:p14="http://schemas.microsoft.com/office/powerpoint/2010/main" val="1119688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155C6-E1BA-47F9-AC97-3580C1700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7" y="6019695"/>
            <a:ext cx="9609666" cy="566738"/>
          </a:xfrm>
        </p:spPr>
        <p:txBody>
          <a:bodyPr>
            <a:noAutofit/>
          </a:bodyPr>
          <a:lstStyle/>
          <a:p>
            <a:r>
              <a:rPr lang="pt-BR" sz="3000" dirty="0">
                <a:latin typeface="Bahnschrift Condensed" panose="020B0502040204020203" pitchFamily="34" charset="0"/>
              </a:rPr>
              <a:t>21.12.2018 e 22.12.2018</a:t>
            </a:r>
            <a:br>
              <a:rPr lang="pt-BR" sz="3000" dirty="0">
                <a:latin typeface="Bahnschrift Condensed" panose="020B0502040204020203" pitchFamily="34" charset="0"/>
              </a:rPr>
            </a:br>
            <a:r>
              <a:rPr lang="pt-BR" sz="3000" dirty="0">
                <a:latin typeface="Bahnschrift Condensed" panose="020B0502040204020203" pitchFamily="34" charset="0"/>
              </a:rPr>
              <a:t>Entrega de Cestas Natalinas às famílias carentes de Rio Verde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0B7FC33-2C11-4A17-A475-CF2EDF634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0" y="920429"/>
            <a:ext cx="5611711" cy="42087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D2208C9-27A5-4864-9BF4-287D1A883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10" y="920430"/>
            <a:ext cx="5611709" cy="42087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85027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FC9CE-A480-4623-9AE5-7B29DFC16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4979276"/>
            <a:ext cx="10829925" cy="1735849"/>
          </a:xfrm>
        </p:spPr>
        <p:txBody>
          <a:bodyPr>
            <a:noAutofit/>
          </a:bodyPr>
          <a:lstStyle/>
          <a:p>
            <a:r>
              <a:rPr lang="pt-BR" sz="2800" dirty="0">
                <a:latin typeface="Bahnschrift Condensed" panose="020B0502040204020203" pitchFamily="34" charset="0"/>
              </a:rPr>
              <a:t>17.01.2019 – Visita do Ministro de Infraestrutura</a:t>
            </a:r>
            <a:br>
              <a:rPr lang="pt-BR" sz="2800" dirty="0">
                <a:latin typeface="Bahnschrift Condensed" panose="020B0502040204020203" pitchFamily="34" charset="0"/>
              </a:rPr>
            </a:br>
            <a:r>
              <a:rPr lang="pt-BR" sz="2800" dirty="0">
                <a:latin typeface="Bahnschrift Condensed" panose="020B0502040204020203" pitchFamily="34" charset="0"/>
              </a:rPr>
              <a:t>e Governador de Goiás e entrega de reivindicações referentes a investimentos no aeroporto e manutenção de rodovias estaduais e federais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3CFE16F-8CF6-49F4-8952-8E3B7A23C7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573" y="604920"/>
            <a:ext cx="5485226" cy="4113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A8AF54-DEC3-4C36-996B-54EF32A03C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75" y="604920"/>
            <a:ext cx="5485225" cy="4113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96400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DC8A82-6549-4B71-868F-553678A69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38" y="4218426"/>
            <a:ext cx="11257229" cy="2376317"/>
          </a:xfrm>
        </p:spPr>
        <p:txBody>
          <a:bodyPr>
            <a:noAutofit/>
          </a:bodyPr>
          <a:lstStyle/>
          <a:p>
            <a:r>
              <a:rPr lang="pt-BR" sz="3600" dirty="0">
                <a:latin typeface="Bahnschrift Condensed" panose="020B0502040204020203" pitchFamily="34" charset="0"/>
              </a:rPr>
              <a:t>30.01.2019 – Posse da nova diretoria do </a:t>
            </a:r>
            <a:r>
              <a:rPr lang="pt-BR" sz="3600" dirty="0" err="1">
                <a:latin typeface="Bahnschrift Condensed" panose="020B0502040204020203" pitchFamily="34" charset="0"/>
              </a:rPr>
              <a:t>Coderv</a:t>
            </a:r>
            <a:r>
              <a:rPr lang="pt-BR" sz="3600" dirty="0">
                <a:latin typeface="Bahnschrift Condensed" panose="020B0502040204020203" pitchFamily="34" charset="0"/>
              </a:rPr>
              <a:t> (Conselho de Desenvolvimento Econômico de Rio Verde), entidade que é uma conquista da </a:t>
            </a:r>
            <a:r>
              <a:rPr lang="pt-BR" sz="3600" dirty="0" err="1">
                <a:latin typeface="Bahnschrift Condensed" panose="020B0502040204020203" pitchFamily="34" charset="0"/>
              </a:rPr>
              <a:t>Acirv</a:t>
            </a:r>
            <a:r>
              <a:rPr lang="pt-BR" sz="3600" dirty="0">
                <a:latin typeface="Bahnschrift Condensed" panose="020B0502040204020203" pitchFamily="34" charset="0"/>
              </a:rPr>
              <a:t> em prol do desenvolvimento do município.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0D15637-02F7-4D3D-A68A-114F759C5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01382"/>
            <a:ext cx="5575567" cy="37170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4178067-1567-4EAC-9612-2FF765138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27" y="501382"/>
            <a:ext cx="5315660" cy="37170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35324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A29C0-15C6-4D9F-9A60-2B32588E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4" y="4357687"/>
            <a:ext cx="10872786" cy="2500314"/>
          </a:xfrm>
        </p:spPr>
        <p:txBody>
          <a:bodyPr>
            <a:noAutofit/>
          </a:bodyPr>
          <a:lstStyle/>
          <a:p>
            <a:r>
              <a:rPr lang="pt-BR" sz="3600" dirty="0">
                <a:latin typeface="Bahnschrift Condensed" panose="020B0502040204020203" pitchFamily="34" charset="0"/>
              </a:rPr>
              <a:t>31.01.2019 – Apresentação feita aos empresários locais pela empresa Habitat, do novo empreendimento no ramo da construção civil em Rio Verde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623D5B4-A687-43F2-8A5D-4FFB9CAB7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3337"/>
            <a:ext cx="5699369" cy="40343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92EE17E-F691-4098-9D1A-40A035822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33" y="323338"/>
            <a:ext cx="5422730" cy="40343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88347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151F0-3BDA-41E0-A280-1528ADD01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5322094"/>
            <a:ext cx="10572749" cy="1400175"/>
          </a:xfrm>
        </p:spPr>
        <p:txBody>
          <a:bodyPr>
            <a:noAutofit/>
          </a:bodyPr>
          <a:lstStyle/>
          <a:p>
            <a:r>
              <a:rPr lang="pt-BR" sz="3200" dirty="0">
                <a:latin typeface="Bahnschrift Condensed" panose="020B0502040204020203" pitchFamily="34" charset="0"/>
              </a:rPr>
              <a:t>21.02.2019 – Aniversário de 1 ano</a:t>
            </a:r>
            <a:br>
              <a:rPr lang="pt-BR" sz="3200" dirty="0">
                <a:latin typeface="Bahnschrift Condensed" panose="020B0502040204020203" pitchFamily="34" charset="0"/>
              </a:rPr>
            </a:br>
            <a:r>
              <a:rPr lang="pt-BR" sz="3200" dirty="0">
                <a:latin typeface="Bahnschrift Condensed" panose="020B0502040204020203" pitchFamily="34" charset="0"/>
              </a:rPr>
              <a:t>da COOP RECICLA, projeto abraçado pela </a:t>
            </a:r>
            <a:r>
              <a:rPr lang="pt-BR" sz="3200" dirty="0" err="1">
                <a:latin typeface="Bahnschrift Condensed" panose="020B0502040204020203" pitchFamily="34" charset="0"/>
              </a:rPr>
              <a:t>Acirv</a:t>
            </a:r>
            <a:r>
              <a:rPr lang="pt-BR" sz="3200" dirty="0">
                <a:latin typeface="Bahnschrift Condensed" panose="020B0502040204020203" pitchFamily="34" charset="0"/>
              </a:rPr>
              <a:t> que adquiriu o primeiro PEV (Ponto de Entrega Voluntária) da cidade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00DB28C-7713-438A-BE63-EBF6962F2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6" y="835818"/>
            <a:ext cx="5553074" cy="41648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CEDB247-786A-4928-9B6C-84AAEE9AB4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937" y="835817"/>
            <a:ext cx="5553073" cy="41648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34631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4DB7C-4FBE-48E2-8E50-B715D4EA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11" y="5060852"/>
            <a:ext cx="11497240" cy="1460936"/>
          </a:xfrm>
        </p:spPr>
        <p:txBody>
          <a:bodyPr>
            <a:noAutofit/>
          </a:bodyPr>
          <a:lstStyle/>
          <a:p>
            <a:r>
              <a:rPr lang="pt-BR" sz="4000" dirty="0">
                <a:latin typeface="Bahnschrift Condensed" panose="020B0502040204020203" pitchFamily="34" charset="0"/>
              </a:rPr>
              <a:t>22.02.2019 – Lançamento de novos serviços de consultoria Serasa através da parceria com a empresa </a:t>
            </a:r>
            <a:r>
              <a:rPr lang="pt-BR" sz="4000" dirty="0" err="1">
                <a:latin typeface="Bahnschrift Condensed" panose="020B0502040204020203" pitchFamily="34" charset="0"/>
              </a:rPr>
              <a:t>Hellus</a:t>
            </a:r>
            <a:endParaRPr lang="pt-BR" sz="4000" dirty="0">
              <a:latin typeface="Bahnschrift Condensed" panose="020B0502040204020203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D4285D2-56C6-40FA-BE63-A7473EF65D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10" y="336212"/>
            <a:ext cx="5741502" cy="43061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9B23C6A-FF8C-4A10-ADA4-258DB54F75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988" y="336211"/>
            <a:ext cx="5741502" cy="43061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34615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60E51-600E-47D5-804D-8540C7563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7" y="5862637"/>
            <a:ext cx="9609666" cy="566738"/>
          </a:xfrm>
        </p:spPr>
        <p:txBody>
          <a:bodyPr>
            <a:noAutofit/>
          </a:bodyPr>
          <a:lstStyle/>
          <a:p>
            <a:r>
              <a:rPr lang="pt-BR" sz="3600" dirty="0">
                <a:latin typeface="Bahnschrift Condensed" panose="020B0502040204020203" pitchFamily="34" charset="0"/>
              </a:rPr>
              <a:t>27.02.2019 – </a:t>
            </a:r>
            <a:r>
              <a:rPr lang="pt-BR" sz="3600" dirty="0" err="1">
                <a:latin typeface="Bahnschrift Condensed" panose="020B0502040204020203" pitchFamily="34" charset="0"/>
              </a:rPr>
              <a:t>Acirv</a:t>
            </a:r>
            <a:r>
              <a:rPr lang="pt-BR" sz="3600" dirty="0">
                <a:latin typeface="Bahnschrift Condensed" panose="020B0502040204020203" pitchFamily="34" charset="0"/>
              </a:rPr>
              <a:t> presente na inauguração do Hospital do Câncer de Rio Verde e doação de um leito pela diretoria gestão 2017/2020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3141690-DF5B-430F-AD3A-7F2EF9640C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359" y="1491583"/>
            <a:ext cx="4229281" cy="31719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FA0C846-A550-43B0-B931-4031DD3C2D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7" y="1552967"/>
            <a:ext cx="3748086" cy="30491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285BC8D-EE0B-4F8D-B0ED-1521269366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140" y="1552967"/>
            <a:ext cx="3674223" cy="30491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20409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25658-4AA6-4610-B648-FDBB56C11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22" y="846597"/>
            <a:ext cx="3590762" cy="1113112"/>
          </a:xfrm>
        </p:spPr>
        <p:txBody>
          <a:bodyPr>
            <a:noAutofit/>
          </a:bodyPr>
          <a:lstStyle/>
          <a:p>
            <a:r>
              <a:rPr lang="pt-BR" dirty="0">
                <a:latin typeface="Bahnschrift Condensed" panose="020B0502040204020203" pitchFamily="34" charset="0"/>
              </a:rPr>
              <a:t>20.11.2018 – Projeto Reeducar (Produção de chinelos pelos presidiários)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24533A-7B5D-4CA7-9C63-8C4E1DEAD2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90" y="2269959"/>
            <a:ext cx="3271838" cy="26592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645D597-9C20-43D9-891A-0C9DEE92FF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925" y="2269959"/>
            <a:ext cx="3271838" cy="26592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FE8489E-765E-41C2-82CD-A16FFE8D5BBB}"/>
              </a:ext>
            </a:extLst>
          </p:cNvPr>
          <p:cNvSpPr/>
          <p:nvPr/>
        </p:nvSpPr>
        <p:spPr>
          <a:xfrm>
            <a:off x="3668462" y="1128712"/>
            <a:ext cx="40387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Bahnschrift Light Condensed" panose="020B0502040204020203" pitchFamily="34" charset="0"/>
              </a:rPr>
              <a:t>27.02.2019 - Visita às instalações da nova CPP (Casa de Prisão Provisória)</a:t>
            </a:r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C10F9DA-3E81-46C7-B962-D9BECFDD9B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434" y="1288056"/>
            <a:ext cx="3698478" cy="24502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54517D4-B23C-427A-8D0C-178EB37522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434" y="4050572"/>
            <a:ext cx="3698477" cy="24502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621D595-4431-4743-B7F8-B086A1F0497E}"/>
              </a:ext>
            </a:extLst>
          </p:cNvPr>
          <p:cNvSpPr/>
          <p:nvPr/>
        </p:nvSpPr>
        <p:spPr>
          <a:xfrm>
            <a:off x="7323763" y="87727"/>
            <a:ext cx="48682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latin typeface="Bahnschrift Light Condensed" panose="020B0502040204020203" pitchFamily="34" charset="0"/>
              </a:rPr>
              <a:t>23.05.2019 - Entrega da nova CPP ao Governo do Estado de Goiás, para transferência dos presos</a:t>
            </a:r>
          </a:p>
        </p:txBody>
      </p:sp>
    </p:spTree>
    <p:extLst>
      <p:ext uri="{BB962C8B-B14F-4D97-AF65-F5344CB8AC3E}">
        <p14:creationId xmlns:p14="http://schemas.microsoft.com/office/powerpoint/2010/main" val="1217589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72190-43B5-41AB-BF86-901B01443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163" y="5252898"/>
            <a:ext cx="9609666" cy="1492312"/>
          </a:xfrm>
        </p:spPr>
        <p:txBody>
          <a:bodyPr>
            <a:normAutofit/>
          </a:bodyPr>
          <a:lstStyle/>
          <a:p>
            <a:r>
              <a:rPr lang="pt-BR" sz="4000" b="1" dirty="0">
                <a:latin typeface="Bahnschrift Light Condensed" panose="020B0502040204020203" pitchFamily="34" charset="0"/>
              </a:rPr>
              <a:t>25.03.2019 – Inauguração oficial da nova CPP- Casa de Prisão Provisória de Rio Verde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B498BA-686E-448E-B3D7-7A01DD14C9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15" y="251956"/>
            <a:ext cx="3094892" cy="23211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D4EFA08-D1A9-463A-9425-B39DFAAD2D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732" y="2931729"/>
            <a:ext cx="3094893" cy="23211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E8C60AE-4646-4D72-B88A-C31A81A00E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962" y="2931729"/>
            <a:ext cx="3094892" cy="23211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4CCE0148-2C09-4DAF-8E09-6332826A6C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609" y="207673"/>
            <a:ext cx="3094893" cy="23211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B39DFF3-4B6B-4CBD-BC1A-42B401BB1B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15" y="2931727"/>
            <a:ext cx="3094894" cy="23211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6D74A1E-8FEB-4B22-B92A-24235F37B6D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962" y="251956"/>
            <a:ext cx="3094892" cy="23211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78781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8639D-B069-400D-ABC4-E3DFD909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7" y="4966615"/>
            <a:ext cx="9609666" cy="1343333"/>
          </a:xfrm>
        </p:spPr>
        <p:txBody>
          <a:bodyPr>
            <a:noAutofit/>
          </a:bodyPr>
          <a:lstStyle/>
          <a:p>
            <a:r>
              <a:rPr lang="pt-BR" sz="4800" dirty="0">
                <a:latin typeface="Bahnschrift Condensed" panose="020B0502040204020203" pitchFamily="34" charset="0"/>
              </a:rPr>
              <a:t>Entrega da CPP</a:t>
            </a:r>
            <a:br>
              <a:rPr lang="pt-BR" sz="4800" dirty="0">
                <a:latin typeface="Bahnschrift Condensed" panose="020B0502040204020203" pitchFamily="34" charset="0"/>
              </a:rPr>
            </a:br>
            <a:r>
              <a:rPr lang="pt-BR" sz="4800" dirty="0">
                <a:latin typeface="Bahnschrift Condensed" panose="020B0502040204020203" pitchFamily="34" charset="0"/>
              </a:rPr>
              <a:t>ao Governador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AFF3C8F-07F3-41E7-8E9F-8A821C317C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00" y="267417"/>
            <a:ext cx="3188677" cy="239150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E578BF1-D7CE-48DB-BD88-F7C1B8C3C8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509" y="267417"/>
            <a:ext cx="3188678" cy="239150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AC8FC18-EC17-4019-BD95-388C343747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609" y="1419576"/>
            <a:ext cx="4454768" cy="33410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34AFC8AE-9866-4CC3-853C-1CCB9BA27E07}"/>
              </a:ext>
            </a:extLst>
          </p:cNvPr>
          <p:cNvSpPr txBox="1">
            <a:spLocks/>
          </p:cNvSpPr>
          <p:nvPr/>
        </p:nvSpPr>
        <p:spPr>
          <a:xfrm>
            <a:off x="1359160" y="140676"/>
            <a:ext cx="9609666" cy="11749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dirty="0">
                <a:latin typeface="Bahnschrift Condensed" panose="020B0502040204020203" pitchFamily="34" charset="0"/>
              </a:rPr>
              <a:t>08.04.2018</a:t>
            </a:r>
          </a:p>
          <a:p>
            <a:r>
              <a:rPr lang="pt-BR" sz="4400" dirty="0">
                <a:latin typeface="Bahnschrift Condensed" panose="020B0502040204020203" pitchFamily="34" charset="0"/>
              </a:rPr>
              <a:t>TECNOSHOW 2019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CD62F9C-9C51-41C1-8F32-D0C054147039}"/>
              </a:ext>
            </a:extLst>
          </p:cNvPr>
          <p:cNvSpPr txBox="1">
            <a:spLocks/>
          </p:cNvSpPr>
          <p:nvPr/>
        </p:nvSpPr>
        <p:spPr>
          <a:xfrm>
            <a:off x="-2668695" y="2418447"/>
            <a:ext cx="9609666" cy="13433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>
                <a:latin typeface="Bahnschrift Condensed" panose="020B0502040204020203" pitchFamily="34" charset="0"/>
              </a:rPr>
              <a:t>Abertura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E68879E-C7CF-4AB0-B4DA-065B093C4D31}"/>
              </a:ext>
            </a:extLst>
          </p:cNvPr>
          <p:cNvSpPr txBox="1">
            <a:spLocks/>
          </p:cNvSpPr>
          <p:nvPr/>
        </p:nvSpPr>
        <p:spPr>
          <a:xfrm>
            <a:off x="8448529" y="2951614"/>
            <a:ext cx="3650202" cy="15632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dirty="0">
                <a:latin typeface="Bahnschrift Condensed" panose="020B0502040204020203" pitchFamily="34" charset="0"/>
              </a:rPr>
              <a:t>Palestra</a:t>
            </a:r>
          </a:p>
          <a:p>
            <a:r>
              <a:rPr lang="pt-BR" sz="3600" dirty="0">
                <a:latin typeface="Bahnschrift Condensed" panose="020B0502040204020203" pitchFamily="34" charset="0"/>
              </a:rPr>
              <a:t>CAM-ACIRV – Contratos no Agronegócio</a:t>
            </a:r>
          </a:p>
        </p:txBody>
      </p:sp>
    </p:spTree>
    <p:extLst>
      <p:ext uri="{BB962C8B-B14F-4D97-AF65-F5344CB8AC3E}">
        <p14:creationId xmlns:p14="http://schemas.microsoft.com/office/powerpoint/2010/main" val="1346058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9074A9-FE0A-42A2-92F1-32A6917D4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864" y="4857750"/>
            <a:ext cx="5746267" cy="1671637"/>
          </a:xfrm>
        </p:spPr>
        <p:txBody>
          <a:bodyPr>
            <a:normAutofit/>
          </a:bodyPr>
          <a:lstStyle/>
          <a:p>
            <a:r>
              <a:rPr lang="pt-BR" sz="3000" b="1" dirty="0">
                <a:latin typeface="Bahnschrift Light Condensed" panose="020B0502040204020203" pitchFamily="34" charset="0"/>
              </a:rPr>
              <a:t>12.06.2018 e 18.04.2019 </a:t>
            </a:r>
            <a:br>
              <a:rPr lang="pt-BR" sz="3000" b="1" dirty="0">
                <a:latin typeface="Bahnschrift Light Condensed" panose="020B0502040204020203" pitchFamily="34" charset="0"/>
              </a:rPr>
            </a:br>
            <a:r>
              <a:rPr lang="pt-BR" sz="3000" b="1" dirty="0">
                <a:latin typeface="Bahnschrift Light Condensed" panose="020B0502040204020203" pitchFamily="34" charset="0"/>
              </a:rPr>
              <a:t>Campanha de Vacinação contra gripe H1N1 para os associados</a:t>
            </a:r>
          </a:p>
        </p:txBody>
      </p:sp>
      <p:pic>
        <p:nvPicPr>
          <p:cNvPr id="1026" name="Picture 2" descr="A imagem pode conter: uma ou mais pessoas e texto">
            <a:extLst>
              <a:ext uri="{FF2B5EF4-FFF2-40B4-BE49-F238E27FC236}">
                <a16:creationId xmlns:a16="http://schemas.microsoft.com/office/drawing/2014/main" id="{C86188FC-FBA7-4E6D-B406-9FA6BDD71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47" y="356601"/>
            <a:ext cx="4949659" cy="61870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0C38A90-64A1-47A8-908F-CCF7499B0E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674" y="757238"/>
            <a:ext cx="5200649" cy="39004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08429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D842FFB7-E697-410B-A7D6-DA1CD1C37FCB}"/>
              </a:ext>
            </a:extLst>
          </p:cNvPr>
          <p:cNvSpPr txBox="1">
            <a:spLocks/>
          </p:cNvSpPr>
          <p:nvPr/>
        </p:nvSpPr>
        <p:spPr>
          <a:xfrm>
            <a:off x="442913" y="462959"/>
            <a:ext cx="4015830" cy="1294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latin typeface="Bahnschrift Light Condensed" panose="020B0502040204020203" pitchFamily="34" charset="0"/>
              </a:rPr>
              <a:t>30.04.2019 – Lançamento do COMAD</a:t>
            </a:r>
          </a:p>
          <a:p>
            <a:r>
              <a:rPr lang="pt-BR" b="1" dirty="0">
                <a:latin typeface="Bahnschrift Light Condensed" panose="020B0502040204020203" pitchFamily="34" charset="0"/>
              </a:rPr>
              <a:t>(Conselho Municipal de Políticas Públicas</a:t>
            </a:r>
          </a:p>
          <a:p>
            <a:r>
              <a:rPr lang="pt-BR" b="1" dirty="0">
                <a:latin typeface="Bahnschrift Light Condensed" panose="020B0502040204020203" pitchFamily="34" charset="0"/>
              </a:rPr>
              <a:t>Sobre Drogas e Álcool de Rio Verde)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1820F9-398F-40E7-8B5D-25CCED9E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83" y="2262438"/>
            <a:ext cx="4296818" cy="38383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6F63394-BE2C-48B4-9FB6-37E051FD44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62438"/>
            <a:ext cx="4619625" cy="36726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C7A1A88-0BB1-4394-B634-33AD3AD89A68}"/>
              </a:ext>
            </a:extLst>
          </p:cNvPr>
          <p:cNvSpPr txBox="1">
            <a:spLocks/>
          </p:cNvSpPr>
          <p:nvPr/>
        </p:nvSpPr>
        <p:spPr>
          <a:xfrm>
            <a:off x="6397897" y="462959"/>
            <a:ext cx="4619624" cy="1294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latin typeface="Bahnschrift Light Condensed" panose="020B0502040204020203" pitchFamily="34" charset="0"/>
              </a:rPr>
              <a:t>28.06.2019 – Palestra “ O mal do Século-Drogas, Segurança Pública e Sistema Prisional realizada pelo COMAD.  </a:t>
            </a:r>
          </a:p>
        </p:txBody>
      </p:sp>
    </p:spTree>
    <p:extLst>
      <p:ext uri="{BB962C8B-B14F-4D97-AF65-F5344CB8AC3E}">
        <p14:creationId xmlns:p14="http://schemas.microsoft.com/office/powerpoint/2010/main" val="1144645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1FF41-5F42-40F6-91DC-750E4D3A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33" y="5927644"/>
            <a:ext cx="11678328" cy="987508"/>
          </a:xfrm>
        </p:spPr>
        <p:txBody>
          <a:bodyPr>
            <a:noAutofit/>
          </a:bodyPr>
          <a:lstStyle/>
          <a:p>
            <a:r>
              <a:rPr lang="pt-BR" sz="3600" b="1" dirty="0">
                <a:latin typeface="Bahnschrift Light Condensed" panose="020B0502040204020203" pitchFamily="34" charset="0"/>
              </a:rPr>
              <a:t>09.05.2019 – Palestra “A Magia Estratégica” com o maior ilusionista da América Latina ISSAO IMAMURA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12BB92-90FE-48E7-9542-5649C98D5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996" y="3170546"/>
            <a:ext cx="3899202" cy="25994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361830A-F0FD-4C0B-B050-B51F6AE3C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12" y="3165196"/>
            <a:ext cx="3851004" cy="26048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79CFCF4-8DF0-424F-B4CD-2AE2C20690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916" y="568552"/>
            <a:ext cx="3899202" cy="25994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8F02E69-8086-4E71-9108-5D9ED61F01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33" y="571077"/>
            <a:ext cx="3899203" cy="25994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0145322-8961-48CF-847B-9960A82628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559" y="571077"/>
            <a:ext cx="3899202" cy="25994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B988868-2803-4F52-9394-3B94452EB12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279" y="3173070"/>
            <a:ext cx="3899203" cy="25994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0478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0CF88-9018-4D5D-AE04-A8D62A224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424" y="4877539"/>
            <a:ext cx="9945964" cy="1203009"/>
          </a:xfrm>
        </p:spPr>
        <p:txBody>
          <a:bodyPr>
            <a:normAutofit/>
          </a:bodyPr>
          <a:lstStyle/>
          <a:p>
            <a:r>
              <a:rPr lang="pt-BR" sz="3000" b="1" dirty="0">
                <a:latin typeface="Bahnschrift Light Condensed" panose="020B0502040204020203" pitchFamily="34" charset="0"/>
              </a:rPr>
              <a:t>10.05.2019 – </a:t>
            </a:r>
            <a:r>
              <a:rPr lang="pt-BR" sz="3000" b="1" dirty="0" err="1">
                <a:latin typeface="Bahnschrift Light Condensed" panose="020B0502040204020203" pitchFamily="34" charset="0"/>
              </a:rPr>
              <a:t>Acirv</a:t>
            </a:r>
            <a:r>
              <a:rPr lang="pt-BR" sz="3000" b="1" dirty="0">
                <a:latin typeface="Bahnschrift Light Condensed" panose="020B0502040204020203" pitchFamily="34" charset="0"/>
              </a:rPr>
              <a:t> participou do Feirão de Negócios da AJE (Associação de Jovens Empreendedores), divulgando seus serviços e benefícios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B67363-8218-4960-B993-85A342561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86" y="1246351"/>
            <a:ext cx="3328458" cy="33368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18556F6-C046-463D-B5F0-F9951F684C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56" y="1207506"/>
            <a:ext cx="3328458" cy="33284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BE4E8A9-4C5B-4EC3-AC18-CB34D7D4B0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771" y="1207506"/>
            <a:ext cx="3328458" cy="33284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18391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D842FFB7-E697-410B-A7D6-DA1CD1C37FCB}"/>
              </a:ext>
            </a:extLst>
          </p:cNvPr>
          <p:cNvSpPr txBox="1">
            <a:spLocks/>
          </p:cNvSpPr>
          <p:nvPr/>
        </p:nvSpPr>
        <p:spPr>
          <a:xfrm>
            <a:off x="1110192" y="5000626"/>
            <a:ext cx="9609666" cy="112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 dirty="0">
                <a:latin typeface="Bahnschrift Light Condensed" panose="020B0502040204020203" pitchFamily="34" charset="0"/>
              </a:rPr>
              <a:t>06.06.2019 – Abertura dos Jogos Estudantis  de Goiás que teve o apoio da </a:t>
            </a:r>
            <a:r>
              <a:rPr lang="pt-BR" sz="3000" b="1" dirty="0" err="1">
                <a:latin typeface="Bahnschrift Light Condensed" panose="020B0502040204020203" pitchFamily="34" charset="0"/>
              </a:rPr>
              <a:t>Acirv</a:t>
            </a:r>
            <a:r>
              <a:rPr lang="pt-BR" sz="3000" b="1" dirty="0">
                <a:latin typeface="Bahnschrift Light Condensed" panose="020B0502040204020203" pitchFamily="34" charset="0"/>
              </a:rPr>
              <a:t> no incentivo do esporte aos jovens do município</a:t>
            </a:r>
          </a:p>
        </p:txBody>
      </p:sp>
      <p:pic>
        <p:nvPicPr>
          <p:cNvPr id="2050" name="Picture 2" descr="https://scontent.fgyn3-2.fna.fbcdn.net/v/t1.0-9/61966531_2272056482922926_5321493530902790144_n.jpg?_nc_cat=103&amp;_nc_oc=AQnfALmuyR1H1bBFyEWu7KNEA8rnn1Uau7V9_2RWFd5j7H8j5-YjEpxT6ewWWOQ84zk&amp;_nc_pt=1&amp;_nc_ht=scontent.fgyn3-2.fna&amp;oh=5340286e3d6b866aa9b8b70cb9549f1f&amp;oe=5D87837B">
            <a:extLst>
              <a:ext uri="{FF2B5EF4-FFF2-40B4-BE49-F238E27FC236}">
                <a16:creationId xmlns:a16="http://schemas.microsoft.com/office/drawing/2014/main" id="{EB370D3E-7598-4120-BEB4-FB93EEF16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36" y="990599"/>
            <a:ext cx="5536641" cy="370307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imagem pode conter: uma ou mais pessoas, pessoas no palco e Ã¡rea interna">
            <a:extLst>
              <a:ext uri="{FF2B5EF4-FFF2-40B4-BE49-F238E27FC236}">
                <a16:creationId xmlns:a16="http://schemas.microsoft.com/office/drawing/2014/main" id="{5BEB66D9-1D6D-484D-A089-A3C1AA5E1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823" y="995317"/>
            <a:ext cx="5536641" cy="36983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453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D842FFB7-E697-410B-A7D6-DA1CD1C37FCB}"/>
              </a:ext>
            </a:extLst>
          </p:cNvPr>
          <p:cNvSpPr txBox="1">
            <a:spLocks/>
          </p:cNvSpPr>
          <p:nvPr/>
        </p:nvSpPr>
        <p:spPr>
          <a:xfrm>
            <a:off x="688070" y="5057776"/>
            <a:ext cx="10813368" cy="16716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latin typeface="Bahnschrift Light Condensed" panose="020B0502040204020203" pitchFamily="34" charset="0"/>
              </a:rPr>
              <a:t>18.06.2019 - Apresentação da OIT- Organização Internacional do Trabalho do Projeto Piloto de Aprendizagem Inclusiva que visa integrar jovens no mercado de trabalho.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06C79E6-E3CD-4F22-B9E0-74B22CBD7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76" y="915937"/>
            <a:ext cx="5069793" cy="38023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1DBA6B9-3440-467C-B47F-764D9A98D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9" y="915938"/>
            <a:ext cx="5069793" cy="38023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80604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D842FFB7-E697-410B-A7D6-DA1CD1C37FCB}"/>
              </a:ext>
            </a:extLst>
          </p:cNvPr>
          <p:cNvSpPr txBox="1">
            <a:spLocks/>
          </p:cNvSpPr>
          <p:nvPr/>
        </p:nvSpPr>
        <p:spPr>
          <a:xfrm>
            <a:off x="1006857" y="5755003"/>
            <a:ext cx="9609666" cy="1102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 dirty="0">
                <a:latin typeface="Bahnschrift Light Condensed" panose="020B0502040204020203" pitchFamily="34" charset="0"/>
              </a:rPr>
              <a:t>25.06.2019 - Reuniões com a Embaixada dos Emirados Árabes em busca de investimentos no município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23A7DF-F07F-41EB-8D70-C5093F67B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687" y="515778"/>
            <a:ext cx="3926414" cy="30956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7C3F60-15F9-438B-BF59-B89BA372C8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00" y="515779"/>
            <a:ext cx="3522346" cy="26417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44443A3-B09C-4A11-B824-0EA7FE305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625" y="2510915"/>
            <a:ext cx="4956131" cy="27902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6207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D842FFB7-E697-410B-A7D6-DA1CD1C37FCB}"/>
              </a:ext>
            </a:extLst>
          </p:cNvPr>
          <p:cNvSpPr txBox="1">
            <a:spLocks/>
          </p:cNvSpPr>
          <p:nvPr/>
        </p:nvSpPr>
        <p:spPr>
          <a:xfrm>
            <a:off x="4714875" y="146873"/>
            <a:ext cx="6872288" cy="17144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latin typeface="Bahnschrift Light Condensed" panose="020B0502040204020203" pitchFamily="34" charset="0"/>
              </a:rPr>
              <a:t>28.06.2019 – 1º Fórum de Desenvolvimento Econômico do Sudoeste Goiano, com participação da </a:t>
            </a:r>
            <a:r>
              <a:rPr lang="pt-BR" sz="2800" b="1" dirty="0" err="1">
                <a:latin typeface="Bahnschrift Light Condensed" panose="020B0502040204020203" pitchFamily="34" charset="0"/>
              </a:rPr>
              <a:t>Acirv</a:t>
            </a:r>
            <a:r>
              <a:rPr lang="pt-BR" sz="2800" b="1" dirty="0">
                <a:latin typeface="Bahnschrift Light Condensed" panose="020B0502040204020203" pitchFamily="34" charset="0"/>
              </a:rPr>
              <a:t>, </a:t>
            </a:r>
            <a:r>
              <a:rPr lang="pt-BR" sz="2800" b="1" dirty="0" err="1">
                <a:latin typeface="Bahnschrift Light Condensed" panose="020B0502040204020203" pitchFamily="34" charset="0"/>
              </a:rPr>
              <a:t>Acij</a:t>
            </a:r>
            <a:r>
              <a:rPr lang="pt-BR" sz="2800" b="1" dirty="0">
                <a:latin typeface="Bahnschrift Light Condensed" panose="020B0502040204020203" pitchFamily="34" charset="0"/>
              </a:rPr>
              <a:t>, </a:t>
            </a:r>
            <a:r>
              <a:rPr lang="pt-BR" sz="2800" b="1" dirty="0" err="1">
                <a:latin typeface="Bahnschrift Light Condensed" panose="020B0502040204020203" pitchFamily="34" charset="0"/>
              </a:rPr>
              <a:t>Coderv</a:t>
            </a:r>
            <a:r>
              <a:rPr lang="pt-BR" sz="2800" b="1" dirty="0">
                <a:latin typeface="Bahnschrift Light Condensed" panose="020B0502040204020203" pitchFamily="34" charset="0"/>
              </a:rPr>
              <a:t> e Observatório de Rio Verde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FB69060-8299-4B53-8AAF-1636EB70A5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025" y="3092610"/>
            <a:ext cx="3650096" cy="27375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8D3D88F-8230-4A04-B109-F10EF59F9E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561" y="3069806"/>
            <a:ext cx="3680501" cy="27603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F680191-64EC-426F-ADCD-F08D2FD018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79" y="3069806"/>
            <a:ext cx="3650096" cy="27375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3B305A7-BB35-4ECF-A2F6-E29D42DA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46" y="557213"/>
            <a:ext cx="3509961" cy="2008247"/>
          </a:xfrm>
        </p:spPr>
        <p:txBody>
          <a:bodyPr>
            <a:noAutofit/>
          </a:bodyPr>
          <a:lstStyle/>
          <a:p>
            <a:r>
              <a:rPr lang="pt-BR" dirty="0">
                <a:latin typeface="Bahnschrift Condensed" panose="020B0502040204020203" pitchFamily="34" charset="0"/>
              </a:rPr>
              <a:t>02.04.2019 – Visita da ACIJ</a:t>
            </a:r>
            <a:br>
              <a:rPr lang="pt-BR" dirty="0">
                <a:latin typeface="Bahnschrift Condensed" panose="020B0502040204020203" pitchFamily="34" charset="0"/>
              </a:rPr>
            </a:br>
            <a:r>
              <a:rPr lang="pt-BR" dirty="0">
                <a:latin typeface="Bahnschrift Condensed" panose="020B0502040204020203" pitchFamily="34" charset="0"/>
              </a:rPr>
              <a:t>(Associação Comercial e Industrial de Jataí) para conhecer os trabalhos realizados pela </a:t>
            </a:r>
            <a:r>
              <a:rPr lang="pt-BR" dirty="0" err="1">
                <a:latin typeface="Bahnschrift Condensed" panose="020B0502040204020203" pitchFamily="34" charset="0"/>
              </a:rPr>
              <a:t>Acirv</a:t>
            </a:r>
            <a:r>
              <a:rPr lang="pt-BR" dirty="0">
                <a:latin typeface="Bahnschrift Condensed" panose="020B0502040204020203" pitchFamily="34" charset="0"/>
              </a:rPr>
              <a:t> e fortalecer parcerias.</a:t>
            </a:r>
          </a:p>
        </p:txBody>
      </p:sp>
    </p:spTree>
    <p:extLst>
      <p:ext uri="{BB962C8B-B14F-4D97-AF65-F5344CB8AC3E}">
        <p14:creationId xmlns:p14="http://schemas.microsoft.com/office/powerpoint/2010/main" val="1524616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D842FFB7-E697-410B-A7D6-DA1CD1C37FCB}"/>
              </a:ext>
            </a:extLst>
          </p:cNvPr>
          <p:cNvSpPr txBox="1">
            <a:spLocks/>
          </p:cNvSpPr>
          <p:nvPr/>
        </p:nvSpPr>
        <p:spPr>
          <a:xfrm>
            <a:off x="1109196" y="-123205"/>
            <a:ext cx="10823525" cy="7829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>
                <a:latin typeface="Bahnschrift Light Condensed" panose="020B0502040204020203" pitchFamily="34" charset="0"/>
              </a:rPr>
              <a:t>Cursos e Palestras realizados no 2º semestre/2018 e 1º semestre/2019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DFF2197-7124-46C5-97D9-3D08DC3000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759" y="3792347"/>
            <a:ext cx="3634854" cy="27159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8B639F9-5D20-4FF6-B270-0ACC138E20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31" y="3743000"/>
            <a:ext cx="3648417" cy="27261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954F2F7-83BA-4B27-8ADE-7A6078D8D7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32" y="692687"/>
            <a:ext cx="3648417" cy="27363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D7676B3-062D-47A8-98F9-611C1D4DDB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759" y="834860"/>
            <a:ext cx="3634854" cy="27566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C53E8B93-2171-4A83-AF07-1FDADDC971E7}"/>
              </a:ext>
            </a:extLst>
          </p:cNvPr>
          <p:cNvSpPr txBox="1">
            <a:spLocks/>
          </p:cNvSpPr>
          <p:nvPr/>
        </p:nvSpPr>
        <p:spPr>
          <a:xfrm>
            <a:off x="4680597" y="644205"/>
            <a:ext cx="3680725" cy="58946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Inteligência Emocional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E-Social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Superação em Tempos de Conflito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Curso Avançado de </a:t>
            </a:r>
            <a:r>
              <a:rPr lang="pt-BR" sz="2000" dirty="0" err="1">
                <a:latin typeface="Bahnschrift Light Condensed" panose="020B0502040204020203" pitchFamily="34" charset="0"/>
              </a:rPr>
              <a:t>Eneagrama</a:t>
            </a:r>
            <a:endParaRPr lang="pt-BR" sz="2000" dirty="0">
              <a:latin typeface="Bahnschrift Light Condensed" panose="020B0502040204020203" pitchFamily="34" charset="0"/>
            </a:endParaRP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Programação Neurolinguística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O Líder Extraordinário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Direito Imobiliário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Os investimentos mais promissores de 2019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Show de Vendas e Atendimento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Formação de Analista DISC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Passei na OAB. E agora?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Palestra Realize Sonhos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Inovação Para Empresas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Petição Eletrônica e Processos Digitais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XIII Café Com Arbitragem</a:t>
            </a:r>
          </a:p>
          <a:p>
            <a:pPr marL="457200" indent="-457200" algn="l">
              <a:buFontTx/>
              <a:buChar char="-"/>
            </a:pPr>
            <a:r>
              <a:rPr lang="pt-BR" sz="2000" dirty="0">
                <a:latin typeface="Bahnschrift Light Condensed" panose="020B0502040204020203" pitchFamily="34" charset="0"/>
              </a:rPr>
              <a:t>Mediação e Arbitragem no Agronegócio</a:t>
            </a:r>
          </a:p>
          <a:p>
            <a:pPr marL="457200" indent="-457200" algn="l">
              <a:buFontTx/>
              <a:buChar char="-"/>
            </a:pPr>
            <a:r>
              <a:rPr lang="pt-BR" sz="2000" dirty="0" err="1">
                <a:latin typeface="Bahnschrift Light Condensed" panose="020B0502040204020203" pitchFamily="34" charset="0"/>
              </a:rPr>
              <a:t>GoiásFomento</a:t>
            </a:r>
            <a:r>
              <a:rPr lang="pt-BR" sz="2000" dirty="0">
                <a:latin typeface="Bahnschrift Light Condensed" panose="020B0502040204020203" pitchFamily="34" charset="0"/>
              </a:rPr>
              <a:t> – Plano de Negócio Para Empreendedores</a:t>
            </a:r>
          </a:p>
        </p:txBody>
      </p:sp>
    </p:spTree>
    <p:extLst>
      <p:ext uri="{BB962C8B-B14F-4D97-AF65-F5344CB8AC3E}">
        <p14:creationId xmlns:p14="http://schemas.microsoft.com/office/powerpoint/2010/main" val="2296630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06859AD-ABCB-4AA5-9680-22AE7B94A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4551" y="1151272"/>
            <a:ext cx="8791575" cy="3028950"/>
          </a:xfrm>
        </p:spPr>
        <p:txBody>
          <a:bodyPr>
            <a:norm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Serviços oferecidos pela </a:t>
            </a:r>
            <a:r>
              <a:rPr lang="pt-BR" sz="6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acirv</a:t>
            </a:r>
            <a:endParaRPr lang="pt-BR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 descr="C:\Users\diretor\Desktop\NOVA LOGOMARCA\LOGOACIRV-01 - Cópia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147" y="5962150"/>
            <a:ext cx="2438400" cy="781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1378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CB48A33-0FD3-451F-9B74-B61307077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29" y="6267462"/>
            <a:ext cx="5546471" cy="566738"/>
          </a:xfrm>
        </p:spPr>
        <p:txBody>
          <a:bodyPr>
            <a:noAutofit/>
          </a:bodyPr>
          <a:lstStyle/>
          <a:p>
            <a:r>
              <a:rPr lang="pt-BR" sz="2800" b="1" dirty="0">
                <a:latin typeface="Bahnschrift Light Condensed" panose="020B0502040204020203" pitchFamily="34" charset="0"/>
              </a:rPr>
              <a:t>CORRESPONDENTE DE CRÉDITO DA </a:t>
            </a:r>
            <a:br>
              <a:rPr lang="pt-BR" sz="2800" b="1" dirty="0">
                <a:latin typeface="Bahnschrift Light Condensed" panose="020B0502040204020203" pitchFamily="34" charset="0"/>
              </a:rPr>
            </a:br>
            <a:r>
              <a:rPr lang="pt-BR" sz="2800" b="1" dirty="0">
                <a:latin typeface="Bahnschrift Light Condensed" panose="020B0502040204020203" pitchFamily="34" charset="0"/>
              </a:rPr>
              <a:t> GOIÁS FOMENTO</a:t>
            </a:r>
          </a:p>
        </p:txBody>
      </p:sp>
      <p:pic>
        <p:nvPicPr>
          <p:cNvPr id="3074" name="Picture 2" descr="A imagem pode conter: texto">
            <a:extLst>
              <a:ext uri="{FF2B5EF4-FFF2-40B4-BE49-F238E27FC236}">
                <a16:creationId xmlns:a16="http://schemas.microsoft.com/office/drawing/2014/main" id="{4132DF19-2F85-4F60-B81B-A10776AED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27" y="124706"/>
            <a:ext cx="4563674" cy="57045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 imagem pode conter: uma ou mais pessoas e texto">
            <a:extLst>
              <a:ext uri="{FF2B5EF4-FFF2-40B4-BE49-F238E27FC236}">
                <a16:creationId xmlns:a16="http://schemas.microsoft.com/office/drawing/2014/main" id="{3244C3E3-484F-48D8-B4CD-730DD4466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05" y="197883"/>
            <a:ext cx="4505132" cy="56314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8909F16D-FD1A-40F1-9CE5-604C36E4C2F7}"/>
              </a:ext>
            </a:extLst>
          </p:cNvPr>
          <p:cNvSpPr txBox="1">
            <a:spLocks/>
          </p:cNvSpPr>
          <p:nvPr/>
        </p:nvSpPr>
        <p:spPr>
          <a:xfrm>
            <a:off x="6096000" y="6162688"/>
            <a:ext cx="5546471" cy="5667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latin typeface="Bahnschrift Light Condensed" panose="020B0502040204020203" pitchFamily="34" charset="0"/>
              </a:rPr>
              <a:t>PONTO DE ATENDIMENTO DE CERTIFICAÇÃO DIGITAL VIA AR-FACIEG </a:t>
            </a:r>
          </a:p>
        </p:txBody>
      </p:sp>
    </p:spTree>
    <p:extLst>
      <p:ext uri="{BB962C8B-B14F-4D97-AF65-F5344CB8AC3E}">
        <p14:creationId xmlns:p14="http://schemas.microsoft.com/office/powerpoint/2010/main" val="325793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65711-6AAA-4028-B668-4C2F3A47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20" y="5698152"/>
            <a:ext cx="5016794" cy="839164"/>
          </a:xfrm>
        </p:spPr>
        <p:txBody>
          <a:bodyPr>
            <a:noAutofit/>
          </a:bodyPr>
          <a:lstStyle/>
          <a:p>
            <a:r>
              <a:rPr lang="pt-BR" sz="3200" b="1" dirty="0">
                <a:latin typeface="Bahnschrift Light Condensed" panose="020B0502040204020203" pitchFamily="34" charset="0"/>
              </a:rPr>
              <a:t>Sistema de Proteção de Crédito</a:t>
            </a:r>
            <a:br>
              <a:rPr lang="pt-BR" sz="3200" b="1" dirty="0">
                <a:latin typeface="Bahnschrift Light Condensed" panose="020B0502040204020203" pitchFamily="34" charset="0"/>
              </a:rPr>
            </a:br>
            <a:r>
              <a:rPr lang="pt-BR" sz="3200" b="1" dirty="0">
                <a:latin typeface="Bahnschrift Light Condensed" panose="020B0502040204020203" pitchFamily="34" charset="0"/>
              </a:rPr>
              <a:t>Parceria </a:t>
            </a:r>
            <a:r>
              <a:rPr lang="pt-BR" sz="3200" b="1" dirty="0" err="1">
                <a:latin typeface="Bahnschrift Light Condensed" panose="020B0502040204020203" pitchFamily="34" charset="0"/>
              </a:rPr>
              <a:t>Hellus</a:t>
            </a:r>
            <a:r>
              <a:rPr lang="pt-BR" sz="3200" b="1" dirty="0">
                <a:latin typeface="Bahnschrift Light Condensed" panose="020B0502040204020203" pitchFamily="34" charset="0"/>
              </a:rPr>
              <a:t>/Serasa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8FB42D-7C81-4ACD-8CCE-A78FFA3FB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20" y="320684"/>
            <a:ext cx="5316831" cy="51085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9D66D598-36C0-413B-83A8-8F7DA2BB420B}"/>
              </a:ext>
            </a:extLst>
          </p:cNvPr>
          <p:cNvSpPr txBox="1">
            <a:spLocks/>
          </p:cNvSpPr>
          <p:nvPr/>
        </p:nvSpPr>
        <p:spPr>
          <a:xfrm>
            <a:off x="6394157" y="5698152"/>
            <a:ext cx="5016794" cy="8391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latin typeface="Bahnschrift Light Condensed" panose="020B0502040204020203" pitchFamily="34" charset="0"/>
              </a:rPr>
              <a:t>Assessoria Jurídica, Ambiental e de Comunicação para os associados</a:t>
            </a:r>
          </a:p>
        </p:txBody>
      </p:sp>
      <p:pic>
        <p:nvPicPr>
          <p:cNvPr id="1026" name="Picture 2" descr="Imagem relacionada">
            <a:extLst>
              <a:ext uri="{FF2B5EF4-FFF2-40B4-BE49-F238E27FC236}">
                <a16:creationId xmlns:a16="http://schemas.microsoft.com/office/drawing/2014/main" id="{16900DA9-AA41-40DD-959B-93DECA305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228" y="981873"/>
            <a:ext cx="5674023" cy="37861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713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F2D7727-DE22-4B9D-AAF4-CFB009C299BC}"/>
              </a:ext>
            </a:extLst>
          </p:cNvPr>
          <p:cNvSpPr txBox="1">
            <a:spLocks/>
          </p:cNvSpPr>
          <p:nvPr/>
        </p:nvSpPr>
        <p:spPr>
          <a:xfrm>
            <a:off x="7115175" y="5055795"/>
            <a:ext cx="4643437" cy="14450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latin typeface="Bahnschrift Light Condensed" panose="020B0502040204020203" pitchFamily="34" charset="0"/>
              </a:rPr>
              <a:t>Locação do auditório para eventos empresariais e sala de treinamentos com desconto para associado</a:t>
            </a:r>
          </a:p>
        </p:txBody>
      </p:sp>
      <p:pic>
        <p:nvPicPr>
          <p:cNvPr id="6" name="Espaço Reservado para Conteúdo 11">
            <a:extLst>
              <a:ext uri="{FF2B5EF4-FFF2-40B4-BE49-F238E27FC236}">
                <a16:creationId xmlns:a16="http://schemas.microsoft.com/office/drawing/2014/main" id="{E32CB369-0FB8-4081-9681-A03D81EAD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852" y="1417543"/>
            <a:ext cx="5548553" cy="34632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F2CC128-2A61-42CE-8E52-FBDFD08CE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5" y="1417542"/>
            <a:ext cx="6342205" cy="34606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9B0FEBD-4620-4CEA-B11C-7B06C4A2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994" y="6054820"/>
            <a:ext cx="5885006" cy="566738"/>
          </a:xfrm>
        </p:spPr>
        <p:txBody>
          <a:bodyPr>
            <a:noAutofit/>
          </a:bodyPr>
          <a:lstStyle/>
          <a:p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br>
              <a:rPr lang="pt-BR" sz="2800" dirty="0">
                <a:latin typeface="Bahnschrift Light Condensed" panose="020B0502040204020203" pitchFamily="34" charset="0"/>
              </a:rPr>
            </a:br>
            <a:r>
              <a:rPr lang="pt-BR" sz="2800" b="1" dirty="0">
                <a:latin typeface="Bahnschrift Light Condensed" panose="020B0502040204020203" pitchFamily="34" charset="0"/>
              </a:rPr>
              <a:t>CAM/ ACIRV</a:t>
            </a:r>
            <a:br>
              <a:rPr lang="pt-BR" sz="2800" b="1" dirty="0">
                <a:latin typeface="Bahnschrift Light Condensed" panose="020B0502040204020203" pitchFamily="34" charset="0"/>
              </a:rPr>
            </a:br>
            <a:r>
              <a:rPr lang="pt-BR" sz="2800" b="1" dirty="0">
                <a:latin typeface="Bahnschrift Light Condensed" panose="020B0502040204020203" pitchFamily="34" charset="0"/>
              </a:rPr>
              <a:t>CÂMARA DE ARBITRAGEM E MEDIAÇÃO ACIRV</a:t>
            </a:r>
            <a:br>
              <a:rPr lang="pt-BR" sz="2800" b="1" dirty="0">
                <a:latin typeface="Bahnschrift Light Condensed" panose="020B0502040204020203" pitchFamily="34" charset="0"/>
              </a:rPr>
            </a:br>
            <a:r>
              <a:rPr lang="pt-BR" sz="2800" dirty="0">
                <a:latin typeface="Bahnschrift Light Condensed" panose="020B0502040204020203" pitchFamily="34" charset="0"/>
              </a:rPr>
              <a:t>Serviço estratégico em solução de conflitos, sem a intervenção estatal</a:t>
            </a:r>
          </a:p>
        </p:txBody>
      </p:sp>
    </p:spTree>
    <p:extLst>
      <p:ext uri="{BB962C8B-B14F-4D97-AF65-F5344CB8AC3E}">
        <p14:creationId xmlns:p14="http://schemas.microsoft.com/office/powerpoint/2010/main" val="2744073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6C5D0-93A7-4423-B329-8F8151E09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7" y="6011168"/>
            <a:ext cx="9609666" cy="566738"/>
          </a:xfrm>
        </p:spPr>
        <p:txBody>
          <a:bodyPr>
            <a:normAutofit/>
          </a:bodyPr>
          <a:lstStyle/>
          <a:p>
            <a:r>
              <a:rPr lang="pt-BR" sz="3000" b="1" dirty="0">
                <a:latin typeface="Bahnschrift Light Condensed" panose="020B0502040204020203" pitchFamily="34" charset="0"/>
              </a:rPr>
              <a:t>REVISTA ACIRV - VITRINE EMPRESARIAL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22CFDB3-E56D-4A0B-B2FF-0C3EFF5A1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080" y="168816"/>
            <a:ext cx="4009292" cy="56673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F1752FD-5F5E-4FF3-9A4C-6D87EE8064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54" y="168816"/>
            <a:ext cx="4009292" cy="56673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C51C46-F734-4257-9F5B-991D8FEECF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0" y="168816"/>
            <a:ext cx="4009292" cy="56673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01327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6C5D0-93A7-4423-B329-8F8151E09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7" y="6011168"/>
            <a:ext cx="9609666" cy="566738"/>
          </a:xfrm>
        </p:spPr>
        <p:txBody>
          <a:bodyPr>
            <a:normAutofit/>
          </a:bodyPr>
          <a:lstStyle/>
          <a:p>
            <a:r>
              <a:rPr lang="pt-BR" sz="3000" b="1" dirty="0">
                <a:latin typeface="Bahnschrift Light Condensed" panose="020B0502040204020203" pitchFamily="34" charset="0"/>
              </a:rPr>
              <a:t>REDES SOCIAIS ACIRV </a:t>
            </a:r>
          </a:p>
        </p:txBody>
      </p:sp>
      <p:sp>
        <p:nvSpPr>
          <p:cNvPr id="3" name="Retângulo 2"/>
          <p:cNvSpPr/>
          <p:nvPr/>
        </p:nvSpPr>
        <p:spPr>
          <a:xfrm>
            <a:off x="3048000" y="4886236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</a:rPr>
              <a:t>Facebook: </a:t>
            </a:r>
            <a:r>
              <a:rPr lang="en-US" sz="2000" b="1" i="1" u="sng" dirty="0">
                <a:solidFill>
                  <a:schemeClr val="bg1"/>
                </a:solidFill>
                <a:hlinkClick r:id="rId2"/>
              </a:rPr>
              <a:t>www.facebook.com/acirv/</a:t>
            </a:r>
            <a:endParaRPr lang="pt-BR" sz="2000" b="1" dirty="0">
              <a:solidFill>
                <a:schemeClr val="bg1"/>
              </a:solidFill>
            </a:endParaRPr>
          </a:p>
          <a:p>
            <a:r>
              <a:rPr lang="pt-BR" sz="2000" b="1" i="1" dirty="0">
                <a:solidFill>
                  <a:schemeClr val="bg1"/>
                </a:solidFill>
              </a:rPr>
              <a:t>Site: </a:t>
            </a:r>
            <a:r>
              <a:rPr lang="pt-BR" sz="2000" b="1" i="1" u="sng" dirty="0">
                <a:solidFill>
                  <a:schemeClr val="bg1"/>
                </a:solidFill>
                <a:hlinkClick r:id="rId3"/>
              </a:rPr>
              <a:t>www.acirv.com.br</a:t>
            </a:r>
            <a:endParaRPr lang="pt-BR" sz="2000" b="1" dirty="0">
              <a:solidFill>
                <a:schemeClr val="bg1"/>
              </a:solidFill>
            </a:endParaRPr>
          </a:p>
          <a:p>
            <a:r>
              <a:rPr lang="pt-BR" sz="2000" b="1" i="1" dirty="0" err="1">
                <a:solidFill>
                  <a:schemeClr val="bg1"/>
                </a:solidFill>
              </a:rPr>
              <a:t>Instagram</a:t>
            </a:r>
            <a:r>
              <a:rPr lang="pt-BR" sz="2000" b="1" i="1" dirty="0">
                <a:solidFill>
                  <a:schemeClr val="bg1"/>
                </a:solidFill>
              </a:rPr>
              <a:t>: @ACIRVOFICIAL</a:t>
            </a:r>
            <a:endParaRPr lang="pt-BR" sz="2000" b="1" dirty="0">
              <a:solidFill>
                <a:schemeClr val="bg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084" y="605796"/>
            <a:ext cx="5705968" cy="361307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000" y="156412"/>
            <a:ext cx="3189469" cy="451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896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06859AD-ABCB-4AA5-9680-22AE7B94A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7849" y="1371601"/>
            <a:ext cx="8791575" cy="3352800"/>
          </a:xfrm>
        </p:spPr>
        <p:txBody>
          <a:bodyPr>
            <a:no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Parcerias de desconto</a:t>
            </a:r>
            <a:br>
              <a:rPr lang="pt-BR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acirv</a:t>
            </a:r>
            <a:endParaRPr lang="pt-BR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 descr="C:\Users\diretor\Desktop\NOVA LOGOMARCA\LOGOACIRV-01 - Cópia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9273" y="5901991"/>
            <a:ext cx="2438400" cy="781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99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CB31E369-B54E-41D3-986E-EB51A4888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38" y="536485"/>
            <a:ext cx="3940660" cy="155700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3165A7D-2DF9-4ABE-AD89-D693AF9F34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382" y="2509811"/>
            <a:ext cx="2305695" cy="1754497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91C953C4-6BFB-4B30-9AC9-E7AF985957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621" y="324078"/>
            <a:ext cx="3941739" cy="197087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CA9A3FCC-1E27-481A-BAC5-82A9446C67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26" y="4663392"/>
            <a:ext cx="2194609" cy="1989226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730" y="4509492"/>
            <a:ext cx="2143125" cy="214312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4554764"/>
            <a:ext cx="2358471" cy="216373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EF5BB23-9010-4F6C-AC02-7850AD2474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828" y="363912"/>
            <a:ext cx="2878845" cy="198383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66DD7A2E-93B3-49FD-B037-BF5F8D4D6D5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871" y="2310319"/>
            <a:ext cx="2200875" cy="195398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125" y="4565068"/>
            <a:ext cx="2143125" cy="214312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26" y="2241326"/>
            <a:ext cx="2282563" cy="228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337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5FA64E2-2907-48FB-A065-03BB0E1DB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127" y="880203"/>
            <a:ext cx="2207416" cy="230596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935F755-EC0B-4260-8CE9-7C0F01ACD2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88" y="4170083"/>
            <a:ext cx="3197012" cy="2260523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20" y="3841063"/>
            <a:ext cx="2979233" cy="253241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30BC461-EF1D-4654-AD73-C1597CF59F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052" y="2660882"/>
            <a:ext cx="4055967" cy="113429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A90558C-42A4-4D4C-A2AA-F44037BC28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04" y="255015"/>
            <a:ext cx="2285737" cy="2018953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528" y="880203"/>
            <a:ext cx="3202193" cy="175119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095" y="3898921"/>
            <a:ext cx="2538629" cy="2416700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961" y="427121"/>
            <a:ext cx="2712117" cy="178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23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05" y="711994"/>
            <a:ext cx="5446295" cy="175849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46" y="3597441"/>
            <a:ext cx="2887579" cy="2767264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267" y="2899610"/>
            <a:ext cx="3777169" cy="3004687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648" y="446421"/>
            <a:ext cx="4008421" cy="286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173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AE97457-3E31-40F3-A6FE-36E00B35DD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566" y="3691560"/>
            <a:ext cx="2284749" cy="287076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12B116B-B43E-46CA-89B1-186D67DB0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271" y="4843650"/>
            <a:ext cx="4120423" cy="141851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178E559-CEC3-4A5D-BA4E-171721F06D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888" y="425205"/>
            <a:ext cx="3294806" cy="1037634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94" y="3958744"/>
            <a:ext cx="2856247" cy="2603584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758" y="2044616"/>
            <a:ext cx="2547435" cy="25474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66" y="463930"/>
            <a:ext cx="3501692" cy="160802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994" y="258679"/>
            <a:ext cx="2408321" cy="240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39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4711</TotalTime>
  <Words>734</Words>
  <Application>Microsoft Office PowerPoint</Application>
  <PresentationFormat>Widescreen</PresentationFormat>
  <Paragraphs>89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40</vt:i4>
      </vt:variant>
    </vt:vector>
  </HeadingPairs>
  <TitlesOfParts>
    <vt:vector size="49" baseType="lpstr">
      <vt:lpstr>Arial</vt:lpstr>
      <vt:lpstr>Bahnschrift Condensed</vt:lpstr>
      <vt:lpstr>Bahnschrift Light Condensed</vt:lpstr>
      <vt:lpstr>Calibri</vt:lpstr>
      <vt:lpstr>Calibri Light</vt:lpstr>
      <vt:lpstr>Times New Roman</vt:lpstr>
      <vt:lpstr>Tw Cen MT</vt:lpstr>
      <vt:lpstr>Circuito</vt:lpstr>
      <vt:lpstr>Tema do Office</vt:lpstr>
      <vt:lpstr>AÇÕES REALIZADAS pela acirv no período de  DE JUL/18 a JUN/19</vt:lpstr>
      <vt:lpstr>     MISSÃO:  “Impulsionar o desenvolvimento social,político e econômico da região, representando os interesses da classe empresarial em todas as esferas institucionais.”</vt:lpstr>
      <vt:lpstr>Reuniões com a ENEL/ANEEL em busca de melhorias na distribuição de energia elétrica em Rio Verde</vt:lpstr>
      <vt:lpstr>SUDOEXPO 2018 - 12 a 15 de Setembro</vt:lpstr>
      <vt:lpstr>SUDOEXPO 2018 - 12 a 15 de Setembro</vt:lpstr>
      <vt:lpstr>Atrações da Arena do Conhecimento na SUDOEXPO 2018 Parceiros: SEBRAE/SESI SENAI/SENAC/FGV/IPOG/INSTITUTO VOCÊ/EDUARDO DI CASTRO</vt:lpstr>
      <vt:lpstr>22.09.2018 - Competição de Arbitragem Dr. José   (CAM-ACIRV)</vt:lpstr>
      <vt:lpstr>09.11.2018 – Assinatura do Protocolo para captação de água do Rio Verdinho (Ministro das Cidades Alexandre Baldy)</vt:lpstr>
      <vt:lpstr>27.11.2018 - Entrevista na rádio com empresários sobre redução dos incentivos fiscais para as empresas de Goiás</vt:lpstr>
      <vt:lpstr>29.11.2018 – Reunião dos diretores junto ao Prefeito, Paulo do Vale, cobrando melhorias para classe empresarial e desenvolvimento do município</vt:lpstr>
      <vt:lpstr>21.12.2018 e 22.12.2018 Entrega de Cestas Natalinas às famílias carentes de Rio Verde</vt:lpstr>
      <vt:lpstr>17.01.2019 – Visita do Ministro de Infraestrutura e Governador de Goiás e entrega de reivindicações referentes a investimentos no aeroporto e manutenção de rodovias estaduais e federais</vt:lpstr>
      <vt:lpstr>30.01.2019 – Posse da nova diretoria do Coderv (Conselho de Desenvolvimento Econômico de Rio Verde), entidade que é uma conquista da Acirv em prol do desenvolvimento do município.</vt:lpstr>
      <vt:lpstr>31.01.2019 – Apresentação feita aos empresários locais pela empresa Habitat, do novo empreendimento no ramo da construção civil em Rio Verde</vt:lpstr>
      <vt:lpstr>21.02.2019 – Aniversário de 1 ano da COOP RECICLA, projeto abraçado pela Acirv que adquiriu o primeiro PEV (Ponto de Entrega Voluntária) da cidade</vt:lpstr>
      <vt:lpstr>22.02.2019 – Lançamento de novos serviços de consultoria Serasa através da parceria com a empresa Hellus</vt:lpstr>
      <vt:lpstr>27.02.2019 – Acirv presente na inauguração do Hospital do Câncer de Rio Verde e doação de um leito pela diretoria gestão 2017/2020</vt:lpstr>
      <vt:lpstr>20.11.2018 – Projeto Reeducar (Produção de chinelos pelos presidiários)</vt:lpstr>
      <vt:lpstr>25.03.2019 – Inauguração oficial da nova CPP- Casa de Prisão Provisória de Rio Verde</vt:lpstr>
      <vt:lpstr>Entrega da CPP ao Governador</vt:lpstr>
      <vt:lpstr>12.06.2018 e 18.04.2019  Campanha de Vacinação contra gripe H1N1 para os associados</vt:lpstr>
      <vt:lpstr>Apresentação do PowerPoint</vt:lpstr>
      <vt:lpstr>09.05.2019 – Palestra “A Magia Estratégica” com o maior ilusionista da América Latina ISSAO IMAMURA</vt:lpstr>
      <vt:lpstr>10.05.2019 – Acirv participou do Feirão de Negócios da AJE (Associação de Jovens Empreendedores), divulgando seus serviços e benefícios</vt:lpstr>
      <vt:lpstr>Apresentação do PowerPoint</vt:lpstr>
      <vt:lpstr>Apresentação do PowerPoint</vt:lpstr>
      <vt:lpstr>Apresentação do PowerPoint</vt:lpstr>
      <vt:lpstr>02.04.2019 – Visita da ACIJ (Associação Comercial e Industrial de Jataí) para conhecer os trabalhos realizados pela Acirv e fortalecer parcerias.</vt:lpstr>
      <vt:lpstr>Apresentação do PowerPoint</vt:lpstr>
      <vt:lpstr>Serviços oferecidos pela acirv</vt:lpstr>
      <vt:lpstr>CORRESPONDENTE DE CRÉDITO DA   GOIÁS FOMENTO</vt:lpstr>
      <vt:lpstr>Sistema de Proteção de Crédito Parceria Hellus/Serasa</vt:lpstr>
      <vt:lpstr>                        CAM/ ACIRV CÂMARA DE ARBITRAGEM E MEDIAÇÃO ACIRV Serviço estratégico em solução de conflitos, sem a intervenção estatal</vt:lpstr>
      <vt:lpstr>REVISTA ACIRV - VITRINE EMPRESARIAL</vt:lpstr>
      <vt:lpstr>REDES SOCIAIS ACIRV </vt:lpstr>
      <vt:lpstr>Parcerias de desconto  acirv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AÇÕES REALIZADAS NA GESTÃO 2017/2020</dc:title>
  <dc:creator>usuario</dc:creator>
  <cp:lastModifiedBy>usuario</cp:lastModifiedBy>
  <cp:revision>133</cp:revision>
  <dcterms:created xsi:type="dcterms:W3CDTF">2018-06-14T14:02:10Z</dcterms:created>
  <dcterms:modified xsi:type="dcterms:W3CDTF">2019-07-02T19:19:30Z</dcterms:modified>
</cp:coreProperties>
</file>