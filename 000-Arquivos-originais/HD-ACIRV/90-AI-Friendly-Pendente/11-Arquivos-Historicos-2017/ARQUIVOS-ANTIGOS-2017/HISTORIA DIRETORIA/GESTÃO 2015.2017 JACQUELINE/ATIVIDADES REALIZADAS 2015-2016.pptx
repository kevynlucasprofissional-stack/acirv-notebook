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306" r:id="rId3"/>
    <p:sldId id="305" r:id="rId4"/>
    <p:sldId id="269" r:id="rId5"/>
    <p:sldId id="270" r:id="rId6"/>
    <p:sldId id="272" r:id="rId7"/>
    <p:sldId id="273" r:id="rId8"/>
    <p:sldId id="271" r:id="rId9"/>
    <p:sldId id="287" r:id="rId10"/>
    <p:sldId id="286" r:id="rId11"/>
    <p:sldId id="285" r:id="rId12"/>
    <p:sldId id="288" r:id="rId13"/>
    <p:sldId id="290" r:id="rId14"/>
    <p:sldId id="282" r:id="rId15"/>
    <p:sldId id="319" r:id="rId16"/>
    <p:sldId id="277" r:id="rId17"/>
    <p:sldId id="278" r:id="rId18"/>
    <p:sldId id="296" r:id="rId19"/>
    <p:sldId id="279" r:id="rId20"/>
    <p:sldId id="281" r:id="rId21"/>
    <p:sldId id="291" r:id="rId22"/>
    <p:sldId id="280" r:id="rId23"/>
    <p:sldId id="300" r:id="rId24"/>
    <p:sldId id="293" r:id="rId25"/>
    <p:sldId id="304" r:id="rId26"/>
    <p:sldId id="302" r:id="rId27"/>
    <p:sldId id="292" r:id="rId28"/>
    <p:sldId id="301" r:id="rId29"/>
    <p:sldId id="298" r:id="rId30"/>
    <p:sldId id="294" r:id="rId31"/>
    <p:sldId id="299" r:id="rId32"/>
    <p:sldId id="295" r:id="rId33"/>
    <p:sldId id="307" r:id="rId34"/>
    <p:sldId id="310" r:id="rId35"/>
    <p:sldId id="311" r:id="rId36"/>
    <p:sldId id="312" r:id="rId37"/>
    <p:sldId id="313" r:id="rId38"/>
    <p:sldId id="314" r:id="rId39"/>
    <p:sldId id="317" r:id="rId40"/>
    <p:sldId id="308" r:id="rId41"/>
    <p:sldId id="316" r:id="rId42"/>
    <p:sldId id="318" r:id="rId43"/>
    <p:sldId id="320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142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85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44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08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02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47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29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47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90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00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25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34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A6678-FD46-43F7-8249-49ED3158B2E7}" type="datetimeFigureOut">
              <a:rPr lang="pt-BR" smtClean="0"/>
              <a:t>01/02/2016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10F76-54BB-4FF9-B493-0D5C455077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46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80304" y="747134"/>
            <a:ext cx="1186144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Reunião </a:t>
            </a:r>
          </a:p>
          <a:p>
            <a:pPr algn="ctr">
              <a:lnSpc>
                <a:spcPct val="150000"/>
              </a:lnSpc>
            </a:pPr>
            <a:r>
              <a:rPr lang="pt-BR" sz="4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Planejamento Estratégico </a:t>
            </a:r>
            <a:r>
              <a:rPr lang="pt-BR" sz="4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Acirv</a:t>
            </a:r>
            <a:endParaRPr lang="pt-BR" sz="4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5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42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  <a:r>
              <a:rPr lang="pt-BR" sz="36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ACIRV- A FORÇA DA REPRESENTATIVIDADE”</a:t>
            </a:r>
          </a:p>
          <a:p>
            <a:pPr algn="ctr">
              <a:lnSpc>
                <a:spcPct val="150000"/>
              </a:lnSpc>
            </a:pPr>
            <a:r>
              <a:rPr lang="pt-BR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Biênio 2015/17</a:t>
            </a:r>
          </a:p>
          <a:p>
            <a:pPr algn="ctr">
              <a:lnSpc>
                <a:spcPct val="150000"/>
              </a:lnSpc>
            </a:pPr>
            <a:endParaRPr lang="pt-BR" i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1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02 de fevereiro de 2016</a:t>
            </a:r>
            <a:endParaRPr lang="pt-BR" sz="2100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98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uxograma: Cartão 61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91" name="Retângulo 90"/>
          <p:cNvSpPr/>
          <p:nvPr/>
        </p:nvSpPr>
        <p:spPr>
          <a:xfrm>
            <a:off x="6612953" y="4967856"/>
            <a:ext cx="8676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1" name="Conector reto 80"/>
          <p:cNvCxnSpPr/>
          <p:nvPr/>
        </p:nvCxnSpPr>
        <p:spPr>
          <a:xfrm>
            <a:off x="6170060" y="1423404"/>
            <a:ext cx="9651" cy="32717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/>
          <p:nvPr/>
        </p:nvCxnSpPr>
        <p:spPr>
          <a:xfrm>
            <a:off x="4454393" y="3529610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/>
          <p:nvPr/>
        </p:nvCxnSpPr>
        <p:spPr>
          <a:xfrm>
            <a:off x="7090924" y="2662432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4953448" y="2648057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4881091" y="1558340"/>
            <a:ext cx="2846232" cy="36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PRESIDENCIA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881091" y="2094958"/>
            <a:ext cx="2846232" cy="40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VICE-PRESIDENCIA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88004" y="2854808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COMÉRCIO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105694" y="2854808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INDÚSTRIA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136263" y="2854807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PREST. DE SERVIÇOS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179711" y="2854807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PATRIMÔNIO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8236038" y="2863390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MICRO E PEQ. EMPRESA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0253728" y="2854806"/>
            <a:ext cx="1895342" cy="493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AGRONEGÓCIO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6" name="Conector reto 15"/>
          <p:cNvCxnSpPr/>
          <p:nvPr/>
        </p:nvCxnSpPr>
        <p:spPr>
          <a:xfrm flipH="1" flipV="1">
            <a:off x="583840" y="2651966"/>
            <a:ext cx="11448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2292440" y="3625404"/>
            <a:ext cx="3613596" cy="3946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DIRETORIA ADMINISTRATIVA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6340695" y="3659751"/>
            <a:ext cx="3088785" cy="360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DIRETORIA FINANCEIRA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0" name="Conector reto 29"/>
          <p:cNvCxnSpPr/>
          <p:nvPr/>
        </p:nvCxnSpPr>
        <p:spPr>
          <a:xfrm flipH="1" flipV="1">
            <a:off x="4454393" y="3515924"/>
            <a:ext cx="342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4952999" y="4192082"/>
            <a:ext cx="2248435" cy="338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DIRETORIAS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5" name="Conector reto 54"/>
          <p:cNvCxnSpPr/>
          <p:nvPr/>
        </p:nvCxnSpPr>
        <p:spPr>
          <a:xfrm>
            <a:off x="597785" y="268200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/>
          <p:nvPr/>
        </p:nvCxnSpPr>
        <p:spPr>
          <a:xfrm>
            <a:off x="2949253" y="2690601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/>
          <p:nvPr/>
        </p:nvCxnSpPr>
        <p:spPr>
          <a:xfrm>
            <a:off x="7888336" y="350815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/>
          <p:nvPr/>
        </p:nvCxnSpPr>
        <p:spPr>
          <a:xfrm>
            <a:off x="9183709" y="2690601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/>
          <p:nvPr/>
        </p:nvCxnSpPr>
        <p:spPr>
          <a:xfrm>
            <a:off x="12031840" y="2664572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tângulo 63"/>
          <p:cNvSpPr/>
          <p:nvPr/>
        </p:nvSpPr>
        <p:spPr>
          <a:xfrm>
            <a:off x="56993" y="4943907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992755" y="4931028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1919909" y="4943907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2855966" y="4953124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3787054" y="4948678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4754399" y="4935799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7564586" y="4958192"/>
            <a:ext cx="8676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8483278" y="4943534"/>
            <a:ext cx="8676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9422742" y="4943907"/>
            <a:ext cx="8676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10342082" y="4919549"/>
            <a:ext cx="8676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11257966" y="4931961"/>
            <a:ext cx="86778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8" name="Conector reto 77"/>
          <p:cNvCxnSpPr/>
          <p:nvPr/>
        </p:nvCxnSpPr>
        <p:spPr>
          <a:xfrm flipH="1" flipV="1">
            <a:off x="56993" y="4716586"/>
            <a:ext cx="12083344" cy="228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94761" y="4735870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>
            <a:off x="1407456" y="471659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2345470" y="4701569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>
            <a:off x="3283480" y="4712300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4169976" y="4710152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>
            <a:off x="5133742" y="4695125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>
            <a:off x="7854231" y="471658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>
            <a:off x="8852265" y="471658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>
            <a:off x="9774423" y="4739424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/>
          <p:nvPr/>
        </p:nvCxnSpPr>
        <p:spPr>
          <a:xfrm>
            <a:off x="10757389" y="4739425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/>
          <p:nvPr/>
        </p:nvCxnSpPr>
        <p:spPr>
          <a:xfrm>
            <a:off x="12124819" y="4744484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/>
          <p:cNvSpPr txBox="1"/>
          <p:nvPr/>
        </p:nvSpPr>
        <p:spPr>
          <a:xfrm>
            <a:off x="3429528" y="90395"/>
            <a:ext cx="81526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0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ORGANOGRAMA DIRETORIA </a:t>
            </a:r>
            <a:endParaRPr lang="pt-BR" sz="3000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52443" y="4966073"/>
            <a:ext cx="78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Feiras e Eventos</a:t>
            </a:r>
            <a:endParaRPr lang="pt-BR" sz="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1129001" y="5028925"/>
            <a:ext cx="7877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Social</a:t>
            </a:r>
            <a:endParaRPr lang="pt-BR" sz="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1912885" y="4962646"/>
            <a:ext cx="881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Relações Públicas</a:t>
            </a:r>
            <a:endParaRPr lang="pt-BR" sz="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822159" y="5009381"/>
            <a:ext cx="96489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Acirv Jovem</a:t>
            </a:r>
            <a:endParaRPr lang="pt-BR" sz="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732060" y="4995663"/>
            <a:ext cx="9579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Aprimoramento Profissional</a:t>
            </a:r>
            <a:endParaRPr lang="pt-BR" sz="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744771" y="5008616"/>
            <a:ext cx="8317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8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Jurídico</a:t>
            </a:r>
            <a:endParaRPr lang="pt-BR" sz="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6549532" y="4996722"/>
            <a:ext cx="9124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>
                <a:solidFill>
                  <a:schemeClr val="bg1"/>
                </a:solidFill>
                <a:latin typeface="Arial Black" panose="020B0A04020102020204" pitchFamily="34" charset="0"/>
              </a:rPr>
              <a:t>ASSUNTOS INSTITUCIONAIS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8992" y="4979589"/>
            <a:ext cx="913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Assuntos Econômicos</a:t>
            </a:r>
            <a:endParaRPr lang="pt-BR" sz="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8458562" y="4973083"/>
            <a:ext cx="7874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>
                <a:solidFill>
                  <a:schemeClr val="bg1"/>
                </a:solidFill>
                <a:latin typeface="Arial Black" panose="020B0A04020102020204" pitchFamily="34" charset="0"/>
              </a:rPr>
              <a:t>ASSUNTOS CONTÁBEIS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9373032" y="4969550"/>
            <a:ext cx="9591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>
                <a:solidFill>
                  <a:schemeClr val="bg1"/>
                </a:solidFill>
                <a:latin typeface="Arial Black" panose="020B0A04020102020204" pitchFamily="34" charset="0"/>
              </a:rPr>
              <a:t>ASSUNTOS FILANTRÓPICOS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5705281" y="4955982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85" name="Retângulo 84"/>
          <p:cNvSpPr/>
          <p:nvPr/>
        </p:nvSpPr>
        <p:spPr>
          <a:xfrm>
            <a:off x="5636756" y="4980916"/>
            <a:ext cx="9279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Assessoria Jurídica</a:t>
            </a:r>
            <a:endParaRPr lang="pt-BR" sz="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10344061" y="4995663"/>
            <a:ext cx="860705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Conselho Fiscal</a:t>
            </a:r>
            <a:endParaRPr lang="pt-BR" sz="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87" name="Retângulo 86"/>
          <p:cNvSpPr/>
          <p:nvPr/>
        </p:nvSpPr>
        <p:spPr>
          <a:xfrm>
            <a:off x="10323132" y="5404024"/>
            <a:ext cx="841021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8" name="Conector reto 87"/>
          <p:cNvCxnSpPr/>
          <p:nvPr/>
        </p:nvCxnSpPr>
        <p:spPr>
          <a:xfrm>
            <a:off x="10768456" y="5221012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tângulo 88"/>
          <p:cNvSpPr/>
          <p:nvPr/>
        </p:nvSpPr>
        <p:spPr>
          <a:xfrm>
            <a:off x="10329959" y="5459673"/>
            <a:ext cx="867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Conselho Fiscal</a:t>
            </a:r>
          </a:p>
          <a:p>
            <a:pPr algn="ctr"/>
            <a:r>
              <a:rPr lang="pt-BR" sz="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Suplente</a:t>
            </a:r>
            <a:endParaRPr lang="pt-BR" sz="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11410434" y="5010688"/>
            <a:ext cx="70243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7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Consultivo</a:t>
            </a:r>
            <a:endParaRPr lang="pt-BR" sz="7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92" name="Conector reto 91"/>
          <p:cNvCxnSpPr/>
          <p:nvPr/>
        </p:nvCxnSpPr>
        <p:spPr>
          <a:xfrm>
            <a:off x="6905084" y="4752272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>
            <a:off x="6052934" y="4724366"/>
            <a:ext cx="0" cy="3031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tângulo 70"/>
          <p:cNvSpPr/>
          <p:nvPr/>
        </p:nvSpPr>
        <p:spPr>
          <a:xfrm>
            <a:off x="4917580" y="1066796"/>
            <a:ext cx="2846232" cy="36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ASSEMBLEIA GERAL</a:t>
            </a:r>
            <a:endParaRPr lang="pt-BR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79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Cartão 1"/>
          <p:cNvSpPr/>
          <p:nvPr/>
        </p:nvSpPr>
        <p:spPr>
          <a:xfrm>
            <a:off x="0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AutoShape 2" descr="Clique para obter Op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4868123" y="1576053"/>
            <a:ext cx="2005051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PRESIDÊNCIA</a:t>
            </a:r>
          </a:p>
        </p:txBody>
      </p:sp>
      <p:sp>
        <p:nvSpPr>
          <p:cNvPr id="8" name="Retângulo 7"/>
          <p:cNvSpPr/>
          <p:nvPr/>
        </p:nvSpPr>
        <p:spPr>
          <a:xfrm>
            <a:off x="780789" y="4732660"/>
            <a:ext cx="1595541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Assistente Financeira</a:t>
            </a:r>
          </a:p>
        </p:txBody>
      </p:sp>
      <p:sp>
        <p:nvSpPr>
          <p:cNvPr id="9" name="Retângulo 8"/>
          <p:cNvSpPr/>
          <p:nvPr/>
        </p:nvSpPr>
        <p:spPr>
          <a:xfrm>
            <a:off x="2549685" y="4732660"/>
            <a:ext cx="147597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Representante</a:t>
            </a:r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 Vendas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987442" y="2440149"/>
            <a:ext cx="182783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DIRETORIA 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0798015" y="4764007"/>
            <a:ext cx="1041771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1ª CCA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9126958" y="4772151"/>
            <a:ext cx="15951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Auxiliar Adm. Recepção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576440" y="4778395"/>
            <a:ext cx="173139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 smtClean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Assist. Adm. Serviços</a:t>
            </a:r>
          </a:p>
          <a:p>
            <a:pPr algn="ctr"/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 </a:t>
            </a:r>
            <a:endParaRPr lang="pt-BR" sz="1500" b="1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4172042" y="4767318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Menor Aprendiz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1153711" y="2409470"/>
            <a:ext cx="1512167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DIRETORIA FINANCEIRA</a:t>
            </a:r>
          </a:p>
        </p:txBody>
      </p:sp>
      <p:cxnSp>
        <p:nvCxnSpPr>
          <p:cNvPr id="23" name="Forma 127"/>
          <p:cNvCxnSpPr/>
          <p:nvPr/>
        </p:nvCxnSpPr>
        <p:spPr>
          <a:xfrm rot="10800000" flipV="1">
            <a:off x="851979" y="2697502"/>
            <a:ext cx="347301" cy="194421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/>
          <p:cNvSpPr/>
          <p:nvPr/>
        </p:nvSpPr>
        <p:spPr>
          <a:xfrm>
            <a:off x="8519327" y="2409470"/>
            <a:ext cx="17082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 smtClean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DIRETORIA JURÍDICA</a:t>
            </a:r>
          </a:p>
          <a:p>
            <a:pPr algn="ctr"/>
            <a:endParaRPr lang="pt-BR" sz="1500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1972513" y="-183604"/>
            <a:ext cx="10513325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i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ORGANOGRAMA- </a:t>
            </a:r>
            <a:r>
              <a:rPr lang="pt-BR" sz="3000" i="1" dirty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ESTRUTURA OPERACIONAL </a:t>
            </a:r>
          </a:p>
        </p:txBody>
      </p:sp>
      <p:cxnSp>
        <p:nvCxnSpPr>
          <p:cNvPr id="42" name="Conector reto 41"/>
          <p:cNvCxnSpPr/>
          <p:nvPr/>
        </p:nvCxnSpPr>
        <p:spPr>
          <a:xfrm flipH="1">
            <a:off x="845359" y="4453704"/>
            <a:ext cx="11033707" cy="5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>
            <a:off x="6405545" y="4497702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 flipV="1">
            <a:off x="839337" y="445968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>
            <a:off x="4834474" y="445968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 flipH="1">
            <a:off x="3313689" y="4495688"/>
            <a:ext cx="4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>
          <a:xfrm flipV="1">
            <a:off x="5901361" y="948751"/>
            <a:ext cx="27520" cy="3510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>
            <a:off x="9703914" y="444462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>
          <a:xfrm>
            <a:off x="4856695" y="3435994"/>
            <a:ext cx="20279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 smtClean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GERÊNCIA EXECUTIVA</a:t>
            </a:r>
          </a:p>
          <a:p>
            <a:pPr algn="ctr"/>
            <a:endParaRPr lang="pt-BR" sz="1500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cxnSp>
        <p:nvCxnSpPr>
          <p:cNvPr id="32" name="Conector reto 31"/>
          <p:cNvCxnSpPr/>
          <p:nvPr/>
        </p:nvCxnSpPr>
        <p:spPr>
          <a:xfrm>
            <a:off x="11839786" y="2672395"/>
            <a:ext cx="0" cy="2103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/>
          <p:nvPr/>
        </p:nvCxnSpPr>
        <p:spPr>
          <a:xfrm>
            <a:off x="10165261" y="2675566"/>
            <a:ext cx="17138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4879552" y="582694"/>
            <a:ext cx="2005051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ASSEMBLEIA GERAL</a:t>
            </a:r>
          </a:p>
        </p:txBody>
      </p:sp>
      <p:cxnSp>
        <p:nvCxnSpPr>
          <p:cNvPr id="41" name="Conector reto 40"/>
          <p:cNvCxnSpPr/>
          <p:nvPr/>
        </p:nvCxnSpPr>
        <p:spPr>
          <a:xfrm>
            <a:off x="3021147" y="3692470"/>
            <a:ext cx="1813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>
            <a:off x="2522048" y="2672395"/>
            <a:ext cx="2656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>
            <a:off x="6815281" y="2676066"/>
            <a:ext cx="2656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/>
          <p:cNvSpPr/>
          <p:nvPr/>
        </p:nvSpPr>
        <p:spPr>
          <a:xfrm>
            <a:off x="1241495" y="3435994"/>
            <a:ext cx="182783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ASSESSORIA COMUNICAÇÃO </a:t>
            </a:r>
          </a:p>
        </p:txBody>
      </p:sp>
      <p:sp>
        <p:nvSpPr>
          <p:cNvPr id="55" name="Retângulo 54"/>
          <p:cNvSpPr/>
          <p:nvPr/>
        </p:nvSpPr>
        <p:spPr>
          <a:xfrm>
            <a:off x="7435515" y="4780744"/>
            <a:ext cx="16307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Aux. Serviços Gerais</a:t>
            </a:r>
          </a:p>
        </p:txBody>
      </p:sp>
      <p:cxnSp>
        <p:nvCxnSpPr>
          <p:cNvPr id="36" name="Conector reto 35"/>
          <p:cNvCxnSpPr/>
          <p:nvPr/>
        </p:nvCxnSpPr>
        <p:spPr>
          <a:xfrm>
            <a:off x="8143687" y="445370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1005617"/>
            <a:ext cx="117704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PRINCIPAIS ATIVIDADES REALIZADAS:</a:t>
            </a:r>
            <a:endParaRPr lang="pt-BR" sz="6000" b="1" i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600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pt-BR" sz="3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(de junho até dezembro de 2015)</a:t>
            </a:r>
            <a:endParaRPr lang="pt-BR" sz="3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40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JUNHO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0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" t="20896" r="1732" b="13632"/>
          <a:stretch/>
        </p:blipFill>
        <p:spPr>
          <a:xfrm>
            <a:off x="100152" y="972871"/>
            <a:ext cx="12027453" cy="5834602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0764" y="773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POSSE DIRETORIA </a:t>
            </a:r>
          </a:p>
          <a:p>
            <a:pPr algn="ctr"/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Biênio 2015/17</a:t>
            </a:r>
            <a:endParaRPr lang="pt-BR" sz="30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uxograma: Cartão 12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929" y="4505599"/>
            <a:ext cx="3751717" cy="225580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05" y="-11480"/>
            <a:ext cx="3618596" cy="2206856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3" y="2367402"/>
            <a:ext cx="3523918" cy="210204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607" y="45942"/>
            <a:ext cx="3905196" cy="220685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3" y="4545093"/>
            <a:ext cx="3676876" cy="221631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914" y="2328175"/>
            <a:ext cx="3849732" cy="210204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23" y="4533613"/>
            <a:ext cx="3834194" cy="222779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382" y="2328175"/>
            <a:ext cx="3585984" cy="2081981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809" y="60659"/>
            <a:ext cx="3860837" cy="22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4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637249" y="84873"/>
            <a:ext cx="101659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000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OBJETIVOS DIRETORIA </a:t>
            </a:r>
            <a:endParaRPr lang="pt-BR" sz="3000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913" y="979183"/>
            <a:ext cx="1188617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Foco Administrativo – cunho </a:t>
            </a:r>
            <a:r>
              <a:rPr lang="pt-BR" sz="27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INSTITUCIONAL, </a:t>
            </a: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voltado para as </a:t>
            </a:r>
            <a:r>
              <a:rPr lang="pt-BR" sz="2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relações da ACIRV com seus associados, buscando atrair novos associados, desde </a:t>
            </a: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micro, pequenos</a:t>
            </a:r>
            <a:r>
              <a:rPr lang="pt-BR" sz="2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médios e grandes empresários, através de uma campanha de </a:t>
            </a: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conscientização;</a:t>
            </a:r>
          </a:p>
          <a:p>
            <a:pPr algn="just">
              <a:lnSpc>
                <a:spcPct val="150000"/>
              </a:lnSpc>
              <a:buClr>
                <a:srgbClr val="FFFF00"/>
              </a:buClr>
            </a:pPr>
            <a:endParaRPr lang="pt-BR" sz="1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 da representatividade e dos serviços prestados </a:t>
            </a:r>
            <a:r>
              <a:rPr lang="pt-BR" sz="2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aos </a:t>
            </a: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associados;</a:t>
            </a:r>
          </a:p>
          <a:p>
            <a:pPr algn="just">
              <a:lnSpc>
                <a:spcPct val="150000"/>
              </a:lnSpc>
              <a:buClr>
                <a:srgbClr val="FFFF00"/>
              </a:buClr>
            </a:pPr>
            <a:endParaRPr lang="pt-BR" sz="1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Novos </a:t>
            </a:r>
            <a:r>
              <a:rPr lang="pt-BR" sz="2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convênios, parcerias e integração com outras entidades, associações comerciais e poder </a:t>
            </a:r>
            <a:r>
              <a:rPr lang="pt-BR" sz="27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público. </a:t>
            </a:r>
            <a:endParaRPr lang="pt-BR" sz="27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9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26"/>
          <a:stretch/>
        </p:blipFill>
        <p:spPr>
          <a:xfrm>
            <a:off x="0" y="1867711"/>
            <a:ext cx="12192000" cy="4990289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37249" y="31899"/>
            <a:ext cx="101659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pt-BR" sz="3000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AGENDA GOIÁS</a:t>
            </a:r>
            <a:endParaRPr lang="pt-BR" sz="3000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66744" y="710129"/>
            <a:ext cx="11658509" cy="1183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100" b="1" i="0" dirty="0" smtClean="0">
                <a:solidFill>
                  <a:schemeClr val="bg1"/>
                </a:solidFill>
                <a:effectLst/>
                <a:latin typeface="Arial "/>
              </a:rPr>
              <a:t>Rio Verde sediou a primeira edição do Agenda Goiás, cujo tema central foi: </a:t>
            </a:r>
            <a:r>
              <a:rPr lang="pt-BR" sz="3000" b="1" i="0" dirty="0" smtClean="0">
                <a:solidFill>
                  <a:schemeClr val="bg1"/>
                </a:solidFill>
                <a:effectLst/>
                <a:latin typeface="Arial "/>
              </a:rPr>
              <a:t>Desenvolvimento econômico</a:t>
            </a:r>
            <a:endParaRPr lang="pt-BR" sz="3000" b="1" i="0" dirty="0">
              <a:solidFill>
                <a:schemeClr val="bg1"/>
              </a:solidFill>
              <a:effectLst/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344690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Cartão 10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020" y="3015574"/>
            <a:ext cx="6830980" cy="384242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87352" cy="342413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1" t="18131"/>
          <a:stretch/>
        </p:blipFill>
        <p:spPr>
          <a:xfrm>
            <a:off x="11284" y="3774332"/>
            <a:ext cx="5245978" cy="270461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042" y="175098"/>
            <a:ext cx="4738452" cy="266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JULHO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76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uxograma: Cartão 13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5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3" y="4707227"/>
            <a:ext cx="3860798" cy="2171699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3"/>
          <a:stretch/>
        </p:blipFill>
        <p:spPr>
          <a:xfrm>
            <a:off x="286465" y="522817"/>
            <a:ext cx="2941570" cy="2100652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-109015" y="-151974"/>
            <a:ext cx="1165850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effectLst/>
                <a:latin typeface="Arial Black" panose="020B0A04020102020204" pitchFamily="34" charset="0"/>
              </a:rPr>
              <a:t>PRIMEIRA REUNIÃO DIRETORIA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61" y="2713471"/>
            <a:ext cx="4468969" cy="251379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1092"/>
            <a:ext cx="3514501" cy="197690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27"/>
          <a:stretch/>
        </p:blipFill>
        <p:spPr>
          <a:xfrm>
            <a:off x="8564451" y="562098"/>
            <a:ext cx="3614670" cy="167963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01" y="522817"/>
            <a:ext cx="4783785" cy="211764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87" y="2369710"/>
            <a:ext cx="3880834" cy="21829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08" y="2748582"/>
            <a:ext cx="3346281" cy="188228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8" b="22119"/>
          <a:stretch/>
        </p:blipFill>
        <p:spPr>
          <a:xfrm>
            <a:off x="3636256" y="5277886"/>
            <a:ext cx="4573191" cy="152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7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2034861" y="-24974"/>
            <a:ext cx="10483403" cy="651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700" b="1" i="1" dirty="0" smtClean="0">
                <a:solidFill>
                  <a:srgbClr val="FFFF00"/>
                </a:solidFill>
                <a:effectLst/>
                <a:latin typeface="Arial Black" panose="020B0A04020102020204" pitchFamily="34" charset="0"/>
              </a:rPr>
              <a:t>REUNIÃO FIEG – PROJETO POLOS INDUSTRIAIS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" y="713016"/>
            <a:ext cx="6091707" cy="4116561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1" r="16743"/>
          <a:stretch/>
        </p:blipFill>
        <p:spPr>
          <a:xfrm>
            <a:off x="6273085" y="713015"/>
            <a:ext cx="5894230" cy="4116561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9368" y="4720357"/>
            <a:ext cx="12093262" cy="19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O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projeto tem como objetivo conhecer a realidade dos distritos industriais de Goiás, bem como suas potencialidades, oportunidades de expansão dos negócios e os seus gargalos, possibilitando assim oferecer subsídios para o estabelecimento de politicas de apoio às industrias.</a:t>
            </a:r>
            <a:endParaRPr lang="pt-BR" sz="2100" b="1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14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AGOSTO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71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Cartão 10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400377" y="-149800"/>
            <a:ext cx="5618899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1ª CCA</a:t>
            </a:r>
          </a:p>
        </p:txBody>
      </p:sp>
      <p:pic>
        <p:nvPicPr>
          <p:cNvPr id="7" name="Picture 2" descr="https://fbcdn-sphotos-h-a.akamaihd.net/hphotos-ak-xtf1/v/t1.0-9/11822583_1048183775194181_4385077891746518254_n.jpg?oh=b06f50155a63f1f214b0771addd79e1c&amp;oe=5643B295&amp;__gda__=1451218237_9591f91d7cc1c9437290cf2a6775f7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926" y="592952"/>
            <a:ext cx="9062305" cy="44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/>
          <p:cNvSpPr/>
          <p:nvPr/>
        </p:nvSpPr>
        <p:spPr>
          <a:xfrm>
            <a:off x="135484" y="5021247"/>
            <a:ext cx="119210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Jacqueline Zaiden e Dra. Ana Paula Barbosa visitaram o CEBRAMAR </a:t>
            </a: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- Centro Brasileiro </a:t>
            </a:r>
            <a:r>
              <a:rPr lang="pt-B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 </a:t>
            </a:r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Mediação </a:t>
            </a:r>
            <a:r>
              <a:rPr lang="pt-B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 Arbitragem. Na oportunidade foram recepcionadas pelo ex-ministro do STJ – Cláudio Santos, Dra. Eutalia Maciel Coutinho – Vice-presidente CEBRAMAR e Dr. Maurício do TJDF. </a:t>
            </a:r>
            <a:endParaRPr lang="pt-B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39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://www.acirv.com.br/modules/blog/dataimages/IMG_8F323C-F3212D-1EEA49-A551E7-FABA03-0B3E2F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1"/>
          <a:stretch/>
        </p:blipFill>
        <p:spPr bwMode="auto">
          <a:xfrm>
            <a:off x="1421085" y="814815"/>
            <a:ext cx="8714588" cy="405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387789" y="0"/>
            <a:ext cx="541641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REUNIÃO - EAD DIGITAL </a:t>
            </a:r>
            <a:endParaRPr lang="pt-BR" sz="3000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62406" y="4882314"/>
            <a:ext cx="12029594" cy="1979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A EAD é a entidade responsável por toda a gestão do processo de migração entre o sinal analógico e a implementação da TV Digital em todo o território nacional. No Brasil, além de Rio Verde, outras regiões já iniciaram essa fase de mudança, como Belo Horizonte, Distrito Federal e São Paulo.</a:t>
            </a:r>
            <a:endParaRPr lang="pt-BR" sz="2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3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0440" y="844370"/>
            <a:ext cx="12091117" cy="265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Órgão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criado por mais de 70 entidades 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representativas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sociedade rio-verdense, que estão se unindo para planejar os próximos 30 anos da cidade. Tem como características a participação voluntária e a representatividade política apartidária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pt-BR" sz="2100" b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Diretoria </a:t>
            </a:r>
            <a:r>
              <a:rPr lang="pt-BR" sz="2100" b="1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do Conselho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Presidente: Dejane Maffissoni (Acirv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Vice-presidente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Luciano Guimarães (Sindicato Rural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Secretário: Denimárcio Oliveira (Sescon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l="23637" t="39875" r="21328" b="26585"/>
          <a:stretch/>
        </p:blipFill>
        <p:spPr>
          <a:xfrm>
            <a:off x="379863" y="3498943"/>
            <a:ext cx="10423368" cy="337071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828800" y="-51522"/>
            <a:ext cx="10413642" cy="651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7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CONSELHO DE DESENVOLVIMENTO DE RIO VERDE-GO</a:t>
            </a:r>
            <a:endParaRPr lang="pt-BR" sz="27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80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www.acirv.com.br/modules/blog/dataimages/IMG_1B0B05-4F218B-9AAE67-CD5E98-14D408-CFEA7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616" y="800667"/>
            <a:ext cx="7644328" cy="429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8964" y="5100602"/>
            <a:ext cx="1214545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Durante a reunião, Sérgio explicou que o sistema de estacionamento rotativo tem o objetivo de promover uma maior fluidez no sistema viário de Rio Verde e também de auxiliar os motoristas na busca de vagas disponíveis melhorando a mobilidade urbana resultando num trânsito mais seguro e organizado.</a:t>
            </a:r>
          </a:p>
        </p:txBody>
      </p:sp>
      <p:sp>
        <p:nvSpPr>
          <p:cNvPr id="6" name="Retângulo 5"/>
          <p:cNvSpPr/>
          <p:nvPr/>
        </p:nvSpPr>
        <p:spPr>
          <a:xfrm>
            <a:off x="2143615" y="-132372"/>
            <a:ext cx="1004943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REUNIÃO ÁREA VERDE - CARGA E DESCARGA</a:t>
            </a:r>
            <a:endParaRPr lang="pt-BR" sz="30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97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SETEMBRO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9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72" b="13673"/>
          <a:stretch/>
        </p:blipFill>
        <p:spPr>
          <a:xfrm>
            <a:off x="671851" y="693690"/>
            <a:ext cx="10131380" cy="3992452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099879" y="-141668"/>
            <a:ext cx="6096000" cy="7130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EMPRESÁRIO DO ANO</a:t>
            </a:r>
            <a:endParaRPr lang="pt-BR" sz="30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9414" y="4756976"/>
            <a:ext cx="12226344" cy="19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Prestação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de Serviços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: BRASILCARD</a:t>
            </a:r>
          </a:p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Comércio: Varella Caminhões</a:t>
            </a:r>
            <a:endParaRPr lang="pt-BR" sz="2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Indústria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: Sementes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Goiás </a:t>
            </a:r>
            <a:endParaRPr lang="pt-BR" sz="2100" b="1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Empresário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Rural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: José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Cruvinel de Macedo Filho (Macedinho) da Fazenda Gamela</a:t>
            </a:r>
            <a:endParaRPr lang="pt-BR" sz="2100" b="1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41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://www.acirv.com.br/modules/blog/dataimages/IMG_B575A4-91A143-D009B2-E9CD76-8A1845-FF7377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6"/>
          <a:stretch/>
        </p:blipFill>
        <p:spPr bwMode="auto">
          <a:xfrm>
            <a:off x="1320558" y="776112"/>
            <a:ext cx="9445066" cy="384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2099256" y="62396"/>
            <a:ext cx="100927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MOVIMENTO COMPRE DO PEQUENO NEGÓCIO</a:t>
            </a:r>
            <a:endParaRPr lang="pt-BR" sz="3000" b="1" i="1" dirty="0">
              <a:solidFill>
                <a:srgbClr val="FFFF0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47893" y="4620149"/>
            <a:ext cx="990065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Articular parcerias locais com entidades </a:t>
            </a: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empresariais;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Mobilizar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donos de pequenos negócios no </a:t>
            </a: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Promover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adesão dos pequenos negócios ao Movimento Compre do Pequeno </a:t>
            </a: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Negócio;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atendimento e capacitação com ênfase nos propósitos do </a:t>
            </a: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Preparar 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pequenos negócios para o dia 5 de outubro.</a:t>
            </a:r>
          </a:p>
        </p:txBody>
      </p:sp>
    </p:spTree>
    <p:extLst>
      <p:ext uri="{BB962C8B-B14F-4D97-AF65-F5344CB8AC3E}">
        <p14:creationId xmlns:p14="http://schemas.microsoft.com/office/powerpoint/2010/main" val="171200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uxograma: Cartão 8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53317" y="4058735"/>
            <a:ext cx="12190562" cy="2456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Conselho Administrativo de Recursos Fiscais –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CARF tem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missão assegurar a sociedade imparcialidade e celeridade na solução dos litígios na esfera administrativa fiscal do município de Rio Verde. Fazem parte da deliberação deste conselho o Poder Executivo, com a participação paritária de servidores públicos e representantes de classes, com a competência de apreciar e jugar os recursos administrativos interpostos pelos contribuintes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4" descr="https://fbcdn-sphotos-a-a.akamaihd.net/hphotos-ak-xfa1/v/t1.0-9/12003381_774669349328321_4783479461638804200_n.jpg?oh=44e26fe536c9a3dc0b706a82e3bfb047&amp;oe=56C18ED2&amp;__gda__=1452497892_99aeeb07d4a7f44e94827be0864919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738" y="682581"/>
            <a:ext cx="6555347" cy="349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/>
          <p:cNvSpPr/>
          <p:nvPr/>
        </p:nvSpPr>
        <p:spPr>
          <a:xfrm>
            <a:off x="3181436" y="-124042"/>
            <a:ext cx="5618899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POSSE CARF</a:t>
            </a:r>
          </a:p>
        </p:txBody>
      </p:sp>
    </p:spTree>
    <p:extLst>
      <p:ext uri="{BB962C8B-B14F-4D97-AF65-F5344CB8AC3E}">
        <p14:creationId xmlns:p14="http://schemas.microsoft.com/office/powerpoint/2010/main" val="51778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uxograma: Cartão 9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08"/>
          <a:stretch/>
        </p:blipFill>
        <p:spPr>
          <a:xfrm>
            <a:off x="4971245" y="4048042"/>
            <a:ext cx="7081853" cy="2743096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3051877" y="-123985"/>
            <a:ext cx="8277651" cy="14055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sz="3000" b="1" dirty="0" smtClean="0">
                <a:solidFill>
                  <a:srgbClr val="FFFF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RIO VERDE TEM AUMENTO NA FROTA 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sz="3000" b="1" dirty="0" smtClean="0">
                <a:solidFill>
                  <a:srgbClr val="FFFF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TRANSPORTE COLETIVO</a:t>
            </a:r>
            <a:endParaRPr lang="pt-BR" sz="3000" b="1" dirty="0">
              <a:solidFill>
                <a:srgbClr val="FFFF00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encrypted-tbn3.gstatic.com/images?q=tbn:ANd9GcRMFkxS--mDdrRX3TSxAvErgTvKuv3FhmCYTRXDLVklOdVQvQkb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0" r="10814"/>
          <a:stretch/>
        </p:blipFill>
        <p:spPr bwMode="auto">
          <a:xfrm>
            <a:off x="9555572" y="1574546"/>
            <a:ext cx="2636428" cy="222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59" r="8822"/>
          <a:stretch/>
        </p:blipFill>
        <p:spPr>
          <a:xfrm>
            <a:off x="4549191" y="1458636"/>
            <a:ext cx="4878144" cy="2522545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0" y="1405513"/>
            <a:ext cx="4480999" cy="5033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reunião do dia 04/09 foi assinado o Termo de Compromisso Operacional com o proprietário da Viação Paraúna, sendo apresentado os detalhes do processo de reestruturação do sistema do Transporte Coletivo Municipal. O contrato foi assinado com o incremento de mais 60 ônibus que atenderá as indústrias do Darv e toda a comunidade de Rio Verde com o aumento substâncial de novos pontos de passageiros e horários.</a:t>
            </a:r>
            <a:endParaRPr lang="pt-BR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6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41" y="682787"/>
            <a:ext cx="10749198" cy="604642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3593206" y="0"/>
            <a:ext cx="5847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FINANCEIRO</a:t>
            </a:r>
            <a:endParaRPr lang="pt-BR" sz="3000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97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OUTUBRO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93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85570"/>
              </p:ext>
            </p:extLst>
          </p:nvPr>
        </p:nvGraphicFramePr>
        <p:xfrm>
          <a:off x="6443313" y="717693"/>
          <a:ext cx="5748687" cy="60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697"/>
                <a:gridCol w="2907990"/>
              </a:tblGrid>
              <a:tr h="391737"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>
                          <a:latin typeface="Arial Black" panose="020B0A04020102020204" pitchFamily="34" charset="0"/>
                        </a:rPr>
                        <a:t>                    CARGO          </a:t>
                      </a:r>
                      <a:endParaRPr lang="pt-BR" sz="15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500" b="1" kern="1200" dirty="0" smtClean="0">
                          <a:solidFill>
                            <a:schemeClr val="lt1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ENTIDADE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Presidente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500" b="1" kern="12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APRURDAM</a:t>
                      </a:r>
                      <a:endParaRPr lang="pt-BR" sz="1500" b="1" kern="1200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1º</a:t>
                      </a:r>
                      <a:r>
                        <a:rPr lang="pt-BR" sz="1500" b="1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Vice-presidente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Notório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2º</a:t>
                      </a:r>
                      <a:r>
                        <a:rPr lang="pt-BR" sz="1500" b="1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Vice-presidente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SINCOGARV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5828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Sec. Agricultura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18628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pt-BR" sz="15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Laboratório MAYER 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90595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pt-BR" sz="15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COOPEN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0461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pt-BR" sz="15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Notório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49809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pt-BR" sz="15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Notório</a:t>
                      </a:r>
                    </a:p>
                  </a:txBody>
                  <a:tcPr/>
                </a:tc>
              </a:tr>
              <a:tr h="517362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pt-BR" sz="150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º</a:t>
                      </a:r>
                      <a:r>
                        <a:rPr lang="pt-BR" sz="1500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Conselheiro Administrativo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Notório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1º  Conselheiro Fiscal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José Pires</a:t>
                      </a:r>
                      <a:r>
                        <a:rPr lang="pt-BR" sz="1500" b="1" baseline="0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Ataides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2º Conselheiro Fiscal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Larisse Carina Moraes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91737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3º Conselheiro Fiscal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solidFill>
                            <a:srgbClr val="204F7A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Alceu Ribeiro da Cunha</a:t>
                      </a:r>
                      <a:endParaRPr lang="pt-BR" sz="1500" b="1" dirty="0">
                        <a:solidFill>
                          <a:srgbClr val="204F7A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tângulo 8"/>
          <p:cNvSpPr/>
          <p:nvPr/>
        </p:nvSpPr>
        <p:spPr>
          <a:xfrm>
            <a:off x="3199197" y="-162682"/>
            <a:ext cx="5618899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ELEIÇÕES CREDIMAIS RV</a:t>
            </a:r>
          </a:p>
        </p:txBody>
      </p:sp>
      <p:pic>
        <p:nvPicPr>
          <p:cNvPr id="2052" name="Picture 4" descr="https://scontent-mia1-1.xx.fbcdn.net/hphotos-xaf1/v/t34.0-12/12166671_532342303585274_171649592_n.jpg?oh=1c85c3b0fdf312d44228ab13639dac49&amp;oe=56690CF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0" r="-588"/>
          <a:stretch/>
        </p:blipFill>
        <p:spPr bwMode="auto">
          <a:xfrm>
            <a:off x="0" y="609984"/>
            <a:ext cx="6443313" cy="619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39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www.acirv.com.br/modules/blog/dataimages/IMG_548D71-50EC51-C86B41-2E46DC-0695FA-CE724F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06" b="1"/>
          <a:stretch/>
        </p:blipFill>
        <p:spPr bwMode="auto">
          <a:xfrm>
            <a:off x="181435" y="1107997"/>
            <a:ext cx="11829128" cy="575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814099" y="0"/>
            <a:ext cx="17235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i="1" cap="all" dirty="0">
                <a:solidFill>
                  <a:srgbClr val="FFFF00"/>
                </a:solidFill>
                <a:latin typeface="Arial Black" panose="020B0A04020102020204" pitchFamily="34" charset="0"/>
              </a:rPr>
              <a:t>GO 174</a:t>
            </a:r>
            <a:endParaRPr lang="pt-BR" sz="3000" b="1" i="1" cap="all" dirty="0">
              <a:solidFill>
                <a:srgbClr val="FFFF0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91541" y="553998"/>
            <a:ext cx="7400552" cy="4630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Dia 27/10/15 reunião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</a:rPr>
              <a:t>com o presidente da AGETOP, Jayme Rincón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62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Cartão 10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775462" y="-83553"/>
            <a:ext cx="17235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i="1" cap="all" dirty="0">
                <a:solidFill>
                  <a:srgbClr val="FFFF00"/>
                </a:solidFill>
                <a:latin typeface="Arial Black" panose="020B0A04020102020204" pitchFamily="34" charset="0"/>
              </a:rPr>
              <a:t>GO 174</a:t>
            </a:r>
            <a:endParaRPr lang="pt-BR" sz="3000" b="1" i="1" cap="all" dirty="0">
              <a:solidFill>
                <a:srgbClr val="FFFF0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26720" y="386892"/>
            <a:ext cx="4761945" cy="524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Dia 11/11/15 fechamento da GO 174 </a:t>
            </a:r>
            <a:endParaRPr lang="pt-BR" sz="2100" b="1" dirty="0">
              <a:solidFill>
                <a:schemeClr val="bg1"/>
              </a:solidFill>
            </a:endParaRPr>
          </a:p>
        </p:txBody>
      </p:sp>
      <p:pic>
        <p:nvPicPr>
          <p:cNvPr id="10242" name="Picture 2" descr="http://www.acirv.com.br/modules/blog/dataimages/IMG_D8B6F3-A61631-34A0F7-352F09-D00F51-78F37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8010"/>
            <a:ext cx="4236363" cy="297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fbcdn-sphotos-c-a.akamaihd.net/hphotos-ak-xfa1/v/t1.0-9/12243066_799412376854018_5219139546552855829_n.jpg?oh=2245d85633209400e640edaf5b288882&amp;oe=56F6709C&amp;__gda__=1458050474_433447dee64f84313b10b34102ca403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146" y="968010"/>
            <a:ext cx="3591147" cy="297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s://fbcdn-sphotos-d-a.akamaihd.net/hphotos-ak-xaf1/v/t1.0-9/12241548_799412333520689_5011746982795982784_n.jpg?oh=23a3ff2e72a80f8c53ae8c080c19d4a5&amp;oe=56F380EC&amp;__gda__=1457718365_238a4e4db09751b07edeaba37cbd8d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821" y="968010"/>
            <a:ext cx="4045408" cy="297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ttps://fbcdn-sphotos-c-a.akamaihd.net/hphotos-ak-xpa1/v/t1.0-9/12246921_800895226705733_6991710837195437303_n.jpg?oh=b38b5fa959c4a96af0f350333a6c8f0f&amp;oe=56E151CF&amp;__gda__=1458450039_2979c668a7f203b3757000f85c98649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4"/>
          <a:stretch/>
        </p:blipFill>
        <p:spPr bwMode="auto">
          <a:xfrm>
            <a:off x="108562" y="4050882"/>
            <a:ext cx="4019237" cy="269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4465743" y="4174857"/>
            <a:ext cx="7645843" cy="24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Dia 13/11,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a presidente da Acirv Jacqueline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Zaiden e outros representantes de outras entidades e advogados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foram recebidos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pela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promotora de justiça,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Dra.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Renata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Dantas. A comitiva a intervenção </a:t>
            </a:r>
            <a:r>
              <a:rPr lang="pt-BR" sz="2100" b="1" dirty="0">
                <a:solidFill>
                  <a:schemeClr val="bg1"/>
                </a:solidFill>
                <a:latin typeface="Arial" panose="020B0604020202020204" pitchFamily="34" charset="0"/>
              </a:rPr>
              <a:t>do Ministério Público </a:t>
            </a:r>
            <a:r>
              <a:rPr lang="pt-BR" sz="21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na GO 174.</a:t>
            </a:r>
            <a:endParaRPr lang="pt-BR" sz="2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83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66" y="883736"/>
            <a:ext cx="7738058" cy="580354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2365266" y="0"/>
            <a:ext cx="9794530" cy="506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APRESENTAÇÃO IVANA DE CASTRO/ PARCERIA 1ª CCA </a:t>
            </a:r>
            <a:endParaRPr lang="pt-BR" sz="2000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7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artão 6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10765" y="2178294"/>
            <a:ext cx="11770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NOVEMBRO</a:t>
            </a:r>
            <a:endParaRPr lang="pt-BR" sz="600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84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uxograma: Cartão 9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https://fbcdn-sphotos-c-a.akamaihd.net/hphotos-ak-xal1/v/t1.0-9/12241537_801704869958102_1877350485540498534_n.jpg?oh=07630693b67e7b41b8da1126e85a2fe1&amp;oe=56F440DE&amp;__gda__=1457609609_0f8597b0e55edea5682cd594a8bdcf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209" y="4245371"/>
            <a:ext cx="4586789" cy="261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313645" y="-77273"/>
            <a:ext cx="10982116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WORKSHOP: </a:t>
            </a:r>
          </a:p>
          <a:p>
            <a:pPr algn="ctr">
              <a:lnSpc>
                <a:spcPct val="150000"/>
              </a:lnSpc>
            </a:pPr>
            <a:r>
              <a:rPr lang="pt-BR" sz="1900" b="1" i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DESAFIOS DA INCLUSÃO DE PESSOAS COM DEFICIÊNCIA NO MERCADO DE TRABALHO</a:t>
            </a:r>
            <a:endParaRPr lang="pt-BR" sz="1900" b="1" i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19126" y="1294751"/>
            <a:ext cx="11953742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participação da Dr.ª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Janilda Guimarães de Lima, Procuradora-Chefe do Ministério Público do Trabalho em Goiás/ Procuradoria Regional do Trabalho da 18ª Região</a:t>
            </a:r>
          </a:p>
        </p:txBody>
      </p:sp>
      <p:pic>
        <p:nvPicPr>
          <p:cNvPr id="12290" name="Picture 2" descr="https://scontent-atl3-1.xx.fbcdn.net/hphotos-xfp1/v/t1.0-9/12219619_801704969958092_2894987924074564909_n.jpg?oh=dd1120a2fc67f76d142cd19e6c6a275a&amp;oe=56E5B12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992" y="1869743"/>
            <a:ext cx="4323006" cy="231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fbcdn-sphotos-h-a.akamaihd.net/hphotos-ak-xfp1/v/t1.0-9/12278893_801704796624776_4917244910976867171_n.jpg?oh=b4a71ce3dceb14bf5cc49a894d6d5bfa&amp;oe=56EA8F86&amp;__gda__=1458328847_9a38b0f35702c40cad0c4924607e24b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780" y="2294180"/>
            <a:ext cx="3041562" cy="457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s://fbcdn-sphotos-d-a.akamaihd.net/hphotos-ak-xtp1/v/t1.0-9/12239714_801705049958084_8286591167400101946_n.jpg?oh=d6200af7abd7ed3779c6393830339e7d&amp;oe=56D5BBF6&amp;__gda__=1457948864_f9c94275b072b6db01a4512aa3b16fc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8" y="2282450"/>
            <a:ext cx="4298025" cy="455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4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Cartão 10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63" r="23218"/>
          <a:stretch/>
        </p:blipFill>
        <p:spPr>
          <a:xfrm>
            <a:off x="7650050" y="4615362"/>
            <a:ext cx="3651161" cy="2276723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193183" y="731390"/>
            <a:ext cx="11996671" cy="878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Parceiros: PROCON; ACIRV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CDL e FEBRABAN. O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evento aconteceu na ACIRV nos dias 17, 18 3 19 de novembro de 2015, das 8h às 17h. </a:t>
            </a:r>
            <a:r>
              <a:rPr lang="pt-BR" b="1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Foram atendidas em torno de 700 pessoas. </a:t>
            </a:r>
            <a:endParaRPr lang="pt-BR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137893" y="0"/>
            <a:ext cx="10054107" cy="506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sz="2000" b="1" i="1" dirty="0" smtClean="0">
                <a:solidFill>
                  <a:srgbClr val="FFFF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MUTIRÃO: RENEGOCIANDO DÍVIDAS, REORGANIZANDO VIDAS</a:t>
            </a:r>
            <a:endParaRPr lang="pt-BR" sz="2000" i="1" dirty="0">
              <a:solidFill>
                <a:srgbClr val="FFFF0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31603" r="8877"/>
          <a:stretch/>
        </p:blipFill>
        <p:spPr>
          <a:xfrm>
            <a:off x="7064" y="1731698"/>
            <a:ext cx="6522525" cy="499107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4" t="36935"/>
          <a:stretch/>
        </p:blipFill>
        <p:spPr>
          <a:xfrm>
            <a:off x="6593983" y="1619255"/>
            <a:ext cx="5582992" cy="289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7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uxograma: Cartão 12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21972" y="2095237"/>
            <a:ext cx="11998817" cy="1333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SERVIÇOS OFERECIDOS:</a:t>
            </a:r>
            <a:endParaRPr lang="pt-BR" sz="6000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03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1989341" y="-130154"/>
            <a:ext cx="8213315" cy="126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1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RETOMADA:</a:t>
            </a:r>
          </a:p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FÓRUM DE RECURSOS HUMANOS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10314" y="1269578"/>
            <a:ext cx="5400191" cy="35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 Fórum de Recursos Humanos é um grande aliado dos empresários e por este motivo, reúne os profissionais de RH das empresas de pequeno, médio e grande porte de Rio Verde e </a:t>
            </a:r>
            <a:r>
              <a:rPr lang="pt-BR" sz="2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região.</a:t>
            </a:r>
            <a:endParaRPr lang="pt-BR" sz="6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6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https://fbcdn-sphotos-g-a.akamaihd.net/hphotos-ak-xft1/v/t1.0-9/12243392_1075301195821071_951867814448389381_n.jpg?oh=e2fd902755e15f6ab29587838f968e06&amp;oe=56F13078&amp;__gda__=1457874674_61c1b709cc3ec68f8470b8981a10394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" t="4878" r="6467"/>
          <a:stretch/>
        </p:blipFill>
        <p:spPr bwMode="auto">
          <a:xfrm>
            <a:off x="5510505" y="1068617"/>
            <a:ext cx="6632620" cy="406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6983" y="5067587"/>
            <a:ext cx="12155017" cy="1685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 principal objetivo é a troca de informações e experiências relacionadas à gestão de recursos humanos, buscando constantemente atualização e aprimoramento, seja através de cursos, palestras ou treinamentos.</a:t>
            </a:r>
          </a:p>
        </p:txBody>
      </p:sp>
    </p:spTree>
    <p:extLst>
      <p:ext uri="{BB962C8B-B14F-4D97-AF65-F5344CB8AC3E}">
        <p14:creationId xmlns:p14="http://schemas.microsoft.com/office/powerpoint/2010/main" val="95128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372" y="3695340"/>
            <a:ext cx="5622507" cy="316266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"/>
          <a:stretch/>
        </p:blipFill>
        <p:spPr>
          <a:xfrm>
            <a:off x="6569492" y="122418"/>
            <a:ext cx="5453014" cy="330658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1" y="3760957"/>
            <a:ext cx="6167337" cy="309704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2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xograma: Cartão 11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4" y="4137502"/>
            <a:ext cx="4098887" cy="233898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5" y="1251735"/>
            <a:ext cx="4098887" cy="2111822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-109015" y="-151974"/>
            <a:ext cx="11658509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effectLst/>
                <a:latin typeface="Arial Black" panose="020B0A04020102020204" pitchFamily="34" charset="0"/>
              </a:rPr>
              <a:t>MEIOS DE COMUNICAÇÃO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470039" y="787969"/>
            <a:ext cx="29825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www.acirv.com.br </a:t>
            </a:r>
            <a:endParaRPr lang="pt-BR" sz="21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0" y="3652538"/>
            <a:ext cx="44045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www.facebook.com.br/acirv</a:t>
            </a:r>
            <a:endParaRPr lang="pt-BR" sz="21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050" name="Picture 2" descr="https://fbcdn-sphotos-f-a.akamaihd.net/hphotos-ak-xfp1/v/t1.0-9/12039372_791446750983914_211648960519652731_n.jpg?oh=d22d3f12492849f77f2ba56b0590cec3&amp;oe=5720859A&amp;__gda__=1458126593_5f5059699dc1986710fb30c33edfd9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279" y="699229"/>
            <a:ext cx="3753647" cy="494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fbcdn-photos-c-a.akamaihd.net/hphotos-ak-xtf1/v/t1.0-0/p206x206/11987037_766657600129496_2627239862653622152_n.jpg?oh=727d72ac1e9c0216a637a3bc89a05b59&amp;oe=56DD41AC&amp;__gda__=1456794242_154d739466288dd7a9d5a215dd3becb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575" y="699230"/>
            <a:ext cx="3852889" cy="494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4277595" y="6158545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Entrevistas, Comunicados, releases, mailling, etc... </a:t>
            </a:r>
            <a:endParaRPr lang="pt-B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16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Cartão 10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400377" y="-149800"/>
            <a:ext cx="5618899" cy="71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itchFamily="34" charset="0"/>
              </a:rPr>
              <a:t>1ª CCA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3"/>
          <a:srcRect l="21641" t="36735" r="26747" b="35959"/>
          <a:stretch/>
        </p:blipFill>
        <p:spPr>
          <a:xfrm>
            <a:off x="310145" y="1661375"/>
            <a:ext cx="11561185" cy="376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4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xograma: Cartão 7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https://scontent-gru1-1.xx.fbcdn.net/hphotos-xtp1/v/t1.0-9/10686725_785257758269480_4595925373075170132_n.jpg?oh=503f837ff9ff81faf1660c3901d6883d&amp;oe=56DA9A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625" y="3036475"/>
            <a:ext cx="4671618" cy="382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7315200" y="635818"/>
            <a:ext cx="483904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Três novos </a:t>
            </a:r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produtos e serviços que vão facilitar o acesso à linhas de crédito voltadas para o financiamento de capital de giro e investimentos do setor produtivo local.</a:t>
            </a:r>
          </a:p>
        </p:txBody>
      </p:sp>
      <p:sp>
        <p:nvSpPr>
          <p:cNvPr id="3" name="Retângulo 2"/>
          <p:cNvSpPr/>
          <p:nvPr/>
        </p:nvSpPr>
        <p:spPr>
          <a:xfrm>
            <a:off x="605306" y="-2153"/>
            <a:ext cx="111745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000" b="1" i="1" dirty="0" smtClean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ACIRV É PARCEIRA DA GOIÁSFOMENTO</a:t>
            </a:r>
            <a:endParaRPr lang="pt-BR" sz="30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59"/>
          <a:stretch/>
        </p:blipFill>
        <p:spPr>
          <a:xfrm>
            <a:off x="-16293" y="635818"/>
            <a:ext cx="7331493" cy="622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0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678675" y="785969"/>
            <a:ext cx="10006885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SERASA: 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BR" sz="2500" b="1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CERTIFICAÇÃO DIGITAL: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BR" sz="2500" b="1" i="1" dirty="0" smtClean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LOCAÇÃO </a:t>
            </a:r>
            <a:r>
              <a:rPr lang="pt-BR" sz="2500" b="1" i="1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SALAS E </a:t>
            </a: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AUDITÓRIO: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BR" sz="2500" b="1" i="1" dirty="0" smtClean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CURSOS </a:t>
            </a:r>
            <a:r>
              <a:rPr lang="pt-BR" sz="2500" b="1" i="1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TREINAMENTOS: 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BR" sz="2500" b="1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SEBRAE: </a:t>
            </a:r>
            <a:endParaRPr lang="pt-BR" sz="2500" b="1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55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93183" y="1648496"/>
            <a:ext cx="11998817" cy="2718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pt-BR" sz="6000" b="1" i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PARCERIAS ESTABELECIDAS</a:t>
            </a:r>
            <a:endParaRPr lang="pt-BR" sz="6000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25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839337" y="746764"/>
            <a:ext cx="1118627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FGV;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FACULDADE OBJETIVO;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SEBRAE;</a:t>
            </a: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500" b="1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UNIODONTO;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8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CDC </a:t>
            </a:r>
            <a:r>
              <a:rPr lang="pt-BR" sz="2800" b="1" cap="all" dirty="0">
                <a:solidFill>
                  <a:schemeClr val="bg1"/>
                </a:solidFill>
                <a:latin typeface="Arial Black" panose="020B0A04020102020204" pitchFamily="34" charset="0"/>
              </a:rPr>
              <a:t>– CENTRO DE DESENVOLVIMENTO </a:t>
            </a:r>
            <a:r>
              <a:rPr lang="pt-BR" sz="28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 COMPETÊNCIAS;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8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AMPARO CONSULTORIA.</a:t>
            </a:r>
          </a:p>
        </p:txBody>
      </p:sp>
    </p:spTree>
    <p:extLst>
      <p:ext uri="{BB962C8B-B14F-4D97-AF65-F5344CB8AC3E}">
        <p14:creationId xmlns:p14="http://schemas.microsoft.com/office/powerpoint/2010/main" val="142906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25295" y="698930"/>
            <a:ext cx="11861443" cy="3993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pt-BR" sz="2800" b="1" cap="all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800" b="1" cap="all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60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POTENCIAIS PARCERIAS:</a:t>
            </a:r>
          </a:p>
          <a:p>
            <a:pPr algn="ctr">
              <a:lnSpc>
                <a:spcPct val="150000"/>
              </a:lnSpc>
            </a:pPr>
            <a:r>
              <a:rPr lang="pt-BR" sz="2800" b="1" cap="all" dirty="0">
                <a:solidFill>
                  <a:schemeClr val="bg1"/>
                </a:solidFill>
                <a:latin typeface="Arial Black" panose="020B0A04020102020204" pitchFamily="34" charset="0"/>
              </a:rPr>
              <a:t> 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endParaRPr lang="pt-BR" sz="2500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3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uxograma: Cartão 5"/>
          <p:cNvSpPr/>
          <p:nvPr/>
        </p:nvSpPr>
        <p:spPr>
          <a:xfrm>
            <a:off x="-5262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0F25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67425" y="273927"/>
            <a:ext cx="11861443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pt-BR" sz="2800" b="1" cap="all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800" b="1" cap="all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2800" b="1" cap="all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8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UNIMED;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800" b="1" cap="all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RIO QUENTE RESORTS.</a:t>
            </a:r>
            <a:r>
              <a:rPr lang="pt-BR" sz="2800" b="1" cap="all" dirty="0">
                <a:solidFill>
                  <a:schemeClr val="bg1"/>
                </a:solidFill>
                <a:latin typeface="Arial Black" panose="020B0A04020102020204" pitchFamily="34" charset="0"/>
              </a:rPr>
              <a:t> 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endParaRPr lang="pt-BR" sz="2500" i="1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92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1079</Words>
  <Application>Microsoft Office PowerPoint</Application>
  <PresentationFormat>Widescreen</PresentationFormat>
  <Paragraphs>177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1" baseType="lpstr">
      <vt:lpstr>Arial</vt:lpstr>
      <vt:lpstr>Arial </vt:lpstr>
      <vt:lpstr>Arial Black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151</cp:revision>
  <dcterms:created xsi:type="dcterms:W3CDTF">2015-11-26T20:53:21Z</dcterms:created>
  <dcterms:modified xsi:type="dcterms:W3CDTF">2016-02-01T13:54:09Z</dcterms:modified>
</cp:coreProperties>
</file>