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56"/>
  </p:handoutMasterIdLst>
  <p:sldIdLst>
    <p:sldId id="274" r:id="rId2"/>
    <p:sldId id="335" r:id="rId3"/>
    <p:sldId id="291" r:id="rId4"/>
    <p:sldId id="279" r:id="rId5"/>
    <p:sldId id="280" r:id="rId6"/>
    <p:sldId id="281" r:id="rId7"/>
    <p:sldId id="258" r:id="rId8"/>
    <p:sldId id="259" r:id="rId9"/>
    <p:sldId id="260" r:id="rId10"/>
    <p:sldId id="261" r:id="rId11"/>
    <p:sldId id="262" r:id="rId12"/>
    <p:sldId id="334" r:id="rId13"/>
    <p:sldId id="333" r:id="rId14"/>
    <p:sldId id="263" r:id="rId15"/>
    <p:sldId id="264" r:id="rId16"/>
    <p:sldId id="326" r:id="rId17"/>
    <p:sldId id="327" r:id="rId18"/>
    <p:sldId id="328" r:id="rId19"/>
    <p:sldId id="324" r:id="rId20"/>
    <p:sldId id="325" r:id="rId21"/>
    <p:sldId id="308" r:id="rId22"/>
    <p:sldId id="329" r:id="rId23"/>
    <p:sldId id="330" r:id="rId24"/>
    <p:sldId id="331" r:id="rId25"/>
    <p:sldId id="332" r:id="rId26"/>
    <p:sldId id="296" r:id="rId27"/>
    <p:sldId id="323" r:id="rId28"/>
    <p:sldId id="295" r:id="rId29"/>
    <p:sldId id="265" r:id="rId30"/>
    <p:sldId id="298" r:id="rId31"/>
    <p:sldId id="299" r:id="rId32"/>
    <p:sldId id="337" r:id="rId33"/>
    <p:sldId id="338" r:id="rId34"/>
    <p:sldId id="300" r:id="rId35"/>
    <p:sldId id="301" r:id="rId36"/>
    <p:sldId id="302" r:id="rId37"/>
    <p:sldId id="303" r:id="rId38"/>
    <p:sldId id="266" r:id="rId39"/>
    <p:sldId id="306" r:id="rId40"/>
    <p:sldId id="307" r:id="rId41"/>
    <p:sldId id="339" r:id="rId42"/>
    <p:sldId id="304" r:id="rId43"/>
    <p:sldId id="310" r:id="rId44"/>
    <p:sldId id="311" r:id="rId45"/>
    <p:sldId id="312" r:id="rId46"/>
    <p:sldId id="313" r:id="rId47"/>
    <p:sldId id="314" r:id="rId48"/>
    <p:sldId id="315" r:id="rId49"/>
    <p:sldId id="316" r:id="rId50"/>
    <p:sldId id="340" r:id="rId51"/>
    <p:sldId id="341" r:id="rId52"/>
    <p:sldId id="319" r:id="rId53"/>
    <p:sldId id="267" r:id="rId54"/>
    <p:sldId id="336" r:id="rId55"/>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04F7A"/>
    <a:srgbClr val="0F253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Estilo Médio 2 - Ênfase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Estilo Médio 2 - Ênfas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327F97BB-C833-4FB7-BDE5-3F7075034690}" styleName="Estilo com Tema 2 - Ênfase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Estilo com Tema 2 - Ênfase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Estilo com Tema 2 - Ênfase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Estilo com Tema 2 - Ênfase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84"/>
      </p:cViewPr>
      <p:guideLst/>
    </p:cSldViewPr>
  </p:slideViewPr>
  <p:notesTextViewPr>
    <p:cViewPr>
      <p:scale>
        <a:sx n="1" d="1"/>
        <a:sy n="1" d="1"/>
      </p:scale>
      <p:origin x="0" y="0"/>
    </p:cViewPr>
  </p:notesTextViewPr>
  <p:notesViewPr>
    <p:cSldViewPr snapToGrid="0">
      <p:cViewPr varScale="1">
        <p:scale>
          <a:sx n="57" d="100"/>
          <a:sy n="57" d="100"/>
        </p:scale>
        <p:origin x="2832"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oleObject" Target="file:///C:\Users\ACIRV\Desktop\RELATORIO.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Users\ACIRV\Desktop\Pasta1.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Pasta1"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Pasta1"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C:\Users\ACIRV\Desktop\RELATORIO.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C:\Users\ACIRV\Desktop\RELATORIO.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C:\Users\ACIRV\Desktop\RELATORIO.xlsx" TargetMode="External"/></Relationships>
</file>

<file path=ppt/charts/_rels/chart8.xml.rels><?xml version="1.0" encoding="UTF-8" standalone="yes"?>
<Relationships xmlns="http://schemas.openxmlformats.org/package/2006/relationships"><Relationship Id="rId1" Type="http://schemas.openxmlformats.org/officeDocument/2006/relationships/oleObject" Target="file:///C:\Users\ACIRV\Desktop\RELATORIO.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pt-BR"/>
              <a:t>100 EMPRESAS SELECIONADAS</a:t>
            </a:r>
          </a:p>
        </c:rich>
      </c:tx>
      <c:layout/>
      <c:overlay val="0"/>
    </c:title>
    <c:autoTitleDeleted val="0"/>
    <c:view3D>
      <c:rotX val="30"/>
      <c:rotY val="0"/>
      <c:rAngAx val="0"/>
    </c:view3D>
    <c:floor>
      <c:thickness val="0"/>
    </c:floor>
    <c:sideWall>
      <c:thickness val="0"/>
    </c:sideWall>
    <c:backWall>
      <c:thickness val="0"/>
    </c:backWall>
    <c:plotArea>
      <c:layout/>
      <c:pie3DChart>
        <c:varyColors val="1"/>
        <c:ser>
          <c:idx val="0"/>
          <c:order val="0"/>
          <c:dPt>
            <c:idx val="0"/>
            <c:bubble3D val="0"/>
            <c:spPr>
              <a:solidFill>
                <a:srgbClr val="0070C0"/>
              </a:solidFill>
            </c:spPr>
          </c:dPt>
          <c:dPt>
            <c:idx val="1"/>
            <c:bubble3D val="0"/>
            <c:spPr>
              <a:solidFill>
                <a:srgbClr val="FF0000"/>
              </a:solidFill>
            </c:spPr>
          </c:dPt>
          <c:dLbls>
            <c:dLbl>
              <c:idx val="0"/>
              <c:layout/>
              <c:tx>
                <c:rich>
                  <a:bodyPr/>
                  <a:lstStyle/>
                  <a:p>
                    <a:r>
                      <a:rPr lang="en-US"/>
                      <a:t>80</a:t>
                    </a:r>
                  </a:p>
                </c:rich>
              </c:tx>
              <c:showLegendKey val="0"/>
              <c:showVal val="0"/>
              <c:showCatName val="0"/>
              <c:showSerName val="0"/>
              <c:showPercent val="1"/>
              <c:showBubbleSize val="0"/>
              <c:extLst>
                <c:ext xmlns:c15="http://schemas.microsoft.com/office/drawing/2012/chart" uri="{CE6537A1-D6FC-4f65-9D91-7224C49458BB}">
                  <c15:layout/>
                </c:ext>
              </c:extLst>
            </c:dLbl>
            <c:dLbl>
              <c:idx val="1"/>
              <c:layout/>
              <c:tx>
                <c:rich>
                  <a:bodyPr/>
                  <a:lstStyle/>
                  <a:p>
                    <a:r>
                      <a:rPr lang="en-US"/>
                      <a:t>20</a:t>
                    </a:r>
                  </a:p>
                </c:rich>
              </c:tx>
              <c:showLegendKey val="0"/>
              <c:showVal val="0"/>
              <c:showCatName val="0"/>
              <c:showSerName val="0"/>
              <c:showPercent val="1"/>
              <c:showBubbleSize val="0"/>
              <c:extLst>
                <c:ext xmlns:c15="http://schemas.microsoft.com/office/drawing/2012/chart" uri="{CE6537A1-D6FC-4f65-9D91-7224C49458BB}">
                  <c15:layout/>
                </c:ext>
              </c:extLst>
            </c:dLbl>
            <c:spPr>
              <a:noFill/>
              <a:ln>
                <a:noFill/>
              </a:ln>
              <a:effectLst/>
            </c:spPr>
            <c:showLegendKey val="0"/>
            <c:showVal val="0"/>
            <c:showCatName val="0"/>
            <c:showSerName val="0"/>
            <c:showPercent val="1"/>
            <c:showBubbleSize val="0"/>
            <c:showLeaderLines val="1"/>
            <c:extLst>
              <c:ext xmlns:c15="http://schemas.microsoft.com/office/drawing/2012/chart" uri="{CE6537A1-D6FC-4f65-9D91-7224C49458BB}"/>
            </c:extLst>
          </c:dLbls>
          <c:cat>
            <c:strRef>
              <c:f>Plan1!$A$54:$A$55</c:f>
              <c:strCache>
                <c:ptCount val="2"/>
                <c:pt idx="0">
                  <c:v>Responderam a pesquisa</c:v>
                </c:pt>
                <c:pt idx="1">
                  <c:v>Não conseguimos contato</c:v>
                </c:pt>
              </c:strCache>
            </c:strRef>
          </c:cat>
          <c:val>
            <c:numRef>
              <c:f>Plan1!$B$54:$B$55</c:f>
              <c:numCache>
                <c:formatCode>General</c:formatCode>
                <c:ptCount val="2"/>
                <c:pt idx="0">
                  <c:v>80</c:v>
                </c:pt>
                <c:pt idx="1">
                  <c:v>20</c:v>
                </c:pt>
              </c:numCache>
            </c:numRef>
          </c:val>
        </c:ser>
        <c:dLbls>
          <c:showLegendKey val="0"/>
          <c:showVal val="0"/>
          <c:showCatName val="0"/>
          <c:showSerName val="0"/>
          <c:showPercent val="1"/>
          <c:showBubbleSize val="0"/>
          <c:showLeaderLines val="1"/>
        </c:dLbls>
      </c:pie3DChart>
    </c:plotArea>
    <c:legend>
      <c:legendPos val="r"/>
      <c:layout>
        <c:manualLayout>
          <c:xMode val="edge"/>
          <c:yMode val="edge"/>
          <c:x val="0.63423904476100201"/>
          <c:y val="0.41821154369661312"/>
          <c:w val="0.3483497269025691"/>
          <c:h val="0.35635016155330368"/>
        </c:manualLayout>
      </c:layout>
      <c:overlay val="0"/>
      <c:txPr>
        <a:bodyPr/>
        <a:lstStyle/>
        <a:p>
          <a:pPr>
            <a:defRPr sz="1800"/>
          </a:pPr>
          <a:endParaRPr lang="pt-BR"/>
        </a:p>
      </c:txPr>
    </c:legend>
    <c:plotVisOnly val="1"/>
    <c:dispBlanksAs val="gap"/>
    <c:showDLblsOverMax val="0"/>
  </c:chart>
  <c:txPr>
    <a:bodyPr/>
    <a:lstStyle/>
    <a:p>
      <a:pPr>
        <a:defRPr>
          <a:solidFill>
            <a:schemeClr val="bg1"/>
          </a:solidFill>
          <a:latin typeface="Arial Black" panose="020B0A04020102020204" pitchFamily="34" charset="0"/>
        </a:defRPr>
      </a:pPr>
      <a:endParaRPr lang="pt-B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0"/>
      <c:rAngAx val="0"/>
    </c:view3D>
    <c:floor>
      <c:thickness val="0"/>
    </c:floor>
    <c:sideWall>
      <c:thickness val="0"/>
    </c:sideWall>
    <c:backWall>
      <c:thickness val="0"/>
    </c:backWall>
    <c:plotArea>
      <c:layout/>
      <c:pie3DChart>
        <c:varyColors val="1"/>
        <c:ser>
          <c:idx val="0"/>
          <c:order val="0"/>
          <c:dPt>
            <c:idx val="0"/>
            <c:bubble3D val="0"/>
            <c:explosion val="4"/>
            <c:spPr>
              <a:solidFill>
                <a:srgbClr val="0070C0"/>
              </a:solidFill>
            </c:spPr>
          </c:dPt>
          <c:dPt>
            <c:idx val="1"/>
            <c:bubble3D val="0"/>
            <c:explosion val="3"/>
            <c:spPr>
              <a:solidFill>
                <a:srgbClr val="FF0000"/>
              </a:solidFill>
            </c:spPr>
          </c:dPt>
          <c:dPt>
            <c:idx val="2"/>
            <c:bubble3D val="0"/>
            <c:explosion val="11"/>
            <c:spPr>
              <a:solidFill>
                <a:srgbClr val="FFFF00"/>
              </a:solidFill>
            </c:spPr>
          </c:dPt>
          <c:dPt>
            <c:idx val="3"/>
            <c:bubble3D val="0"/>
            <c:explosion val="10"/>
            <c:spPr>
              <a:solidFill>
                <a:schemeClr val="tx1">
                  <a:lumMod val="75000"/>
                  <a:lumOff val="25000"/>
                </a:schemeClr>
              </a:solidFill>
            </c:spPr>
          </c:dPt>
          <c:dLbls>
            <c:dLbl>
              <c:idx val="0"/>
              <c:layout/>
              <c:tx>
                <c:rich>
                  <a:bodyPr/>
                  <a:lstStyle/>
                  <a:p>
                    <a:r>
                      <a:rPr lang="en-US" b="1"/>
                      <a:t>64</a:t>
                    </a:r>
                  </a:p>
                </c:rich>
              </c:tx>
              <c:showLegendKey val="0"/>
              <c:showVal val="0"/>
              <c:showCatName val="0"/>
              <c:showSerName val="0"/>
              <c:showPercent val="1"/>
              <c:showBubbleSize val="0"/>
              <c:extLst>
                <c:ext xmlns:c15="http://schemas.microsoft.com/office/drawing/2012/chart" uri="{CE6537A1-D6FC-4f65-9D91-7224C49458BB}">
                  <c15:layout/>
                </c:ext>
              </c:extLst>
            </c:dLbl>
            <c:dLbl>
              <c:idx val="1"/>
              <c:layout/>
              <c:tx>
                <c:rich>
                  <a:bodyPr/>
                  <a:lstStyle/>
                  <a:p>
                    <a:r>
                      <a:rPr lang="en-US" b="1"/>
                      <a:t>34</a:t>
                    </a:r>
                  </a:p>
                </c:rich>
              </c:tx>
              <c:showLegendKey val="0"/>
              <c:showVal val="0"/>
              <c:showCatName val="0"/>
              <c:showSerName val="0"/>
              <c:showPercent val="1"/>
              <c:showBubbleSize val="0"/>
              <c:extLst>
                <c:ext xmlns:c15="http://schemas.microsoft.com/office/drawing/2012/chart" uri="{CE6537A1-D6FC-4f65-9D91-7224C49458BB}">
                  <c15:layout/>
                </c:ext>
              </c:extLst>
            </c:dLbl>
            <c:dLbl>
              <c:idx val="2"/>
              <c:layout>
                <c:manualLayout>
                  <c:x val="3.025814616544757E-3"/>
                  <c:y val="-1.5803625431919849E-2"/>
                </c:manualLayout>
              </c:layout>
              <c:tx>
                <c:rich>
                  <a:bodyPr/>
                  <a:lstStyle/>
                  <a:p>
                    <a:r>
                      <a:rPr lang="en-US" b="1"/>
                      <a:t>1</a:t>
                    </a:r>
                  </a:p>
                </c:rich>
              </c:tx>
              <c:showLegendKey val="0"/>
              <c:showVal val="0"/>
              <c:showCatName val="0"/>
              <c:showSerName val="0"/>
              <c:showPercent val="1"/>
              <c:showBubbleSize val="0"/>
              <c:extLst>
                <c:ext xmlns:c15="http://schemas.microsoft.com/office/drawing/2012/chart" uri="{CE6537A1-D6FC-4f65-9D91-7224C49458BB}">
                  <c15:layout/>
                </c:ext>
              </c:extLst>
            </c:dLbl>
            <c:dLbl>
              <c:idx val="3"/>
              <c:layout/>
              <c:tx>
                <c:rich>
                  <a:bodyPr/>
                  <a:lstStyle/>
                  <a:p>
                    <a:r>
                      <a:rPr lang="en-US" b="1"/>
                      <a:t>1</a:t>
                    </a:r>
                  </a:p>
                </c:rich>
              </c:tx>
              <c:showLegendKey val="0"/>
              <c:showVal val="0"/>
              <c:showCatName val="0"/>
              <c:showSerName val="0"/>
              <c:showPercent val="1"/>
              <c:showBubbleSize val="0"/>
              <c:extLst>
                <c:ext xmlns:c15="http://schemas.microsoft.com/office/drawing/2012/chart" uri="{CE6537A1-D6FC-4f65-9D91-7224C49458BB}">
                  <c15:layout/>
                </c:ext>
              </c:extLst>
            </c:dLbl>
            <c:spPr>
              <a:noFill/>
              <a:ln>
                <a:noFill/>
              </a:ln>
              <a:effectLst/>
            </c:spPr>
            <c:showLegendKey val="0"/>
            <c:showVal val="0"/>
            <c:showCatName val="0"/>
            <c:showSerName val="0"/>
            <c:showPercent val="1"/>
            <c:showBubbleSize val="0"/>
            <c:showLeaderLines val="1"/>
            <c:extLst>
              <c:ext xmlns:c15="http://schemas.microsoft.com/office/drawing/2012/chart" uri="{CE6537A1-D6FC-4f65-9D91-7224C49458BB}"/>
            </c:extLst>
          </c:dLbls>
          <c:cat>
            <c:strRef>
              <c:f>Plan1!$E$3:$E$6</c:f>
              <c:strCache>
                <c:ptCount val="4"/>
                <c:pt idx="0">
                  <c:v>COMERCIO</c:v>
                </c:pt>
                <c:pt idx="1">
                  <c:v>PREST. DE SERVIÇO</c:v>
                </c:pt>
                <c:pt idx="2">
                  <c:v>COOPERATIVA</c:v>
                </c:pt>
                <c:pt idx="3">
                  <c:v>INDUSTRIA</c:v>
                </c:pt>
              </c:strCache>
            </c:strRef>
          </c:cat>
          <c:val>
            <c:numRef>
              <c:f>Plan1!$F$3:$F$6</c:f>
              <c:numCache>
                <c:formatCode>General</c:formatCode>
                <c:ptCount val="4"/>
                <c:pt idx="0">
                  <c:v>58</c:v>
                </c:pt>
                <c:pt idx="1">
                  <c:v>31</c:v>
                </c:pt>
                <c:pt idx="2">
                  <c:v>1</c:v>
                </c:pt>
                <c:pt idx="3">
                  <c:v>1</c:v>
                </c:pt>
              </c:numCache>
            </c:numRef>
          </c:val>
        </c:ser>
        <c:dLbls>
          <c:showLegendKey val="0"/>
          <c:showVal val="0"/>
          <c:showCatName val="0"/>
          <c:showSerName val="0"/>
          <c:showPercent val="1"/>
          <c:showBubbleSize val="0"/>
          <c:showLeaderLines val="1"/>
        </c:dLbls>
      </c:pie3DChart>
    </c:plotArea>
    <c:legend>
      <c:legendPos val="r"/>
      <c:layout/>
      <c:overlay val="0"/>
      <c:txPr>
        <a:bodyPr/>
        <a:lstStyle/>
        <a:p>
          <a:pPr>
            <a:defRPr sz="1800"/>
          </a:pPr>
          <a:endParaRPr lang="pt-BR"/>
        </a:p>
      </c:txPr>
    </c:legend>
    <c:plotVisOnly val="1"/>
    <c:dispBlanksAs val="gap"/>
    <c:showDLblsOverMax val="0"/>
  </c:chart>
  <c:txPr>
    <a:bodyPr/>
    <a:lstStyle/>
    <a:p>
      <a:pPr>
        <a:defRPr>
          <a:solidFill>
            <a:schemeClr val="bg1"/>
          </a:solidFill>
          <a:latin typeface="Arial Black" panose="020B0A04020102020204" pitchFamily="34" charset="0"/>
        </a:defRPr>
      </a:pPr>
      <a:endParaRPr lang="pt-B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0"/>
      <c:rAngAx val="0"/>
    </c:view3D>
    <c:floor>
      <c:thickness val="0"/>
    </c:floor>
    <c:sideWall>
      <c:thickness val="0"/>
    </c:sideWall>
    <c:backWall>
      <c:thickness val="0"/>
    </c:backWall>
    <c:plotArea>
      <c:layout/>
      <c:pie3DChart>
        <c:varyColors val="1"/>
        <c:ser>
          <c:idx val="0"/>
          <c:order val="0"/>
          <c:dPt>
            <c:idx val="1"/>
            <c:bubble3D val="0"/>
            <c:spPr>
              <a:solidFill>
                <a:srgbClr val="FF0000"/>
              </a:solidFill>
            </c:spPr>
          </c:dPt>
          <c:dPt>
            <c:idx val="2"/>
            <c:bubble3D val="0"/>
            <c:explosion val="12"/>
            <c:spPr>
              <a:solidFill>
                <a:srgbClr val="0070C0"/>
              </a:solidFill>
            </c:spPr>
          </c:dPt>
          <c:dPt>
            <c:idx val="3"/>
            <c:bubble3D val="0"/>
            <c:explosion val="5"/>
            <c:spPr>
              <a:solidFill>
                <a:schemeClr val="accent4">
                  <a:lumMod val="75000"/>
                </a:schemeClr>
              </a:solidFill>
            </c:spPr>
          </c:dPt>
          <c:dLbls>
            <c:spPr>
              <a:noFill/>
              <a:ln>
                <a:noFill/>
              </a:ln>
              <a:effectLst/>
            </c:spPr>
            <c:showLegendKey val="0"/>
            <c:showVal val="0"/>
            <c:showCatName val="0"/>
            <c:showSerName val="0"/>
            <c:showPercent val="1"/>
            <c:showBubbleSize val="0"/>
            <c:showLeaderLines val="0"/>
            <c:extLst>
              <c:ext xmlns:c15="http://schemas.microsoft.com/office/drawing/2012/chart" uri="{CE6537A1-D6FC-4f65-9D91-7224C49458BB}">
                <c15:layout/>
              </c:ext>
            </c:extLst>
          </c:dLbls>
          <c:cat>
            <c:strRef>
              <c:f>Plan1!$A$2:$A$5</c:f>
              <c:strCache>
                <c:ptCount val="4"/>
                <c:pt idx="0">
                  <c:v>O QUE SE ENTENDE POR ASSOCIAÇÃO?</c:v>
                </c:pt>
                <c:pt idx="1">
                  <c:v>Possuem conhecimento do conceito de associação</c:v>
                </c:pt>
                <c:pt idx="2">
                  <c:v>Entendem que é apenas um grupo de pessoas/empresas, porem não sabem o objetivo</c:v>
                </c:pt>
                <c:pt idx="3">
                  <c:v>Não entendem o conceito de associação</c:v>
                </c:pt>
              </c:strCache>
            </c:strRef>
          </c:cat>
          <c:val>
            <c:numRef>
              <c:f>Plan1!$B$2:$B$5</c:f>
              <c:numCache>
                <c:formatCode>0%</c:formatCode>
                <c:ptCount val="4"/>
                <c:pt idx="1">
                  <c:v>0.38000000000000045</c:v>
                </c:pt>
                <c:pt idx="2">
                  <c:v>0.33000000000000052</c:v>
                </c:pt>
                <c:pt idx="3">
                  <c:v>0.29000000000000031</c:v>
                </c:pt>
              </c:numCache>
            </c:numRef>
          </c:val>
        </c:ser>
        <c:dLbls>
          <c:showLegendKey val="0"/>
          <c:showVal val="0"/>
          <c:showCatName val="0"/>
          <c:showSerName val="0"/>
          <c:showPercent val="1"/>
          <c:showBubbleSize val="0"/>
          <c:showLeaderLines val="0"/>
        </c:dLbls>
      </c:pie3DChart>
    </c:plotArea>
    <c:legend>
      <c:legendPos val="r"/>
      <c:legendEntry>
        <c:idx val="0"/>
        <c:delete val="1"/>
      </c:legendEntry>
      <c:layout>
        <c:manualLayout>
          <c:xMode val="edge"/>
          <c:yMode val="edge"/>
          <c:x val="0.59827653143566817"/>
          <c:y val="0.16053040244969405"/>
          <c:w val="0.3966283718821968"/>
          <c:h val="0.78842957130358826"/>
        </c:manualLayout>
      </c:layout>
      <c:overlay val="0"/>
      <c:txPr>
        <a:bodyPr/>
        <a:lstStyle/>
        <a:p>
          <a:pPr algn="just">
            <a:defRPr sz="1800"/>
          </a:pPr>
          <a:endParaRPr lang="pt-BR"/>
        </a:p>
      </c:txPr>
    </c:legend>
    <c:plotVisOnly val="1"/>
    <c:dispBlanksAs val="gap"/>
    <c:showDLblsOverMax val="0"/>
  </c:chart>
  <c:txPr>
    <a:bodyPr/>
    <a:lstStyle/>
    <a:p>
      <a:pPr>
        <a:defRPr sz="1500">
          <a:solidFill>
            <a:schemeClr val="bg1"/>
          </a:solidFill>
          <a:latin typeface="Arial Black" panose="020B0A04020102020204" pitchFamily="34" charset="0"/>
        </a:defRPr>
      </a:pPr>
      <a:endParaRPr lang="pt-B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0"/>
      <c:rAngAx val="0"/>
    </c:view3D>
    <c:floor>
      <c:thickness val="0"/>
    </c:floor>
    <c:sideWall>
      <c:thickness val="0"/>
    </c:sideWall>
    <c:backWall>
      <c:thickness val="0"/>
    </c:backWall>
    <c:plotArea>
      <c:layout>
        <c:manualLayout>
          <c:layoutTarget val="inner"/>
          <c:xMode val="edge"/>
          <c:yMode val="edge"/>
          <c:x val="7.7953818525720739E-2"/>
          <c:y val="0.22030278540966872"/>
          <c:w val="0.50296003485394258"/>
          <c:h val="0.68622021172254732"/>
        </c:manualLayout>
      </c:layout>
      <c:pie3DChart>
        <c:varyColors val="1"/>
        <c:ser>
          <c:idx val="0"/>
          <c:order val="0"/>
          <c:dPt>
            <c:idx val="1"/>
            <c:bubble3D val="0"/>
            <c:spPr>
              <a:solidFill>
                <a:srgbClr val="FF0000"/>
              </a:solidFill>
            </c:spPr>
          </c:dPt>
          <c:dPt>
            <c:idx val="2"/>
            <c:bubble3D val="0"/>
            <c:spPr>
              <a:solidFill>
                <a:srgbClr val="00B050"/>
              </a:solidFill>
            </c:spPr>
          </c:dPt>
          <c:dPt>
            <c:idx val="3"/>
            <c:bubble3D val="0"/>
          </c:dPt>
          <c:dPt>
            <c:idx val="4"/>
            <c:bubble3D val="0"/>
            <c:spPr>
              <a:solidFill>
                <a:srgbClr val="0070C0"/>
              </a:solidFill>
            </c:spPr>
          </c:dPt>
          <c:dLbls>
            <c:spPr>
              <a:noFill/>
              <a:ln>
                <a:noFill/>
              </a:ln>
              <a:effectLst/>
            </c:spPr>
            <c:showLegendKey val="0"/>
            <c:showVal val="0"/>
            <c:showCatName val="0"/>
            <c:showSerName val="0"/>
            <c:showPercent val="1"/>
            <c:showBubbleSize val="0"/>
            <c:showLeaderLines val="0"/>
            <c:extLst>
              <c:ext xmlns:c15="http://schemas.microsoft.com/office/drawing/2012/chart" uri="{CE6537A1-D6FC-4f65-9D91-7224C49458BB}">
                <c15:layout/>
              </c:ext>
            </c:extLst>
          </c:dLbls>
          <c:cat>
            <c:strRef>
              <c:f>Plan1!$A$8:$A$12</c:f>
              <c:strCache>
                <c:ptCount val="5"/>
                <c:pt idx="0">
                  <c:v>QUAL A IMPORTANCIA DA ASSOCIAÇÃO PARA SUA EMPRESA E PARA A CIDADE DE RIO VERDE?</c:v>
                </c:pt>
                <c:pt idx="1">
                  <c:v>Possuem conhecimento da importância pela representatividade, tanto para Rio Verde, quanto para sua empresa.</c:v>
                </c:pt>
                <c:pt idx="2">
                  <c:v>Possuem conhecimento da importância pelos cursos e treinamentos que a ACIRV oferece.</c:v>
                </c:pt>
                <c:pt idx="3">
                  <c:v>Possuem conhecimento da importância para Rio Verde, porém para sua empresa não vê beneficio.</c:v>
                </c:pt>
                <c:pt idx="4">
                  <c:v>Não vê beneficio.</c:v>
                </c:pt>
              </c:strCache>
            </c:strRef>
          </c:cat>
          <c:val>
            <c:numRef>
              <c:f>Plan1!$B$8:$B$12</c:f>
              <c:numCache>
                <c:formatCode>0%</c:formatCode>
                <c:ptCount val="5"/>
                <c:pt idx="1">
                  <c:v>0.65000000000000102</c:v>
                </c:pt>
                <c:pt idx="2">
                  <c:v>0.05</c:v>
                </c:pt>
                <c:pt idx="3">
                  <c:v>0.15000000000000019</c:v>
                </c:pt>
                <c:pt idx="4">
                  <c:v>0.15000000000000019</c:v>
                </c:pt>
              </c:numCache>
            </c:numRef>
          </c:val>
        </c:ser>
        <c:dLbls>
          <c:showLegendKey val="0"/>
          <c:showVal val="0"/>
          <c:showCatName val="0"/>
          <c:showSerName val="0"/>
          <c:showPercent val="1"/>
          <c:showBubbleSize val="0"/>
          <c:showLeaderLines val="0"/>
        </c:dLbls>
      </c:pie3DChart>
    </c:plotArea>
    <c:legend>
      <c:legendPos val="r"/>
      <c:legendEntry>
        <c:idx val="0"/>
        <c:delete val="1"/>
      </c:legendEntry>
      <c:layout>
        <c:manualLayout>
          <c:xMode val="edge"/>
          <c:yMode val="edge"/>
          <c:x val="0.56970420156130885"/>
          <c:y val="3.8119623573453817E-2"/>
          <c:w val="0.42603116590100565"/>
          <c:h val="0.93175233863151796"/>
        </c:manualLayout>
      </c:layout>
      <c:overlay val="0"/>
      <c:txPr>
        <a:bodyPr/>
        <a:lstStyle/>
        <a:p>
          <a:pPr algn="just">
            <a:defRPr sz="1800"/>
          </a:pPr>
          <a:endParaRPr lang="pt-BR"/>
        </a:p>
      </c:txPr>
    </c:legend>
    <c:plotVisOnly val="1"/>
    <c:dispBlanksAs val="gap"/>
    <c:showDLblsOverMax val="0"/>
  </c:chart>
  <c:txPr>
    <a:bodyPr/>
    <a:lstStyle/>
    <a:p>
      <a:pPr>
        <a:defRPr sz="1500">
          <a:solidFill>
            <a:schemeClr val="bg1"/>
          </a:solidFill>
          <a:latin typeface="Arial Black" panose="020B0A04020102020204" pitchFamily="34" charset="0"/>
        </a:defRPr>
      </a:pPr>
      <a:endParaRPr lang="pt-B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0"/>
      <c:rAngAx val="0"/>
    </c:view3D>
    <c:floor>
      <c:thickness val="0"/>
    </c:floor>
    <c:sideWall>
      <c:thickness val="0"/>
    </c:sideWall>
    <c:backWall>
      <c:thickness val="0"/>
    </c:backWall>
    <c:plotArea>
      <c:layout>
        <c:manualLayout>
          <c:layoutTarget val="inner"/>
          <c:xMode val="edge"/>
          <c:yMode val="edge"/>
          <c:x val="8.1866975930334429E-2"/>
          <c:y val="0.20600902943328833"/>
          <c:w val="0.5104791552218767"/>
          <c:h val="0.699003556288332"/>
        </c:manualLayout>
      </c:layout>
      <c:pie3DChart>
        <c:varyColors val="1"/>
        <c:ser>
          <c:idx val="0"/>
          <c:order val="0"/>
          <c:dPt>
            <c:idx val="0"/>
            <c:bubble3D val="0"/>
            <c:spPr>
              <a:solidFill>
                <a:srgbClr val="FF0000"/>
              </a:solidFill>
            </c:spPr>
          </c:dPt>
          <c:dPt>
            <c:idx val="1"/>
            <c:bubble3D val="0"/>
            <c:spPr>
              <a:solidFill>
                <a:srgbClr val="7030A0"/>
              </a:solidFill>
            </c:spPr>
          </c:dPt>
          <c:dPt>
            <c:idx val="2"/>
            <c:bubble3D val="0"/>
            <c:spPr>
              <a:solidFill>
                <a:srgbClr val="00B050"/>
              </a:solidFill>
            </c:spPr>
          </c:dPt>
          <c:dPt>
            <c:idx val="3"/>
            <c:bubble3D val="0"/>
            <c:spPr>
              <a:solidFill>
                <a:srgbClr val="FFC000"/>
              </a:solidFill>
            </c:spPr>
          </c:dPt>
          <c:dLbls>
            <c:spPr>
              <a:noFill/>
              <a:ln>
                <a:noFill/>
              </a:ln>
              <a:effectLst/>
            </c:spPr>
            <c:dLblPos val="bestFit"/>
            <c:showLegendKey val="0"/>
            <c:showVal val="1"/>
            <c:showCatName val="0"/>
            <c:showSerName val="0"/>
            <c:showPercent val="0"/>
            <c:showBubbleSize val="0"/>
            <c:showLeaderLines val="1"/>
            <c:extLst>
              <c:ext xmlns:c15="http://schemas.microsoft.com/office/drawing/2012/chart" uri="{CE6537A1-D6FC-4f65-9D91-7224C49458BB}">
                <c15:layout/>
              </c:ext>
            </c:extLst>
          </c:dLbls>
          <c:cat>
            <c:strRef>
              <c:f>Plan1!$A$16:$A$19</c:f>
              <c:strCache>
                <c:ptCount val="4"/>
                <c:pt idx="0">
                  <c:v>Esperam que a ACIRV continue lutando por melhorias na cidade, como segurança, saúde e redução de impostos.</c:v>
                </c:pt>
                <c:pt idx="1">
                  <c:v>Esperam mais contato com seus associados, encontros e reuniões.</c:v>
                </c:pt>
                <c:pt idx="2">
                  <c:v>Esperam mais respaldo sobre as ações da ACIRV.</c:v>
                </c:pt>
                <c:pt idx="3">
                  <c:v>Consultorias.</c:v>
                </c:pt>
              </c:strCache>
            </c:strRef>
          </c:cat>
          <c:val>
            <c:numRef>
              <c:f>Plan1!$B$16:$B$19</c:f>
              <c:numCache>
                <c:formatCode>0%</c:formatCode>
                <c:ptCount val="4"/>
                <c:pt idx="0">
                  <c:v>0.56999999999999995</c:v>
                </c:pt>
                <c:pt idx="1">
                  <c:v>0.26</c:v>
                </c:pt>
                <c:pt idx="2">
                  <c:v>0.13</c:v>
                </c:pt>
                <c:pt idx="3">
                  <c:v>4.0000000000000022E-2</c:v>
                </c:pt>
              </c:numCache>
            </c:numRef>
          </c:val>
        </c:ser>
        <c:dLbls>
          <c:dLblPos val="bestFit"/>
          <c:showLegendKey val="0"/>
          <c:showVal val="1"/>
          <c:showCatName val="0"/>
          <c:showSerName val="0"/>
          <c:showPercent val="0"/>
          <c:showBubbleSize val="0"/>
          <c:showLeaderLines val="1"/>
        </c:dLbls>
      </c:pie3DChart>
    </c:plotArea>
    <c:legend>
      <c:legendPos val="r"/>
      <c:layout>
        <c:manualLayout>
          <c:xMode val="edge"/>
          <c:yMode val="edge"/>
          <c:x val="0.58943196600251002"/>
          <c:y val="6.2908259649593998E-2"/>
          <c:w val="0.40374891985947969"/>
          <c:h val="0.93709170607134584"/>
        </c:manualLayout>
      </c:layout>
      <c:overlay val="0"/>
      <c:txPr>
        <a:bodyPr/>
        <a:lstStyle/>
        <a:p>
          <a:pPr>
            <a:defRPr sz="1800"/>
          </a:pPr>
          <a:endParaRPr lang="pt-BR"/>
        </a:p>
      </c:txPr>
    </c:legend>
    <c:plotVisOnly val="1"/>
    <c:dispBlanksAs val="gap"/>
    <c:showDLblsOverMax val="0"/>
  </c:chart>
  <c:txPr>
    <a:bodyPr/>
    <a:lstStyle/>
    <a:p>
      <a:pPr>
        <a:defRPr sz="1500">
          <a:solidFill>
            <a:schemeClr val="bg1"/>
          </a:solidFill>
          <a:latin typeface="Arial Black" panose="020B0A04020102020204" pitchFamily="34" charset="0"/>
        </a:defRPr>
      </a:pPr>
      <a:endParaRPr lang="pt-B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0"/>
      <c:rAngAx val="0"/>
    </c:view3D>
    <c:floor>
      <c:thickness val="0"/>
    </c:floor>
    <c:sideWall>
      <c:thickness val="0"/>
    </c:sideWall>
    <c:backWall>
      <c:thickness val="0"/>
    </c:backWall>
    <c:plotArea>
      <c:layout/>
      <c:pie3DChart>
        <c:varyColors val="1"/>
        <c:ser>
          <c:idx val="0"/>
          <c:order val="0"/>
          <c:dPt>
            <c:idx val="0"/>
            <c:bubble3D val="0"/>
            <c:explosion val="2"/>
            <c:spPr>
              <a:solidFill>
                <a:srgbClr val="0070C0"/>
              </a:solidFill>
            </c:spPr>
          </c:dPt>
          <c:dPt>
            <c:idx val="1"/>
            <c:bubble3D val="0"/>
            <c:explosion val="3"/>
            <c:spPr>
              <a:solidFill>
                <a:srgbClr val="FF0000"/>
              </a:solidFill>
            </c:spPr>
          </c:dPt>
          <c:dPt>
            <c:idx val="2"/>
            <c:bubble3D val="0"/>
            <c:explosion val="3"/>
            <c:spPr>
              <a:solidFill>
                <a:srgbClr val="00B050"/>
              </a:solidFill>
            </c:spPr>
          </c:dPt>
          <c:dLbls>
            <c:spPr>
              <a:noFill/>
              <a:ln>
                <a:noFill/>
              </a:ln>
              <a:effectLst/>
            </c:spPr>
            <c:showLegendKey val="0"/>
            <c:showVal val="0"/>
            <c:showCatName val="0"/>
            <c:showSerName val="0"/>
            <c:showPercent val="1"/>
            <c:showBubbleSize val="0"/>
            <c:showLeaderLines val="1"/>
            <c:extLst>
              <c:ext xmlns:c15="http://schemas.microsoft.com/office/drawing/2012/chart" uri="{CE6537A1-D6FC-4f65-9D91-7224C49458BB}">
                <c15:layout/>
              </c:ext>
            </c:extLst>
          </c:dLbls>
          <c:cat>
            <c:strRef>
              <c:f>Plan1!$A$23:$A$25</c:f>
              <c:strCache>
                <c:ptCount val="3"/>
                <c:pt idx="0">
                  <c:v>Conhecem de todos os serviços oferecidos.</c:v>
                </c:pt>
                <c:pt idx="1">
                  <c:v>Conhecem apenas alguns.</c:v>
                </c:pt>
                <c:pt idx="2">
                  <c:v>Não possuem conhecimento dos serviços oferecidos.</c:v>
                </c:pt>
              </c:strCache>
            </c:strRef>
          </c:cat>
          <c:val>
            <c:numRef>
              <c:f>Plan1!$B$23:$B$25</c:f>
              <c:numCache>
                <c:formatCode>0%</c:formatCode>
                <c:ptCount val="3"/>
                <c:pt idx="0">
                  <c:v>0.1</c:v>
                </c:pt>
                <c:pt idx="1">
                  <c:v>0.45</c:v>
                </c:pt>
                <c:pt idx="2">
                  <c:v>0.45</c:v>
                </c:pt>
              </c:numCache>
            </c:numRef>
          </c:val>
        </c:ser>
        <c:dLbls>
          <c:showLegendKey val="0"/>
          <c:showVal val="0"/>
          <c:showCatName val="0"/>
          <c:showSerName val="0"/>
          <c:showPercent val="1"/>
          <c:showBubbleSize val="0"/>
          <c:showLeaderLines val="1"/>
        </c:dLbls>
      </c:pie3DChart>
    </c:plotArea>
    <c:legend>
      <c:legendPos val="r"/>
      <c:layout/>
      <c:overlay val="0"/>
    </c:legend>
    <c:plotVisOnly val="1"/>
    <c:dispBlanksAs val="gap"/>
    <c:showDLblsOverMax val="0"/>
  </c:chart>
  <c:txPr>
    <a:bodyPr/>
    <a:lstStyle/>
    <a:p>
      <a:pPr>
        <a:defRPr sz="1500">
          <a:solidFill>
            <a:schemeClr val="bg1"/>
          </a:solidFill>
          <a:latin typeface="Arial Black" panose="020B0A04020102020204" pitchFamily="34" charset="0"/>
        </a:defRPr>
      </a:pPr>
      <a:endParaRPr lang="pt-B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0"/>
      <c:rAngAx val="0"/>
    </c:view3D>
    <c:floor>
      <c:thickness val="0"/>
    </c:floor>
    <c:sideWall>
      <c:thickness val="0"/>
    </c:sideWall>
    <c:backWall>
      <c:thickness val="0"/>
    </c:backWall>
    <c:plotArea>
      <c:layout/>
      <c:pie3DChart>
        <c:varyColors val="1"/>
        <c:ser>
          <c:idx val="0"/>
          <c:order val="0"/>
          <c:dPt>
            <c:idx val="0"/>
            <c:bubble3D val="0"/>
            <c:spPr>
              <a:solidFill>
                <a:srgbClr val="002060"/>
              </a:solidFill>
            </c:spPr>
          </c:dPt>
          <c:dPt>
            <c:idx val="1"/>
            <c:bubble3D val="0"/>
            <c:spPr>
              <a:solidFill>
                <a:srgbClr val="FF0000"/>
              </a:solidFill>
            </c:spPr>
          </c:dPt>
          <c:dPt>
            <c:idx val="2"/>
            <c:bubble3D val="0"/>
            <c:spPr>
              <a:solidFill>
                <a:srgbClr val="00B050"/>
              </a:solidFill>
            </c:spPr>
          </c:dPt>
          <c:dPt>
            <c:idx val="3"/>
            <c:bubble3D val="0"/>
            <c:spPr>
              <a:solidFill>
                <a:srgbClr val="7030A0"/>
              </a:solidFill>
            </c:spPr>
          </c:dPt>
          <c:dPt>
            <c:idx val="4"/>
            <c:bubble3D val="0"/>
            <c:spPr>
              <a:solidFill>
                <a:srgbClr val="FFFF00"/>
              </a:solidFill>
            </c:spPr>
          </c:dPt>
          <c:dLbls>
            <c:spPr>
              <a:noFill/>
              <a:ln>
                <a:noFill/>
              </a:ln>
              <a:effectLst/>
            </c:spPr>
            <c:showLegendKey val="0"/>
            <c:showVal val="0"/>
            <c:showCatName val="0"/>
            <c:showSerName val="0"/>
            <c:showPercent val="1"/>
            <c:showBubbleSize val="0"/>
            <c:showLeaderLines val="1"/>
            <c:extLst>
              <c:ext xmlns:c15="http://schemas.microsoft.com/office/drawing/2012/chart" uri="{CE6537A1-D6FC-4f65-9D91-7224C49458BB}">
                <c15:layout/>
              </c:ext>
            </c:extLst>
          </c:dLbls>
          <c:cat>
            <c:strRef>
              <c:f>Plan1!$A$29:$A$33</c:f>
              <c:strCache>
                <c:ptCount val="5"/>
                <c:pt idx="0">
                  <c:v>Consultoria financeira e econômica</c:v>
                </c:pt>
                <c:pt idx="1">
                  <c:v>Mais cursos e treinamentos.</c:v>
                </c:pt>
                <c:pt idx="2">
                  <c:v>Promover encontros entre os associados.</c:v>
                </c:pt>
                <c:pt idx="3">
                  <c:v>Mais divulgação dos serviços dos associados e parcerias.</c:v>
                </c:pt>
                <c:pt idx="4">
                  <c:v>Não responderam.</c:v>
                </c:pt>
              </c:strCache>
            </c:strRef>
          </c:cat>
          <c:val>
            <c:numRef>
              <c:f>Plan1!$B$29:$B$33</c:f>
              <c:numCache>
                <c:formatCode>0%</c:formatCode>
                <c:ptCount val="5"/>
                <c:pt idx="0">
                  <c:v>0.22</c:v>
                </c:pt>
                <c:pt idx="1">
                  <c:v>0.26</c:v>
                </c:pt>
                <c:pt idx="2">
                  <c:v>0.17</c:v>
                </c:pt>
                <c:pt idx="3">
                  <c:v>0.22</c:v>
                </c:pt>
                <c:pt idx="4">
                  <c:v>0.13</c:v>
                </c:pt>
              </c:numCache>
            </c:numRef>
          </c:val>
        </c:ser>
        <c:dLbls>
          <c:showLegendKey val="0"/>
          <c:showVal val="0"/>
          <c:showCatName val="0"/>
          <c:showSerName val="0"/>
          <c:showPercent val="1"/>
          <c:showBubbleSize val="0"/>
          <c:showLeaderLines val="1"/>
        </c:dLbls>
      </c:pie3DChart>
    </c:plotArea>
    <c:legend>
      <c:legendPos val="r"/>
      <c:layout>
        <c:manualLayout>
          <c:xMode val="edge"/>
          <c:yMode val="edge"/>
          <c:x val="0.6023223818709309"/>
          <c:y val="9.1613866684195341E-2"/>
          <c:w val="0.39115965931414443"/>
          <c:h val="0.81596197951596749"/>
        </c:manualLayout>
      </c:layout>
      <c:overlay val="0"/>
    </c:legend>
    <c:plotVisOnly val="1"/>
    <c:dispBlanksAs val="gap"/>
    <c:showDLblsOverMax val="0"/>
  </c:chart>
  <c:txPr>
    <a:bodyPr/>
    <a:lstStyle/>
    <a:p>
      <a:pPr>
        <a:defRPr sz="1500">
          <a:solidFill>
            <a:schemeClr val="bg1"/>
          </a:solidFill>
          <a:latin typeface="Arial Black" panose="020B0A04020102020204" pitchFamily="34" charset="0"/>
        </a:defRPr>
      </a:pPr>
      <a:endParaRPr lang="pt-BR"/>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0"/>
      <c:rAngAx val="0"/>
    </c:view3D>
    <c:floor>
      <c:thickness val="0"/>
    </c:floor>
    <c:sideWall>
      <c:thickness val="0"/>
    </c:sideWall>
    <c:backWall>
      <c:thickness val="0"/>
    </c:backWall>
    <c:plotArea>
      <c:layout/>
      <c:pie3DChart>
        <c:varyColors val="1"/>
        <c:ser>
          <c:idx val="0"/>
          <c:order val="0"/>
          <c:dPt>
            <c:idx val="0"/>
            <c:bubble3D val="0"/>
            <c:explosion val="7"/>
            <c:spPr>
              <a:solidFill>
                <a:srgbClr val="002060"/>
              </a:solidFill>
            </c:spPr>
          </c:dPt>
          <c:dPt>
            <c:idx val="1"/>
            <c:bubble3D val="0"/>
            <c:spPr>
              <a:solidFill>
                <a:srgbClr val="FF0000"/>
              </a:solidFill>
            </c:spPr>
          </c:dPt>
          <c:dLbls>
            <c:spPr>
              <a:noFill/>
              <a:ln>
                <a:noFill/>
              </a:ln>
              <a:effectLst/>
            </c:spPr>
            <c:showLegendKey val="0"/>
            <c:showVal val="0"/>
            <c:showCatName val="0"/>
            <c:showSerName val="0"/>
            <c:showPercent val="1"/>
            <c:showBubbleSize val="0"/>
            <c:showLeaderLines val="1"/>
            <c:extLst>
              <c:ext xmlns:c15="http://schemas.microsoft.com/office/drawing/2012/chart" uri="{CE6537A1-D6FC-4f65-9D91-7224C49458BB}">
                <c15:layout/>
              </c:ext>
            </c:extLst>
          </c:dLbls>
          <c:cat>
            <c:strRef>
              <c:f>Plan1!$A$37:$A$38</c:f>
              <c:strCache>
                <c:ptCount val="2"/>
                <c:pt idx="0">
                  <c:v>SIM</c:v>
                </c:pt>
                <c:pt idx="1">
                  <c:v>NÃO</c:v>
                </c:pt>
              </c:strCache>
            </c:strRef>
          </c:cat>
          <c:val>
            <c:numRef>
              <c:f>Plan1!$B$37:$B$38</c:f>
              <c:numCache>
                <c:formatCode>0%</c:formatCode>
                <c:ptCount val="2"/>
                <c:pt idx="0">
                  <c:v>0.95000000000000029</c:v>
                </c:pt>
                <c:pt idx="1">
                  <c:v>0.05</c:v>
                </c:pt>
              </c:numCache>
            </c:numRef>
          </c:val>
        </c:ser>
        <c:dLbls>
          <c:showLegendKey val="0"/>
          <c:showVal val="0"/>
          <c:showCatName val="0"/>
          <c:showSerName val="0"/>
          <c:showPercent val="1"/>
          <c:showBubbleSize val="0"/>
          <c:showLeaderLines val="1"/>
        </c:dLbls>
      </c:pie3DChart>
    </c:plotArea>
    <c:legend>
      <c:legendPos val="r"/>
      <c:layout/>
      <c:overlay val="0"/>
    </c:legend>
    <c:plotVisOnly val="1"/>
    <c:dispBlanksAs val="gap"/>
    <c:showDLblsOverMax val="0"/>
  </c:chart>
  <c:txPr>
    <a:bodyPr/>
    <a:lstStyle/>
    <a:p>
      <a:pPr>
        <a:defRPr sz="1500">
          <a:solidFill>
            <a:schemeClr val="bg1"/>
          </a:solidFill>
          <a:latin typeface="Arial Black" panose="020B0A04020102020204" pitchFamily="34" charset="0"/>
        </a:defRPr>
      </a:pPr>
      <a:endParaRPr lang="pt-BR"/>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531D49C-A2F9-4585-AB4D-28CD93E789B2}" type="datetimeFigureOut">
              <a:rPr lang="pt-BR" smtClean="0"/>
              <a:t>25/07/2016</a:t>
            </a:fld>
            <a:endParaRPr lang="pt-BR"/>
          </a:p>
        </p:txBody>
      </p:sp>
      <p:sp>
        <p:nvSpPr>
          <p:cNvPr id="4" name="Espaço Reservado para Rodapé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C38A05-6BF0-49C5-92CA-CBE7436DD644}" type="slidenum">
              <a:rPr lang="pt-BR" smtClean="0"/>
              <a:t>‹nº›</a:t>
            </a:fld>
            <a:endParaRPr lang="pt-BR"/>
          </a:p>
        </p:txBody>
      </p:sp>
    </p:spTree>
    <p:extLst>
      <p:ext uri="{BB962C8B-B14F-4D97-AF65-F5344CB8AC3E}">
        <p14:creationId xmlns:p14="http://schemas.microsoft.com/office/powerpoint/2010/main" val="4031118752"/>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pt-BR" smtClean="0"/>
              <a:t>Clique para editar o título mestre</a:t>
            </a:r>
            <a:endParaRPr lang="pt-B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smtClean="0"/>
              <a:t>Clique para editar o estilo do subtítulo mestre</a:t>
            </a:r>
            <a:endParaRPr lang="pt-BR"/>
          </a:p>
        </p:txBody>
      </p:sp>
      <p:sp>
        <p:nvSpPr>
          <p:cNvPr id="4" name="Espaço Reservado para Data 3"/>
          <p:cNvSpPr>
            <a:spLocks noGrp="1"/>
          </p:cNvSpPr>
          <p:nvPr>
            <p:ph type="dt" sz="half" idx="10"/>
          </p:nvPr>
        </p:nvSpPr>
        <p:spPr/>
        <p:txBody>
          <a:bodyPr/>
          <a:lstStyle/>
          <a:p>
            <a:fld id="{87E08519-A04B-44F7-A8D0-53CF20A0655F}" type="datetimeFigureOut">
              <a:rPr lang="pt-BR" smtClean="0"/>
              <a:t>25/07/2016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C127598F-C6E4-4930-9459-08C42DAC7C4C}" type="slidenum">
              <a:rPr lang="pt-BR" smtClean="0"/>
              <a:t>‹nº›</a:t>
            </a:fld>
            <a:endParaRPr lang="pt-BR"/>
          </a:p>
        </p:txBody>
      </p:sp>
    </p:spTree>
    <p:extLst>
      <p:ext uri="{BB962C8B-B14F-4D97-AF65-F5344CB8AC3E}">
        <p14:creationId xmlns:p14="http://schemas.microsoft.com/office/powerpoint/2010/main" val="258291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idx="1"/>
          </p:nvPr>
        </p:nvSpPr>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87E08519-A04B-44F7-A8D0-53CF20A0655F}" type="datetimeFigureOut">
              <a:rPr lang="pt-BR" smtClean="0"/>
              <a:t>25/07/2016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C127598F-C6E4-4930-9459-08C42DAC7C4C}" type="slidenum">
              <a:rPr lang="pt-BR" smtClean="0"/>
              <a:t>‹nº›</a:t>
            </a:fld>
            <a:endParaRPr lang="pt-BR"/>
          </a:p>
        </p:txBody>
      </p:sp>
    </p:spTree>
    <p:extLst>
      <p:ext uri="{BB962C8B-B14F-4D97-AF65-F5344CB8AC3E}">
        <p14:creationId xmlns:p14="http://schemas.microsoft.com/office/powerpoint/2010/main" val="33360507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pt-BR" smtClean="0"/>
              <a:t>Clique para editar o título mestre</a:t>
            </a:r>
            <a:endParaRPr lang="pt-BR"/>
          </a:p>
        </p:txBody>
      </p:sp>
      <p:sp>
        <p:nvSpPr>
          <p:cNvPr id="3" name="Espaço Reservado para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smtClean="0"/>
              <a:t>Clique para editar o texto mestre</a:t>
            </a:r>
          </a:p>
        </p:txBody>
      </p:sp>
      <p:sp>
        <p:nvSpPr>
          <p:cNvPr id="4" name="Espaço Reservado para Data 3"/>
          <p:cNvSpPr>
            <a:spLocks noGrp="1"/>
          </p:cNvSpPr>
          <p:nvPr>
            <p:ph type="dt" sz="half" idx="10"/>
          </p:nvPr>
        </p:nvSpPr>
        <p:spPr/>
        <p:txBody>
          <a:bodyPr/>
          <a:lstStyle/>
          <a:p>
            <a:fld id="{87E08519-A04B-44F7-A8D0-53CF20A0655F}" type="datetimeFigureOut">
              <a:rPr lang="pt-BR" smtClean="0"/>
              <a:t>25/07/2016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C127598F-C6E4-4930-9459-08C42DAC7C4C}" type="slidenum">
              <a:rPr lang="pt-BR" smtClean="0"/>
              <a:t>‹nº›</a:t>
            </a:fld>
            <a:endParaRPr lang="pt-BR"/>
          </a:p>
        </p:txBody>
      </p:sp>
    </p:spTree>
    <p:extLst>
      <p:ext uri="{BB962C8B-B14F-4D97-AF65-F5344CB8AC3E}">
        <p14:creationId xmlns:p14="http://schemas.microsoft.com/office/powerpoint/2010/main" val="15637648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sz="half" idx="1"/>
          </p:nvPr>
        </p:nvSpPr>
        <p:spPr>
          <a:xfrm>
            <a:off x="838200" y="1825625"/>
            <a:ext cx="5181600" cy="435133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Conteúdo 3"/>
          <p:cNvSpPr>
            <a:spLocks noGrp="1"/>
          </p:cNvSpPr>
          <p:nvPr>
            <p:ph sz="half" idx="2"/>
          </p:nvPr>
        </p:nvSpPr>
        <p:spPr>
          <a:xfrm>
            <a:off x="6172200" y="1825625"/>
            <a:ext cx="5181600" cy="435133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Data 4"/>
          <p:cNvSpPr>
            <a:spLocks noGrp="1"/>
          </p:cNvSpPr>
          <p:nvPr>
            <p:ph type="dt" sz="half" idx="10"/>
          </p:nvPr>
        </p:nvSpPr>
        <p:spPr/>
        <p:txBody>
          <a:bodyPr/>
          <a:lstStyle/>
          <a:p>
            <a:fld id="{87E08519-A04B-44F7-A8D0-53CF20A0655F}" type="datetimeFigureOut">
              <a:rPr lang="pt-BR" smtClean="0"/>
              <a:t>25/07/2016</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C127598F-C6E4-4930-9459-08C42DAC7C4C}" type="slidenum">
              <a:rPr lang="pt-BR" smtClean="0"/>
              <a:t>‹nº›</a:t>
            </a:fld>
            <a:endParaRPr lang="pt-BR"/>
          </a:p>
        </p:txBody>
      </p:sp>
    </p:spTree>
    <p:extLst>
      <p:ext uri="{BB962C8B-B14F-4D97-AF65-F5344CB8AC3E}">
        <p14:creationId xmlns:p14="http://schemas.microsoft.com/office/powerpoint/2010/main" val="3997664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pt-BR" smtClean="0"/>
              <a:t>Clique para editar o título mestre</a:t>
            </a:r>
            <a:endParaRPr lang="pt-BR"/>
          </a:p>
        </p:txBody>
      </p:sp>
      <p:sp>
        <p:nvSpPr>
          <p:cNvPr id="3" name="Espaço Reservado para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4" name="Espaço Reservado para Conteúdo 3"/>
          <p:cNvSpPr>
            <a:spLocks noGrp="1"/>
          </p:cNvSpPr>
          <p:nvPr>
            <p:ph sz="half" idx="2"/>
          </p:nvPr>
        </p:nvSpPr>
        <p:spPr>
          <a:xfrm>
            <a:off x="839788" y="2505075"/>
            <a:ext cx="5157787" cy="368458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6" name="Espaço Reservado para Conteúdo 5"/>
          <p:cNvSpPr>
            <a:spLocks noGrp="1"/>
          </p:cNvSpPr>
          <p:nvPr>
            <p:ph sz="quarter" idx="4"/>
          </p:nvPr>
        </p:nvSpPr>
        <p:spPr>
          <a:xfrm>
            <a:off x="6172200" y="2505075"/>
            <a:ext cx="5183188" cy="368458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7" name="Espaço Reservado para Data 6"/>
          <p:cNvSpPr>
            <a:spLocks noGrp="1"/>
          </p:cNvSpPr>
          <p:nvPr>
            <p:ph type="dt" sz="half" idx="10"/>
          </p:nvPr>
        </p:nvSpPr>
        <p:spPr/>
        <p:txBody>
          <a:bodyPr/>
          <a:lstStyle/>
          <a:p>
            <a:fld id="{87E08519-A04B-44F7-A8D0-53CF20A0655F}" type="datetimeFigureOut">
              <a:rPr lang="pt-BR" smtClean="0"/>
              <a:t>25/07/2016</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C127598F-C6E4-4930-9459-08C42DAC7C4C}" type="slidenum">
              <a:rPr lang="pt-BR" smtClean="0"/>
              <a:t>‹nº›</a:t>
            </a:fld>
            <a:endParaRPr lang="pt-BR"/>
          </a:p>
        </p:txBody>
      </p:sp>
    </p:spTree>
    <p:extLst>
      <p:ext uri="{BB962C8B-B14F-4D97-AF65-F5344CB8AC3E}">
        <p14:creationId xmlns:p14="http://schemas.microsoft.com/office/powerpoint/2010/main" val="1995050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Data 2"/>
          <p:cNvSpPr>
            <a:spLocks noGrp="1"/>
          </p:cNvSpPr>
          <p:nvPr>
            <p:ph type="dt" sz="half" idx="10"/>
          </p:nvPr>
        </p:nvSpPr>
        <p:spPr/>
        <p:txBody>
          <a:bodyPr/>
          <a:lstStyle/>
          <a:p>
            <a:fld id="{87E08519-A04B-44F7-A8D0-53CF20A0655F}" type="datetimeFigureOut">
              <a:rPr lang="pt-BR" smtClean="0"/>
              <a:t>25/07/2016</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C127598F-C6E4-4930-9459-08C42DAC7C4C}" type="slidenum">
              <a:rPr lang="pt-BR" smtClean="0"/>
              <a:t>‹nº›</a:t>
            </a:fld>
            <a:endParaRPr lang="pt-BR"/>
          </a:p>
        </p:txBody>
      </p:sp>
    </p:spTree>
    <p:extLst>
      <p:ext uri="{BB962C8B-B14F-4D97-AF65-F5344CB8AC3E}">
        <p14:creationId xmlns:p14="http://schemas.microsoft.com/office/powerpoint/2010/main" val="14406422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87E08519-A04B-44F7-A8D0-53CF20A0655F}" type="datetimeFigureOut">
              <a:rPr lang="pt-BR" smtClean="0"/>
              <a:t>25/07/2016</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C127598F-C6E4-4930-9459-08C42DAC7C4C}" type="slidenum">
              <a:rPr lang="pt-BR" smtClean="0"/>
              <a:t>‹nº›</a:t>
            </a:fld>
            <a:endParaRPr lang="pt-BR"/>
          </a:p>
        </p:txBody>
      </p:sp>
    </p:spTree>
    <p:extLst>
      <p:ext uri="{BB962C8B-B14F-4D97-AF65-F5344CB8AC3E}">
        <p14:creationId xmlns:p14="http://schemas.microsoft.com/office/powerpoint/2010/main" val="10637486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smtClean="0"/>
              <a:t>Clique para editar o título mestre</a:t>
            </a:r>
            <a:endParaRPr lang="pt-BR"/>
          </a:p>
        </p:txBody>
      </p:sp>
      <p:sp>
        <p:nvSpPr>
          <p:cNvPr id="3" name="Espaço Reservado para Conteú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87E08519-A04B-44F7-A8D0-53CF20A0655F}" type="datetimeFigureOut">
              <a:rPr lang="pt-BR" smtClean="0"/>
              <a:t>25/07/2016</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C127598F-C6E4-4930-9459-08C42DAC7C4C}" type="slidenum">
              <a:rPr lang="pt-BR" smtClean="0"/>
              <a:t>‹nº›</a:t>
            </a:fld>
            <a:endParaRPr lang="pt-BR"/>
          </a:p>
        </p:txBody>
      </p:sp>
    </p:spTree>
    <p:extLst>
      <p:ext uri="{BB962C8B-B14F-4D97-AF65-F5344CB8AC3E}">
        <p14:creationId xmlns:p14="http://schemas.microsoft.com/office/powerpoint/2010/main" val="374523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smtClean="0"/>
              <a:t>Clique para editar o título mestre</a:t>
            </a:r>
            <a:endParaRPr lang="pt-BR"/>
          </a:p>
        </p:txBody>
      </p:sp>
      <p:sp>
        <p:nvSpPr>
          <p:cNvPr id="3" name="Espaço Reservado para Imagem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87E08519-A04B-44F7-A8D0-53CF20A0655F}" type="datetimeFigureOut">
              <a:rPr lang="pt-BR" smtClean="0"/>
              <a:t>25/07/2016</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C127598F-C6E4-4930-9459-08C42DAC7C4C}" type="slidenum">
              <a:rPr lang="pt-BR" smtClean="0"/>
              <a:t>‹nº›</a:t>
            </a:fld>
            <a:endParaRPr lang="pt-BR"/>
          </a:p>
        </p:txBody>
      </p:sp>
    </p:spTree>
    <p:extLst>
      <p:ext uri="{BB962C8B-B14F-4D97-AF65-F5344CB8AC3E}">
        <p14:creationId xmlns:p14="http://schemas.microsoft.com/office/powerpoint/2010/main" val="2040243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Texto Vertical 2"/>
          <p:cNvSpPr>
            <a:spLocks noGrp="1"/>
          </p:cNvSpPr>
          <p:nvPr>
            <p:ph type="body" orient="vert" idx="1"/>
          </p:nvPr>
        </p:nvSpPr>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87E08519-A04B-44F7-A8D0-53CF20A0655F}" type="datetimeFigureOut">
              <a:rPr lang="pt-BR" smtClean="0"/>
              <a:t>25/07/2016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C127598F-C6E4-4930-9459-08C42DAC7C4C}" type="slidenum">
              <a:rPr lang="pt-BR" smtClean="0"/>
              <a:t>‹nº›</a:t>
            </a:fld>
            <a:endParaRPr lang="pt-BR"/>
          </a:p>
        </p:txBody>
      </p:sp>
    </p:spTree>
    <p:extLst>
      <p:ext uri="{BB962C8B-B14F-4D97-AF65-F5344CB8AC3E}">
        <p14:creationId xmlns:p14="http://schemas.microsoft.com/office/powerpoint/2010/main" val="2384203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pt-BR" smtClean="0"/>
              <a:t>Clique para editar o título mestre</a:t>
            </a:r>
            <a:endParaRPr lang="pt-BR"/>
          </a:p>
        </p:txBody>
      </p:sp>
      <p:sp>
        <p:nvSpPr>
          <p:cNvPr id="3" name="Espaço Reservado para Texto Vertical 2"/>
          <p:cNvSpPr>
            <a:spLocks noGrp="1"/>
          </p:cNvSpPr>
          <p:nvPr>
            <p:ph type="body" orient="vert" idx="1"/>
          </p:nvPr>
        </p:nvSpPr>
        <p:spPr>
          <a:xfrm>
            <a:off x="838200" y="365125"/>
            <a:ext cx="7734300" cy="5811838"/>
          </a:xfrm>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87E08519-A04B-44F7-A8D0-53CF20A0655F}" type="datetimeFigureOut">
              <a:rPr lang="pt-BR" smtClean="0"/>
              <a:t>25/07/2016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C127598F-C6E4-4930-9459-08C42DAC7C4C}" type="slidenum">
              <a:rPr lang="pt-BR" smtClean="0"/>
              <a:t>‹nº›</a:t>
            </a:fld>
            <a:endParaRPr lang="pt-BR"/>
          </a:p>
        </p:txBody>
      </p:sp>
    </p:spTree>
    <p:extLst>
      <p:ext uri="{BB962C8B-B14F-4D97-AF65-F5344CB8AC3E}">
        <p14:creationId xmlns:p14="http://schemas.microsoft.com/office/powerpoint/2010/main" val="17356490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smtClean="0"/>
              <a:t>Clique para editar o título mestre</a:t>
            </a:r>
            <a:endParaRPr lang="pt-BR"/>
          </a:p>
        </p:txBody>
      </p:sp>
      <p:sp>
        <p:nvSpPr>
          <p:cNvPr id="3" name="Espaço Reservado para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E08519-A04B-44F7-A8D0-53CF20A0655F}" type="datetimeFigureOut">
              <a:rPr lang="pt-BR" smtClean="0"/>
              <a:t>25/07/2016</a:t>
            </a:fld>
            <a:endParaRPr lang="pt-BR"/>
          </a:p>
        </p:txBody>
      </p:sp>
      <p:sp>
        <p:nvSpPr>
          <p:cNvPr id="5" name="Espaço Reservado para Rodapé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27598F-C6E4-4930-9459-08C42DAC7C4C}" type="slidenum">
              <a:rPr lang="pt-BR" smtClean="0"/>
              <a:t>‹nº›</a:t>
            </a:fld>
            <a:endParaRPr lang="pt-BR"/>
          </a:p>
        </p:txBody>
      </p:sp>
    </p:spTree>
    <p:extLst>
      <p:ext uri="{BB962C8B-B14F-4D97-AF65-F5344CB8AC3E}">
        <p14:creationId xmlns:p14="http://schemas.microsoft.com/office/powerpoint/2010/main" val="14924698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6.jpg"/><Relationship Id="rId4" Type="http://schemas.openxmlformats.org/officeDocument/2006/relationships/image" Target="../media/image5.jpg"/></Relationships>
</file>

<file path=ppt/slides/_rels/slide1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jpg"/></Relationships>
</file>

<file path=ppt/slides/_rels/slide18.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13.jp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2.jpg"/><Relationship Id="rId5" Type="http://schemas.openxmlformats.org/officeDocument/2006/relationships/image" Target="../media/image11.jpeg"/><Relationship Id="rId4" Type="http://schemas.openxmlformats.org/officeDocument/2006/relationships/image" Target="../media/image10.jpeg"/></Relationships>
</file>

<file path=ppt/slides/_rels/slide1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8.jpeg"/><Relationship Id="rId4" Type="http://schemas.openxmlformats.org/officeDocument/2006/relationships/image" Target="../media/image17.jpeg"/></Relationships>
</file>

<file path=ppt/slides/_rels/slide2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1.jpg"/><Relationship Id="rId4" Type="http://schemas.openxmlformats.org/officeDocument/2006/relationships/image" Target="../media/image20.jpg"/></Relationships>
</file>

<file path=ppt/slides/_rels/slide2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jpeg"/></Relationships>
</file>

<file path=ppt/slides/_rels/slide2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8.jpeg"/></Relationships>
</file>

<file path=ppt/slides/_rels/slide2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5.jpeg"/></Relationships>
</file>

<file path=ppt/slides/_rels/slide3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8.jpeg"/><Relationship Id="rId4" Type="http://schemas.openxmlformats.org/officeDocument/2006/relationships/image" Target="../media/image37.jpeg"/></Relationships>
</file>

<file path=ppt/slides/_rels/slide34.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8.jpeg"/><Relationship Id="rId4" Type="http://schemas.openxmlformats.org/officeDocument/2006/relationships/image" Target="../media/image47.jpeg"/></Relationships>
</file>

<file path=ppt/slides/_rels/slide44.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51.jpg"/></Relationships>
</file>

<file path=ppt/slides/_rels/slide46.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54.png"/></Relationships>
</file>

<file path=ppt/slides/_rels/slide48.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56.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60.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0" y="373"/>
            <a:ext cx="12192000" cy="6858000"/>
          </a:xfrm>
          <a:prstGeom prst="flowChartPunchedCard">
            <a:avLst/>
          </a:prstGeom>
          <a:solidFill>
            <a:srgbClr val="204F7A"/>
          </a:solidFill>
          <a:ln>
            <a:solidFill>
              <a:srgbClr val="204F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5" name="CaixaDeTexto 4"/>
          <p:cNvSpPr txBox="1"/>
          <p:nvPr/>
        </p:nvSpPr>
        <p:spPr>
          <a:xfrm>
            <a:off x="1081885" y="1446018"/>
            <a:ext cx="10315914" cy="3439403"/>
          </a:xfrm>
          <a:prstGeom prst="rect">
            <a:avLst/>
          </a:prstGeom>
          <a:noFill/>
        </p:spPr>
        <p:txBody>
          <a:bodyPr wrap="square" rtlCol="0">
            <a:spAutoFit/>
          </a:bodyPr>
          <a:lstStyle/>
          <a:p>
            <a:pPr algn="ctr">
              <a:lnSpc>
                <a:spcPct val="150000"/>
              </a:lnSpc>
            </a:pPr>
            <a:r>
              <a:rPr lang="pt-BR" sz="3600" dirty="0" smtClean="0">
                <a:solidFill>
                  <a:schemeClr val="bg1"/>
                </a:solidFill>
                <a:latin typeface="Arial Black" panose="020B0A04020102020204" pitchFamily="34" charset="0"/>
              </a:rPr>
              <a:t>ASSEMBLEIA ACIRV</a:t>
            </a:r>
          </a:p>
          <a:p>
            <a:pPr algn="ctr">
              <a:lnSpc>
                <a:spcPct val="150000"/>
              </a:lnSpc>
            </a:pPr>
            <a:endParaRPr lang="pt-BR" sz="2500" dirty="0">
              <a:solidFill>
                <a:schemeClr val="bg1"/>
              </a:solidFill>
              <a:latin typeface="Arial Black" panose="020B0A04020102020204" pitchFamily="34" charset="0"/>
            </a:endParaRPr>
          </a:p>
          <a:p>
            <a:pPr algn="ctr">
              <a:lnSpc>
                <a:spcPct val="150000"/>
              </a:lnSpc>
            </a:pPr>
            <a:r>
              <a:rPr lang="pt-BR" sz="3000" i="1" dirty="0" smtClean="0">
                <a:solidFill>
                  <a:schemeClr val="bg1"/>
                </a:solidFill>
                <a:latin typeface="Arial Black" panose="020B0A04020102020204" pitchFamily="34" charset="0"/>
              </a:rPr>
              <a:t>“ACIRV - A FORÇA DA REPRESENTATIVIDADE”</a:t>
            </a:r>
          </a:p>
          <a:p>
            <a:pPr algn="ctr">
              <a:lnSpc>
                <a:spcPct val="150000"/>
              </a:lnSpc>
            </a:pPr>
            <a:r>
              <a:rPr lang="pt-BR" i="1" dirty="0" smtClean="0">
                <a:solidFill>
                  <a:schemeClr val="bg1"/>
                </a:solidFill>
                <a:latin typeface="Arial Black" panose="020B0A04020102020204" pitchFamily="34" charset="0"/>
              </a:rPr>
              <a:t>Biênio 2015/17</a:t>
            </a:r>
          </a:p>
          <a:p>
            <a:pPr algn="ctr">
              <a:lnSpc>
                <a:spcPct val="150000"/>
              </a:lnSpc>
            </a:pPr>
            <a:endParaRPr lang="pt-BR" i="1" dirty="0">
              <a:solidFill>
                <a:schemeClr val="bg1"/>
              </a:solidFill>
              <a:latin typeface="Arial Black" panose="020B0A04020102020204" pitchFamily="34" charset="0"/>
            </a:endParaRPr>
          </a:p>
          <a:p>
            <a:pPr algn="ctr">
              <a:lnSpc>
                <a:spcPct val="150000"/>
              </a:lnSpc>
            </a:pPr>
            <a:r>
              <a:rPr lang="pt-BR" i="1" dirty="0" smtClean="0">
                <a:solidFill>
                  <a:schemeClr val="bg1"/>
                </a:solidFill>
                <a:latin typeface="Arial Black" panose="020B0A04020102020204" pitchFamily="34" charset="0"/>
              </a:rPr>
              <a:t>26 de julho de 2016</a:t>
            </a:r>
            <a:endParaRPr lang="pt-BR" i="1" dirty="0">
              <a:solidFill>
                <a:schemeClr val="bg1"/>
              </a:solidFill>
              <a:latin typeface="Arial Black" panose="020B0A04020102020204" pitchFamily="34" charset="0"/>
            </a:endParaRPr>
          </a:p>
        </p:txBody>
      </p:sp>
    </p:spTree>
    <p:extLst>
      <p:ext uri="{BB962C8B-B14F-4D97-AF65-F5344CB8AC3E}">
        <p14:creationId xmlns:p14="http://schemas.microsoft.com/office/powerpoint/2010/main" val="41189711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luxograma: Cartão 7"/>
          <p:cNvSpPr/>
          <p:nvPr/>
        </p:nvSpPr>
        <p:spPr>
          <a:xfrm>
            <a:off x="-5262" y="0"/>
            <a:ext cx="12192000" cy="6858000"/>
          </a:xfrm>
          <a:prstGeom prst="flowChartPunchedCard">
            <a:avLst/>
          </a:prstGeom>
          <a:solidFill>
            <a:srgbClr val="204F7A"/>
          </a:solidFill>
          <a:ln>
            <a:solidFill>
              <a:srgbClr val="0F253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3000" dirty="0">
              <a:solidFill>
                <a:srgbClr val="FF0000"/>
              </a:solidFill>
              <a:latin typeface="Arial Black" panose="020B0A04020102020204" pitchFamily="34" charset="0"/>
            </a:endParaRPr>
          </a:p>
        </p:txBody>
      </p:sp>
      <p:pic>
        <p:nvPicPr>
          <p:cNvPr id="9"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m 5"/>
          <p:cNvPicPr>
            <a:picLocks noChangeAspect="1"/>
          </p:cNvPicPr>
          <p:nvPr/>
        </p:nvPicPr>
        <p:blipFill rotWithShape="1">
          <a:blip r:embed="rId3" cstate="print">
            <a:extLst>
              <a:ext uri="{28A0092B-C50C-407E-A947-70E740481C1C}">
                <a14:useLocalDpi xmlns:a14="http://schemas.microsoft.com/office/drawing/2010/main" val="0"/>
              </a:ext>
            </a:extLst>
          </a:blip>
          <a:srcRect l="1954" t="20896" r="1732" b="13632"/>
          <a:stretch/>
        </p:blipFill>
        <p:spPr>
          <a:xfrm>
            <a:off x="100152" y="972871"/>
            <a:ext cx="12027453" cy="5834602"/>
          </a:xfrm>
          <a:prstGeom prst="roundRect">
            <a:avLst/>
          </a:prstGeom>
        </p:spPr>
      </p:pic>
      <p:sp>
        <p:nvSpPr>
          <p:cNvPr id="7" name="CaixaDeTexto 6"/>
          <p:cNvSpPr txBox="1"/>
          <p:nvPr/>
        </p:nvSpPr>
        <p:spPr>
          <a:xfrm>
            <a:off x="210764" y="7734"/>
            <a:ext cx="11770468" cy="1015663"/>
          </a:xfrm>
          <a:prstGeom prst="rect">
            <a:avLst/>
          </a:prstGeom>
          <a:noFill/>
        </p:spPr>
        <p:txBody>
          <a:bodyPr wrap="square" rtlCol="0">
            <a:spAutoFit/>
          </a:bodyPr>
          <a:lstStyle/>
          <a:p>
            <a:pPr algn="ctr"/>
            <a:r>
              <a:rPr lang="pt-BR" sz="3000" b="1" i="1" dirty="0" smtClean="0">
                <a:solidFill>
                  <a:srgbClr val="FFFF00"/>
                </a:solidFill>
                <a:latin typeface="Arial Black" panose="020B0A04020102020204" pitchFamily="34" charset="0"/>
              </a:rPr>
              <a:t>POSSE DIRETORIA </a:t>
            </a:r>
          </a:p>
          <a:p>
            <a:pPr algn="ctr"/>
            <a:r>
              <a:rPr lang="pt-BR" sz="3000" b="1" i="1" dirty="0" smtClean="0">
                <a:solidFill>
                  <a:srgbClr val="FFFF00"/>
                </a:solidFill>
                <a:latin typeface="Arial Black" panose="020B0A04020102020204" pitchFamily="34" charset="0"/>
              </a:rPr>
              <a:t>Biênio 2015/17</a:t>
            </a:r>
            <a:endParaRPr lang="pt-BR" sz="3000" b="1" i="1" dirty="0">
              <a:solidFill>
                <a:srgbClr val="FFFF00"/>
              </a:solidFill>
              <a:latin typeface="Arial Black" panose="020B0A04020102020204" pitchFamily="34" charset="0"/>
            </a:endParaRPr>
          </a:p>
        </p:txBody>
      </p:sp>
    </p:spTree>
    <p:extLst>
      <p:ext uri="{BB962C8B-B14F-4D97-AF65-F5344CB8AC3E}">
        <p14:creationId xmlns:p14="http://schemas.microsoft.com/office/powerpoint/2010/main" val="9502991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luxograma: Cartão 7"/>
          <p:cNvSpPr/>
          <p:nvPr/>
        </p:nvSpPr>
        <p:spPr>
          <a:xfrm>
            <a:off x="-5262" y="0"/>
            <a:ext cx="12192000" cy="6858000"/>
          </a:xfrm>
          <a:prstGeom prst="flowChartPunchedCard">
            <a:avLst/>
          </a:prstGeom>
          <a:solidFill>
            <a:srgbClr val="204F7A"/>
          </a:solidFill>
          <a:ln>
            <a:solidFill>
              <a:srgbClr val="0F253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3000" dirty="0">
              <a:solidFill>
                <a:srgbClr val="FF0000"/>
              </a:solidFill>
              <a:latin typeface="Arial Black" panose="020B0A04020102020204" pitchFamily="34" charset="0"/>
            </a:endParaRPr>
          </a:p>
        </p:txBody>
      </p:sp>
      <p:pic>
        <p:nvPicPr>
          <p:cNvPr id="9"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6" name="CaixaDeTexto 5"/>
          <p:cNvSpPr txBox="1"/>
          <p:nvPr/>
        </p:nvSpPr>
        <p:spPr>
          <a:xfrm>
            <a:off x="637249" y="84873"/>
            <a:ext cx="10165982" cy="553998"/>
          </a:xfrm>
          <a:prstGeom prst="rect">
            <a:avLst/>
          </a:prstGeom>
          <a:noFill/>
        </p:spPr>
        <p:txBody>
          <a:bodyPr wrap="square" rtlCol="0">
            <a:spAutoFit/>
          </a:bodyPr>
          <a:lstStyle/>
          <a:p>
            <a:pPr lvl="1" algn="ctr"/>
            <a:r>
              <a:rPr lang="pt-BR" sz="3000" i="1" dirty="0" smtClean="0">
                <a:solidFill>
                  <a:srgbClr val="FFFF00"/>
                </a:solidFill>
                <a:latin typeface="Arial Black" panose="020B0A04020102020204" pitchFamily="34" charset="0"/>
              </a:rPr>
              <a:t>OBJETIVOS DIRETORIA </a:t>
            </a:r>
            <a:endParaRPr lang="pt-BR" sz="3000" i="1" dirty="0">
              <a:solidFill>
                <a:srgbClr val="FFFF00"/>
              </a:solidFill>
              <a:latin typeface="Arial Black" panose="020B0A04020102020204" pitchFamily="34" charset="0"/>
            </a:endParaRPr>
          </a:p>
        </p:txBody>
      </p:sp>
      <p:sp>
        <p:nvSpPr>
          <p:cNvPr id="7" name="CaixaDeTexto 6"/>
          <p:cNvSpPr txBox="1"/>
          <p:nvPr/>
        </p:nvSpPr>
        <p:spPr>
          <a:xfrm>
            <a:off x="152913" y="979183"/>
            <a:ext cx="11886171" cy="5539978"/>
          </a:xfrm>
          <a:prstGeom prst="rect">
            <a:avLst/>
          </a:prstGeom>
          <a:noFill/>
        </p:spPr>
        <p:txBody>
          <a:bodyPr wrap="square" rtlCol="0">
            <a:spAutoFit/>
          </a:bodyPr>
          <a:lstStyle/>
          <a:p>
            <a:pPr marL="457200" indent="-457200" algn="just">
              <a:lnSpc>
                <a:spcPct val="150000"/>
              </a:lnSpc>
              <a:buClr>
                <a:srgbClr val="FFFF00"/>
              </a:buClr>
              <a:buFont typeface="Wingdings" panose="05000000000000000000" pitchFamily="2" charset="2"/>
              <a:buChar char="Ø"/>
            </a:pPr>
            <a:r>
              <a:rPr lang="pt-BR" sz="2700" b="1" dirty="0" smtClean="0">
                <a:solidFill>
                  <a:schemeClr val="bg1"/>
                </a:solidFill>
                <a:latin typeface="Arial" panose="020B0604020202020204" pitchFamily="34" charset="0"/>
                <a:cs typeface="Arial" panose="020B0604020202020204" pitchFamily="34" charset="0"/>
              </a:rPr>
              <a:t>Foco Administrativo – cunho </a:t>
            </a:r>
            <a:r>
              <a:rPr lang="pt-BR" sz="2700" b="1" i="1" dirty="0" smtClean="0">
                <a:solidFill>
                  <a:schemeClr val="bg1"/>
                </a:solidFill>
                <a:latin typeface="Arial" panose="020B0604020202020204" pitchFamily="34" charset="0"/>
                <a:cs typeface="Arial" panose="020B0604020202020204" pitchFamily="34" charset="0"/>
              </a:rPr>
              <a:t>INSTITUCIONAL, </a:t>
            </a:r>
            <a:r>
              <a:rPr lang="pt-BR" sz="2700" b="1" dirty="0" smtClean="0">
                <a:solidFill>
                  <a:schemeClr val="bg1"/>
                </a:solidFill>
                <a:latin typeface="Arial" panose="020B0604020202020204" pitchFamily="34" charset="0"/>
                <a:cs typeface="Arial" panose="020B0604020202020204" pitchFamily="34" charset="0"/>
              </a:rPr>
              <a:t>voltado para as </a:t>
            </a:r>
            <a:r>
              <a:rPr lang="pt-BR" sz="2700" b="1" dirty="0">
                <a:solidFill>
                  <a:schemeClr val="bg1"/>
                </a:solidFill>
                <a:latin typeface="Arial" panose="020B0604020202020204" pitchFamily="34" charset="0"/>
                <a:cs typeface="Arial" panose="020B0604020202020204" pitchFamily="34" charset="0"/>
              </a:rPr>
              <a:t>relações da ACIRV com seus associados, buscando atrair novos associados, desde </a:t>
            </a:r>
            <a:r>
              <a:rPr lang="pt-BR" sz="2700" b="1" dirty="0" smtClean="0">
                <a:solidFill>
                  <a:schemeClr val="bg1"/>
                </a:solidFill>
                <a:latin typeface="Arial" panose="020B0604020202020204" pitchFamily="34" charset="0"/>
                <a:cs typeface="Arial" panose="020B0604020202020204" pitchFamily="34" charset="0"/>
              </a:rPr>
              <a:t>micro, pequenos</a:t>
            </a:r>
            <a:r>
              <a:rPr lang="pt-BR" sz="2700" b="1" dirty="0">
                <a:solidFill>
                  <a:schemeClr val="bg1"/>
                </a:solidFill>
                <a:latin typeface="Arial" panose="020B0604020202020204" pitchFamily="34" charset="0"/>
                <a:cs typeface="Arial" panose="020B0604020202020204" pitchFamily="34" charset="0"/>
              </a:rPr>
              <a:t>, médios e grandes empresários, através de uma campanha de </a:t>
            </a:r>
            <a:r>
              <a:rPr lang="pt-BR" sz="2700" b="1" dirty="0" smtClean="0">
                <a:solidFill>
                  <a:schemeClr val="bg1"/>
                </a:solidFill>
                <a:latin typeface="Arial" panose="020B0604020202020204" pitchFamily="34" charset="0"/>
                <a:cs typeface="Arial" panose="020B0604020202020204" pitchFamily="34" charset="0"/>
              </a:rPr>
              <a:t>conscientização;</a:t>
            </a:r>
          </a:p>
          <a:p>
            <a:pPr algn="just">
              <a:lnSpc>
                <a:spcPct val="150000"/>
              </a:lnSpc>
              <a:buClr>
                <a:srgbClr val="FFFF00"/>
              </a:buClr>
            </a:pPr>
            <a:endParaRPr lang="pt-BR" sz="1000" b="1" dirty="0" smtClean="0">
              <a:solidFill>
                <a:schemeClr val="bg1"/>
              </a:solidFill>
              <a:latin typeface="Arial" panose="020B0604020202020204" pitchFamily="34" charset="0"/>
              <a:cs typeface="Arial" panose="020B0604020202020204" pitchFamily="34" charset="0"/>
            </a:endParaRPr>
          </a:p>
          <a:p>
            <a:pPr marL="457200" indent="-457200" algn="just">
              <a:lnSpc>
                <a:spcPct val="150000"/>
              </a:lnSpc>
              <a:buClr>
                <a:srgbClr val="FFFF00"/>
              </a:buClr>
              <a:buFont typeface="Wingdings" panose="05000000000000000000" pitchFamily="2" charset="2"/>
              <a:buChar char="Ø"/>
            </a:pPr>
            <a:r>
              <a:rPr lang="pt-BR" sz="2700" b="1" dirty="0" smtClean="0">
                <a:solidFill>
                  <a:schemeClr val="bg1"/>
                </a:solidFill>
                <a:latin typeface="Arial" panose="020B0604020202020204" pitchFamily="34" charset="0"/>
                <a:cs typeface="Arial" panose="020B0604020202020204" pitchFamily="34" charset="0"/>
              </a:rPr>
              <a:t>Melhoria da representatividade e dos serviços prestados </a:t>
            </a:r>
            <a:r>
              <a:rPr lang="pt-BR" sz="2700" b="1" dirty="0">
                <a:solidFill>
                  <a:schemeClr val="bg1"/>
                </a:solidFill>
                <a:latin typeface="Arial" panose="020B0604020202020204" pitchFamily="34" charset="0"/>
                <a:cs typeface="Arial" panose="020B0604020202020204" pitchFamily="34" charset="0"/>
              </a:rPr>
              <a:t>aos </a:t>
            </a:r>
            <a:r>
              <a:rPr lang="pt-BR" sz="2700" b="1" dirty="0" smtClean="0">
                <a:solidFill>
                  <a:schemeClr val="bg1"/>
                </a:solidFill>
                <a:latin typeface="Arial" panose="020B0604020202020204" pitchFamily="34" charset="0"/>
                <a:cs typeface="Arial" panose="020B0604020202020204" pitchFamily="34" charset="0"/>
              </a:rPr>
              <a:t>associados;</a:t>
            </a:r>
          </a:p>
          <a:p>
            <a:pPr algn="just">
              <a:lnSpc>
                <a:spcPct val="150000"/>
              </a:lnSpc>
              <a:buClr>
                <a:srgbClr val="FFFF00"/>
              </a:buClr>
            </a:pPr>
            <a:endParaRPr lang="pt-BR" sz="1000" b="1" dirty="0" smtClean="0">
              <a:solidFill>
                <a:schemeClr val="bg1"/>
              </a:solidFill>
              <a:latin typeface="Arial" panose="020B0604020202020204" pitchFamily="34" charset="0"/>
              <a:cs typeface="Arial" panose="020B0604020202020204" pitchFamily="34" charset="0"/>
            </a:endParaRPr>
          </a:p>
          <a:p>
            <a:pPr marL="457200" indent="-457200" algn="just">
              <a:lnSpc>
                <a:spcPct val="150000"/>
              </a:lnSpc>
              <a:buClr>
                <a:srgbClr val="FFFF00"/>
              </a:buClr>
              <a:buFont typeface="Wingdings" panose="05000000000000000000" pitchFamily="2" charset="2"/>
              <a:buChar char="Ø"/>
            </a:pPr>
            <a:r>
              <a:rPr lang="pt-BR" sz="2700" b="1" dirty="0" smtClean="0">
                <a:solidFill>
                  <a:schemeClr val="bg1"/>
                </a:solidFill>
                <a:latin typeface="Arial" panose="020B0604020202020204" pitchFamily="34" charset="0"/>
                <a:cs typeface="Arial" panose="020B0604020202020204" pitchFamily="34" charset="0"/>
              </a:rPr>
              <a:t>Novos </a:t>
            </a:r>
            <a:r>
              <a:rPr lang="pt-BR" sz="2700" b="1" dirty="0">
                <a:solidFill>
                  <a:schemeClr val="bg1"/>
                </a:solidFill>
                <a:latin typeface="Arial" panose="020B0604020202020204" pitchFamily="34" charset="0"/>
                <a:cs typeface="Arial" panose="020B0604020202020204" pitchFamily="34" charset="0"/>
              </a:rPr>
              <a:t>convênios, parcerias e integração com outras entidades, associações comerciais e poder </a:t>
            </a:r>
            <a:r>
              <a:rPr lang="pt-BR" sz="2700" b="1" dirty="0" smtClean="0">
                <a:solidFill>
                  <a:schemeClr val="bg1"/>
                </a:solidFill>
                <a:latin typeface="Arial" panose="020B0604020202020204" pitchFamily="34" charset="0"/>
                <a:cs typeface="Arial" panose="020B0604020202020204" pitchFamily="34" charset="0"/>
              </a:rPr>
              <a:t>público. </a:t>
            </a:r>
            <a:endParaRPr lang="pt-BR" sz="27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4589863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0" y="0"/>
            <a:ext cx="12192000" cy="6858000"/>
          </a:xfrm>
          <a:prstGeom prst="flowChartPunchedCard">
            <a:avLst/>
          </a:prstGeom>
          <a:solidFill>
            <a:srgbClr val="204F7A"/>
          </a:solidFill>
          <a:ln>
            <a:solidFill>
              <a:srgbClr val="204F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4" name="Retângulo 3"/>
          <p:cNvSpPr/>
          <p:nvPr/>
        </p:nvSpPr>
        <p:spPr>
          <a:xfrm>
            <a:off x="1493948" y="1430754"/>
            <a:ext cx="9568489" cy="4524315"/>
          </a:xfrm>
          <a:prstGeom prst="rect">
            <a:avLst/>
          </a:prstGeom>
          <a:ln w="76200">
            <a:solidFill>
              <a:schemeClr val="bg1"/>
            </a:solidFill>
          </a:ln>
        </p:spPr>
        <p:txBody>
          <a:bodyPr wrap="square">
            <a:spAutoFit/>
          </a:bodyPr>
          <a:lstStyle/>
          <a:p>
            <a:pPr algn="ctr">
              <a:lnSpc>
                <a:spcPct val="150000"/>
              </a:lnSpc>
            </a:pPr>
            <a:r>
              <a:rPr lang="pt-BR" sz="2700" b="1" i="1" u="sng" kern="0" dirty="0" smtClean="0">
                <a:solidFill>
                  <a:srgbClr val="FFFF00"/>
                </a:solidFill>
                <a:latin typeface="Arial Black" panose="020B0A04020102020204" pitchFamily="34" charset="0"/>
                <a:ea typeface="Times New Roman" panose="02020603050405020304" pitchFamily="18" charset="0"/>
                <a:cs typeface="Times New Roman" panose="02020603050405020304" pitchFamily="18" charset="0"/>
              </a:rPr>
              <a:t>MISSÃO</a:t>
            </a:r>
          </a:p>
          <a:p>
            <a:pPr algn="ctr">
              <a:lnSpc>
                <a:spcPct val="150000"/>
              </a:lnSpc>
            </a:pPr>
            <a:endParaRPr lang="pt-BR" sz="1500" b="1" i="1" u="sng" kern="0" dirty="0" smtClean="0">
              <a:solidFill>
                <a:schemeClr val="bg1"/>
              </a:solidFill>
              <a:latin typeface="Arial Black" panose="020B0A04020102020204" pitchFamily="34" charset="0"/>
              <a:ea typeface="Times New Roman" panose="02020603050405020304" pitchFamily="18" charset="0"/>
              <a:cs typeface="Times New Roman" panose="02020603050405020304" pitchFamily="18" charset="0"/>
            </a:endParaRPr>
          </a:p>
          <a:p>
            <a:pPr marL="457200" indent="-457200" algn="just">
              <a:lnSpc>
                <a:spcPct val="150000"/>
              </a:lnSpc>
              <a:buFont typeface="Wingdings" panose="05000000000000000000" pitchFamily="2" charset="2"/>
              <a:buChar char="Ø"/>
            </a:pPr>
            <a:r>
              <a:rPr lang="pt-BR" sz="3000" dirty="0" smtClean="0">
                <a:solidFill>
                  <a:schemeClr val="bg1"/>
                </a:solidFill>
                <a:latin typeface="Arial Black" panose="020B0A04020102020204" pitchFamily="34" charset="0"/>
                <a:ea typeface="Calibri" panose="020F0502020204030204" pitchFamily="34" charset="0"/>
                <a:cs typeface="Times New Roman" panose="02020603050405020304" pitchFamily="18" charset="0"/>
              </a:rPr>
              <a:t> </a:t>
            </a:r>
            <a:r>
              <a:rPr lang="pt-BR" sz="3000" dirty="0">
                <a:solidFill>
                  <a:schemeClr val="bg1"/>
                </a:solidFill>
                <a:latin typeface="Arial Black" panose="020B0A04020102020204" pitchFamily="34" charset="0"/>
                <a:ea typeface="Calibri" panose="020F0502020204030204" pitchFamily="34" charset="0"/>
                <a:cs typeface="Times New Roman" panose="02020603050405020304" pitchFamily="18" charset="0"/>
              </a:rPr>
              <a:t>Impulsionar  o desenvolvimento </a:t>
            </a:r>
            <a:r>
              <a:rPr lang="pt-BR" sz="3000" dirty="0" smtClean="0">
                <a:solidFill>
                  <a:schemeClr val="bg1"/>
                </a:solidFill>
                <a:latin typeface="Arial Black" panose="020B0A04020102020204" pitchFamily="34" charset="0"/>
                <a:ea typeface="Calibri" panose="020F0502020204030204" pitchFamily="34" charset="0"/>
                <a:cs typeface="Times New Roman" panose="02020603050405020304" pitchFamily="18" charset="0"/>
              </a:rPr>
              <a:t>social, político e </a:t>
            </a:r>
            <a:r>
              <a:rPr lang="pt-BR" sz="3000" dirty="0">
                <a:solidFill>
                  <a:schemeClr val="bg1"/>
                </a:solidFill>
                <a:latin typeface="Arial Black" panose="020B0A04020102020204" pitchFamily="34" charset="0"/>
                <a:ea typeface="Calibri" panose="020F0502020204030204" pitchFamily="34" charset="0"/>
                <a:cs typeface="Times New Roman" panose="02020603050405020304" pitchFamily="18" charset="0"/>
              </a:rPr>
              <a:t>econômico da </a:t>
            </a:r>
            <a:r>
              <a:rPr lang="pt-BR" sz="3000" dirty="0" smtClean="0">
                <a:solidFill>
                  <a:schemeClr val="bg1"/>
                </a:solidFill>
                <a:latin typeface="Arial Black" panose="020B0A04020102020204" pitchFamily="34" charset="0"/>
                <a:ea typeface="Calibri" panose="020F0502020204030204" pitchFamily="34" charset="0"/>
                <a:cs typeface="Times New Roman" panose="02020603050405020304" pitchFamily="18" charset="0"/>
              </a:rPr>
              <a:t>região, </a:t>
            </a:r>
            <a:r>
              <a:rPr lang="pt-BR" sz="3000" dirty="0">
                <a:solidFill>
                  <a:schemeClr val="bg1"/>
                </a:solidFill>
                <a:latin typeface="Arial Black" panose="020B0A04020102020204" pitchFamily="34" charset="0"/>
                <a:ea typeface="Calibri" panose="020F0502020204030204" pitchFamily="34" charset="0"/>
                <a:cs typeface="Times New Roman" panose="02020603050405020304" pitchFamily="18" charset="0"/>
              </a:rPr>
              <a:t>representando os interesses da classe empresarial em todos as esferas institucionais.</a:t>
            </a:r>
            <a:endParaRPr lang="pt-BR" sz="3000" dirty="0">
              <a:solidFill>
                <a:schemeClr val="bg1"/>
              </a:solidFill>
              <a:effectLst/>
              <a:latin typeface="Arial Black" panose="020B0A040201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976698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0" y="0"/>
            <a:ext cx="12192000" cy="6858000"/>
          </a:xfrm>
          <a:prstGeom prst="flowChartPunchedCard">
            <a:avLst/>
          </a:prstGeom>
          <a:solidFill>
            <a:srgbClr val="204F7A"/>
          </a:solidFill>
          <a:ln>
            <a:solidFill>
              <a:srgbClr val="204F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4" name="Retângulo 3"/>
          <p:cNvSpPr/>
          <p:nvPr/>
        </p:nvSpPr>
        <p:spPr>
          <a:xfrm>
            <a:off x="1571222" y="654263"/>
            <a:ext cx="10270965" cy="5760038"/>
          </a:xfrm>
          <a:prstGeom prst="rect">
            <a:avLst/>
          </a:prstGeom>
          <a:ln w="76200">
            <a:solidFill>
              <a:schemeClr val="bg1"/>
            </a:solidFill>
          </a:ln>
        </p:spPr>
        <p:txBody>
          <a:bodyPr wrap="square">
            <a:spAutoFit/>
          </a:bodyPr>
          <a:lstStyle/>
          <a:p>
            <a:pPr algn="ctr">
              <a:lnSpc>
                <a:spcPct val="115000"/>
              </a:lnSpc>
              <a:spcBef>
                <a:spcPts val="2400"/>
              </a:spcBef>
              <a:spcAft>
                <a:spcPts val="0"/>
              </a:spcAft>
            </a:pPr>
            <a:r>
              <a:rPr lang="pt-BR" sz="2700" b="1" i="1" u="sng" kern="0" dirty="0" smtClean="0">
                <a:solidFill>
                  <a:srgbClr val="FFFF00"/>
                </a:solidFill>
                <a:latin typeface="Arial Black" panose="020B0A04020102020204" pitchFamily="34" charset="0"/>
                <a:ea typeface="Times New Roman" panose="02020603050405020304" pitchFamily="18" charset="0"/>
                <a:cs typeface="Times New Roman" panose="02020603050405020304" pitchFamily="18" charset="0"/>
              </a:rPr>
              <a:t>VISÃO DE FUTURO DA  ACIRV  PARA  2016/2017</a:t>
            </a:r>
          </a:p>
          <a:p>
            <a:pPr algn="ctr">
              <a:lnSpc>
                <a:spcPct val="115000"/>
              </a:lnSpc>
              <a:spcBef>
                <a:spcPts val="2400"/>
              </a:spcBef>
              <a:spcAft>
                <a:spcPts val="0"/>
              </a:spcAft>
            </a:pPr>
            <a:endParaRPr lang="pt-BR" sz="1500" b="1" i="1" u="sng" kern="0" dirty="0">
              <a:solidFill>
                <a:schemeClr val="bg1"/>
              </a:solidFill>
              <a:latin typeface="Arial Black" panose="020B0A04020102020204" pitchFamily="34" charset="0"/>
              <a:ea typeface="Times New Roman" panose="02020603050405020304" pitchFamily="18" charset="0"/>
              <a:cs typeface="Times New Roman" panose="02020603050405020304" pitchFamily="18" charset="0"/>
            </a:endParaRPr>
          </a:p>
          <a:p>
            <a:pPr marL="457200" lvl="0" indent="-457200" algn="just">
              <a:lnSpc>
                <a:spcPct val="150000"/>
              </a:lnSpc>
              <a:buFont typeface="Wingdings" panose="05000000000000000000" pitchFamily="2" charset="2"/>
              <a:buChar char="Ø"/>
            </a:pPr>
            <a:r>
              <a:rPr lang="pt-BR" sz="2600" dirty="0" smtClean="0">
                <a:solidFill>
                  <a:schemeClr val="bg1"/>
                </a:solidFill>
                <a:latin typeface="Arial Black" panose="020B0A04020102020204" pitchFamily="34" charset="0"/>
                <a:ea typeface="Calibri" panose="020F0502020204030204" pitchFamily="34" charset="0"/>
                <a:cs typeface="Times New Roman" panose="02020603050405020304" pitchFamily="18" charset="0"/>
              </a:rPr>
              <a:t>Ser </a:t>
            </a:r>
            <a:r>
              <a:rPr lang="pt-BR" sz="2600" dirty="0">
                <a:solidFill>
                  <a:schemeClr val="bg1"/>
                </a:solidFill>
                <a:latin typeface="Arial Black" panose="020B0A04020102020204" pitchFamily="34" charset="0"/>
                <a:ea typeface="Calibri" panose="020F0502020204030204" pitchFamily="34" charset="0"/>
                <a:cs typeface="Times New Roman" panose="02020603050405020304" pitchFamily="18" charset="0"/>
              </a:rPr>
              <a:t>reconhecida, respeitada e admirada </a:t>
            </a:r>
            <a:r>
              <a:rPr lang="pt-BR" sz="2600" dirty="0" smtClean="0">
                <a:solidFill>
                  <a:schemeClr val="bg1"/>
                </a:solidFill>
                <a:latin typeface="Arial Black" panose="020B0A04020102020204" pitchFamily="34" charset="0"/>
                <a:ea typeface="Calibri" panose="020F0502020204030204" pitchFamily="34" charset="0"/>
                <a:cs typeface="Times New Roman" panose="02020603050405020304" pitchFamily="18" charset="0"/>
              </a:rPr>
              <a:t>como entidade </a:t>
            </a:r>
            <a:r>
              <a:rPr lang="pt-BR" sz="2600" dirty="0">
                <a:solidFill>
                  <a:schemeClr val="bg1"/>
                </a:solidFill>
                <a:latin typeface="Arial Black" panose="020B0A04020102020204" pitchFamily="34" charset="0"/>
                <a:ea typeface="Calibri" panose="020F0502020204030204" pitchFamily="34" charset="0"/>
                <a:cs typeface="Times New Roman" panose="02020603050405020304" pitchFamily="18" charset="0"/>
              </a:rPr>
              <a:t>que  r</a:t>
            </a:r>
            <a:r>
              <a:rPr lang="pt-BR" sz="2600" dirty="0" smtClean="0">
                <a:solidFill>
                  <a:schemeClr val="bg1"/>
                </a:solidFill>
                <a:latin typeface="Arial Black" panose="020B0A04020102020204" pitchFamily="34" charset="0"/>
                <a:ea typeface="Calibri" panose="020F0502020204030204" pitchFamily="34" charset="0"/>
                <a:cs typeface="Times New Roman" panose="02020603050405020304" pitchFamily="18" charset="0"/>
              </a:rPr>
              <a:t>epresenta os </a:t>
            </a:r>
            <a:r>
              <a:rPr lang="pt-BR" sz="2600" dirty="0">
                <a:solidFill>
                  <a:schemeClr val="bg1"/>
                </a:solidFill>
                <a:latin typeface="Arial Black" panose="020B0A04020102020204" pitchFamily="34" charset="0"/>
                <a:ea typeface="Calibri" panose="020F0502020204030204" pitchFamily="34" charset="0"/>
                <a:cs typeface="Times New Roman" panose="02020603050405020304" pitchFamily="18" charset="0"/>
              </a:rPr>
              <a:t>interesses </a:t>
            </a:r>
            <a:r>
              <a:rPr lang="pt-BR" sz="2600" dirty="0" smtClean="0">
                <a:solidFill>
                  <a:schemeClr val="bg1"/>
                </a:solidFill>
                <a:latin typeface="Arial Black" panose="020B0A04020102020204" pitchFamily="34" charset="0"/>
                <a:ea typeface="Calibri" panose="020F0502020204030204" pitchFamily="34" charset="0"/>
                <a:cs typeface="Times New Roman" panose="02020603050405020304" pitchFamily="18" charset="0"/>
              </a:rPr>
              <a:t>da classe empresarial em todas as esferas institucionais.</a:t>
            </a:r>
          </a:p>
          <a:p>
            <a:pPr marL="457200" lvl="0" indent="-457200" algn="just">
              <a:lnSpc>
                <a:spcPct val="150000"/>
              </a:lnSpc>
              <a:buFont typeface="Wingdings" panose="05000000000000000000" pitchFamily="2" charset="2"/>
              <a:buChar char="Ø"/>
            </a:pPr>
            <a:endParaRPr lang="pt-BR" sz="600" dirty="0" smtClean="0">
              <a:solidFill>
                <a:schemeClr val="bg1"/>
              </a:solidFill>
              <a:latin typeface="Arial Black" panose="020B0A04020102020204" pitchFamily="34" charset="0"/>
              <a:ea typeface="Calibri" panose="020F0502020204030204" pitchFamily="34" charset="0"/>
              <a:cs typeface="Times New Roman" panose="02020603050405020304" pitchFamily="18" charset="0"/>
            </a:endParaRPr>
          </a:p>
          <a:p>
            <a:pPr marL="457200" lvl="0" indent="-457200" algn="just">
              <a:lnSpc>
                <a:spcPct val="150000"/>
              </a:lnSpc>
              <a:buFont typeface="Wingdings" panose="05000000000000000000" pitchFamily="2" charset="2"/>
              <a:buChar char="Ø"/>
            </a:pPr>
            <a:endParaRPr lang="pt-BR" sz="600" dirty="0">
              <a:solidFill>
                <a:schemeClr val="bg1"/>
              </a:solidFill>
              <a:latin typeface="Arial Black" panose="020B0A04020102020204" pitchFamily="34" charset="0"/>
              <a:ea typeface="Calibri" panose="020F0502020204030204" pitchFamily="34" charset="0"/>
              <a:cs typeface="Times New Roman" panose="02020603050405020304" pitchFamily="18" charset="0"/>
            </a:endParaRPr>
          </a:p>
          <a:p>
            <a:pPr marL="457200" lvl="0" indent="-457200" algn="just">
              <a:lnSpc>
                <a:spcPct val="150000"/>
              </a:lnSpc>
              <a:buFont typeface="Wingdings" panose="05000000000000000000" pitchFamily="2" charset="2"/>
              <a:buChar char="Ø"/>
            </a:pPr>
            <a:r>
              <a:rPr lang="pt-BR" sz="2600" dirty="0">
                <a:solidFill>
                  <a:schemeClr val="bg1"/>
                </a:solidFill>
                <a:latin typeface="Arial Black" panose="020B0A04020102020204" pitchFamily="34" charset="0"/>
                <a:ea typeface="Calibri" panose="020F0502020204030204" pitchFamily="34" charset="0"/>
                <a:cs typeface="Times New Roman" panose="02020603050405020304" pitchFamily="18" charset="0"/>
              </a:rPr>
              <a:t>Ampliar o quadro de associados através das ações de ativação, prospecção e captação de novos associados</a:t>
            </a:r>
            <a:r>
              <a:rPr lang="pt-BR" sz="2600" dirty="0" smtClean="0">
                <a:solidFill>
                  <a:schemeClr val="bg1"/>
                </a:solidFill>
                <a:latin typeface="Arial Black" panose="020B0A04020102020204" pitchFamily="34" charset="0"/>
                <a:ea typeface="Calibri" panose="020F0502020204030204" pitchFamily="34" charset="0"/>
                <a:cs typeface="Times New Roman" panose="02020603050405020304" pitchFamily="18" charset="0"/>
              </a:rPr>
              <a:t>.</a:t>
            </a:r>
          </a:p>
          <a:p>
            <a:pPr marL="457200" lvl="0" indent="-457200" algn="just">
              <a:lnSpc>
                <a:spcPct val="150000"/>
              </a:lnSpc>
              <a:buFont typeface="Wingdings" panose="05000000000000000000" pitchFamily="2" charset="2"/>
              <a:buChar char="Ø"/>
            </a:pPr>
            <a:endParaRPr lang="pt-BR" sz="600" dirty="0">
              <a:solidFill>
                <a:schemeClr val="bg1"/>
              </a:solidFill>
              <a:latin typeface="Arial Black" panose="020B0A04020102020204" pitchFamily="34" charset="0"/>
              <a:ea typeface="Calibri" panose="020F0502020204030204" pitchFamily="34" charset="0"/>
              <a:cs typeface="Times New Roman" panose="02020603050405020304" pitchFamily="18" charset="0"/>
            </a:endParaRPr>
          </a:p>
          <a:p>
            <a:pPr marL="457200" lvl="0" indent="-457200" algn="just">
              <a:lnSpc>
                <a:spcPct val="150000"/>
              </a:lnSpc>
              <a:buFont typeface="Wingdings" panose="05000000000000000000" pitchFamily="2" charset="2"/>
              <a:buChar char="Ø"/>
            </a:pPr>
            <a:r>
              <a:rPr lang="pt-BR" sz="2600" dirty="0" smtClean="0">
                <a:solidFill>
                  <a:schemeClr val="bg1"/>
                </a:solidFill>
                <a:latin typeface="Arial Black" panose="020B0A04020102020204" pitchFamily="34" charset="0"/>
                <a:ea typeface="Calibri" panose="020F0502020204030204" pitchFamily="34" charset="0"/>
                <a:cs typeface="Times New Roman" panose="02020603050405020304" pitchFamily="18" charset="0"/>
              </a:rPr>
              <a:t>Se fortalecer financeiramente.</a:t>
            </a:r>
            <a:endParaRPr lang="pt-BR" sz="2600" dirty="0">
              <a:solidFill>
                <a:schemeClr val="bg1"/>
              </a:solidFill>
              <a:effectLst/>
              <a:latin typeface="Arial Black" panose="020B0A040201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32060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0" y="0"/>
            <a:ext cx="12192000" cy="6858000"/>
          </a:xfrm>
          <a:prstGeom prst="flowChartPunchedCard">
            <a:avLst/>
          </a:prstGeom>
          <a:solidFill>
            <a:srgbClr val="204F7A"/>
          </a:solidFill>
          <a:ln>
            <a:solidFill>
              <a:srgbClr val="204F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4" name="Retângulo 3"/>
          <p:cNvSpPr/>
          <p:nvPr/>
        </p:nvSpPr>
        <p:spPr>
          <a:xfrm>
            <a:off x="3254063" y="454295"/>
            <a:ext cx="7100553" cy="5816849"/>
          </a:xfrm>
          <a:prstGeom prst="rect">
            <a:avLst/>
          </a:prstGeom>
          <a:ln w="76200">
            <a:solidFill>
              <a:schemeClr val="bg1"/>
            </a:solidFill>
          </a:ln>
        </p:spPr>
        <p:txBody>
          <a:bodyPr wrap="square">
            <a:spAutoFit/>
          </a:bodyPr>
          <a:lstStyle/>
          <a:p>
            <a:pPr algn="ctr">
              <a:lnSpc>
                <a:spcPct val="115000"/>
              </a:lnSpc>
              <a:spcBef>
                <a:spcPts val="2400"/>
              </a:spcBef>
              <a:spcAft>
                <a:spcPts val="0"/>
              </a:spcAft>
            </a:pPr>
            <a:r>
              <a:rPr lang="pt-BR" sz="2700" b="1" i="1" u="sng" kern="0" dirty="0" smtClean="0">
                <a:solidFill>
                  <a:srgbClr val="FFFF00"/>
                </a:solidFill>
                <a:latin typeface="Arial Black" panose="020B0A04020102020204" pitchFamily="34" charset="0"/>
                <a:ea typeface="Times New Roman" panose="02020603050405020304" pitchFamily="18" charset="0"/>
                <a:cs typeface="Times New Roman" panose="02020603050405020304" pitchFamily="18" charset="0"/>
              </a:rPr>
              <a:t>VALORES DA ACIRV</a:t>
            </a:r>
          </a:p>
          <a:p>
            <a:pPr algn="ctr">
              <a:lnSpc>
                <a:spcPct val="115000"/>
              </a:lnSpc>
              <a:spcAft>
                <a:spcPts val="1000"/>
              </a:spcAft>
            </a:pPr>
            <a:r>
              <a:rPr lang="pt-BR" dirty="0">
                <a:latin typeface="Cambria" panose="02040503050406030204" pitchFamily="18" charset="0"/>
                <a:ea typeface="Calibri" panose="020F0502020204030204" pitchFamily="34" charset="0"/>
                <a:cs typeface="Times New Roman" panose="02020603050405020304" pitchFamily="18" charset="0"/>
              </a:rPr>
              <a:t> </a:t>
            </a:r>
            <a:endParaRPr lang="pt-BR"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0"/>
              </a:spcAft>
              <a:buFont typeface="Wingdings" panose="05000000000000000000" pitchFamily="2" charset="2"/>
              <a:buChar char="Ø"/>
            </a:pPr>
            <a:r>
              <a:rPr lang="pt-BR" sz="3000" dirty="0">
                <a:solidFill>
                  <a:schemeClr val="bg1"/>
                </a:solidFill>
                <a:latin typeface="Arial Black" panose="020B0A04020102020204" pitchFamily="34" charset="0"/>
                <a:ea typeface="Calibri" panose="020F0502020204030204" pitchFamily="34" charset="0"/>
                <a:cs typeface="Times New Roman" panose="02020603050405020304" pitchFamily="18" charset="0"/>
              </a:rPr>
              <a:t>Ética</a:t>
            </a:r>
          </a:p>
          <a:p>
            <a:pPr marL="342900" lvl="0" indent="-342900" algn="just">
              <a:lnSpc>
                <a:spcPct val="115000"/>
              </a:lnSpc>
              <a:spcAft>
                <a:spcPts val="0"/>
              </a:spcAft>
              <a:buFont typeface="Wingdings" panose="05000000000000000000" pitchFamily="2" charset="2"/>
              <a:buChar char="Ø"/>
            </a:pPr>
            <a:r>
              <a:rPr lang="pt-BR" sz="3000" dirty="0">
                <a:solidFill>
                  <a:schemeClr val="bg1"/>
                </a:solidFill>
                <a:latin typeface="Arial Black" panose="020B0A04020102020204" pitchFamily="34" charset="0"/>
                <a:ea typeface="Calibri" panose="020F0502020204030204" pitchFamily="34" charset="0"/>
                <a:cs typeface="Times New Roman" panose="02020603050405020304" pitchFamily="18" charset="0"/>
              </a:rPr>
              <a:t>Flexibilidade</a:t>
            </a:r>
          </a:p>
          <a:p>
            <a:pPr marL="342900" lvl="0" indent="-342900" algn="just">
              <a:lnSpc>
                <a:spcPct val="115000"/>
              </a:lnSpc>
              <a:spcAft>
                <a:spcPts val="0"/>
              </a:spcAft>
              <a:buFont typeface="Wingdings" panose="05000000000000000000" pitchFamily="2" charset="2"/>
              <a:buChar char="Ø"/>
            </a:pPr>
            <a:r>
              <a:rPr lang="pt-BR" sz="3000" dirty="0">
                <a:solidFill>
                  <a:schemeClr val="bg1"/>
                </a:solidFill>
                <a:latin typeface="Arial Black" panose="020B0A04020102020204" pitchFamily="34" charset="0"/>
                <a:ea typeface="Calibri" panose="020F0502020204030204" pitchFamily="34" charset="0"/>
                <a:cs typeface="Times New Roman" panose="02020603050405020304" pitchFamily="18" charset="0"/>
              </a:rPr>
              <a:t>Foco em Resultados</a:t>
            </a:r>
          </a:p>
          <a:p>
            <a:pPr marL="342900" lvl="0" indent="-342900" algn="just">
              <a:lnSpc>
                <a:spcPct val="115000"/>
              </a:lnSpc>
              <a:spcAft>
                <a:spcPts val="0"/>
              </a:spcAft>
              <a:buFont typeface="Wingdings" panose="05000000000000000000" pitchFamily="2" charset="2"/>
              <a:buChar char="Ø"/>
            </a:pPr>
            <a:r>
              <a:rPr lang="pt-BR" sz="3000" dirty="0">
                <a:solidFill>
                  <a:schemeClr val="bg1"/>
                </a:solidFill>
                <a:latin typeface="Arial Black" panose="020B0A04020102020204" pitchFamily="34" charset="0"/>
                <a:ea typeface="Calibri" panose="020F0502020204030204" pitchFamily="34" charset="0"/>
                <a:cs typeface="Times New Roman" panose="02020603050405020304" pitchFamily="18" charset="0"/>
              </a:rPr>
              <a:t>Melhoria Contínua</a:t>
            </a:r>
          </a:p>
          <a:p>
            <a:pPr marL="342900" lvl="0" indent="-342900" algn="just">
              <a:lnSpc>
                <a:spcPct val="115000"/>
              </a:lnSpc>
              <a:spcAft>
                <a:spcPts val="0"/>
              </a:spcAft>
              <a:buFont typeface="Wingdings" panose="05000000000000000000" pitchFamily="2" charset="2"/>
              <a:buChar char="Ø"/>
            </a:pPr>
            <a:r>
              <a:rPr lang="pt-BR" sz="3000" dirty="0">
                <a:solidFill>
                  <a:schemeClr val="bg1"/>
                </a:solidFill>
                <a:latin typeface="Arial Black" panose="020B0A04020102020204" pitchFamily="34" charset="0"/>
                <a:ea typeface="Calibri" panose="020F0502020204030204" pitchFamily="34" charset="0"/>
                <a:cs typeface="Times New Roman" panose="02020603050405020304" pitchFamily="18" charset="0"/>
              </a:rPr>
              <a:t>Reputação</a:t>
            </a:r>
          </a:p>
          <a:p>
            <a:pPr marL="342900" lvl="0" indent="-342900" algn="just">
              <a:lnSpc>
                <a:spcPct val="115000"/>
              </a:lnSpc>
              <a:spcAft>
                <a:spcPts val="0"/>
              </a:spcAft>
              <a:buFont typeface="Wingdings" panose="05000000000000000000" pitchFamily="2" charset="2"/>
              <a:buChar char="Ø"/>
            </a:pPr>
            <a:r>
              <a:rPr lang="pt-BR" sz="3000" dirty="0">
                <a:solidFill>
                  <a:schemeClr val="bg1"/>
                </a:solidFill>
                <a:latin typeface="Arial Black" panose="020B0A04020102020204" pitchFamily="34" charset="0"/>
                <a:ea typeface="Calibri" panose="020F0502020204030204" pitchFamily="34" charset="0"/>
                <a:cs typeface="Times New Roman" panose="02020603050405020304" pitchFamily="18" charset="0"/>
              </a:rPr>
              <a:t>Simplicidade</a:t>
            </a:r>
          </a:p>
          <a:p>
            <a:pPr marL="342900" lvl="0" indent="-342900" algn="just">
              <a:lnSpc>
                <a:spcPct val="115000"/>
              </a:lnSpc>
              <a:spcAft>
                <a:spcPts val="0"/>
              </a:spcAft>
              <a:buFont typeface="Wingdings" panose="05000000000000000000" pitchFamily="2" charset="2"/>
              <a:buChar char="Ø"/>
            </a:pPr>
            <a:r>
              <a:rPr lang="pt-BR" sz="3000" dirty="0">
                <a:solidFill>
                  <a:schemeClr val="bg1"/>
                </a:solidFill>
                <a:latin typeface="Arial Black" panose="020B0A04020102020204" pitchFamily="34" charset="0"/>
                <a:ea typeface="Calibri" panose="020F0502020204030204" pitchFamily="34" charset="0"/>
                <a:cs typeface="Times New Roman" panose="02020603050405020304" pitchFamily="18" charset="0"/>
              </a:rPr>
              <a:t>Sustentabilidade</a:t>
            </a:r>
          </a:p>
          <a:p>
            <a:pPr marL="342900" lvl="0" indent="-342900" algn="just">
              <a:lnSpc>
                <a:spcPct val="115000"/>
              </a:lnSpc>
              <a:spcAft>
                <a:spcPts val="0"/>
              </a:spcAft>
              <a:buFont typeface="Wingdings" panose="05000000000000000000" pitchFamily="2" charset="2"/>
              <a:buChar char="Ø"/>
            </a:pPr>
            <a:r>
              <a:rPr lang="pt-BR" sz="3000" dirty="0">
                <a:solidFill>
                  <a:schemeClr val="bg1"/>
                </a:solidFill>
                <a:latin typeface="Arial Black" panose="020B0A04020102020204" pitchFamily="34" charset="0"/>
                <a:ea typeface="Calibri" panose="020F0502020204030204" pitchFamily="34" charset="0"/>
                <a:cs typeface="Times New Roman" panose="02020603050405020304" pitchFamily="18" charset="0"/>
              </a:rPr>
              <a:t>Transparência</a:t>
            </a:r>
          </a:p>
          <a:p>
            <a:pPr marL="342900" lvl="0" indent="-342900" algn="just">
              <a:lnSpc>
                <a:spcPct val="115000"/>
              </a:lnSpc>
              <a:spcAft>
                <a:spcPts val="1000"/>
              </a:spcAft>
              <a:buFont typeface="Wingdings" panose="05000000000000000000" pitchFamily="2" charset="2"/>
              <a:buChar char="Ø"/>
            </a:pPr>
            <a:r>
              <a:rPr lang="pt-BR" sz="3000" dirty="0" smtClean="0">
                <a:solidFill>
                  <a:schemeClr val="bg1"/>
                </a:solidFill>
                <a:latin typeface="Arial Black" panose="020B0A04020102020204" pitchFamily="34" charset="0"/>
                <a:ea typeface="Calibri" panose="020F0502020204030204" pitchFamily="34" charset="0"/>
                <a:cs typeface="Times New Roman" panose="02020603050405020304" pitchFamily="18" charset="0"/>
              </a:rPr>
              <a:t>Tratamento Igualitário</a:t>
            </a:r>
            <a:endParaRPr lang="pt-BR" sz="3000" dirty="0">
              <a:solidFill>
                <a:schemeClr val="bg1"/>
              </a:solidFill>
              <a:effectLst/>
              <a:latin typeface="Arial Black" panose="020B0A040201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649976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0" y="0"/>
            <a:ext cx="12192000" cy="6858000"/>
          </a:xfrm>
          <a:prstGeom prst="flowChartPunchedCard">
            <a:avLst/>
          </a:prstGeom>
          <a:solidFill>
            <a:srgbClr val="204F7A"/>
          </a:solidFill>
          <a:ln>
            <a:solidFill>
              <a:srgbClr val="204F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7" name="Retângulo 6"/>
          <p:cNvSpPr/>
          <p:nvPr/>
        </p:nvSpPr>
        <p:spPr>
          <a:xfrm>
            <a:off x="4950808" y="263912"/>
            <a:ext cx="3447995" cy="553998"/>
          </a:xfrm>
          <a:prstGeom prst="rect">
            <a:avLst/>
          </a:prstGeom>
        </p:spPr>
        <p:txBody>
          <a:bodyPr wrap="none">
            <a:spAutoFit/>
          </a:bodyPr>
          <a:lstStyle/>
          <a:p>
            <a:r>
              <a:rPr lang="pt-BR" sz="3000" i="1" dirty="0" smtClean="0">
                <a:solidFill>
                  <a:srgbClr val="FFFF00"/>
                </a:solidFill>
                <a:latin typeface="Arial Black" panose="020B0A04020102020204" pitchFamily="34" charset="0"/>
              </a:rPr>
              <a:t>Pesquisa Acirv </a:t>
            </a:r>
            <a:endParaRPr lang="pt-BR" sz="3000" i="1" dirty="0">
              <a:solidFill>
                <a:srgbClr val="FFFF00"/>
              </a:solidFill>
              <a:latin typeface="Arial Black" panose="020B0A04020102020204" pitchFamily="34" charset="0"/>
            </a:endParaRPr>
          </a:p>
        </p:txBody>
      </p:sp>
      <p:sp>
        <p:nvSpPr>
          <p:cNvPr id="9" name="Retângulo 8"/>
          <p:cNvSpPr/>
          <p:nvPr/>
        </p:nvSpPr>
        <p:spPr>
          <a:xfrm>
            <a:off x="65421" y="1310297"/>
            <a:ext cx="12036425" cy="4801314"/>
          </a:xfrm>
          <a:prstGeom prst="rect">
            <a:avLst/>
          </a:prstGeom>
        </p:spPr>
        <p:txBody>
          <a:bodyPr wrap="square">
            <a:spAutoFit/>
          </a:bodyPr>
          <a:lstStyle/>
          <a:p>
            <a:pPr marL="342900" indent="-342900" algn="just">
              <a:lnSpc>
                <a:spcPct val="150000"/>
              </a:lnSpc>
              <a:spcAft>
                <a:spcPts val="0"/>
              </a:spcAft>
              <a:buFont typeface="Wingdings" panose="05000000000000000000" pitchFamily="2" charset="2"/>
              <a:buChar char="Ø"/>
            </a:pPr>
            <a:r>
              <a:rPr lang="pt-BR" sz="2400" b="1" dirty="0">
                <a:solidFill>
                  <a:schemeClr val="bg1"/>
                </a:solidFill>
                <a:latin typeface="Arial" panose="020B0604020202020204" pitchFamily="34" charset="0"/>
              </a:rPr>
              <a:t>A pesquisa </a:t>
            </a:r>
            <a:r>
              <a:rPr lang="pt-BR" sz="2400" b="1" dirty="0" smtClean="0">
                <a:solidFill>
                  <a:schemeClr val="bg1"/>
                </a:solidFill>
                <a:latin typeface="Arial" panose="020B0604020202020204" pitchFamily="34" charset="0"/>
              </a:rPr>
              <a:t>foi realizada por telefone e objetivou mensurar a satisfação </a:t>
            </a:r>
            <a:r>
              <a:rPr lang="pt-BR" sz="2400" b="1" dirty="0">
                <a:solidFill>
                  <a:schemeClr val="bg1"/>
                </a:solidFill>
                <a:latin typeface="Arial" panose="020B0604020202020204" pitchFamily="34" charset="0"/>
              </a:rPr>
              <a:t>e conhecimento dos associados à </a:t>
            </a:r>
            <a:r>
              <a:rPr lang="pt-BR" sz="2400" b="1" dirty="0" smtClean="0">
                <a:solidFill>
                  <a:schemeClr val="bg1"/>
                </a:solidFill>
                <a:latin typeface="Arial" panose="020B0604020202020204" pitchFamily="34" charset="0"/>
              </a:rPr>
              <a:t>ACIRV (em </a:t>
            </a:r>
            <a:r>
              <a:rPr lang="pt-BR" sz="2400" b="1" dirty="0">
                <a:solidFill>
                  <a:schemeClr val="bg1"/>
                </a:solidFill>
                <a:latin typeface="Arial" panose="020B0604020202020204" pitchFamily="34" charset="0"/>
              </a:rPr>
              <a:t>relação aos serviços </a:t>
            </a:r>
            <a:r>
              <a:rPr lang="pt-BR" sz="2400" b="1" dirty="0" smtClean="0">
                <a:solidFill>
                  <a:schemeClr val="bg1"/>
                </a:solidFill>
                <a:latin typeface="Arial" panose="020B0604020202020204" pitchFamily="34" charset="0"/>
              </a:rPr>
              <a:t>prestados). </a:t>
            </a:r>
          </a:p>
          <a:p>
            <a:pPr algn="just">
              <a:lnSpc>
                <a:spcPct val="150000"/>
              </a:lnSpc>
              <a:spcAft>
                <a:spcPts val="0"/>
              </a:spcAft>
            </a:pPr>
            <a:endParaRPr lang="pt-BR" sz="600" b="1" dirty="0">
              <a:solidFill>
                <a:schemeClr val="bg1"/>
              </a:solidFill>
              <a:latin typeface="Arial" panose="020B0604020202020204" pitchFamily="34" charset="0"/>
            </a:endParaRPr>
          </a:p>
          <a:p>
            <a:pPr marL="342900" indent="-342900" algn="just">
              <a:lnSpc>
                <a:spcPct val="150000"/>
              </a:lnSpc>
              <a:spcAft>
                <a:spcPts val="0"/>
              </a:spcAft>
              <a:buFont typeface="Wingdings" panose="05000000000000000000" pitchFamily="2" charset="2"/>
              <a:buChar char="Ø"/>
            </a:pPr>
            <a:r>
              <a:rPr lang="pt-BR" sz="2400" b="1" dirty="0" smtClean="0">
                <a:solidFill>
                  <a:schemeClr val="bg1"/>
                </a:solidFill>
                <a:latin typeface="Arial" panose="020B0604020202020204" pitchFamily="34" charset="0"/>
              </a:rPr>
              <a:t>Essa </a:t>
            </a:r>
            <a:r>
              <a:rPr lang="pt-BR" sz="2400" b="1" dirty="0">
                <a:solidFill>
                  <a:schemeClr val="bg1"/>
                </a:solidFill>
                <a:latin typeface="Arial" panose="020B0604020202020204" pitchFamily="34" charset="0"/>
              </a:rPr>
              <a:t>pesquisa </a:t>
            </a:r>
            <a:r>
              <a:rPr lang="pt-BR" sz="2400" b="1" dirty="0" smtClean="0">
                <a:solidFill>
                  <a:schemeClr val="bg1"/>
                </a:solidFill>
                <a:latin typeface="Arial" panose="020B0604020202020204" pitchFamily="34" charset="0"/>
              </a:rPr>
              <a:t>também identificou </a:t>
            </a:r>
            <a:r>
              <a:rPr lang="pt-BR" sz="2400" b="1" dirty="0">
                <a:solidFill>
                  <a:schemeClr val="bg1"/>
                </a:solidFill>
                <a:latin typeface="Arial" panose="020B0604020202020204" pitchFamily="34" charset="0"/>
              </a:rPr>
              <a:t>os aspectos que os associados consideram mais importantes no relacionamento com a </a:t>
            </a:r>
            <a:r>
              <a:rPr lang="pt-BR" sz="2400" b="1" dirty="0" smtClean="0">
                <a:solidFill>
                  <a:schemeClr val="bg1"/>
                </a:solidFill>
                <a:latin typeface="Arial" panose="020B0604020202020204" pitchFamily="34" charset="0"/>
              </a:rPr>
              <a:t>entidade, </a:t>
            </a:r>
            <a:r>
              <a:rPr lang="pt-BR" sz="2400" b="1" dirty="0">
                <a:solidFill>
                  <a:schemeClr val="bg1"/>
                </a:solidFill>
                <a:latin typeface="Arial" panose="020B0604020202020204" pitchFamily="34" charset="0"/>
              </a:rPr>
              <a:t>permitindo identificar pontos </a:t>
            </a:r>
            <a:r>
              <a:rPr lang="pt-BR" sz="2400" b="1" dirty="0" smtClean="0">
                <a:solidFill>
                  <a:schemeClr val="bg1"/>
                </a:solidFill>
                <a:latin typeface="Arial" panose="020B0604020202020204" pitchFamily="34" charset="0"/>
              </a:rPr>
              <a:t>fortes e oportunidades de melhorias do </a:t>
            </a:r>
            <a:r>
              <a:rPr lang="pt-BR" sz="2400" b="1" dirty="0">
                <a:solidFill>
                  <a:schemeClr val="bg1"/>
                </a:solidFill>
                <a:latin typeface="Arial" panose="020B0604020202020204" pitchFamily="34" charset="0"/>
              </a:rPr>
              <a:t>atendimento oferecido</a:t>
            </a:r>
            <a:r>
              <a:rPr lang="pt-BR" sz="2400" b="1" dirty="0" smtClean="0">
                <a:solidFill>
                  <a:schemeClr val="bg1"/>
                </a:solidFill>
                <a:latin typeface="Arial" panose="020B0604020202020204" pitchFamily="34" charset="0"/>
              </a:rPr>
              <a:t>.</a:t>
            </a:r>
          </a:p>
          <a:p>
            <a:pPr algn="just">
              <a:lnSpc>
                <a:spcPct val="150000"/>
              </a:lnSpc>
              <a:spcAft>
                <a:spcPts val="0"/>
              </a:spcAft>
            </a:pPr>
            <a:endParaRPr lang="pt-BR" sz="600" b="1" dirty="0">
              <a:solidFill>
                <a:schemeClr val="bg1"/>
              </a:solidFill>
              <a:effectLst/>
              <a:latin typeface="Arial" panose="020B0604020202020204" pitchFamily="34" charset="0"/>
            </a:endParaRPr>
          </a:p>
          <a:p>
            <a:pPr marL="342900" indent="-342900" algn="just">
              <a:lnSpc>
                <a:spcPct val="150000"/>
              </a:lnSpc>
              <a:buFont typeface="Wingdings" panose="05000000000000000000" pitchFamily="2" charset="2"/>
              <a:buChar char="Ø"/>
            </a:pPr>
            <a:r>
              <a:rPr lang="pt-BR" sz="2400" b="1" dirty="0">
                <a:solidFill>
                  <a:schemeClr val="bg1"/>
                </a:solidFill>
                <a:latin typeface="Arial" panose="020B0604020202020204" pitchFamily="34" charset="0"/>
              </a:rPr>
              <a:t>Foi elaborado um questionário </a:t>
            </a:r>
            <a:r>
              <a:rPr lang="pt-BR" sz="2400" b="1" dirty="0" smtClean="0">
                <a:solidFill>
                  <a:schemeClr val="bg1"/>
                </a:solidFill>
                <a:latin typeface="Arial" panose="020B0604020202020204" pitchFamily="34" charset="0"/>
              </a:rPr>
              <a:t>com 06 questões, </a:t>
            </a:r>
            <a:r>
              <a:rPr lang="pt-BR" sz="2400" b="1" dirty="0">
                <a:solidFill>
                  <a:schemeClr val="bg1"/>
                </a:solidFill>
                <a:latin typeface="Arial" panose="020B0604020202020204" pitchFamily="34" charset="0"/>
              </a:rPr>
              <a:t>oportunizando aos associados sugerir, criticar ou elogiar os serviços </a:t>
            </a:r>
            <a:r>
              <a:rPr lang="pt-BR" sz="2400" b="1" dirty="0" smtClean="0">
                <a:solidFill>
                  <a:schemeClr val="bg1"/>
                </a:solidFill>
                <a:latin typeface="Arial" panose="020B0604020202020204" pitchFamily="34" charset="0"/>
              </a:rPr>
              <a:t>oferecidos. Participaram </a:t>
            </a:r>
            <a:r>
              <a:rPr lang="pt-BR" sz="2400" b="1" dirty="0">
                <a:solidFill>
                  <a:schemeClr val="bg1"/>
                </a:solidFill>
                <a:latin typeface="Arial" panose="020B0604020202020204" pitchFamily="34" charset="0"/>
              </a:rPr>
              <a:t>da pesquisa 80 associados de grande, </a:t>
            </a:r>
            <a:r>
              <a:rPr lang="pt-BR" sz="2400" b="1" dirty="0" smtClean="0">
                <a:solidFill>
                  <a:schemeClr val="bg1"/>
                </a:solidFill>
                <a:latin typeface="Arial" panose="020B0604020202020204" pitchFamily="34" charset="0"/>
              </a:rPr>
              <a:t>média </a:t>
            </a:r>
            <a:r>
              <a:rPr lang="pt-BR" sz="2400" b="1" dirty="0">
                <a:solidFill>
                  <a:schemeClr val="bg1"/>
                </a:solidFill>
                <a:latin typeface="Arial" panose="020B0604020202020204" pitchFamily="34" charset="0"/>
              </a:rPr>
              <a:t>e </a:t>
            </a:r>
            <a:r>
              <a:rPr lang="pt-BR" sz="2400" b="1" dirty="0" smtClean="0">
                <a:solidFill>
                  <a:schemeClr val="bg1"/>
                </a:solidFill>
                <a:latin typeface="Arial" panose="020B0604020202020204" pitchFamily="34" charset="0"/>
              </a:rPr>
              <a:t>pequeno porte.</a:t>
            </a:r>
            <a:endParaRPr lang="pt-BR" sz="2400" b="1" dirty="0">
              <a:solidFill>
                <a:schemeClr val="bg1"/>
              </a:solidFill>
            </a:endParaRPr>
          </a:p>
        </p:txBody>
      </p:sp>
    </p:spTree>
    <p:extLst>
      <p:ext uri="{BB962C8B-B14F-4D97-AF65-F5344CB8AC3E}">
        <p14:creationId xmlns:p14="http://schemas.microsoft.com/office/powerpoint/2010/main" val="23299538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0" y="0"/>
            <a:ext cx="12192000" cy="6858000"/>
          </a:xfrm>
          <a:prstGeom prst="flowChartPunchedCard">
            <a:avLst/>
          </a:prstGeom>
          <a:solidFill>
            <a:srgbClr val="204F7A"/>
          </a:solidFill>
          <a:ln>
            <a:solidFill>
              <a:srgbClr val="204F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2"/>
          <p:cNvSpPr>
            <a:spLocks noChangeArrowheads="1"/>
          </p:cNvSpPr>
          <p:nvPr/>
        </p:nvSpPr>
        <p:spPr bwMode="auto">
          <a:xfrm>
            <a:off x="1107583" y="1418708"/>
            <a:ext cx="10576998"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pt-BR" altLang="pt-BR" sz="2100" b="0" i="0" u="none" strike="noStrike" cap="none" normalizeH="0" baseline="0" dirty="0" smtClean="0">
                <a:ln>
                  <a:noFill/>
                </a:ln>
                <a:solidFill>
                  <a:schemeClr val="bg1"/>
                </a:solidFill>
                <a:effectLst/>
                <a:latin typeface="Arial Black" panose="020B0A04020102020204" pitchFamily="34" charset="0"/>
                <a:ea typeface="Calibri" panose="020F0502020204030204" pitchFamily="34" charset="0"/>
                <a:cs typeface="Arial" panose="020B0604020202020204" pitchFamily="34" charset="0"/>
              </a:rPr>
              <a:t>Quantidade de empresas selecionadas para responderem a pesquisa.</a:t>
            </a:r>
            <a:endParaRPr kumimoji="0" lang="pt-BR" altLang="pt-BR" sz="2100" b="0" i="0" u="none" strike="noStrike" cap="none" normalizeH="0" baseline="0" dirty="0" smtClean="0">
              <a:ln>
                <a:noFill/>
              </a:ln>
              <a:solidFill>
                <a:schemeClr val="bg1"/>
              </a:solidFill>
              <a:effectLst/>
              <a:latin typeface="Arial Black" panose="020B0A040201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BR" sz="2100" b="0" i="0" u="none" strike="noStrike" cap="none" normalizeH="0" baseline="0" dirty="0" smtClean="0">
              <a:ln>
                <a:noFill/>
              </a:ln>
              <a:solidFill>
                <a:schemeClr val="bg1"/>
              </a:solidFill>
              <a:effectLst/>
              <a:latin typeface="Arial Black" panose="020B0A04020102020204" pitchFamily="34" charset="0"/>
            </a:endParaRPr>
          </a:p>
        </p:txBody>
      </p:sp>
      <p:graphicFrame>
        <p:nvGraphicFramePr>
          <p:cNvPr id="7" name="Gráfico 6"/>
          <p:cNvGraphicFramePr/>
          <p:nvPr>
            <p:extLst>
              <p:ext uri="{D42A27DB-BD31-4B8C-83A1-F6EECF244321}">
                <p14:modId xmlns:p14="http://schemas.microsoft.com/office/powerpoint/2010/main" val="2620902832"/>
              </p:ext>
            </p:extLst>
          </p:nvPr>
        </p:nvGraphicFramePr>
        <p:xfrm>
          <a:off x="914464" y="2157372"/>
          <a:ext cx="11050009" cy="4243428"/>
        </p:xfrm>
        <a:graphic>
          <a:graphicData uri="http://schemas.openxmlformats.org/drawingml/2006/chart">
            <c:chart xmlns:c="http://schemas.openxmlformats.org/drawingml/2006/chart" xmlns:r="http://schemas.openxmlformats.org/officeDocument/2006/relationships" r:id="rId3"/>
          </a:graphicData>
        </a:graphic>
      </p:graphicFrame>
      <p:sp>
        <p:nvSpPr>
          <p:cNvPr id="8" name="Rectangle 3"/>
          <p:cNvSpPr>
            <a:spLocks noChangeArrowheads="1"/>
          </p:cNvSpPr>
          <p:nvPr/>
        </p:nvSpPr>
        <p:spPr bwMode="auto">
          <a:xfrm>
            <a:off x="457200" y="32099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sp>
        <p:nvSpPr>
          <p:cNvPr id="9" name="Retângulo 8"/>
          <p:cNvSpPr/>
          <p:nvPr/>
        </p:nvSpPr>
        <p:spPr>
          <a:xfrm>
            <a:off x="5011926" y="118910"/>
            <a:ext cx="3846822" cy="553998"/>
          </a:xfrm>
          <a:prstGeom prst="rect">
            <a:avLst/>
          </a:prstGeom>
        </p:spPr>
        <p:txBody>
          <a:bodyPr wrap="none">
            <a:spAutoFit/>
          </a:bodyPr>
          <a:lstStyle/>
          <a:p>
            <a:r>
              <a:rPr lang="pt-BR" sz="3000" i="1" dirty="0" smtClean="0">
                <a:solidFill>
                  <a:srgbClr val="FFFF00"/>
                </a:solidFill>
                <a:latin typeface="Arial Black" panose="020B0A04020102020204" pitchFamily="34" charset="0"/>
              </a:rPr>
              <a:t>PESQUISA ACIRV</a:t>
            </a:r>
            <a:endParaRPr lang="pt-BR" sz="3000" i="1" dirty="0">
              <a:solidFill>
                <a:srgbClr val="FFFF00"/>
              </a:solidFill>
              <a:latin typeface="Arial Black" panose="020B0A04020102020204" pitchFamily="34" charset="0"/>
            </a:endParaRPr>
          </a:p>
        </p:txBody>
      </p:sp>
    </p:spTree>
    <p:extLst>
      <p:ext uri="{BB962C8B-B14F-4D97-AF65-F5344CB8AC3E}">
        <p14:creationId xmlns:p14="http://schemas.microsoft.com/office/powerpoint/2010/main" val="30583066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0" y="0"/>
            <a:ext cx="12192000" cy="6858000"/>
          </a:xfrm>
          <a:prstGeom prst="flowChartPunchedCard">
            <a:avLst/>
          </a:prstGeom>
          <a:solidFill>
            <a:srgbClr val="204F7A"/>
          </a:solidFill>
          <a:ln>
            <a:solidFill>
              <a:srgbClr val="204F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5" name="Retângulo 4"/>
          <p:cNvSpPr/>
          <p:nvPr/>
        </p:nvSpPr>
        <p:spPr>
          <a:xfrm>
            <a:off x="5011926" y="118910"/>
            <a:ext cx="3846822" cy="553998"/>
          </a:xfrm>
          <a:prstGeom prst="rect">
            <a:avLst/>
          </a:prstGeom>
        </p:spPr>
        <p:txBody>
          <a:bodyPr wrap="none">
            <a:spAutoFit/>
          </a:bodyPr>
          <a:lstStyle/>
          <a:p>
            <a:r>
              <a:rPr lang="pt-BR" sz="3000" i="1" dirty="0" smtClean="0">
                <a:solidFill>
                  <a:srgbClr val="FFFF00"/>
                </a:solidFill>
                <a:latin typeface="Arial Black" panose="020B0A04020102020204" pitchFamily="34" charset="0"/>
              </a:rPr>
              <a:t>PESQUISA ACIRV</a:t>
            </a:r>
            <a:endParaRPr lang="pt-BR" sz="3000" i="1" dirty="0">
              <a:solidFill>
                <a:srgbClr val="FFFF00"/>
              </a:solidFill>
              <a:latin typeface="Arial Black" panose="020B0A04020102020204" pitchFamily="34" charset="0"/>
            </a:endParaRPr>
          </a:p>
        </p:txBody>
      </p:sp>
      <p:sp>
        <p:nvSpPr>
          <p:cNvPr id="4" name="Rectangle 2"/>
          <p:cNvSpPr>
            <a:spLocks noChangeArrowheads="1"/>
          </p:cNvSpPr>
          <p:nvPr/>
        </p:nvSpPr>
        <p:spPr bwMode="auto">
          <a:xfrm>
            <a:off x="1938740" y="1552294"/>
            <a:ext cx="8314520"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pt-BR" altLang="pt-BR" sz="2100" b="0" i="0" u="none" strike="noStrike" cap="none" normalizeH="0" baseline="0" dirty="0" smtClean="0">
                <a:ln>
                  <a:noFill/>
                </a:ln>
                <a:solidFill>
                  <a:schemeClr val="bg1"/>
                </a:solidFill>
                <a:effectLst/>
                <a:latin typeface="Arial Black" panose="020B0A04020102020204" pitchFamily="34" charset="0"/>
                <a:ea typeface="Calibri" panose="020F0502020204030204" pitchFamily="34" charset="0"/>
                <a:cs typeface="Arial" panose="020B0604020202020204" pitchFamily="34" charset="0"/>
              </a:rPr>
              <a:t>Empresas que responderam a pesquisa por segmento.</a:t>
            </a:r>
            <a:endParaRPr kumimoji="0" lang="pt-BR" altLang="pt-BR" sz="2100" b="0" i="0" u="none" strike="noStrike" cap="none" normalizeH="0" baseline="0" dirty="0" smtClean="0">
              <a:ln>
                <a:noFill/>
              </a:ln>
              <a:solidFill>
                <a:schemeClr val="bg1"/>
              </a:solidFill>
              <a:effectLst/>
              <a:latin typeface="Arial Black" panose="020B0A040201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BR" sz="2100" b="0" i="0" u="none" strike="noStrike" cap="none" normalizeH="0" baseline="0" dirty="0" smtClean="0">
              <a:ln>
                <a:noFill/>
              </a:ln>
              <a:solidFill>
                <a:schemeClr val="bg1"/>
              </a:solidFill>
              <a:effectLst/>
              <a:latin typeface="Arial Black" panose="020B0A04020102020204" pitchFamily="34" charset="0"/>
            </a:endParaRPr>
          </a:p>
        </p:txBody>
      </p:sp>
      <p:graphicFrame>
        <p:nvGraphicFramePr>
          <p:cNvPr id="7" name="Gráfico 6"/>
          <p:cNvGraphicFramePr/>
          <p:nvPr>
            <p:extLst>
              <p:ext uri="{D42A27DB-BD31-4B8C-83A1-F6EECF244321}">
                <p14:modId xmlns:p14="http://schemas.microsoft.com/office/powerpoint/2010/main" val="304705416"/>
              </p:ext>
            </p:extLst>
          </p:nvPr>
        </p:nvGraphicFramePr>
        <p:xfrm>
          <a:off x="457200" y="2290958"/>
          <a:ext cx="11455758" cy="4341662"/>
        </p:xfrm>
        <a:graphic>
          <a:graphicData uri="http://schemas.openxmlformats.org/drawingml/2006/chart">
            <c:chart xmlns:c="http://schemas.openxmlformats.org/drawingml/2006/chart" xmlns:r="http://schemas.openxmlformats.org/officeDocument/2006/relationships" r:id="rId3"/>
          </a:graphicData>
        </a:graphic>
      </p:graphicFrame>
      <p:sp>
        <p:nvSpPr>
          <p:cNvPr id="8" name="Rectangle 3"/>
          <p:cNvSpPr>
            <a:spLocks noChangeArrowheads="1"/>
          </p:cNvSpPr>
          <p:nvPr/>
        </p:nvSpPr>
        <p:spPr bwMode="auto">
          <a:xfrm>
            <a:off x="457200" y="3209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spTree>
    <p:extLst>
      <p:ext uri="{BB962C8B-B14F-4D97-AF65-F5344CB8AC3E}">
        <p14:creationId xmlns:p14="http://schemas.microsoft.com/office/powerpoint/2010/main" val="15659688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0" y="0"/>
            <a:ext cx="12192000" cy="6858000"/>
          </a:xfrm>
          <a:prstGeom prst="flowChartPunchedCard">
            <a:avLst/>
          </a:prstGeom>
          <a:solidFill>
            <a:srgbClr val="204F7A"/>
          </a:solidFill>
          <a:ln>
            <a:solidFill>
              <a:srgbClr val="204F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4" name="Retângulo 3"/>
          <p:cNvSpPr/>
          <p:nvPr/>
        </p:nvSpPr>
        <p:spPr>
          <a:xfrm>
            <a:off x="4788351" y="2958515"/>
            <a:ext cx="3156633" cy="589072"/>
          </a:xfrm>
          <a:prstGeom prst="rect">
            <a:avLst/>
          </a:prstGeom>
        </p:spPr>
        <p:txBody>
          <a:bodyPr wrap="none">
            <a:spAutoFit/>
          </a:bodyPr>
          <a:lstStyle/>
          <a:p>
            <a:pPr>
              <a:lnSpc>
                <a:spcPct val="115000"/>
              </a:lnSpc>
              <a:spcAft>
                <a:spcPts val="1000"/>
              </a:spcAft>
            </a:pPr>
            <a:r>
              <a:rPr lang="pt-BR" sz="3000" b="1" i="1" u="sng" dirty="0" smtClean="0">
                <a:solidFill>
                  <a:schemeClr val="bg1"/>
                </a:solidFill>
                <a:latin typeface="Arial" panose="020B0604020202020204" pitchFamily="34" charset="0"/>
                <a:ea typeface="Calibri" panose="020F0502020204030204" pitchFamily="34" charset="0"/>
                <a:cs typeface="Times New Roman" panose="02020603050405020304" pitchFamily="18" charset="0"/>
              </a:rPr>
              <a:t>QUESTIONÁRIO</a:t>
            </a:r>
            <a:endParaRPr lang="pt-BR" sz="30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Retângulo 6"/>
          <p:cNvSpPr/>
          <p:nvPr/>
        </p:nvSpPr>
        <p:spPr>
          <a:xfrm>
            <a:off x="5011926" y="118910"/>
            <a:ext cx="3846822" cy="553998"/>
          </a:xfrm>
          <a:prstGeom prst="rect">
            <a:avLst/>
          </a:prstGeom>
        </p:spPr>
        <p:txBody>
          <a:bodyPr wrap="none">
            <a:spAutoFit/>
          </a:bodyPr>
          <a:lstStyle/>
          <a:p>
            <a:r>
              <a:rPr lang="pt-BR" sz="3000" i="1" dirty="0" smtClean="0">
                <a:solidFill>
                  <a:srgbClr val="FFFF00"/>
                </a:solidFill>
                <a:latin typeface="Arial Black" panose="020B0A04020102020204" pitchFamily="34" charset="0"/>
              </a:rPr>
              <a:t>PESQUISA ACIRV</a:t>
            </a:r>
            <a:endParaRPr lang="pt-BR" sz="3000" i="1" dirty="0">
              <a:solidFill>
                <a:srgbClr val="FFFF00"/>
              </a:solidFill>
              <a:latin typeface="Arial Black" panose="020B0A04020102020204" pitchFamily="34" charset="0"/>
            </a:endParaRPr>
          </a:p>
        </p:txBody>
      </p:sp>
    </p:spTree>
    <p:extLst>
      <p:ext uri="{BB962C8B-B14F-4D97-AF65-F5344CB8AC3E}">
        <p14:creationId xmlns:p14="http://schemas.microsoft.com/office/powerpoint/2010/main" val="38746162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0" y="0"/>
            <a:ext cx="12192000" cy="6858000"/>
          </a:xfrm>
          <a:prstGeom prst="flowChartPunchedCard">
            <a:avLst/>
          </a:prstGeom>
          <a:solidFill>
            <a:srgbClr val="204F7A"/>
          </a:solidFill>
          <a:ln>
            <a:solidFill>
              <a:srgbClr val="204F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2"/>
          <p:cNvSpPr>
            <a:spLocks noChangeArrowheads="1"/>
          </p:cNvSpPr>
          <p:nvPr/>
        </p:nvSpPr>
        <p:spPr bwMode="auto">
          <a:xfrm>
            <a:off x="3385315" y="1064377"/>
            <a:ext cx="5618846"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pt-BR" altLang="pt-BR" sz="2100" b="1" i="0" u="none" strike="noStrike" cap="none" normalizeH="0" baseline="0" dirty="0" smtClean="0">
                <a:ln>
                  <a:noFill/>
                </a:ln>
                <a:solidFill>
                  <a:schemeClr val="bg1"/>
                </a:solidFill>
                <a:effectLst/>
                <a:latin typeface="Arial Black" panose="020B0A04020102020204" pitchFamily="34" charset="0"/>
                <a:ea typeface="Calibri" panose="020F0502020204030204" pitchFamily="34" charset="0"/>
                <a:cs typeface="Arial" panose="020B0604020202020204" pitchFamily="34" charset="0"/>
              </a:rPr>
              <a:t>1- O que se entende por associação?</a:t>
            </a:r>
            <a:endParaRPr kumimoji="0" lang="pt-BR" altLang="pt-BR" sz="2100" b="0" i="0" u="none" strike="noStrike" cap="none" normalizeH="0" baseline="0" dirty="0" smtClean="0">
              <a:ln>
                <a:noFill/>
              </a:ln>
              <a:solidFill>
                <a:schemeClr val="bg1"/>
              </a:solidFill>
              <a:effectLst/>
              <a:latin typeface="Arial Black" panose="020B0A040201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BR" sz="2100" b="0" i="0" u="none" strike="noStrike" cap="none" normalizeH="0" baseline="0" dirty="0" smtClean="0">
              <a:ln>
                <a:noFill/>
              </a:ln>
              <a:solidFill>
                <a:schemeClr val="bg1"/>
              </a:solidFill>
              <a:effectLst/>
              <a:latin typeface="Arial Black" panose="020B0A04020102020204" pitchFamily="34" charset="0"/>
            </a:endParaRPr>
          </a:p>
        </p:txBody>
      </p:sp>
      <p:graphicFrame>
        <p:nvGraphicFramePr>
          <p:cNvPr id="7" name="Gráfico 6"/>
          <p:cNvGraphicFramePr/>
          <p:nvPr>
            <p:extLst>
              <p:ext uri="{D42A27DB-BD31-4B8C-83A1-F6EECF244321}">
                <p14:modId xmlns:p14="http://schemas.microsoft.com/office/powerpoint/2010/main" val="1163003405"/>
              </p:ext>
            </p:extLst>
          </p:nvPr>
        </p:nvGraphicFramePr>
        <p:xfrm>
          <a:off x="360608" y="1592199"/>
          <a:ext cx="11668260" cy="5091935"/>
        </p:xfrm>
        <a:graphic>
          <a:graphicData uri="http://schemas.openxmlformats.org/drawingml/2006/chart">
            <c:chart xmlns:c="http://schemas.openxmlformats.org/drawingml/2006/chart" xmlns:r="http://schemas.openxmlformats.org/officeDocument/2006/relationships" r:id="rId3"/>
          </a:graphicData>
        </a:graphic>
      </p:graphicFrame>
      <p:sp>
        <p:nvSpPr>
          <p:cNvPr id="8" name="Rectangle 3"/>
          <p:cNvSpPr>
            <a:spLocks noChangeArrowheads="1"/>
          </p:cNvSpPr>
          <p:nvPr/>
        </p:nvSpPr>
        <p:spPr bwMode="auto">
          <a:xfrm>
            <a:off x="0" y="3209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sp>
        <p:nvSpPr>
          <p:cNvPr id="9" name="Retângulo 8"/>
          <p:cNvSpPr/>
          <p:nvPr/>
        </p:nvSpPr>
        <p:spPr>
          <a:xfrm>
            <a:off x="5011926" y="118910"/>
            <a:ext cx="3846822" cy="553998"/>
          </a:xfrm>
          <a:prstGeom prst="rect">
            <a:avLst/>
          </a:prstGeom>
        </p:spPr>
        <p:txBody>
          <a:bodyPr wrap="none">
            <a:spAutoFit/>
          </a:bodyPr>
          <a:lstStyle/>
          <a:p>
            <a:r>
              <a:rPr lang="pt-BR" sz="3000" i="1" dirty="0" smtClean="0">
                <a:solidFill>
                  <a:srgbClr val="FFFF00"/>
                </a:solidFill>
                <a:latin typeface="Arial Black" panose="020B0A04020102020204" pitchFamily="34" charset="0"/>
              </a:rPr>
              <a:t>PESQUISA ACIRV</a:t>
            </a:r>
            <a:endParaRPr lang="pt-BR" sz="3000" i="1" dirty="0">
              <a:solidFill>
                <a:srgbClr val="FFFF00"/>
              </a:solidFill>
              <a:latin typeface="Arial Black" panose="020B0A04020102020204" pitchFamily="34" charset="0"/>
            </a:endParaRPr>
          </a:p>
        </p:txBody>
      </p:sp>
    </p:spTree>
    <p:extLst>
      <p:ext uri="{BB962C8B-B14F-4D97-AF65-F5344CB8AC3E}">
        <p14:creationId xmlns:p14="http://schemas.microsoft.com/office/powerpoint/2010/main" val="18748163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0" y="0"/>
            <a:ext cx="12192000" cy="6858000"/>
          </a:xfrm>
          <a:prstGeom prst="flowChartPunchedCard">
            <a:avLst/>
          </a:prstGeom>
          <a:solidFill>
            <a:srgbClr val="204F7A"/>
          </a:solidFill>
          <a:ln>
            <a:solidFill>
              <a:srgbClr val="0F253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rgbClr val="FFFF00"/>
              </a:solidFill>
            </a:endParaRPr>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8" name="Retângulo 7"/>
          <p:cNvSpPr/>
          <p:nvPr/>
        </p:nvSpPr>
        <p:spPr>
          <a:xfrm>
            <a:off x="251474" y="1186610"/>
            <a:ext cx="11714809" cy="1685846"/>
          </a:xfrm>
          <a:prstGeom prst="rect">
            <a:avLst/>
          </a:prstGeom>
        </p:spPr>
        <p:txBody>
          <a:bodyPr wrap="square">
            <a:spAutoFit/>
          </a:bodyPr>
          <a:lstStyle/>
          <a:p>
            <a:pPr algn="just">
              <a:lnSpc>
                <a:spcPct val="150000"/>
              </a:lnSpc>
            </a:pPr>
            <a:r>
              <a:rPr lang="pt-BR" sz="2400" b="1" dirty="0" smtClean="0">
                <a:solidFill>
                  <a:schemeClr val="bg1"/>
                </a:solidFill>
                <a:latin typeface="Arial" pitchFamily="34" charset="0"/>
                <a:cs typeface="Arial" pitchFamily="34" charset="0"/>
              </a:rPr>
              <a:t>Associação é qualquer iniciativa que reúne pessoas físicas ou outras sociedades jurídicas com objetivos comuns, visando superar dificuldades e gerar benefícios para os seus associados. </a:t>
            </a:r>
          </a:p>
        </p:txBody>
      </p:sp>
      <p:sp>
        <p:nvSpPr>
          <p:cNvPr id="9" name="Retângulo 8"/>
          <p:cNvSpPr/>
          <p:nvPr/>
        </p:nvSpPr>
        <p:spPr>
          <a:xfrm>
            <a:off x="5170292" y="376466"/>
            <a:ext cx="2798267" cy="526811"/>
          </a:xfrm>
          <a:prstGeom prst="rect">
            <a:avLst/>
          </a:prstGeom>
        </p:spPr>
        <p:txBody>
          <a:bodyPr wrap="none">
            <a:spAutoFit/>
          </a:bodyPr>
          <a:lstStyle/>
          <a:p>
            <a:pPr algn="ctr">
              <a:lnSpc>
                <a:spcPct val="150000"/>
              </a:lnSpc>
            </a:pPr>
            <a:r>
              <a:rPr lang="pt-BR" sz="2100" b="1" i="1" dirty="0">
                <a:solidFill>
                  <a:srgbClr val="FFFF00"/>
                </a:solidFill>
                <a:latin typeface="Arial Black" panose="020B0A04020102020204" pitchFamily="34" charset="0"/>
                <a:cs typeface="Arial" pitchFamily="34" charset="0"/>
              </a:rPr>
              <a:t>ASSOCIATIVISMO</a:t>
            </a:r>
          </a:p>
        </p:txBody>
      </p:sp>
      <p:pic>
        <p:nvPicPr>
          <p:cNvPr id="10" name="Picture 2" descr="http://acmag.org.br/wp-content/uploads/2013/12/associativismo.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5330" y="3024992"/>
            <a:ext cx="5128192" cy="3635863"/>
          </a:xfrm>
          <a:prstGeom prst="round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251416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0" y="0"/>
            <a:ext cx="12192000" cy="6858000"/>
          </a:xfrm>
          <a:prstGeom prst="flowChartPunchedCard">
            <a:avLst/>
          </a:prstGeom>
          <a:solidFill>
            <a:srgbClr val="204F7A"/>
          </a:solidFill>
          <a:ln>
            <a:solidFill>
              <a:srgbClr val="0F253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rgbClr val="FFFF00"/>
              </a:solidFill>
            </a:endParaRPr>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4" name="CaixaDeTexto 3"/>
          <p:cNvSpPr txBox="1"/>
          <p:nvPr/>
        </p:nvSpPr>
        <p:spPr>
          <a:xfrm>
            <a:off x="4533363" y="160338"/>
            <a:ext cx="3593205" cy="553998"/>
          </a:xfrm>
          <a:prstGeom prst="rect">
            <a:avLst/>
          </a:prstGeom>
          <a:noFill/>
        </p:spPr>
        <p:txBody>
          <a:bodyPr wrap="square" rtlCol="0">
            <a:spAutoFit/>
          </a:bodyPr>
          <a:lstStyle/>
          <a:p>
            <a:pPr algn="ctr"/>
            <a:r>
              <a:rPr lang="pt-BR" sz="3000" i="1" dirty="0" smtClean="0">
                <a:solidFill>
                  <a:srgbClr val="FFFF00"/>
                </a:solidFill>
                <a:latin typeface="Arial Black" panose="020B0A04020102020204" pitchFamily="34" charset="0"/>
              </a:rPr>
              <a:t>ACIRV </a:t>
            </a:r>
            <a:endParaRPr lang="pt-BR" sz="3000" i="1" dirty="0">
              <a:solidFill>
                <a:srgbClr val="FFFF00"/>
              </a:solidFill>
              <a:latin typeface="Arial Black" panose="020B0A04020102020204" pitchFamily="34" charset="0"/>
            </a:endParaRPr>
          </a:p>
        </p:txBody>
      </p:sp>
      <p:sp>
        <p:nvSpPr>
          <p:cNvPr id="8" name="Retângulo 7"/>
          <p:cNvSpPr/>
          <p:nvPr/>
        </p:nvSpPr>
        <p:spPr>
          <a:xfrm>
            <a:off x="282217" y="1519085"/>
            <a:ext cx="11772408" cy="4685898"/>
          </a:xfrm>
          <a:prstGeom prst="rect">
            <a:avLst/>
          </a:prstGeom>
        </p:spPr>
        <p:txBody>
          <a:bodyPr wrap="square">
            <a:spAutoFit/>
          </a:bodyPr>
          <a:lstStyle/>
          <a:p>
            <a:pPr algn="just">
              <a:lnSpc>
                <a:spcPct val="150000"/>
              </a:lnSpc>
            </a:pPr>
            <a:r>
              <a:rPr lang="pt-BR" sz="2100" b="1" dirty="0" smtClean="0">
                <a:solidFill>
                  <a:srgbClr val="FFFF00"/>
                </a:solidFill>
                <a:latin typeface="Arial" pitchFamily="34" charset="0"/>
                <a:cs typeface="Arial" pitchFamily="34" charset="0"/>
              </a:rPr>
              <a:t>A Associação Comercial e Industrial de Rio Verde - ACIRV nasceu em junho de 1984</a:t>
            </a:r>
            <a:r>
              <a:rPr lang="pt-BR" sz="2100" b="1" dirty="0" smtClean="0">
                <a:solidFill>
                  <a:schemeClr val="bg1"/>
                </a:solidFill>
                <a:latin typeface="Arial" pitchFamily="34" charset="0"/>
                <a:cs typeface="Arial" pitchFamily="34" charset="0"/>
              </a:rPr>
              <a:t> do ideal de um grupo de empresários. No início era apenas uma utopia, hoje, uma realidade que se fundamentou na garra e na perseverança de homens imbuídos em melhorar, cada vez mais o comércio, a indústria e a prestação de serviços rioverdense; </a:t>
            </a:r>
          </a:p>
          <a:p>
            <a:pPr algn="just">
              <a:lnSpc>
                <a:spcPct val="150000"/>
              </a:lnSpc>
            </a:pPr>
            <a:endParaRPr lang="pt-BR" sz="1000" b="1" dirty="0" smtClean="0">
              <a:solidFill>
                <a:schemeClr val="bg1"/>
              </a:solidFill>
              <a:latin typeface="Arial" pitchFamily="34" charset="0"/>
              <a:cs typeface="Arial" pitchFamily="34" charset="0"/>
            </a:endParaRPr>
          </a:p>
          <a:p>
            <a:pPr algn="just">
              <a:lnSpc>
                <a:spcPct val="150000"/>
              </a:lnSpc>
            </a:pPr>
            <a:r>
              <a:rPr lang="pt-BR" sz="2100" b="1" dirty="0" smtClean="0">
                <a:solidFill>
                  <a:schemeClr val="bg1"/>
                </a:solidFill>
                <a:latin typeface="Arial" pitchFamily="34" charset="0"/>
                <a:cs typeface="Arial" pitchFamily="34" charset="0"/>
              </a:rPr>
              <a:t>Buscando cumprir seu papel em defesa dos interesses comuns dos associados, à ACIRV conquistou diversas vitórias, tais como: </a:t>
            </a:r>
            <a:r>
              <a:rPr lang="pt-BR" sz="2100" b="1" dirty="0" smtClean="0">
                <a:solidFill>
                  <a:srgbClr val="FFFF00"/>
                </a:solidFill>
                <a:latin typeface="Arial" pitchFamily="34" charset="0"/>
                <a:cs typeface="Arial" pitchFamily="34" charset="0"/>
              </a:rPr>
              <a:t>a criação e permanência da Junta Comercial Regional (JUCEG) e SEBRAE - GO em Rio Verde; a implantação da Escola Profissionalizante do SENAI; além da participação ativa na vinda das grandes indústrias para o município.</a:t>
            </a:r>
          </a:p>
        </p:txBody>
      </p:sp>
    </p:spTree>
    <p:extLst>
      <p:ext uri="{BB962C8B-B14F-4D97-AF65-F5344CB8AC3E}">
        <p14:creationId xmlns:p14="http://schemas.microsoft.com/office/powerpoint/2010/main" val="115198771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0" y="0"/>
            <a:ext cx="12192000" cy="6858000"/>
          </a:xfrm>
          <a:prstGeom prst="flowChartPunchedCard">
            <a:avLst/>
          </a:prstGeom>
          <a:solidFill>
            <a:srgbClr val="204F7A"/>
          </a:solidFill>
          <a:ln>
            <a:solidFill>
              <a:srgbClr val="204F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2"/>
          <p:cNvSpPr>
            <a:spLocks noChangeArrowheads="1"/>
          </p:cNvSpPr>
          <p:nvPr/>
        </p:nvSpPr>
        <p:spPr bwMode="auto">
          <a:xfrm>
            <a:off x="2472745" y="634981"/>
            <a:ext cx="8597114" cy="1496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50000"/>
              </a:lnSpc>
              <a:spcBef>
                <a:spcPct val="0"/>
              </a:spcBef>
              <a:spcAft>
                <a:spcPct val="0"/>
              </a:spcAft>
              <a:buClrTx/>
              <a:buSzTx/>
              <a:tabLst/>
            </a:pPr>
            <a:r>
              <a:rPr kumimoji="0" lang="pt-BR" altLang="pt-BR" sz="2100" b="1" i="0" u="none" strike="noStrike" cap="none" normalizeH="0" baseline="0" dirty="0" smtClean="0">
                <a:ln>
                  <a:noFill/>
                </a:ln>
                <a:solidFill>
                  <a:schemeClr val="bg1"/>
                </a:solidFill>
                <a:effectLst/>
                <a:latin typeface="Arial Black" panose="020B0A04020102020204" pitchFamily="34" charset="0"/>
                <a:ea typeface="Calibri" panose="020F0502020204030204" pitchFamily="34" charset="0"/>
                <a:cs typeface="Arial" panose="020B0604020202020204" pitchFamily="34" charset="0"/>
              </a:rPr>
              <a:t>2-</a:t>
            </a:r>
            <a:r>
              <a:rPr kumimoji="0" lang="pt-BR" altLang="pt-BR" sz="2100" b="1" i="0" u="none" strike="noStrike" cap="none" normalizeH="0" dirty="0" smtClean="0">
                <a:ln>
                  <a:noFill/>
                </a:ln>
                <a:solidFill>
                  <a:schemeClr val="bg1"/>
                </a:solidFill>
                <a:effectLst/>
                <a:latin typeface="Arial Black" panose="020B0A04020102020204" pitchFamily="34" charset="0"/>
                <a:ea typeface="Calibri" panose="020F0502020204030204" pitchFamily="34" charset="0"/>
                <a:cs typeface="Arial" panose="020B0604020202020204" pitchFamily="34" charset="0"/>
              </a:rPr>
              <a:t> </a:t>
            </a:r>
            <a:r>
              <a:rPr kumimoji="0" lang="pt-BR" altLang="pt-BR" sz="2100" b="1" i="0" u="none" strike="noStrike" cap="none" normalizeH="0" baseline="0" dirty="0" smtClean="0">
                <a:ln>
                  <a:noFill/>
                </a:ln>
                <a:solidFill>
                  <a:schemeClr val="bg1"/>
                </a:solidFill>
                <a:effectLst/>
                <a:latin typeface="Arial Black" panose="020B0A04020102020204" pitchFamily="34" charset="0"/>
                <a:ea typeface="Calibri" panose="020F0502020204030204" pitchFamily="34" charset="0"/>
                <a:cs typeface="Arial" panose="020B0604020202020204" pitchFamily="34" charset="0"/>
              </a:rPr>
              <a:t>Qual a importância da associação para sua empresa e para a cidade de Rio verde?</a:t>
            </a:r>
            <a:endParaRPr kumimoji="0" lang="pt-BR" altLang="pt-BR" sz="2100" b="0" i="0" u="none" strike="noStrike" cap="none" normalizeH="0" baseline="0" dirty="0" smtClean="0">
              <a:ln>
                <a:noFill/>
              </a:ln>
              <a:solidFill>
                <a:schemeClr val="bg1"/>
              </a:solidFill>
              <a:effectLst/>
              <a:latin typeface="Arial Black" panose="020B0A04020102020204" pitchFamily="34" charset="0"/>
            </a:endParaRPr>
          </a:p>
          <a:p>
            <a:pPr marL="0" marR="0" lvl="0" indent="0" algn="ctr" defTabSz="914400" rtl="0" eaLnBrk="0" fontAlgn="base" latinLnBrk="0" hangingPunct="0">
              <a:lnSpc>
                <a:spcPct val="150000"/>
              </a:lnSpc>
              <a:spcBef>
                <a:spcPct val="0"/>
              </a:spcBef>
              <a:spcAft>
                <a:spcPct val="0"/>
              </a:spcAft>
              <a:buClrTx/>
              <a:buSzTx/>
              <a:buFontTx/>
              <a:buNone/>
              <a:tabLst/>
            </a:pPr>
            <a:endParaRPr kumimoji="0" lang="pt-BR" altLang="pt-BR" sz="2100" b="0" i="0" u="none" strike="noStrike" cap="none" normalizeH="0" baseline="0" dirty="0" smtClean="0">
              <a:ln>
                <a:noFill/>
              </a:ln>
              <a:solidFill>
                <a:schemeClr val="bg1"/>
              </a:solidFill>
              <a:effectLst/>
              <a:latin typeface="Arial Black" panose="020B0A04020102020204" pitchFamily="34" charset="0"/>
            </a:endParaRPr>
          </a:p>
        </p:txBody>
      </p:sp>
      <p:graphicFrame>
        <p:nvGraphicFramePr>
          <p:cNvPr id="7" name="Gráfico 6"/>
          <p:cNvGraphicFramePr/>
          <p:nvPr>
            <p:extLst>
              <p:ext uri="{D42A27DB-BD31-4B8C-83A1-F6EECF244321}">
                <p14:modId xmlns:p14="http://schemas.microsoft.com/office/powerpoint/2010/main" val="3344859467"/>
              </p:ext>
            </p:extLst>
          </p:nvPr>
        </p:nvGraphicFramePr>
        <p:xfrm>
          <a:off x="155575" y="1712891"/>
          <a:ext cx="11886172" cy="4987746"/>
        </p:xfrm>
        <a:graphic>
          <a:graphicData uri="http://schemas.openxmlformats.org/drawingml/2006/chart">
            <c:chart xmlns:c="http://schemas.openxmlformats.org/drawingml/2006/chart" xmlns:r="http://schemas.openxmlformats.org/officeDocument/2006/relationships" r:id="rId3"/>
          </a:graphicData>
        </a:graphic>
      </p:graphicFrame>
      <p:sp>
        <p:nvSpPr>
          <p:cNvPr id="8" name="Rectangle 3"/>
          <p:cNvSpPr>
            <a:spLocks noChangeArrowheads="1"/>
          </p:cNvSpPr>
          <p:nvPr/>
        </p:nvSpPr>
        <p:spPr bwMode="auto">
          <a:xfrm>
            <a:off x="0" y="40576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sp>
        <p:nvSpPr>
          <p:cNvPr id="9" name="Retângulo 8"/>
          <p:cNvSpPr/>
          <p:nvPr/>
        </p:nvSpPr>
        <p:spPr>
          <a:xfrm>
            <a:off x="5011926" y="118910"/>
            <a:ext cx="3846822" cy="553998"/>
          </a:xfrm>
          <a:prstGeom prst="rect">
            <a:avLst/>
          </a:prstGeom>
        </p:spPr>
        <p:txBody>
          <a:bodyPr wrap="none">
            <a:spAutoFit/>
          </a:bodyPr>
          <a:lstStyle/>
          <a:p>
            <a:r>
              <a:rPr lang="pt-BR" sz="3000" i="1" dirty="0" smtClean="0">
                <a:solidFill>
                  <a:srgbClr val="FFFF00"/>
                </a:solidFill>
                <a:latin typeface="Arial Black" panose="020B0A04020102020204" pitchFamily="34" charset="0"/>
              </a:rPr>
              <a:t>PESQUISA ACIRV</a:t>
            </a:r>
            <a:endParaRPr lang="pt-BR" sz="3000" i="1" dirty="0">
              <a:solidFill>
                <a:srgbClr val="FFFF00"/>
              </a:solidFill>
              <a:latin typeface="Arial Black" panose="020B0A04020102020204" pitchFamily="34" charset="0"/>
            </a:endParaRPr>
          </a:p>
        </p:txBody>
      </p:sp>
    </p:spTree>
    <p:extLst>
      <p:ext uri="{BB962C8B-B14F-4D97-AF65-F5344CB8AC3E}">
        <p14:creationId xmlns:p14="http://schemas.microsoft.com/office/powerpoint/2010/main" val="39378711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0" y="0"/>
            <a:ext cx="12192000" cy="6858000"/>
          </a:xfrm>
          <a:prstGeom prst="flowChartPunchedCard">
            <a:avLst/>
          </a:prstGeom>
          <a:solidFill>
            <a:srgbClr val="204F7A"/>
          </a:solidFill>
          <a:ln>
            <a:solidFill>
              <a:srgbClr val="204F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2"/>
          <p:cNvSpPr>
            <a:spLocks noChangeArrowheads="1"/>
          </p:cNvSpPr>
          <p:nvPr/>
        </p:nvSpPr>
        <p:spPr bwMode="auto">
          <a:xfrm>
            <a:off x="3000777" y="823179"/>
            <a:ext cx="8216929"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pt-BR" altLang="pt-BR" sz="2100" b="1" i="0" u="none" strike="noStrike" cap="none" normalizeH="0" baseline="0" dirty="0" smtClean="0">
                <a:ln>
                  <a:noFill/>
                </a:ln>
                <a:solidFill>
                  <a:schemeClr val="bg1"/>
                </a:solidFill>
                <a:effectLst/>
                <a:latin typeface="Arial Black" panose="020B0A04020102020204" pitchFamily="34" charset="0"/>
                <a:ea typeface="Calibri" panose="020F0502020204030204" pitchFamily="34" charset="0"/>
                <a:cs typeface="Arial" panose="020B0604020202020204" pitchFamily="34" charset="0"/>
              </a:rPr>
              <a:t>3- O que se espera da associação para o ano de 2016?</a:t>
            </a:r>
            <a:endParaRPr kumimoji="0" lang="pt-BR" altLang="pt-BR" sz="2100" b="0" i="0" u="none" strike="noStrike" cap="none" normalizeH="0" baseline="0" dirty="0" smtClean="0">
              <a:ln>
                <a:noFill/>
              </a:ln>
              <a:solidFill>
                <a:schemeClr val="bg1"/>
              </a:solidFill>
              <a:effectLst/>
              <a:latin typeface="Arial Black" panose="020B0A040201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BR" sz="2100" b="0" i="0" u="none" strike="noStrike" cap="none" normalizeH="0" baseline="0" dirty="0" smtClean="0">
              <a:ln>
                <a:noFill/>
              </a:ln>
              <a:solidFill>
                <a:schemeClr val="bg1"/>
              </a:solidFill>
              <a:effectLst/>
              <a:latin typeface="Arial Black" panose="020B0A04020102020204" pitchFamily="34" charset="0"/>
            </a:endParaRPr>
          </a:p>
        </p:txBody>
      </p:sp>
      <p:graphicFrame>
        <p:nvGraphicFramePr>
          <p:cNvPr id="7" name="Gráfico 6"/>
          <p:cNvGraphicFramePr/>
          <p:nvPr>
            <p:extLst>
              <p:ext uri="{D42A27DB-BD31-4B8C-83A1-F6EECF244321}">
                <p14:modId xmlns:p14="http://schemas.microsoft.com/office/powerpoint/2010/main" val="3183706375"/>
              </p:ext>
            </p:extLst>
          </p:nvPr>
        </p:nvGraphicFramePr>
        <p:xfrm>
          <a:off x="839337" y="1351002"/>
          <a:ext cx="11174472" cy="5096053"/>
        </p:xfrm>
        <a:graphic>
          <a:graphicData uri="http://schemas.openxmlformats.org/drawingml/2006/chart">
            <c:chart xmlns:c="http://schemas.openxmlformats.org/drawingml/2006/chart" xmlns:r="http://schemas.openxmlformats.org/officeDocument/2006/relationships" r:id="rId3"/>
          </a:graphicData>
        </a:graphic>
      </p:graphicFrame>
      <p:sp>
        <p:nvSpPr>
          <p:cNvPr id="8" name="Rectangle 3"/>
          <p:cNvSpPr>
            <a:spLocks noChangeArrowheads="1"/>
          </p:cNvSpPr>
          <p:nvPr/>
        </p:nvSpPr>
        <p:spPr bwMode="auto">
          <a:xfrm>
            <a:off x="457200" y="40100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sp>
        <p:nvSpPr>
          <p:cNvPr id="9" name="Retângulo 8"/>
          <p:cNvSpPr/>
          <p:nvPr/>
        </p:nvSpPr>
        <p:spPr>
          <a:xfrm>
            <a:off x="5011926" y="118910"/>
            <a:ext cx="3846822" cy="553998"/>
          </a:xfrm>
          <a:prstGeom prst="rect">
            <a:avLst/>
          </a:prstGeom>
        </p:spPr>
        <p:txBody>
          <a:bodyPr wrap="none">
            <a:spAutoFit/>
          </a:bodyPr>
          <a:lstStyle/>
          <a:p>
            <a:r>
              <a:rPr lang="pt-BR" sz="3000" i="1" dirty="0" smtClean="0">
                <a:solidFill>
                  <a:srgbClr val="FFFF00"/>
                </a:solidFill>
                <a:latin typeface="Arial Black" panose="020B0A04020102020204" pitchFamily="34" charset="0"/>
              </a:rPr>
              <a:t>PESQUISA ACIRV</a:t>
            </a:r>
            <a:endParaRPr lang="pt-BR" sz="3000" i="1" dirty="0">
              <a:solidFill>
                <a:srgbClr val="FFFF00"/>
              </a:solidFill>
              <a:latin typeface="Arial Black" panose="020B0A04020102020204" pitchFamily="34" charset="0"/>
            </a:endParaRPr>
          </a:p>
        </p:txBody>
      </p:sp>
    </p:spTree>
    <p:extLst>
      <p:ext uri="{BB962C8B-B14F-4D97-AF65-F5344CB8AC3E}">
        <p14:creationId xmlns:p14="http://schemas.microsoft.com/office/powerpoint/2010/main" val="40343925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16986" y="0"/>
            <a:ext cx="12192000" cy="6858000"/>
          </a:xfrm>
          <a:prstGeom prst="flowChartPunchedCard">
            <a:avLst/>
          </a:prstGeom>
          <a:solidFill>
            <a:srgbClr val="204F7A"/>
          </a:solidFill>
          <a:ln>
            <a:solidFill>
              <a:srgbClr val="204F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8" name="CaixaDeTexto 7"/>
          <p:cNvSpPr txBox="1"/>
          <p:nvPr/>
        </p:nvSpPr>
        <p:spPr>
          <a:xfrm>
            <a:off x="12742985" y="5580185"/>
            <a:ext cx="184731" cy="369332"/>
          </a:xfrm>
          <a:prstGeom prst="rect">
            <a:avLst/>
          </a:prstGeom>
          <a:noFill/>
        </p:spPr>
        <p:txBody>
          <a:bodyPr wrap="none" rtlCol="0">
            <a:spAutoFit/>
          </a:bodyPr>
          <a:lstStyle/>
          <a:p>
            <a:endParaRPr lang="pt-BR" dirty="0"/>
          </a:p>
        </p:txBody>
      </p:sp>
      <p:sp>
        <p:nvSpPr>
          <p:cNvPr id="7" name="CaixaDeTexto 6"/>
          <p:cNvSpPr txBox="1"/>
          <p:nvPr/>
        </p:nvSpPr>
        <p:spPr>
          <a:xfrm>
            <a:off x="2101250" y="-1"/>
            <a:ext cx="10374736" cy="526811"/>
          </a:xfrm>
          <a:prstGeom prst="rect">
            <a:avLst/>
          </a:prstGeom>
          <a:noFill/>
        </p:spPr>
        <p:txBody>
          <a:bodyPr wrap="square" rtlCol="0">
            <a:spAutoFit/>
          </a:bodyPr>
          <a:lstStyle/>
          <a:p>
            <a:pPr algn="just">
              <a:lnSpc>
                <a:spcPct val="150000"/>
              </a:lnSpc>
            </a:pPr>
            <a:r>
              <a:rPr lang="pt-BR" sz="2100" i="1" dirty="0">
                <a:solidFill>
                  <a:srgbClr val="FFFF00"/>
                </a:solidFill>
                <a:latin typeface="Arial Black" panose="020B0A04020102020204" pitchFamily="34" charset="0"/>
                <a:cs typeface="Arial" panose="020B0604020202020204" pitchFamily="34" charset="0"/>
              </a:rPr>
              <a:t>Movimento #VemPraRua- Caravana Rio Verde </a:t>
            </a:r>
            <a:r>
              <a:rPr lang="pt-BR" sz="2100" i="1" dirty="0" smtClean="0">
                <a:solidFill>
                  <a:srgbClr val="FFFF00"/>
                </a:solidFill>
                <a:latin typeface="Arial Black" panose="020B0A04020102020204" pitchFamily="34" charset="0"/>
                <a:cs typeface="Arial" panose="020B0604020202020204" pitchFamily="34" charset="0"/>
              </a:rPr>
              <a:t>– GO/ Brasília</a:t>
            </a:r>
            <a:endParaRPr lang="pt-BR" sz="2100" i="1" dirty="0">
              <a:solidFill>
                <a:srgbClr val="FFFF00"/>
              </a:solidFill>
              <a:latin typeface="Arial Black" panose="020B0A04020102020204" pitchFamily="34" charset="0"/>
              <a:cs typeface="Arial" panose="020B0604020202020204" pitchFamily="34" charset="0"/>
            </a:endParaRPr>
          </a:p>
        </p:txBody>
      </p:sp>
      <p:pic>
        <p:nvPicPr>
          <p:cNvPr id="4" name="Imagem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380" y="773501"/>
            <a:ext cx="8018219" cy="6013665"/>
          </a:xfrm>
          <a:prstGeom prst="rect">
            <a:avLst/>
          </a:prstGeom>
        </p:spPr>
      </p:pic>
      <p:pic>
        <p:nvPicPr>
          <p:cNvPr id="9" name="Imagem 8"/>
          <p:cNvPicPr>
            <a:picLocks noChangeAspect="1"/>
          </p:cNvPicPr>
          <p:nvPr/>
        </p:nvPicPr>
        <p:blipFill rotWithShape="1">
          <a:blip r:embed="rId4">
            <a:extLst>
              <a:ext uri="{28A0092B-C50C-407E-A947-70E740481C1C}">
                <a14:useLocalDpi xmlns:a14="http://schemas.microsoft.com/office/drawing/2010/main" val="0"/>
              </a:ext>
            </a:extLst>
          </a:blip>
          <a:srcRect t="26281"/>
          <a:stretch/>
        </p:blipFill>
        <p:spPr>
          <a:xfrm>
            <a:off x="8297941" y="3972670"/>
            <a:ext cx="3778147" cy="2441011"/>
          </a:xfrm>
          <a:prstGeom prst="rect">
            <a:avLst/>
          </a:prstGeom>
        </p:spPr>
      </p:pic>
      <p:pic>
        <p:nvPicPr>
          <p:cNvPr id="5" name="Imagem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29838" y="773501"/>
            <a:ext cx="3848909" cy="2886682"/>
          </a:xfrm>
          <a:prstGeom prst="rect">
            <a:avLst/>
          </a:prstGeom>
        </p:spPr>
      </p:pic>
    </p:spTree>
    <p:extLst>
      <p:ext uri="{BB962C8B-B14F-4D97-AF65-F5344CB8AC3E}">
        <p14:creationId xmlns:p14="http://schemas.microsoft.com/office/powerpoint/2010/main" val="11931325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16986" y="0"/>
            <a:ext cx="12192000" cy="6858000"/>
          </a:xfrm>
          <a:prstGeom prst="flowChartPunchedCard">
            <a:avLst/>
          </a:prstGeom>
          <a:solidFill>
            <a:srgbClr val="204F7A"/>
          </a:solidFill>
          <a:ln>
            <a:solidFill>
              <a:srgbClr val="204F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8" name="CaixaDeTexto 7"/>
          <p:cNvSpPr txBox="1"/>
          <p:nvPr/>
        </p:nvSpPr>
        <p:spPr>
          <a:xfrm>
            <a:off x="12742985" y="5580185"/>
            <a:ext cx="184731" cy="369332"/>
          </a:xfrm>
          <a:prstGeom prst="rect">
            <a:avLst/>
          </a:prstGeom>
          <a:noFill/>
        </p:spPr>
        <p:txBody>
          <a:bodyPr wrap="none" rtlCol="0">
            <a:spAutoFit/>
          </a:bodyPr>
          <a:lstStyle/>
          <a:p>
            <a:endParaRPr lang="pt-BR" dirty="0"/>
          </a:p>
        </p:txBody>
      </p:sp>
      <p:pic>
        <p:nvPicPr>
          <p:cNvPr id="4" name="Imagem 3"/>
          <p:cNvPicPr>
            <a:picLocks noChangeAspect="1"/>
          </p:cNvPicPr>
          <p:nvPr/>
        </p:nvPicPr>
        <p:blipFill rotWithShape="1">
          <a:blip r:embed="rId3">
            <a:extLst>
              <a:ext uri="{28A0092B-C50C-407E-A947-70E740481C1C}">
                <a14:useLocalDpi xmlns:a14="http://schemas.microsoft.com/office/drawing/2010/main" val="0"/>
              </a:ext>
            </a:extLst>
          </a:blip>
          <a:srcRect t="2176"/>
          <a:stretch/>
        </p:blipFill>
        <p:spPr>
          <a:xfrm>
            <a:off x="8551573" y="553792"/>
            <a:ext cx="3624968" cy="6304208"/>
          </a:xfrm>
          <a:prstGeom prst="rect">
            <a:avLst/>
          </a:prstGeom>
        </p:spPr>
      </p:pic>
      <p:pic>
        <p:nvPicPr>
          <p:cNvPr id="5" name="Imagem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7509" y="644510"/>
            <a:ext cx="8267481" cy="6200611"/>
          </a:xfrm>
          <a:prstGeom prst="rect">
            <a:avLst/>
          </a:prstGeom>
        </p:spPr>
      </p:pic>
      <p:sp>
        <p:nvSpPr>
          <p:cNvPr id="9" name="CaixaDeTexto 8"/>
          <p:cNvSpPr txBox="1"/>
          <p:nvPr/>
        </p:nvSpPr>
        <p:spPr>
          <a:xfrm>
            <a:off x="2822467" y="-1"/>
            <a:ext cx="9167764" cy="526811"/>
          </a:xfrm>
          <a:prstGeom prst="rect">
            <a:avLst/>
          </a:prstGeom>
          <a:noFill/>
        </p:spPr>
        <p:txBody>
          <a:bodyPr wrap="square" rtlCol="0">
            <a:spAutoFit/>
          </a:bodyPr>
          <a:lstStyle/>
          <a:p>
            <a:pPr algn="just">
              <a:lnSpc>
                <a:spcPct val="150000"/>
              </a:lnSpc>
            </a:pPr>
            <a:r>
              <a:rPr lang="pt-BR" sz="2100" i="1" dirty="0">
                <a:solidFill>
                  <a:srgbClr val="FFFF00"/>
                </a:solidFill>
                <a:latin typeface="Arial Black" panose="020B0A04020102020204" pitchFamily="34" charset="0"/>
                <a:cs typeface="Arial" panose="020B0604020202020204" pitchFamily="34" charset="0"/>
              </a:rPr>
              <a:t>Movimento #VemPraRua- Caravana Rio Verde </a:t>
            </a:r>
            <a:r>
              <a:rPr lang="pt-BR" sz="2100" i="1" dirty="0" smtClean="0">
                <a:solidFill>
                  <a:srgbClr val="FFFF00"/>
                </a:solidFill>
                <a:latin typeface="Arial Black" panose="020B0A04020102020204" pitchFamily="34" charset="0"/>
                <a:cs typeface="Arial" panose="020B0604020202020204" pitchFamily="34" charset="0"/>
              </a:rPr>
              <a:t>– GO/ Brasília</a:t>
            </a:r>
            <a:endParaRPr lang="pt-BR" sz="2100" i="1" dirty="0">
              <a:solidFill>
                <a:srgbClr val="FFFF00"/>
              </a:solidFill>
              <a:latin typeface="Arial Black" panose="020B0A04020102020204" pitchFamily="34" charset="0"/>
              <a:cs typeface="Arial" panose="020B0604020202020204" pitchFamily="34" charset="0"/>
            </a:endParaRPr>
          </a:p>
        </p:txBody>
      </p:sp>
    </p:spTree>
    <p:extLst>
      <p:ext uri="{BB962C8B-B14F-4D97-AF65-F5344CB8AC3E}">
        <p14:creationId xmlns:p14="http://schemas.microsoft.com/office/powerpoint/2010/main" val="13229787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0" y="373"/>
            <a:ext cx="12192000" cy="6858000"/>
          </a:xfrm>
          <a:prstGeom prst="flowChartPunchedCard">
            <a:avLst/>
          </a:prstGeom>
          <a:solidFill>
            <a:srgbClr val="204F7A"/>
          </a:solidFill>
          <a:ln>
            <a:solidFill>
              <a:srgbClr val="204F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10" name="CaixaDeTexto 9"/>
          <p:cNvSpPr txBox="1"/>
          <p:nvPr/>
        </p:nvSpPr>
        <p:spPr>
          <a:xfrm>
            <a:off x="2021983" y="189269"/>
            <a:ext cx="9916732" cy="553998"/>
          </a:xfrm>
          <a:prstGeom prst="rect">
            <a:avLst/>
          </a:prstGeom>
          <a:noFill/>
        </p:spPr>
        <p:txBody>
          <a:bodyPr wrap="square" rtlCol="0">
            <a:spAutoFit/>
          </a:bodyPr>
          <a:lstStyle/>
          <a:p>
            <a:pPr algn="ctr"/>
            <a:r>
              <a:rPr lang="pt-BR" sz="3000" i="1" dirty="0" smtClean="0">
                <a:solidFill>
                  <a:srgbClr val="FFFF00"/>
                </a:solidFill>
                <a:latin typeface="Arial Black" panose="020B0A04020102020204" pitchFamily="34" charset="0"/>
              </a:rPr>
              <a:t>Reunião Michel Temer (Presidente Interino)</a:t>
            </a:r>
            <a:endParaRPr lang="pt-BR" sz="3000" i="1" dirty="0">
              <a:solidFill>
                <a:srgbClr val="FFFF00"/>
              </a:solidFill>
              <a:latin typeface="Arial Black" panose="020B0A04020102020204" pitchFamily="34" charset="0"/>
            </a:endParaRPr>
          </a:p>
        </p:txBody>
      </p:sp>
      <p:pic>
        <p:nvPicPr>
          <p:cNvPr id="7" name="Imagem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77495" y="782878"/>
            <a:ext cx="3193424" cy="2395068"/>
          </a:xfrm>
          <a:prstGeom prst="rect">
            <a:avLst/>
          </a:prstGeom>
        </p:spPr>
      </p:pic>
      <p:pic>
        <p:nvPicPr>
          <p:cNvPr id="11" name="Imagem 10"/>
          <p:cNvPicPr>
            <a:picLocks noChangeAspect="1"/>
          </p:cNvPicPr>
          <p:nvPr/>
        </p:nvPicPr>
        <p:blipFill rotWithShape="1">
          <a:blip r:embed="rId4" cstate="print">
            <a:extLst>
              <a:ext uri="{28A0092B-C50C-407E-A947-70E740481C1C}">
                <a14:useLocalDpi xmlns:a14="http://schemas.microsoft.com/office/drawing/2010/main" val="0"/>
              </a:ext>
            </a:extLst>
          </a:blip>
          <a:srcRect l="545" t="29570" r="-545" b="-2180"/>
          <a:stretch/>
        </p:blipFill>
        <p:spPr>
          <a:xfrm>
            <a:off x="255619" y="1271817"/>
            <a:ext cx="4725518" cy="2573410"/>
          </a:xfrm>
          <a:prstGeom prst="rect">
            <a:avLst/>
          </a:prstGeom>
        </p:spPr>
      </p:pic>
      <p:pic>
        <p:nvPicPr>
          <p:cNvPr id="12" name="Imagem 11"/>
          <p:cNvPicPr>
            <a:picLocks noChangeAspect="1"/>
          </p:cNvPicPr>
          <p:nvPr/>
        </p:nvPicPr>
        <p:blipFill rotWithShape="1">
          <a:blip r:embed="rId5" cstate="print">
            <a:extLst>
              <a:ext uri="{28A0092B-C50C-407E-A947-70E740481C1C}">
                <a14:useLocalDpi xmlns:a14="http://schemas.microsoft.com/office/drawing/2010/main" val="0"/>
              </a:ext>
            </a:extLst>
          </a:blip>
          <a:srcRect l="8990" t="21662" r="9432"/>
          <a:stretch/>
        </p:blipFill>
        <p:spPr>
          <a:xfrm>
            <a:off x="8567277" y="782878"/>
            <a:ext cx="3487626" cy="2511810"/>
          </a:xfrm>
          <a:prstGeom prst="rect">
            <a:avLst/>
          </a:prstGeom>
        </p:spPr>
      </p:pic>
      <p:pic>
        <p:nvPicPr>
          <p:cNvPr id="13" name="Imagem 1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168596" y="3471847"/>
            <a:ext cx="5851846" cy="3294499"/>
          </a:xfrm>
          <a:prstGeom prst="rect">
            <a:avLst/>
          </a:prstGeom>
        </p:spPr>
      </p:pic>
      <p:pic>
        <p:nvPicPr>
          <p:cNvPr id="14" name="Imagem 13"/>
          <p:cNvPicPr>
            <a:picLocks noChangeAspect="1"/>
          </p:cNvPicPr>
          <p:nvPr/>
        </p:nvPicPr>
        <p:blipFill rotWithShape="1">
          <a:blip r:embed="rId7">
            <a:extLst>
              <a:ext uri="{28A0092B-C50C-407E-A947-70E740481C1C}">
                <a14:useLocalDpi xmlns:a14="http://schemas.microsoft.com/office/drawing/2010/main" val="0"/>
              </a:ext>
            </a:extLst>
          </a:blip>
          <a:srcRect t="40188" r="13978"/>
          <a:stretch/>
        </p:blipFill>
        <p:spPr>
          <a:xfrm>
            <a:off x="307975" y="3858478"/>
            <a:ext cx="5579141" cy="2921119"/>
          </a:xfrm>
          <a:prstGeom prst="rect">
            <a:avLst/>
          </a:prstGeom>
        </p:spPr>
      </p:pic>
    </p:spTree>
    <p:extLst>
      <p:ext uri="{BB962C8B-B14F-4D97-AF65-F5344CB8AC3E}">
        <p14:creationId xmlns:p14="http://schemas.microsoft.com/office/powerpoint/2010/main" val="5791979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0" y="0"/>
            <a:ext cx="12192000" cy="6858000"/>
          </a:xfrm>
          <a:prstGeom prst="flowChartPunchedCard">
            <a:avLst/>
          </a:prstGeom>
          <a:solidFill>
            <a:srgbClr val="204F7A"/>
          </a:solidFill>
          <a:ln>
            <a:solidFill>
              <a:srgbClr val="204F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p:cNvSpPr>
            <a:spLocks noChangeArrowheads="1"/>
          </p:cNvSpPr>
          <p:nvPr/>
        </p:nvSpPr>
        <p:spPr bwMode="auto">
          <a:xfrm>
            <a:off x="457200" y="34861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pic>
        <p:nvPicPr>
          <p:cNvPr id="4" name="Imagem 3"/>
          <p:cNvPicPr>
            <a:picLocks noChangeAspect="1"/>
          </p:cNvPicPr>
          <p:nvPr/>
        </p:nvPicPr>
        <p:blipFill rotWithShape="1">
          <a:blip r:embed="rId3" cstate="print">
            <a:extLst>
              <a:ext uri="{28A0092B-C50C-407E-A947-70E740481C1C}">
                <a14:useLocalDpi xmlns:a14="http://schemas.microsoft.com/office/drawing/2010/main" val="0"/>
              </a:ext>
            </a:extLst>
          </a:blip>
          <a:srcRect t="16635" b="23568"/>
          <a:stretch/>
        </p:blipFill>
        <p:spPr>
          <a:xfrm>
            <a:off x="2240924" y="0"/>
            <a:ext cx="9951076" cy="6857999"/>
          </a:xfrm>
          <a:prstGeom prst="rect">
            <a:avLst/>
          </a:prstGeom>
        </p:spPr>
      </p:pic>
    </p:spTree>
    <p:extLst>
      <p:ext uri="{BB962C8B-B14F-4D97-AF65-F5344CB8AC3E}">
        <p14:creationId xmlns:p14="http://schemas.microsoft.com/office/powerpoint/2010/main" val="24568678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0" y="0"/>
            <a:ext cx="12192000" cy="6858000"/>
          </a:xfrm>
          <a:prstGeom prst="flowChartPunchedCard">
            <a:avLst/>
          </a:prstGeom>
          <a:solidFill>
            <a:srgbClr val="204F7A"/>
          </a:solidFill>
          <a:ln>
            <a:solidFill>
              <a:srgbClr val="204F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p:cNvSpPr>
            <a:spLocks noChangeArrowheads="1"/>
          </p:cNvSpPr>
          <p:nvPr/>
        </p:nvSpPr>
        <p:spPr bwMode="auto">
          <a:xfrm>
            <a:off x="457200" y="34861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pic>
        <p:nvPicPr>
          <p:cNvPr id="5" name="Imagem 4"/>
          <p:cNvPicPr>
            <a:picLocks noChangeAspect="1"/>
          </p:cNvPicPr>
          <p:nvPr/>
        </p:nvPicPr>
        <p:blipFill rotWithShape="1">
          <a:blip r:embed="rId3" cstate="print">
            <a:extLst>
              <a:ext uri="{28A0092B-C50C-407E-A947-70E740481C1C}">
                <a14:useLocalDpi xmlns:a14="http://schemas.microsoft.com/office/drawing/2010/main" val="0"/>
              </a:ext>
            </a:extLst>
          </a:blip>
          <a:srcRect t="5498" b="23192"/>
          <a:stretch/>
        </p:blipFill>
        <p:spPr>
          <a:xfrm>
            <a:off x="2962141" y="0"/>
            <a:ext cx="9229859" cy="6837361"/>
          </a:xfrm>
          <a:prstGeom prst="rect">
            <a:avLst/>
          </a:prstGeom>
        </p:spPr>
      </p:pic>
    </p:spTree>
    <p:extLst>
      <p:ext uri="{BB962C8B-B14F-4D97-AF65-F5344CB8AC3E}">
        <p14:creationId xmlns:p14="http://schemas.microsoft.com/office/powerpoint/2010/main" val="33261332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0" y="13252"/>
            <a:ext cx="12192000" cy="6858000"/>
          </a:xfrm>
          <a:prstGeom prst="flowChartPunchedCard">
            <a:avLst/>
          </a:prstGeom>
          <a:solidFill>
            <a:srgbClr val="204F7A"/>
          </a:solidFill>
          <a:ln>
            <a:solidFill>
              <a:srgbClr val="204F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 name="Retângulo 3"/>
          <p:cNvSpPr/>
          <p:nvPr/>
        </p:nvSpPr>
        <p:spPr>
          <a:xfrm>
            <a:off x="1" y="4371563"/>
            <a:ext cx="12192000" cy="2486437"/>
          </a:xfrm>
          <a:prstGeom prst="rec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5" name="CaixaDeTexto 4"/>
          <p:cNvSpPr txBox="1"/>
          <p:nvPr/>
        </p:nvSpPr>
        <p:spPr>
          <a:xfrm>
            <a:off x="991673" y="677171"/>
            <a:ext cx="5357611" cy="830997"/>
          </a:xfrm>
          <a:prstGeom prst="rect">
            <a:avLst/>
          </a:prstGeom>
          <a:noFill/>
          <a:ln>
            <a:solidFill>
              <a:schemeClr val="bg1"/>
            </a:solidFill>
          </a:ln>
        </p:spPr>
        <p:txBody>
          <a:bodyPr wrap="square" rtlCol="0">
            <a:spAutoFit/>
          </a:bodyPr>
          <a:lstStyle/>
          <a:p>
            <a:pPr algn="just">
              <a:lnSpc>
                <a:spcPct val="150000"/>
              </a:lnSpc>
            </a:pPr>
            <a:r>
              <a:rPr lang="pt-BR" sz="1600" dirty="0" smtClean="0">
                <a:solidFill>
                  <a:schemeClr val="bg1"/>
                </a:solidFill>
                <a:latin typeface="Arial Black" panose="020B0A04020102020204" pitchFamily="34" charset="0"/>
              </a:rPr>
              <a:t>1ª Reunião aconteceu dia  1º de julho. </a:t>
            </a:r>
          </a:p>
          <a:p>
            <a:pPr algn="just">
              <a:lnSpc>
                <a:spcPct val="150000"/>
              </a:lnSpc>
            </a:pPr>
            <a:r>
              <a:rPr lang="pt-BR" sz="1600" dirty="0" smtClean="0">
                <a:solidFill>
                  <a:schemeClr val="bg1"/>
                </a:solidFill>
                <a:latin typeface="Arial Black" panose="020B0A04020102020204" pitchFamily="34" charset="0"/>
              </a:rPr>
              <a:t>Participaram desta reunião diretores da Acirv</a:t>
            </a:r>
            <a:endParaRPr lang="pt-BR" sz="1600" dirty="0">
              <a:solidFill>
                <a:schemeClr val="bg1"/>
              </a:solidFill>
              <a:latin typeface="Arial Black" panose="020B0A04020102020204" pitchFamily="34" charset="0"/>
            </a:endParaRPr>
          </a:p>
        </p:txBody>
      </p:sp>
      <p:sp>
        <p:nvSpPr>
          <p:cNvPr id="8" name="CaixaDeTexto 7"/>
          <p:cNvSpPr txBox="1"/>
          <p:nvPr/>
        </p:nvSpPr>
        <p:spPr>
          <a:xfrm>
            <a:off x="6843913" y="527823"/>
            <a:ext cx="5103385" cy="1200329"/>
          </a:xfrm>
          <a:prstGeom prst="rect">
            <a:avLst/>
          </a:prstGeom>
          <a:noFill/>
          <a:ln>
            <a:solidFill>
              <a:schemeClr val="bg1"/>
            </a:solidFill>
          </a:ln>
        </p:spPr>
        <p:txBody>
          <a:bodyPr wrap="square" rtlCol="0">
            <a:spAutoFit/>
          </a:bodyPr>
          <a:lstStyle/>
          <a:p>
            <a:pPr algn="just">
              <a:lnSpc>
                <a:spcPct val="150000"/>
              </a:lnSpc>
            </a:pPr>
            <a:r>
              <a:rPr lang="pt-BR" sz="1600" dirty="0">
                <a:solidFill>
                  <a:schemeClr val="bg1"/>
                </a:solidFill>
                <a:latin typeface="Arial Black" panose="020B0A04020102020204" pitchFamily="34" charset="0"/>
              </a:rPr>
              <a:t>2</a:t>
            </a:r>
            <a:r>
              <a:rPr lang="pt-BR" sz="1600" dirty="0" smtClean="0">
                <a:solidFill>
                  <a:schemeClr val="bg1"/>
                </a:solidFill>
                <a:latin typeface="Arial Black" panose="020B0A04020102020204" pitchFamily="34" charset="0"/>
              </a:rPr>
              <a:t>ª Reunião aconteceu dia  07 de julho. Participaram: Acirv, CDL, OAB, Sincogarv e STIARV</a:t>
            </a:r>
            <a:endParaRPr lang="pt-BR" sz="1600" dirty="0">
              <a:solidFill>
                <a:schemeClr val="bg1"/>
              </a:solidFill>
              <a:latin typeface="Arial Black" panose="020B0A04020102020204" pitchFamily="34" charset="0"/>
            </a:endParaRPr>
          </a:p>
        </p:txBody>
      </p:sp>
      <p:pic>
        <p:nvPicPr>
          <p:cNvPr id="7" name="Imagem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0800000" flipV="1">
            <a:off x="1485844" y="1586387"/>
            <a:ext cx="3713566" cy="2785175"/>
          </a:xfrm>
          <a:prstGeom prst="rect">
            <a:avLst/>
          </a:prstGeom>
        </p:spPr>
      </p:pic>
      <p:pic>
        <p:nvPicPr>
          <p:cNvPr id="12" name="Imagem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667221" y="1810525"/>
            <a:ext cx="3898537" cy="2369624"/>
          </a:xfrm>
          <a:prstGeom prst="rect">
            <a:avLst/>
          </a:prstGeom>
        </p:spPr>
      </p:pic>
      <p:sp>
        <p:nvSpPr>
          <p:cNvPr id="10" name="CaixaDeTexto 9"/>
          <p:cNvSpPr txBox="1"/>
          <p:nvPr/>
        </p:nvSpPr>
        <p:spPr>
          <a:xfrm>
            <a:off x="355835" y="4836577"/>
            <a:ext cx="5993449" cy="1569660"/>
          </a:xfrm>
          <a:prstGeom prst="rect">
            <a:avLst/>
          </a:prstGeom>
          <a:noFill/>
          <a:ln>
            <a:solidFill>
              <a:schemeClr val="bg1"/>
            </a:solidFill>
          </a:ln>
        </p:spPr>
        <p:txBody>
          <a:bodyPr wrap="square" rtlCol="0">
            <a:spAutoFit/>
          </a:bodyPr>
          <a:lstStyle/>
          <a:p>
            <a:pPr algn="just">
              <a:lnSpc>
                <a:spcPct val="150000"/>
              </a:lnSpc>
            </a:pPr>
            <a:r>
              <a:rPr lang="pt-BR" sz="1600" dirty="0" smtClean="0">
                <a:latin typeface="Arial Black" panose="020B0A04020102020204" pitchFamily="34" charset="0"/>
              </a:rPr>
              <a:t>Dia 12/07, às 14h, foram ao Ministério Público representantes da: Acirv, CDL conversar com os promotores</a:t>
            </a:r>
            <a:r>
              <a:rPr lang="pt-BR" sz="1600" dirty="0">
                <a:latin typeface="Arial Black" panose="020B0A04020102020204" pitchFamily="34" charset="0"/>
              </a:rPr>
              <a:t>: </a:t>
            </a:r>
            <a:r>
              <a:rPr lang="pt-BR" sz="1600" dirty="0" smtClean="0">
                <a:latin typeface="Arial Black" panose="020B0A04020102020204" pitchFamily="34" charset="0"/>
              </a:rPr>
              <a:t>Dr</a:t>
            </a:r>
            <a:r>
              <a:rPr lang="pt-BR" sz="1600" dirty="0">
                <a:latin typeface="Arial Black" panose="020B0A04020102020204" pitchFamily="34" charset="0"/>
              </a:rPr>
              <a:t>. Marcelo, Dr. João Porto e Dr. </a:t>
            </a:r>
            <a:r>
              <a:rPr lang="pt-BR" sz="1600" dirty="0" smtClean="0">
                <a:latin typeface="Arial Black" panose="020B0A04020102020204" pitchFamily="34" charset="0"/>
              </a:rPr>
              <a:t>Thiago.</a:t>
            </a:r>
            <a:endParaRPr lang="pt-BR" sz="1600" dirty="0">
              <a:latin typeface="Arial Black" panose="020B0A04020102020204" pitchFamily="34" charset="0"/>
            </a:endParaRPr>
          </a:p>
        </p:txBody>
      </p:sp>
      <p:pic>
        <p:nvPicPr>
          <p:cNvPr id="13" name="Imagem 12"/>
          <p:cNvPicPr>
            <a:picLocks noChangeAspect="1"/>
          </p:cNvPicPr>
          <p:nvPr/>
        </p:nvPicPr>
        <p:blipFill rotWithShape="1">
          <a:blip r:embed="rId5" cstate="print">
            <a:extLst>
              <a:ext uri="{28A0092B-C50C-407E-A947-70E740481C1C}">
                <a14:useLocalDpi xmlns:a14="http://schemas.microsoft.com/office/drawing/2010/main" val="0"/>
              </a:ext>
            </a:extLst>
          </a:blip>
          <a:srcRect t="30986"/>
          <a:stretch/>
        </p:blipFill>
        <p:spPr>
          <a:xfrm>
            <a:off x="6495403" y="4376795"/>
            <a:ext cx="4770177" cy="2469071"/>
          </a:xfrm>
          <a:prstGeom prst="rect">
            <a:avLst/>
          </a:prstGeom>
        </p:spPr>
      </p:pic>
    </p:spTree>
    <p:extLst>
      <p:ext uri="{BB962C8B-B14F-4D97-AF65-F5344CB8AC3E}">
        <p14:creationId xmlns:p14="http://schemas.microsoft.com/office/powerpoint/2010/main" val="18201643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4107" y="12879"/>
            <a:ext cx="12192000" cy="6858000"/>
          </a:xfrm>
          <a:prstGeom prst="flowChartPunchedCard">
            <a:avLst/>
          </a:prstGeom>
          <a:solidFill>
            <a:srgbClr val="204F7A"/>
          </a:solidFill>
          <a:ln>
            <a:solidFill>
              <a:srgbClr val="204F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8" name="CaixaDeTexto 7"/>
          <p:cNvSpPr txBox="1"/>
          <p:nvPr/>
        </p:nvSpPr>
        <p:spPr>
          <a:xfrm>
            <a:off x="12742985" y="5580185"/>
            <a:ext cx="184731" cy="369332"/>
          </a:xfrm>
          <a:prstGeom prst="rect">
            <a:avLst/>
          </a:prstGeom>
          <a:noFill/>
        </p:spPr>
        <p:txBody>
          <a:bodyPr wrap="none" rtlCol="0">
            <a:spAutoFit/>
          </a:bodyPr>
          <a:lstStyle/>
          <a:p>
            <a:endParaRPr lang="pt-BR" dirty="0"/>
          </a:p>
        </p:txBody>
      </p:sp>
      <p:sp>
        <p:nvSpPr>
          <p:cNvPr id="7" name="CaixaDeTexto 6"/>
          <p:cNvSpPr txBox="1"/>
          <p:nvPr/>
        </p:nvSpPr>
        <p:spPr>
          <a:xfrm>
            <a:off x="2831204" y="-66216"/>
            <a:ext cx="9206247" cy="713016"/>
          </a:xfrm>
          <a:prstGeom prst="rect">
            <a:avLst/>
          </a:prstGeom>
          <a:noFill/>
        </p:spPr>
        <p:txBody>
          <a:bodyPr wrap="square" rtlCol="0">
            <a:spAutoFit/>
          </a:bodyPr>
          <a:lstStyle/>
          <a:p>
            <a:pPr algn="ctr">
              <a:lnSpc>
                <a:spcPct val="150000"/>
              </a:lnSpc>
            </a:pPr>
            <a:r>
              <a:rPr lang="pt-BR" sz="3000" i="1" dirty="0" smtClean="0">
                <a:solidFill>
                  <a:srgbClr val="FFFF00"/>
                </a:solidFill>
                <a:latin typeface="Arial Black" panose="020B0A04020102020204" pitchFamily="34" charset="0"/>
                <a:cs typeface="Arial" panose="020B0604020202020204" pitchFamily="34" charset="0"/>
              </a:rPr>
              <a:t>ACOMPANHAMENTO OBRAS- CASE</a:t>
            </a:r>
            <a:endParaRPr lang="pt-BR" sz="3000" i="1" dirty="0">
              <a:solidFill>
                <a:srgbClr val="FFFF00"/>
              </a:solidFill>
              <a:latin typeface="Arial Black" panose="020B0A04020102020204" pitchFamily="34" charset="0"/>
              <a:cs typeface="Arial" panose="020B0604020202020204" pitchFamily="34" charset="0"/>
            </a:endParaRPr>
          </a:p>
        </p:txBody>
      </p:sp>
      <p:pic>
        <p:nvPicPr>
          <p:cNvPr id="4" name="Imagem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41690" y="644510"/>
            <a:ext cx="6812924" cy="3927490"/>
          </a:xfrm>
          <a:prstGeom prst="roundRect">
            <a:avLst/>
          </a:prstGeom>
        </p:spPr>
      </p:pic>
      <p:pic>
        <p:nvPicPr>
          <p:cNvPr id="5" name="Imagem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5575" y="3915557"/>
            <a:ext cx="5357870" cy="2818973"/>
          </a:xfrm>
          <a:prstGeom prst="roundRect">
            <a:avLst/>
          </a:prstGeom>
        </p:spPr>
      </p:pic>
      <p:pic>
        <p:nvPicPr>
          <p:cNvPr id="9" name="Imagem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529589" y="3855501"/>
            <a:ext cx="5439165" cy="2939083"/>
          </a:xfrm>
          <a:prstGeom prst="roundRect">
            <a:avLst/>
          </a:prstGeom>
        </p:spPr>
      </p:pic>
    </p:spTree>
    <p:extLst>
      <p:ext uri="{BB962C8B-B14F-4D97-AF65-F5344CB8AC3E}">
        <p14:creationId xmlns:p14="http://schemas.microsoft.com/office/powerpoint/2010/main" val="372242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luxograma: Cartão 6"/>
          <p:cNvSpPr/>
          <p:nvPr/>
        </p:nvSpPr>
        <p:spPr>
          <a:xfrm>
            <a:off x="-5262" y="0"/>
            <a:ext cx="12192000" cy="6858000"/>
          </a:xfrm>
          <a:prstGeom prst="flowChartPunchedCard">
            <a:avLst/>
          </a:prstGeom>
          <a:solidFill>
            <a:srgbClr val="204F7A"/>
          </a:solidFill>
          <a:ln>
            <a:solidFill>
              <a:srgbClr val="0F253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3000" dirty="0">
              <a:solidFill>
                <a:srgbClr val="FF0000"/>
              </a:solidFill>
              <a:latin typeface="Arial Black" panose="020B0A04020102020204" pitchFamily="34" charset="0"/>
            </a:endParaRPr>
          </a:p>
        </p:txBody>
      </p:sp>
      <p:pic>
        <p:nvPicPr>
          <p:cNvPr id="8"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http://www.acirv.com.br/modules/blog/dataimages/IMG_548D71-50EC51-C86B41-2E46DC-0695FA-CE724F.jpg"/>
          <p:cNvPicPr>
            <a:picLocks noChangeAspect="1" noChangeArrowheads="1"/>
          </p:cNvPicPr>
          <p:nvPr/>
        </p:nvPicPr>
        <p:blipFill rotWithShape="1">
          <a:blip r:embed="rId3">
            <a:extLst>
              <a:ext uri="{28A0092B-C50C-407E-A947-70E740481C1C}">
                <a14:useLocalDpi xmlns:a14="http://schemas.microsoft.com/office/drawing/2010/main" val="0"/>
              </a:ext>
            </a:extLst>
          </a:blip>
          <a:srcRect t="25606" b="1"/>
          <a:stretch/>
        </p:blipFill>
        <p:spPr bwMode="auto">
          <a:xfrm>
            <a:off x="181435" y="1107997"/>
            <a:ext cx="11829128" cy="5750004"/>
          </a:xfrm>
          <a:prstGeom prst="roundRect">
            <a:avLst/>
          </a:prstGeom>
          <a:noFill/>
          <a:extLst>
            <a:ext uri="{909E8E84-426E-40DD-AFC4-6F175D3DCCD1}">
              <a14:hiddenFill xmlns:a14="http://schemas.microsoft.com/office/drawing/2010/main">
                <a:solidFill>
                  <a:srgbClr val="FFFFFF"/>
                </a:solidFill>
              </a14:hiddenFill>
            </a:ext>
          </a:extLst>
        </p:spPr>
      </p:pic>
      <p:sp>
        <p:nvSpPr>
          <p:cNvPr id="2" name="Retângulo 1"/>
          <p:cNvSpPr/>
          <p:nvPr/>
        </p:nvSpPr>
        <p:spPr>
          <a:xfrm>
            <a:off x="4814099" y="0"/>
            <a:ext cx="1723549" cy="553998"/>
          </a:xfrm>
          <a:prstGeom prst="rect">
            <a:avLst/>
          </a:prstGeom>
        </p:spPr>
        <p:txBody>
          <a:bodyPr wrap="none">
            <a:spAutoFit/>
          </a:bodyPr>
          <a:lstStyle/>
          <a:p>
            <a:r>
              <a:rPr lang="pt-BR" sz="3000" b="1" i="1" cap="all" dirty="0">
                <a:solidFill>
                  <a:srgbClr val="FFFF00"/>
                </a:solidFill>
                <a:latin typeface="Arial Black" panose="020B0A04020102020204" pitchFamily="34" charset="0"/>
              </a:rPr>
              <a:t>GO 174</a:t>
            </a:r>
            <a:endParaRPr lang="pt-BR" sz="3000" b="1" i="1" cap="all" dirty="0">
              <a:solidFill>
                <a:srgbClr val="FFFF00"/>
              </a:solidFill>
              <a:effectLst/>
              <a:latin typeface="Arial Black" panose="020B0A04020102020204" pitchFamily="34" charset="0"/>
            </a:endParaRPr>
          </a:p>
        </p:txBody>
      </p:sp>
      <p:sp>
        <p:nvSpPr>
          <p:cNvPr id="3" name="Retângulo 2"/>
          <p:cNvSpPr/>
          <p:nvPr/>
        </p:nvSpPr>
        <p:spPr>
          <a:xfrm>
            <a:off x="2291541" y="553998"/>
            <a:ext cx="7400552" cy="463075"/>
          </a:xfrm>
          <a:prstGeom prst="rect">
            <a:avLst/>
          </a:prstGeom>
        </p:spPr>
        <p:txBody>
          <a:bodyPr wrap="none">
            <a:spAutoFit/>
          </a:bodyPr>
          <a:lstStyle/>
          <a:p>
            <a:pPr algn="just">
              <a:lnSpc>
                <a:spcPct val="150000"/>
              </a:lnSpc>
            </a:pPr>
            <a:r>
              <a:rPr lang="pt-BR" b="1" dirty="0" smtClean="0">
                <a:solidFill>
                  <a:schemeClr val="bg1"/>
                </a:solidFill>
                <a:latin typeface="Arial" panose="020B0604020202020204" pitchFamily="34" charset="0"/>
              </a:rPr>
              <a:t>Dia 27/10/15 reunião </a:t>
            </a:r>
            <a:r>
              <a:rPr lang="pt-BR" b="1" dirty="0">
                <a:solidFill>
                  <a:schemeClr val="bg1"/>
                </a:solidFill>
                <a:latin typeface="Arial" panose="020B0604020202020204" pitchFamily="34" charset="0"/>
              </a:rPr>
              <a:t>com o presidente da AGETOP, Jayme Rincón</a:t>
            </a:r>
            <a:endParaRPr lang="pt-BR" b="1" dirty="0">
              <a:solidFill>
                <a:schemeClr val="bg1"/>
              </a:solidFill>
            </a:endParaRPr>
          </a:p>
        </p:txBody>
      </p:sp>
    </p:spTree>
    <p:extLst>
      <p:ext uri="{BB962C8B-B14F-4D97-AF65-F5344CB8AC3E}">
        <p14:creationId xmlns:p14="http://schemas.microsoft.com/office/powerpoint/2010/main" val="163836630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luxograma: Cartão 10"/>
          <p:cNvSpPr/>
          <p:nvPr/>
        </p:nvSpPr>
        <p:spPr>
          <a:xfrm>
            <a:off x="-5262" y="0"/>
            <a:ext cx="12192000" cy="6858000"/>
          </a:xfrm>
          <a:prstGeom prst="flowChartPunchedCard">
            <a:avLst/>
          </a:prstGeom>
          <a:solidFill>
            <a:srgbClr val="204F7A"/>
          </a:solidFill>
          <a:ln>
            <a:solidFill>
              <a:srgbClr val="0F253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3000" dirty="0">
              <a:solidFill>
                <a:srgbClr val="FF0000"/>
              </a:solidFill>
              <a:latin typeface="Arial Black" panose="020B0A04020102020204" pitchFamily="34" charset="0"/>
            </a:endParaRPr>
          </a:p>
        </p:txBody>
      </p:sp>
      <p:pic>
        <p:nvPicPr>
          <p:cNvPr id="12"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2" name="Retângulo 1"/>
          <p:cNvSpPr/>
          <p:nvPr/>
        </p:nvSpPr>
        <p:spPr>
          <a:xfrm>
            <a:off x="4775462" y="-83553"/>
            <a:ext cx="1723549" cy="553998"/>
          </a:xfrm>
          <a:prstGeom prst="rect">
            <a:avLst/>
          </a:prstGeom>
        </p:spPr>
        <p:txBody>
          <a:bodyPr wrap="none">
            <a:spAutoFit/>
          </a:bodyPr>
          <a:lstStyle/>
          <a:p>
            <a:r>
              <a:rPr lang="pt-BR" sz="3000" b="1" i="1" cap="all" dirty="0">
                <a:solidFill>
                  <a:srgbClr val="FFFF00"/>
                </a:solidFill>
                <a:latin typeface="Arial Black" panose="020B0A04020102020204" pitchFamily="34" charset="0"/>
              </a:rPr>
              <a:t>GO 174</a:t>
            </a:r>
            <a:endParaRPr lang="pt-BR" sz="3000" b="1" i="1" cap="all" dirty="0">
              <a:solidFill>
                <a:srgbClr val="FFFF00"/>
              </a:solidFill>
              <a:effectLst/>
              <a:latin typeface="Arial Black" panose="020B0A04020102020204" pitchFamily="34" charset="0"/>
            </a:endParaRPr>
          </a:p>
        </p:txBody>
      </p:sp>
      <p:sp>
        <p:nvSpPr>
          <p:cNvPr id="3" name="Retângulo 2"/>
          <p:cNvSpPr/>
          <p:nvPr/>
        </p:nvSpPr>
        <p:spPr>
          <a:xfrm>
            <a:off x="3526720" y="386892"/>
            <a:ext cx="4761945" cy="524887"/>
          </a:xfrm>
          <a:prstGeom prst="rect">
            <a:avLst/>
          </a:prstGeom>
        </p:spPr>
        <p:txBody>
          <a:bodyPr wrap="none">
            <a:spAutoFit/>
          </a:bodyPr>
          <a:lstStyle/>
          <a:p>
            <a:pPr algn="just">
              <a:lnSpc>
                <a:spcPct val="150000"/>
              </a:lnSpc>
            </a:pPr>
            <a:r>
              <a:rPr lang="pt-BR" sz="2100" b="1" dirty="0" smtClean="0">
                <a:solidFill>
                  <a:schemeClr val="bg1"/>
                </a:solidFill>
                <a:latin typeface="Arial" panose="020B0604020202020204" pitchFamily="34" charset="0"/>
              </a:rPr>
              <a:t>Dia 11/11/15 fechamento da GO 174 </a:t>
            </a:r>
            <a:endParaRPr lang="pt-BR" sz="2100" b="1" dirty="0">
              <a:solidFill>
                <a:schemeClr val="bg1"/>
              </a:solidFill>
            </a:endParaRPr>
          </a:p>
        </p:txBody>
      </p:sp>
      <p:pic>
        <p:nvPicPr>
          <p:cNvPr id="10242" name="Picture 2" descr="http://www.acirv.com.br/modules/blog/dataimages/IMG_D8B6F3-A61631-34A0F7-352F09-D00F51-78F37B.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968010"/>
            <a:ext cx="4236363" cy="2972922"/>
          </a:xfrm>
          <a:prstGeom prst="roundRect">
            <a:avLst/>
          </a:prstGeom>
          <a:noFill/>
          <a:extLst>
            <a:ext uri="{909E8E84-426E-40DD-AFC4-6F175D3DCCD1}">
              <a14:hiddenFill xmlns:a14="http://schemas.microsoft.com/office/drawing/2010/main">
                <a:solidFill>
                  <a:srgbClr val="FFFFFF"/>
                </a:solidFill>
              </a14:hiddenFill>
            </a:ext>
          </a:extLst>
        </p:spPr>
      </p:pic>
      <p:pic>
        <p:nvPicPr>
          <p:cNvPr id="10244" name="Picture 4" descr="https://fbcdn-sphotos-c-a.akamaihd.net/hphotos-ak-xfa1/v/t1.0-9/12243066_799412376854018_5219139546552855829_n.jpg?oh=2245d85633209400e640edaf5b288882&amp;oe=56F6709C&amp;__gda__=1458050474_433447dee64f84313b10b34102ca403d"/>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70146" y="968010"/>
            <a:ext cx="3591147" cy="2972922"/>
          </a:xfrm>
          <a:prstGeom prst="roundRect">
            <a:avLst/>
          </a:prstGeom>
          <a:noFill/>
          <a:extLst>
            <a:ext uri="{909E8E84-426E-40DD-AFC4-6F175D3DCCD1}">
              <a14:hiddenFill xmlns:a14="http://schemas.microsoft.com/office/drawing/2010/main">
                <a:solidFill>
                  <a:srgbClr val="FFFFFF"/>
                </a:solidFill>
              </a14:hiddenFill>
            </a:ext>
          </a:extLst>
        </p:spPr>
      </p:pic>
      <p:pic>
        <p:nvPicPr>
          <p:cNvPr id="10246" name="Picture 6" descr="https://fbcdn-sphotos-d-a.akamaihd.net/hphotos-ak-xaf1/v/t1.0-9/12241548_799412333520689_5011746982795982784_n.jpg?oh=23a3ff2e72a80f8c53ae8c080c19d4a5&amp;oe=56F380EC&amp;__gda__=1457718365_238a4e4db09751b07edeaba37cbd8d3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66821" y="968010"/>
            <a:ext cx="4045408" cy="2972922"/>
          </a:xfrm>
          <a:prstGeom prst="roundRect">
            <a:avLst/>
          </a:prstGeom>
          <a:noFill/>
          <a:extLst>
            <a:ext uri="{909E8E84-426E-40DD-AFC4-6F175D3DCCD1}">
              <a14:hiddenFill xmlns:a14="http://schemas.microsoft.com/office/drawing/2010/main">
                <a:solidFill>
                  <a:srgbClr val="FFFFFF"/>
                </a:solidFill>
              </a14:hiddenFill>
            </a:ext>
          </a:extLst>
        </p:spPr>
      </p:pic>
      <p:pic>
        <p:nvPicPr>
          <p:cNvPr id="10248" name="Picture 8" descr="https://fbcdn-sphotos-c-a.akamaihd.net/hphotos-ak-xpa1/v/t1.0-9/12246921_800895226705733_6991710837195437303_n.jpg?oh=b38b5fa959c4a96af0f350333a6c8f0f&amp;oe=56E151CF&amp;__gda__=1458450039_2979c668a7f203b3757000f85c986498"/>
          <p:cNvPicPr>
            <a:picLocks noChangeAspect="1" noChangeArrowheads="1"/>
          </p:cNvPicPr>
          <p:nvPr/>
        </p:nvPicPr>
        <p:blipFill rotWithShape="1">
          <a:blip r:embed="rId6">
            <a:extLst>
              <a:ext uri="{28A0092B-C50C-407E-A947-70E740481C1C}">
                <a14:useLocalDpi xmlns:a14="http://schemas.microsoft.com/office/drawing/2010/main" val="0"/>
              </a:ext>
            </a:extLst>
          </a:blip>
          <a:srcRect t="10524"/>
          <a:stretch/>
        </p:blipFill>
        <p:spPr bwMode="auto">
          <a:xfrm>
            <a:off x="108562" y="4050882"/>
            <a:ext cx="4019237" cy="2697168"/>
          </a:xfrm>
          <a:prstGeom prst="roundRect">
            <a:avLst/>
          </a:prstGeom>
          <a:noFill/>
          <a:extLst>
            <a:ext uri="{909E8E84-426E-40DD-AFC4-6F175D3DCCD1}">
              <a14:hiddenFill xmlns:a14="http://schemas.microsoft.com/office/drawing/2010/main">
                <a:solidFill>
                  <a:srgbClr val="FFFFFF"/>
                </a:solidFill>
              </a14:hiddenFill>
            </a:ext>
          </a:extLst>
        </p:spPr>
      </p:pic>
      <p:sp>
        <p:nvSpPr>
          <p:cNvPr id="7" name="Retângulo 6"/>
          <p:cNvSpPr/>
          <p:nvPr/>
        </p:nvSpPr>
        <p:spPr>
          <a:xfrm>
            <a:off x="4465743" y="4174857"/>
            <a:ext cx="7645843" cy="2516073"/>
          </a:xfrm>
          <a:prstGeom prst="rect">
            <a:avLst/>
          </a:prstGeom>
        </p:spPr>
        <p:txBody>
          <a:bodyPr wrap="square">
            <a:spAutoFit/>
          </a:bodyPr>
          <a:lstStyle/>
          <a:p>
            <a:pPr algn="just">
              <a:lnSpc>
                <a:spcPct val="150000"/>
              </a:lnSpc>
            </a:pPr>
            <a:r>
              <a:rPr lang="pt-BR" sz="2100" b="1" dirty="0" smtClean="0">
                <a:solidFill>
                  <a:schemeClr val="bg1"/>
                </a:solidFill>
                <a:latin typeface="Arial" panose="020B0604020202020204" pitchFamily="34" charset="0"/>
              </a:rPr>
              <a:t>Dia 13/11, </a:t>
            </a:r>
            <a:r>
              <a:rPr lang="pt-BR" sz="2100" b="1" dirty="0">
                <a:solidFill>
                  <a:schemeClr val="bg1"/>
                </a:solidFill>
                <a:latin typeface="Arial" panose="020B0604020202020204" pitchFamily="34" charset="0"/>
              </a:rPr>
              <a:t>a presidente da Acirv Jacqueline </a:t>
            </a:r>
            <a:r>
              <a:rPr lang="pt-BR" sz="2100" b="1" dirty="0" smtClean="0">
                <a:solidFill>
                  <a:schemeClr val="bg1"/>
                </a:solidFill>
                <a:latin typeface="Arial" panose="020B0604020202020204" pitchFamily="34" charset="0"/>
              </a:rPr>
              <a:t>Zaiden e outros representantes de outras entidades e advogados </a:t>
            </a:r>
            <a:r>
              <a:rPr lang="pt-BR" sz="2100" b="1" dirty="0">
                <a:solidFill>
                  <a:schemeClr val="bg1"/>
                </a:solidFill>
                <a:latin typeface="Arial" panose="020B0604020202020204" pitchFamily="34" charset="0"/>
              </a:rPr>
              <a:t>foram recebidos </a:t>
            </a:r>
            <a:r>
              <a:rPr lang="pt-BR" sz="2100" b="1" dirty="0" smtClean="0">
                <a:solidFill>
                  <a:schemeClr val="bg1"/>
                </a:solidFill>
                <a:latin typeface="Arial" panose="020B0604020202020204" pitchFamily="34" charset="0"/>
              </a:rPr>
              <a:t>pela </a:t>
            </a:r>
            <a:r>
              <a:rPr lang="pt-BR" sz="2100" b="1" dirty="0">
                <a:solidFill>
                  <a:schemeClr val="bg1"/>
                </a:solidFill>
                <a:latin typeface="Arial" panose="020B0604020202020204" pitchFamily="34" charset="0"/>
              </a:rPr>
              <a:t>promotora de justiça, </a:t>
            </a:r>
            <a:r>
              <a:rPr lang="pt-BR" sz="2100" b="1" dirty="0" smtClean="0">
                <a:solidFill>
                  <a:schemeClr val="bg1"/>
                </a:solidFill>
                <a:latin typeface="Arial" panose="020B0604020202020204" pitchFamily="34" charset="0"/>
              </a:rPr>
              <a:t>Dra. </a:t>
            </a:r>
            <a:r>
              <a:rPr lang="pt-BR" sz="2100" b="1" dirty="0">
                <a:solidFill>
                  <a:schemeClr val="bg1"/>
                </a:solidFill>
                <a:latin typeface="Arial" panose="020B0604020202020204" pitchFamily="34" charset="0"/>
              </a:rPr>
              <a:t>Renata </a:t>
            </a:r>
            <a:r>
              <a:rPr lang="pt-BR" sz="2100" b="1" dirty="0" smtClean="0">
                <a:solidFill>
                  <a:schemeClr val="bg1"/>
                </a:solidFill>
                <a:latin typeface="Arial" panose="020B0604020202020204" pitchFamily="34" charset="0"/>
              </a:rPr>
              <a:t>Dantas. A comitiva solicitou a intervenção </a:t>
            </a:r>
            <a:r>
              <a:rPr lang="pt-BR" sz="2100" b="1" dirty="0">
                <a:solidFill>
                  <a:schemeClr val="bg1"/>
                </a:solidFill>
                <a:latin typeface="Arial" panose="020B0604020202020204" pitchFamily="34" charset="0"/>
              </a:rPr>
              <a:t>do Ministério Público </a:t>
            </a:r>
            <a:r>
              <a:rPr lang="pt-BR" sz="2100" b="1" dirty="0" smtClean="0">
                <a:solidFill>
                  <a:schemeClr val="bg1"/>
                </a:solidFill>
                <a:latin typeface="Arial" panose="020B0604020202020204" pitchFamily="34" charset="0"/>
              </a:rPr>
              <a:t>na GO 174.</a:t>
            </a:r>
            <a:endParaRPr lang="pt-BR" sz="2100" b="1" dirty="0">
              <a:solidFill>
                <a:schemeClr val="bg1"/>
              </a:solidFill>
            </a:endParaRPr>
          </a:p>
        </p:txBody>
      </p:sp>
    </p:spTree>
    <p:extLst>
      <p:ext uri="{BB962C8B-B14F-4D97-AF65-F5344CB8AC3E}">
        <p14:creationId xmlns:p14="http://schemas.microsoft.com/office/powerpoint/2010/main" val="75334385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4107" y="0"/>
            <a:ext cx="12192000" cy="6858000"/>
          </a:xfrm>
          <a:prstGeom prst="flowChartPunchedCard">
            <a:avLst/>
          </a:prstGeom>
          <a:solidFill>
            <a:srgbClr val="204F7A"/>
          </a:solidFill>
          <a:ln>
            <a:solidFill>
              <a:srgbClr val="204F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8" name="CaixaDeTexto 7"/>
          <p:cNvSpPr txBox="1"/>
          <p:nvPr/>
        </p:nvSpPr>
        <p:spPr>
          <a:xfrm>
            <a:off x="12742985" y="5580185"/>
            <a:ext cx="184731" cy="369332"/>
          </a:xfrm>
          <a:prstGeom prst="rect">
            <a:avLst/>
          </a:prstGeom>
          <a:noFill/>
        </p:spPr>
        <p:txBody>
          <a:bodyPr wrap="none" rtlCol="0">
            <a:spAutoFit/>
          </a:bodyPr>
          <a:lstStyle/>
          <a:p>
            <a:endParaRPr lang="pt-BR" dirty="0"/>
          </a:p>
        </p:txBody>
      </p:sp>
      <p:pic>
        <p:nvPicPr>
          <p:cNvPr id="4" name="Imagem 3"/>
          <p:cNvPicPr>
            <a:picLocks noChangeAspect="1"/>
          </p:cNvPicPr>
          <p:nvPr/>
        </p:nvPicPr>
        <p:blipFill rotWithShape="1">
          <a:blip r:embed="rId3" cstate="print">
            <a:extLst>
              <a:ext uri="{28A0092B-C50C-407E-A947-70E740481C1C}">
                <a14:useLocalDpi xmlns:a14="http://schemas.microsoft.com/office/drawing/2010/main" val="0"/>
              </a:ext>
            </a:extLst>
          </a:blip>
          <a:srcRect b="13219"/>
          <a:stretch/>
        </p:blipFill>
        <p:spPr>
          <a:xfrm>
            <a:off x="6259134" y="1248936"/>
            <a:ext cx="5434885" cy="3132584"/>
          </a:xfrm>
          <a:prstGeom prst="rect">
            <a:avLst/>
          </a:prstGeom>
        </p:spPr>
      </p:pic>
      <p:sp>
        <p:nvSpPr>
          <p:cNvPr id="7" name="CaixaDeTexto 6"/>
          <p:cNvSpPr txBox="1"/>
          <p:nvPr/>
        </p:nvSpPr>
        <p:spPr>
          <a:xfrm>
            <a:off x="1944710" y="122416"/>
            <a:ext cx="9994005" cy="1011559"/>
          </a:xfrm>
          <a:prstGeom prst="rect">
            <a:avLst/>
          </a:prstGeom>
          <a:noFill/>
        </p:spPr>
        <p:txBody>
          <a:bodyPr wrap="square" rtlCol="0">
            <a:spAutoFit/>
          </a:bodyPr>
          <a:lstStyle/>
          <a:p>
            <a:pPr algn="ctr">
              <a:lnSpc>
                <a:spcPct val="150000"/>
              </a:lnSpc>
            </a:pPr>
            <a:r>
              <a:rPr lang="pt-BR" sz="2100" b="1" i="1" cap="all" dirty="0">
                <a:solidFill>
                  <a:srgbClr val="FFFF00"/>
                </a:solidFill>
                <a:latin typeface="Arial Black" panose="020B0A04020102020204" pitchFamily="34" charset="0"/>
              </a:rPr>
              <a:t>ACIRV FAZ PARTE DA FORÇA TAREFA DE COMBATE AO </a:t>
            </a:r>
            <a:endParaRPr lang="pt-BR" sz="2100" b="1" i="1" cap="all" dirty="0" smtClean="0">
              <a:solidFill>
                <a:srgbClr val="FFFF00"/>
              </a:solidFill>
              <a:latin typeface="Arial Black" panose="020B0A04020102020204" pitchFamily="34" charset="0"/>
            </a:endParaRPr>
          </a:p>
          <a:p>
            <a:pPr algn="ctr">
              <a:lnSpc>
                <a:spcPct val="150000"/>
              </a:lnSpc>
            </a:pPr>
            <a:r>
              <a:rPr lang="pt-BR" sz="2100" b="1" i="1" cap="all" dirty="0" smtClean="0">
                <a:solidFill>
                  <a:srgbClr val="FFFF00"/>
                </a:solidFill>
                <a:latin typeface="Arial Black" panose="020B0A04020102020204" pitchFamily="34" charset="0"/>
              </a:rPr>
              <a:t>MOSQUITO </a:t>
            </a:r>
            <a:r>
              <a:rPr lang="pt-BR" sz="2100" b="1" i="1" cap="all" dirty="0">
                <a:solidFill>
                  <a:srgbClr val="FFFF00"/>
                </a:solidFill>
                <a:latin typeface="Arial Black" panose="020B0A04020102020204" pitchFamily="34" charset="0"/>
              </a:rPr>
              <a:t>AEDES </a:t>
            </a:r>
            <a:r>
              <a:rPr lang="pt-BR" sz="2100" b="1" i="1" cap="all" dirty="0" smtClean="0">
                <a:solidFill>
                  <a:srgbClr val="FFFF00"/>
                </a:solidFill>
                <a:latin typeface="Arial Black" panose="020B0A04020102020204" pitchFamily="34" charset="0"/>
              </a:rPr>
              <a:t>AEGYPTI</a:t>
            </a:r>
            <a:endParaRPr lang="pt-BR" sz="2100" i="1" dirty="0">
              <a:solidFill>
                <a:srgbClr val="FFFF00"/>
              </a:solidFill>
              <a:latin typeface="Arial Black" panose="020B0A04020102020204" pitchFamily="34" charset="0"/>
            </a:endParaRPr>
          </a:p>
        </p:txBody>
      </p:sp>
      <p:pic>
        <p:nvPicPr>
          <p:cNvPr id="9" name="Imagem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8587" y="1240501"/>
            <a:ext cx="4729175" cy="3141019"/>
          </a:xfrm>
          <a:prstGeom prst="rect">
            <a:avLst/>
          </a:prstGeom>
        </p:spPr>
      </p:pic>
      <p:sp>
        <p:nvSpPr>
          <p:cNvPr id="10" name="Retângulo 9"/>
          <p:cNvSpPr/>
          <p:nvPr/>
        </p:nvSpPr>
        <p:spPr>
          <a:xfrm>
            <a:off x="50538" y="4317125"/>
            <a:ext cx="12051308" cy="2540567"/>
          </a:xfrm>
          <a:prstGeom prst="rect">
            <a:avLst/>
          </a:prstGeom>
        </p:spPr>
        <p:txBody>
          <a:bodyPr wrap="square">
            <a:spAutoFit/>
          </a:bodyPr>
          <a:lstStyle/>
          <a:p>
            <a:pPr algn="just">
              <a:lnSpc>
                <a:spcPct val="150000"/>
              </a:lnSpc>
            </a:pPr>
            <a:r>
              <a:rPr lang="pt-BR" b="1" dirty="0">
                <a:solidFill>
                  <a:schemeClr val="bg1"/>
                </a:solidFill>
                <a:latin typeface="Arial" panose="020B0604020202020204" pitchFamily="34" charset="0"/>
              </a:rPr>
              <a:t>O prefeito Juraci Martins e as autoridades presentes assinaram o decreto 2.426 de 2015, considerando a portaria 1813 de 11 de novembro de 2015 do Ministério da Saúde que declarou Emergência em Saúde Pública de Importância Nacional por alteração do padrão de ocorrência de microcefalia no Brasil, foi decretada Emergência em Saúde Pública no Município, no período de 180 dias em razão do risco de epidemias de Dengue, potencial epidemia de Febre </a:t>
            </a:r>
            <a:r>
              <a:rPr lang="pt-BR" b="1" dirty="0" smtClean="0">
                <a:solidFill>
                  <a:schemeClr val="bg1"/>
                </a:solidFill>
                <a:latin typeface="Arial" panose="020B0604020202020204" pitchFamily="34" charset="0"/>
              </a:rPr>
              <a:t>Amarela </a:t>
            </a:r>
            <a:r>
              <a:rPr lang="pt-BR" b="1" dirty="0">
                <a:solidFill>
                  <a:schemeClr val="bg1"/>
                </a:solidFill>
                <a:latin typeface="Arial" panose="020B0604020202020204" pitchFamily="34" charset="0"/>
              </a:rPr>
              <a:t>e da possível introdução do vírus Zika e Chikungunya.</a:t>
            </a:r>
            <a:endParaRPr lang="pt-BR" b="1" dirty="0">
              <a:solidFill>
                <a:schemeClr val="bg1"/>
              </a:solidFill>
            </a:endParaRPr>
          </a:p>
        </p:txBody>
      </p:sp>
    </p:spTree>
    <p:extLst>
      <p:ext uri="{BB962C8B-B14F-4D97-AF65-F5344CB8AC3E}">
        <p14:creationId xmlns:p14="http://schemas.microsoft.com/office/powerpoint/2010/main" val="5044208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luxograma: Cartão 6"/>
          <p:cNvSpPr/>
          <p:nvPr/>
        </p:nvSpPr>
        <p:spPr>
          <a:xfrm>
            <a:off x="-5262" y="0"/>
            <a:ext cx="12192000" cy="6858000"/>
          </a:xfrm>
          <a:prstGeom prst="flowChartPunchedCard">
            <a:avLst/>
          </a:prstGeom>
          <a:solidFill>
            <a:srgbClr val="204F7A"/>
          </a:solidFill>
          <a:ln>
            <a:solidFill>
              <a:srgbClr val="0F253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3000" dirty="0">
              <a:solidFill>
                <a:srgbClr val="FF0000"/>
              </a:solidFill>
              <a:latin typeface="Arial Black" panose="020B0A04020102020204" pitchFamily="34" charset="0"/>
            </a:endParaRPr>
          </a:p>
        </p:txBody>
      </p:sp>
      <p:pic>
        <p:nvPicPr>
          <p:cNvPr id="8"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descr="http://www.acirv.com.br/modules/blog/dataimages/IMG_1B0B05-4F218B-9AAE67-CD5E98-14D408-CFEA75.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43616" y="800667"/>
            <a:ext cx="7644328" cy="4299935"/>
          </a:xfrm>
          <a:prstGeom prst="roundRect">
            <a:avLst/>
          </a:prstGeom>
          <a:noFill/>
          <a:extLst>
            <a:ext uri="{909E8E84-426E-40DD-AFC4-6F175D3DCCD1}">
              <a14:hiddenFill xmlns:a14="http://schemas.microsoft.com/office/drawing/2010/main">
                <a:solidFill>
                  <a:srgbClr val="FFFFFF"/>
                </a:solidFill>
              </a14:hiddenFill>
            </a:ext>
          </a:extLst>
        </p:spPr>
      </p:pic>
      <p:sp>
        <p:nvSpPr>
          <p:cNvPr id="3" name="Retângulo 2"/>
          <p:cNvSpPr/>
          <p:nvPr/>
        </p:nvSpPr>
        <p:spPr>
          <a:xfrm>
            <a:off x="8964" y="5100602"/>
            <a:ext cx="12145452" cy="1338828"/>
          </a:xfrm>
          <a:prstGeom prst="rect">
            <a:avLst/>
          </a:prstGeom>
        </p:spPr>
        <p:txBody>
          <a:bodyPr wrap="square">
            <a:spAutoFit/>
          </a:bodyPr>
          <a:lstStyle/>
          <a:p>
            <a:pPr algn="just">
              <a:lnSpc>
                <a:spcPct val="150000"/>
              </a:lnSpc>
            </a:pPr>
            <a:r>
              <a:rPr lang="pt-BR" b="1" dirty="0">
                <a:solidFill>
                  <a:schemeClr val="bg1"/>
                </a:solidFill>
                <a:latin typeface="Arial" panose="020B0604020202020204" pitchFamily="34" charset="0"/>
              </a:rPr>
              <a:t>Durante a reunião, Sérgio explicou que o sistema de estacionamento rotativo tem o objetivo de promover uma maior fluidez no sistema viário de Rio Verde e também de auxiliar os motoristas na busca de vagas disponíveis melhorando a mobilidade urbana resultando num trânsito mais seguro e organizado.</a:t>
            </a:r>
          </a:p>
        </p:txBody>
      </p:sp>
      <p:sp>
        <p:nvSpPr>
          <p:cNvPr id="6" name="Retângulo 5"/>
          <p:cNvSpPr/>
          <p:nvPr/>
        </p:nvSpPr>
        <p:spPr>
          <a:xfrm>
            <a:off x="2143615" y="-132372"/>
            <a:ext cx="10049437" cy="784830"/>
          </a:xfrm>
          <a:prstGeom prst="rect">
            <a:avLst/>
          </a:prstGeom>
        </p:spPr>
        <p:txBody>
          <a:bodyPr wrap="square">
            <a:spAutoFit/>
          </a:bodyPr>
          <a:lstStyle/>
          <a:p>
            <a:pPr algn="just">
              <a:lnSpc>
                <a:spcPct val="150000"/>
              </a:lnSpc>
            </a:pPr>
            <a:r>
              <a:rPr lang="pt-BR" sz="3000" b="1" i="1" dirty="0" smtClean="0">
                <a:solidFill>
                  <a:srgbClr val="FFFF00"/>
                </a:solidFill>
                <a:latin typeface="Arial Black" panose="020B0A04020102020204" pitchFamily="34" charset="0"/>
              </a:rPr>
              <a:t>REUNIÃO ÁREA VERDE - CARGA E DESCARGA</a:t>
            </a:r>
            <a:endParaRPr lang="pt-BR" sz="3000" b="1" i="1" dirty="0">
              <a:solidFill>
                <a:srgbClr val="FFFF00"/>
              </a:solidFill>
              <a:latin typeface="Arial Black" panose="020B0A04020102020204" pitchFamily="34" charset="0"/>
            </a:endParaRPr>
          </a:p>
        </p:txBody>
      </p:sp>
    </p:spTree>
    <p:extLst>
      <p:ext uri="{BB962C8B-B14F-4D97-AF65-F5344CB8AC3E}">
        <p14:creationId xmlns:p14="http://schemas.microsoft.com/office/powerpoint/2010/main" val="390409287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luxograma: Cartão 6"/>
          <p:cNvSpPr/>
          <p:nvPr/>
        </p:nvSpPr>
        <p:spPr>
          <a:xfrm>
            <a:off x="-5262" y="0"/>
            <a:ext cx="12192000" cy="6858000"/>
          </a:xfrm>
          <a:prstGeom prst="flowChartPunchedCard">
            <a:avLst/>
          </a:prstGeom>
          <a:solidFill>
            <a:srgbClr val="204F7A"/>
          </a:solidFill>
          <a:ln>
            <a:solidFill>
              <a:srgbClr val="0F253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3000" dirty="0">
              <a:solidFill>
                <a:srgbClr val="FF0000"/>
              </a:solidFill>
              <a:latin typeface="Arial Black" panose="020B0A04020102020204" pitchFamily="34" charset="0"/>
            </a:endParaRPr>
          </a:p>
        </p:txBody>
      </p:sp>
      <p:pic>
        <p:nvPicPr>
          <p:cNvPr id="8"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http://www.acirv.com.br/modules/blog/dataimages/IMG_8F323C-F3212D-1EEA49-A551E7-FABA03-0B3E2F.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4701"/>
          <a:stretch/>
        </p:blipFill>
        <p:spPr bwMode="auto">
          <a:xfrm>
            <a:off x="1421085" y="814815"/>
            <a:ext cx="8714588" cy="4056845"/>
          </a:xfrm>
          <a:prstGeom prst="roundRect">
            <a:avLst/>
          </a:prstGeom>
          <a:noFill/>
          <a:extLst>
            <a:ext uri="{909E8E84-426E-40DD-AFC4-6F175D3DCCD1}">
              <a14:hiddenFill xmlns:a14="http://schemas.microsoft.com/office/drawing/2010/main">
                <a:solidFill>
                  <a:srgbClr val="FFFFFF"/>
                </a:solidFill>
              </a14:hiddenFill>
            </a:ext>
          </a:extLst>
        </p:spPr>
      </p:pic>
      <p:sp>
        <p:nvSpPr>
          <p:cNvPr id="3" name="Retângulo 2"/>
          <p:cNvSpPr/>
          <p:nvPr/>
        </p:nvSpPr>
        <p:spPr>
          <a:xfrm>
            <a:off x="3387789" y="0"/>
            <a:ext cx="5416419" cy="553998"/>
          </a:xfrm>
          <a:prstGeom prst="rect">
            <a:avLst/>
          </a:prstGeom>
        </p:spPr>
        <p:txBody>
          <a:bodyPr wrap="none">
            <a:spAutoFit/>
          </a:bodyPr>
          <a:lstStyle/>
          <a:p>
            <a:r>
              <a:rPr lang="pt-BR" sz="3000" b="1" i="1" dirty="0" smtClean="0">
                <a:solidFill>
                  <a:srgbClr val="FFFF00"/>
                </a:solidFill>
                <a:latin typeface="Arial Black" panose="020B0A04020102020204" pitchFamily="34" charset="0"/>
              </a:rPr>
              <a:t>REUNIÃO - EAD DIGITAL </a:t>
            </a:r>
            <a:endParaRPr lang="pt-BR" sz="3000" i="1" dirty="0">
              <a:solidFill>
                <a:srgbClr val="FFFF00"/>
              </a:solidFill>
              <a:latin typeface="Arial Black" panose="020B0A04020102020204" pitchFamily="34" charset="0"/>
            </a:endParaRPr>
          </a:p>
        </p:txBody>
      </p:sp>
      <p:sp>
        <p:nvSpPr>
          <p:cNvPr id="6" name="Retângulo 5"/>
          <p:cNvSpPr/>
          <p:nvPr/>
        </p:nvSpPr>
        <p:spPr>
          <a:xfrm>
            <a:off x="162406" y="4882314"/>
            <a:ext cx="12029594" cy="1979132"/>
          </a:xfrm>
          <a:prstGeom prst="rect">
            <a:avLst/>
          </a:prstGeom>
        </p:spPr>
        <p:txBody>
          <a:bodyPr wrap="square">
            <a:spAutoFit/>
          </a:bodyPr>
          <a:lstStyle/>
          <a:p>
            <a:pPr algn="just">
              <a:lnSpc>
                <a:spcPct val="150000"/>
              </a:lnSpc>
            </a:pPr>
            <a:r>
              <a:rPr lang="pt-BR" sz="2100" b="1" dirty="0">
                <a:solidFill>
                  <a:schemeClr val="bg1"/>
                </a:solidFill>
                <a:latin typeface="Arial" panose="020B0604020202020204" pitchFamily="34" charset="0"/>
              </a:rPr>
              <a:t>A EAD é a entidade responsável por toda a gestão do processo de migração entre o sinal analógico e a implementação da TV Digital em todo o território nacional. No Brasil, além de Rio Verde, outras regiões já iniciaram essa fase de mudança, como Belo Horizonte, Distrito Federal e São Paulo.</a:t>
            </a:r>
            <a:endParaRPr lang="pt-BR" sz="2100" b="1" dirty="0">
              <a:solidFill>
                <a:schemeClr val="bg1"/>
              </a:solidFill>
            </a:endParaRPr>
          </a:p>
        </p:txBody>
      </p:sp>
    </p:spTree>
    <p:extLst>
      <p:ext uri="{BB962C8B-B14F-4D97-AF65-F5344CB8AC3E}">
        <p14:creationId xmlns:p14="http://schemas.microsoft.com/office/powerpoint/2010/main" val="237063004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luxograma: Cartão 6"/>
          <p:cNvSpPr/>
          <p:nvPr/>
        </p:nvSpPr>
        <p:spPr>
          <a:xfrm>
            <a:off x="-5262" y="0"/>
            <a:ext cx="12192000" cy="6858000"/>
          </a:xfrm>
          <a:prstGeom prst="flowChartPunchedCard">
            <a:avLst/>
          </a:prstGeom>
          <a:solidFill>
            <a:srgbClr val="204F7A"/>
          </a:solidFill>
          <a:ln>
            <a:solidFill>
              <a:srgbClr val="0F253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3000" dirty="0">
              <a:solidFill>
                <a:srgbClr val="FF0000"/>
              </a:solidFill>
              <a:latin typeface="Arial Black" panose="020B0A04020102020204" pitchFamily="34" charset="0"/>
            </a:endParaRPr>
          </a:p>
        </p:txBody>
      </p:sp>
      <p:pic>
        <p:nvPicPr>
          <p:cNvPr id="8"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2" name="Retângulo 1"/>
          <p:cNvSpPr/>
          <p:nvPr/>
        </p:nvSpPr>
        <p:spPr>
          <a:xfrm>
            <a:off x="50440" y="844370"/>
            <a:ext cx="12091117" cy="2654573"/>
          </a:xfrm>
          <a:prstGeom prst="rect">
            <a:avLst/>
          </a:prstGeom>
        </p:spPr>
        <p:txBody>
          <a:bodyPr wrap="square">
            <a:spAutoFit/>
          </a:bodyPr>
          <a:lstStyle/>
          <a:p>
            <a:pPr algn="just">
              <a:lnSpc>
                <a:spcPct val="150000"/>
              </a:lnSpc>
            </a:pPr>
            <a:r>
              <a:rPr lang="pt-BR" b="1" dirty="0" smtClean="0">
                <a:solidFill>
                  <a:schemeClr val="bg1"/>
                </a:solidFill>
                <a:latin typeface="Arial" panose="020B0604020202020204" pitchFamily="34" charset="0"/>
                <a:cs typeface="Arial" panose="020B0604020202020204" pitchFamily="34" charset="0"/>
              </a:rPr>
              <a:t>Órgão </a:t>
            </a:r>
            <a:r>
              <a:rPr lang="pt-BR" b="1" dirty="0">
                <a:solidFill>
                  <a:schemeClr val="bg1"/>
                </a:solidFill>
                <a:latin typeface="Arial" panose="020B0604020202020204" pitchFamily="34" charset="0"/>
                <a:cs typeface="Arial" panose="020B0604020202020204" pitchFamily="34" charset="0"/>
              </a:rPr>
              <a:t>criado por mais de 70 entidades </a:t>
            </a:r>
            <a:r>
              <a:rPr lang="pt-BR" b="1" dirty="0" smtClean="0">
                <a:solidFill>
                  <a:schemeClr val="bg1"/>
                </a:solidFill>
                <a:latin typeface="Arial" panose="020B0604020202020204" pitchFamily="34" charset="0"/>
                <a:cs typeface="Arial" panose="020B0604020202020204" pitchFamily="34" charset="0"/>
              </a:rPr>
              <a:t>representativas </a:t>
            </a:r>
            <a:r>
              <a:rPr lang="pt-BR" b="1" dirty="0">
                <a:solidFill>
                  <a:schemeClr val="bg1"/>
                </a:solidFill>
                <a:latin typeface="Arial" panose="020B0604020202020204" pitchFamily="34" charset="0"/>
                <a:cs typeface="Arial" panose="020B0604020202020204" pitchFamily="34" charset="0"/>
              </a:rPr>
              <a:t>da sociedade rio-verdense, que estão se unindo para planejar os próximos 30 anos da cidade. Tem como características a participação voluntária e a representatividade política apartidária</a:t>
            </a:r>
            <a:r>
              <a:rPr lang="pt-BR" b="1" dirty="0" smtClean="0">
                <a:solidFill>
                  <a:schemeClr val="bg1"/>
                </a:solidFill>
                <a:latin typeface="Arial" panose="020B0604020202020204" pitchFamily="34" charset="0"/>
                <a:cs typeface="Arial" panose="020B0604020202020204" pitchFamily="34" charset="0"/>
              </a:rPr>
              <a:t>. </a:t>
            </a:r>
          </a:p>
          <a:p>
            <a:pPr algn="ctr">
              <a:lnSpc>
                <a:spcPct val="150000"/>
              </a:lnSpc>
            </a:pPr>
            <a:r>
              <a:rPr lang="pt-BR" sz="2100" b="1" dirty="0" smtClean="0">
                <a:solidFill>
                  <a:srgbClr val="FFFF00"/>
                </a:solidFill>
                <a:latin typeface="Arial Black" panose="020B0A04020102020204" pitchFamily="34" charset="0"/>
                <a:cs typeface="Arial" panose="020B0604020202020204" pitchFamily="34" charset="0"/>
              </a:rPr>
              <a:t>Diretoria </a:t>
            </a:r>
            <a:r>
              <a:rPr lang="pt-BR" sz="2100" b="1" dirty="0">
                <a:solidFill>
                  <a:srgbClr val="FFFF00"/>
                </a:solidFill>
                <a:latin typeface="Arial Black" panose="020B0A04020102020204" pitchFamily="34" charset="0"/>
                <a:cs typeface="Arial" panose="020B0604020202020204" pitchFamily="34" charset="0"/>
              </a:rPr>
              <a:t>do Conselho</a:t>
            </a:r>
          </a:p>
          <a:p>
            <a:pPr algn="just">
              <a:lnSpc>
                <a:spcPct val="150000"/>
              </a:lnSpc>
            </a:pPr>
            <a:r>
              <a:rPr lang="pt-BR" b="1" dirty="0">
                <a:solidFill>
                  <a:schemeClr val="bg1"/>
                </a:solidFill>
                <a:latin typeface="Arial" panose="020B0604020202020204" pitchFamily="34" charset="0"/>
                <a:cs typeface="Arial" panose="020B0604020202020204" pitchFamily="34" charset="0"/>
              </a:rPr>
              <a:t>Presidente: Dejane Maffissoni (Acirv</a:t>
            </a:r>
            <a:r>
              <a:rPr lang="pt-BR" b="1" dirty="0" smtClean="0">
                <a:solidFill>
                  <a:schemeClr val="bg1"/>
                </a:solidFill>
                <a:latin typeface="Arial" panose="020B0604020202020204" pitchFamily="34" charset="0"/>
                <a:cs typeface="Arial" panose="020B0604020202020204" pitchFamily="34" charset="0"/>
              </a:rPr>
              <a:t>); Vice-presidente</a:t>
            </a:r>
            <a:r>
              <a:rPr lang="pt-BR" b="1" dirty="0">
                <a:solidFill>
                  <a:schemeClr val="bg1"/>
                </a:solidFill>
                <a:latin typeface="Arial" panose="020B0604020202020204" pitchFamily="34" charset="0"/>
                <a:cs typeface="Arial" panose="020B0604020202020204" pitchFamily="34" charset="0"/>
              </a:rPr>
              <a:t>: Luciano Guimarães (Sindicato Rural</a:t>
            </a:r>
            <a:r>
              <a:rPr lang="pt-BR" b="1" dirty="0" smtClean="0">
                <a:solidFill>
                  <a:schemeClr val="bg1"/>
                </a:solidFill>
                <a:latin typeface="Arial" panose="020B0604020202020204" pitchFamily="34" charset="0"/>
                <a:cs typeface="Arial" panose="020B0604020202020204" pitchFamily="34" charset="0"/>
              </a:rPr>
              <a:t>) e </a:t>
            </a:r>
            <a:r>
              <a:rPr lang="pt-BR" b="1" dirty="0">
                <a:solidFill>
                  <a:schemeClr val="bg1"/>
                </a:solidFill>
                <a:latin typeface="Arial" panose="020B0604020202020204" pitchFamily="34" charset="0"/>
                <a:cs typeface="Arial" panose="020B0604020202020204" pitchFamily="34" charset="0"/>
              </a:rPr>
              <a:t> Secretário: Denimárcio Oliveira (Sescon</a:t>
            </a:r>
            <a:r>
              <a:rPr lang="pt-BR" b="1" dirty="0" smtClean="0">
                <a:solidFill>
                  <a:schemeClr val="bg1"/>
                </a:solidFill>
                <a:latin typeface="Arial" panose="020B0604020202020204" pitchFamily="34" charset="0"/>
                <a:cs typeface="Arial" panose="020B0604020202020204" pitchFamily="34" charset="0"/>
              </a:rPr>
              <a:t>).</a:t>
            </a:r>
            <a:endParaRPr lang="pt-BR" b="1" dirty="0">
              <a:solidFill>
                <a:schemeClr val="bg1"/>
              </a:solidFill>
              <a:latin typeface="Arial" panose="020B0604020202020204" pitchFamily="34" charset="0"/>
              <a:cs typeface="Arial" panose="020B0604020202020204" pitchFamily="34" charset="0"/>
            </a:endParaRPr>
          </a:p>
        </p:txBody>
      </p:sp>
      <p:pic>
        <p:nvPicPr>
          <p:cNvPr id="3" name="Imagem 2"/>
          <p:cNvPicPr>
            <a:picLocks noChangeAspect="1"/>
          </p:cNvPicPr>
          <p:nvPr/>
        </p:nvPicPr>
        <p:blipFill rotWithShape="1">
          <a:blip r:embed="rId3"/>
          <a:srcRect l="23637" t="39875" r="21328" b="26585"/>
          <a:stretch/>
        </p:blipFill>
        <p:spPr>
          <a:xfrm>
            <a:off x="379863" y="3498943"/>
            <a:ext cx="10423368" cy="3370715"/>
          </a:xfrm>
          <a:prstGeom prst="rect">
            <a:avLst/>
          </a:prstGeom>
        </p:spPr>
      </p:pic>
      <p:sp>
        <p:nvSpPr>
          <p:cNvPr id="6" name="CaixaDeTexto 5"/>
          <p:cNvSpPr txBox="1"/>
          <p:nvPr/>
        </p:nvSpPr>
        <p:spPr>
          <a:xfrm>
            <a:off x="1828800" y="-51522"/>
            <a:ext cx="10413642" cy="651012"/>
          </a:xfrm>
          <a:prstGeom prst="rect">
            <a:avLst/>
          </a:prstGeom>
          <a:noFill/>
        </p:spPr>
        <p:txBody>
          <a:bodyPr wrap="square" rtlCol="0">
            <a:spAutoFit/>
          </a:bodyPr>
          <a:lstStyle/>
          <a:p>
            <a:pPr algn="ctr">
              <a:lnSpc>
                <a:spcPct val="150000"/>
              </a:lnSpc>
            </a:pPr>
            <a:r>
              <a:rPr lang="pt-BR" sz="2700" b="1" i="1" dirty="0" smtClean="0">
                <a:solidFill>
                  <a:srgbClr val="FFFF00"/>
                </a:solidFill>
                <a:latin typeface="Arial Black" panose="020B0A04020102020204" pitchFamily="34" charset="0"/>
              </a:rPr>
              <a:t>CONSELHO DE DESENVOLVIMENTO DE RIO VERDE-GO</a:t>
            </a:r>
            <a:endParaRPr lang="pt-BR" sz="2700" b="1" i="1" dirty="0">
              <a:solidFill>
                <a:srgbClr val="FFFF00"/>
              </a:solidFill>
              <a:latin typeface="Arial Black" panose="020B0A04020102020204" pitchFamily="34" charset="0"/>
            </a:endParaRPr>
          </a:p>
        </p:txBody>
      </p:sp>
    </p:spTree>
    <p:extLst>
      <p:ext uri="{BB962C8B-B14F-4D97-AF65-F5344CB8AC3E}">
        <p14:creationId xmlns:p14="http://schemas.microsoft.com/office/powerpoint/2010/main" val="7861968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0" y="0"/>
            <a:ext cx="12192000" cy="6858000"/>
          </a:xfrm>
          <a:prstGeom prst="flowChartPunchedCard">
            <a:avLst/>
          </a:prstGeom>
          <a:solidFill>
            <a:srgbClr val="204F7A"/>
          </a:solidFill>
          <a:ln>
            <a:solidFill>
              <a:srgbClr val="204F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solidFill>
                <a:schemeClr val="bg1"/>
              </a:solidFill>
              <a:latin typeface="Arial Black" panose="020B0A04020102020204" pitchFamily="34" charset="0"/>
            </a:endParaRPr>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2"/>
          <p:cNvSpPr>
            <a:spLocks noChangeArrowheads="1"/>
          </p:cNvSpPr>
          <p:nvPr/>
        </p:nvSpPr>
        <p:spPr bwMode="auto">
          <a:xfrm>
            <a:off x="754645" y="1137776"/>
            <a:ext cx="10751245" cy="1496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50000"/>
              </a:lnSpc>
              <a:spcBef>
                <a:spcPct val="0"/>
              </a:spcBef>
              <a:spcAft>
                <a:spcPct val="0"/>
              </a:spcAft>
              <a:buClrTx/>
              <a:buSzTx/>
              <a:tabLst/>
            </a:pPr>
            <a:r>
              <a:rPr kumimoji="0" lang="pt-BR" altLang="pt-BR" sz="2100" b="1" i="0" u="none" strike="noStrike" cap="none" normalizeH="0" baseline="0" dirty="0" smtClean="0">
                <a:ln>
                  <a:noFill/>
                </a:ln>
                <a:solidFill>
                  <a:schemeClr val="bg1"/>
                </a:solidFill>
                <a:effectLst/>
                <a:latin typeface="Arial Black" panose="020B0A04020102020204" pitchFamily="34" charset="0"/>
                <a:ea typeface="Calibri" panose="020F0502020204030204" pitchFamily="34" charset="0"/>
                <a:cs typeface="Arial" panose="020B0604020202020204" pitchFamily="34" charset="0"/>
              </a:rPr>
              <a:t>4- Empresário e/ou empresa, tem conhecimento de todos os serviços oferecidos pela ACIRV?</a:t>
            </a:r>
            <a:endParaRPr kumimoji="0" lang="pt-BR" altLang="pt-BR" sz="2100" b="0" i="0" u="none" strike="noStrike" cap="none" normalizeH="0" baseline="0" dirty="0" smtClean="0">
              <a:ln>
                <a:noFill/>
              </a:ln>
              <a:solidFill>
                <a:schemeClr val="bg1"/>
              </a:solidFill>
              <a:effectLst/>
              <a:latin typeface="Arial Black" panose="020B0A04020102020204" pitchFamily="34" charset="0"/>
            </a:endParaRPr>
          </a:p>
          <a:p>
            <a:pPr marL="0" marR="0" lvl="0" indent="0" algn="ctr" defTabSz="914400" rtl="0" eaLnBrk="0" fontAlgn="base" latinLnBrk="0" hangingPunct="0">
              <a:lnSpc>
                <a:spcPct val="150000"/>
              </a:lnSpc>
              <a:spcBef>
                <a:spcPct val="0"/>
              </a:spcBef>
              <a:spcAft>
                <a:spcPct val="0"/>
              </a:spcAft>
              <a:buClrTx/>
              <a:buSzTx/>
              <a:buFontTx/>
              <a:buNone/>
              <a:tabLst/>
            </a:pPr>
            <a:endParaRPr kumimoji="0" lang="pt-BR" altLang="pt-BR" sz="2100" b="0" i="0" u="none" strike="noStrike" cap="none" normalizeH="0" baseline="0" dirty="0" smtClean="0">
              <a:ln>
                <a:noFill/>
              </a:ln>
              <a:solidFill>
                <a:schemeClr val="bg1"/>
              </a:solidFill>
              <a:effectLst/>
              <a:latin typeface="Arial Black" panose="020B0A04020102020204" pitchFamily="34" charset="0"/>
            </a:endParaRPr>
          </a:p>
        </p:txBody>
      </p:sp>
      <p:graphicFrame>
        <p:nvGraphicFramePr>
          <p:cNvPr id="7" name="Gráfico 6"/>
          <p:cNvGraphicFramePr/>
          <p:nvPr>
            <p:extLst>
              <p:ext uri="{D42A27DB-BD31-4B8C-83A1-F6EECF244321}">
                <p14:modId xmlns:p14="http://schemas.microsoft.com/office/powerpoint/2010/main" val="3310852368"/>
              </p:ext>
            </p:extLst>
          </p:nvPr>
        </p:nvGraphicFramePr>
        <p:xfrm>
          <a:off x="2645489" y="2653048"/>
          <a:ext cx="8752313" cy="3477296"/>
        </p:xfrm>
        <a:graphic>
          <a:graphicData uri="http://schemas.openxmlformats.org/drawingml/2006/chart">
            <c:chart xmlns:c="http://schemas.openxmlformats.org/drawingml/2006/chart" xmlns:r="http://schemas.openxmlformats.org/officeDocument/2006/relationships" r:id="rId3"/>
          </a:graphicData>
        </a:graphic>
      </p:graphicFrame>
      <p:sp>
        <p:nvSpPr>
          <p:cNvPr id="8" name="Rectangle 3"/>
          <p:cNvSpPr>
            <a:spLocks noChangeArrowheads="1"/>
          </p:cNvSpPr>
          <p:nvPr/>
        </p:nvSpPr>
        <p:spPr bwMode="auto">
          <a:xfrm>
            <a:off x="457200" y="32099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sp>
        <p:nvSpPr>
          <p:cNvPr id="9" name="Retângulo 8"/>
          <p:cNvSpPr/>
          <p:nvPr/>
        </p:nvSpPr>
        <p:spPr>
          <a:xfrm>
            <a:off x="5011926" y="118910"/>
            <a:ext cx="3846822" cy="553998"/>
          </a:xfrm>
          <a:prstGeom prst="rect">
            <a:avLst/>
          </a:prstGeom>
        </p:spPr>
        <p:txBody>
          <a:bodyPr wrap="none">
            <a:spAutoFit/>
          </a:bodyPr>
          <a:lstStyle/>
          <a:p>
            <a:r>
              <a:rPr lang="pt-BR" sz="3000" i="1" dirty="0" smtClean="0">
                <a:solidFill>
                  <a:srgbClr val="FFFF00"/>
                </a:solidFill>
                <a:latin typeface="Arial Black" panose="020B0A04020102020204" pitchFamily="34" charset="0"/>
              </a:rPr>
              <a:t>PESQUISA ACIRV</a:t>
            </a:r>
            <a:endParaRPr lang="pt-BR" sz="3000" i="1" dirty="0">
              <a:solidFill>
                <a:srgbClr val="FFFF00"/>
              </a:solidFill>
              <a:latin typeface="Arial Black" panose="020B0A04020102020204" pitchFamily="34" charset="0"/>
            </a:endParaRPr>
          </a:p>
        </p:txBody>
      </p:sp>
    </p:spTree>
    <p:extLst>
      <p:ext uri="{BB962C8B-B14F-4D97-AF65-F5344CB8AC3E}">
        <p14:creationId xmlns:p14="http://schemas.microsoft.com/office/powerpoint/2010/main" val="9748707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0" y="0"/>
            <a:ext cx="12192000" cy="6858000"/>
          </a:xfrm>
          <a:prstGeom prst="flowChartPunchedCard">
            <a:avLst/>
          </a:prstGeom>
          <a:solidFill>
            <a:srgbClr val="204F7A"/>
          </a:solidFill>
          <a:ln>
            <a:solidFill>
              <a:srgbClr val="204F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solidFill>
                <a:schemeClr val="bg1"/>
              </a:solidFill>
              <a:latin typeface="Arial Black" panose="020B0A04020102020204" pitchFamily="34" charset="0"/>
            </a:endParaRPr>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p:cNvSpPr>
            <a:spLocks noChangeArrowheads="1"/>
          </p:cNvSpPr>
          <p:nvPr/>
        </p:nvSpPr>
        <p:spPr bwMode="auto">
          <a:xfrm>
            <a:off x="457200" y="32099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pic>
        <p:nvPicPr>
          <p:cNvPr id="9" name="Imagem 8"/>
          <p:cNvPicPr>
            <a:picLocks noChangeAspect="1"/>
          </p:cNvPicPr>
          <p:nvPr/>
        </p:nvPicPr>
        <p:blipFill rotWithShape="1">
          <a:blip r:embed="rId3">
            <a:extLst>
              <a:ext uri="{28A0092B-C50C-407E-A947-70E740481C1C}">
                <a14:useLocalDpi xmlns:a14="http://schemas.microsoft.com/office/drawing/2010/main" val="0"/>
              </a:ext>
            </a:extLst>
          </a:blip>
          <a:srcRect t="4611" r="4227" b="21895"/>
          <a:stretch/>
        </p:blipFill>
        <p:spPr>
          <a:xfrm>
            <a:off x="2382593" y="0"/>
            <a:ext cx="9809408" cy="6858000"/>
          </a:xfrm>
          <a:prstGeom prst="rect">
            <a:avLst/>
          </a:prstGeom>
        </p:spPr>
      </p:pic>
    </p:spTree>
    <p:extLst>
      <p:ext uri="{BB962C8B-B14F-4D97-AF65-F5344CB8AC3E}">
        <p14:creationId xmlns:p14="http://schemas.microsoft.com/office/powerpoint/2010/main" val="24145224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0" y="0"/>
            <a:ext cx="12192000" cy="6858000"/>
          </a:xfrm>
          <a:prstGeom prst="flowChartPunchedCard">
            <a:avLst/>
          </a:prstGeom>
          <a:solidFill>
            <a:srgbClr val="204F7A"/>
          </a:solidFill>
          <a:ln>
            <a:solidFill>
              <a:srgbClr val="204F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solidFill>
                <a:schemeClr val="bg1"/>
              </a:solidFill>
              <a:latin typeface="Arial Black" panose="020B0A04020102020204" pitchFamily="34" charset="0"/>
            </a:endParaRPr>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p:cNvSpPr>
            <a:spLocks noChangeArrowheads="1"/>
          </p:cNvSpPr>
          <p:nvPr/>
        </p:nvSpPr>
        <p:spPr bwMode="auto">
          <a:xfrm>
            <a:off x="457200" y="32099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pic>
        <p:nvPicPr>
          <p:cNvPr id="7" name="Imagem 6"/>
          <p:cNvPicPr>
            <a:picLocks noChangeAspect="1"/>
          </p:cNvPicPr>
          <p:nvPr/>
        </p:nvPicPr>
        <p:blipFill rotWithShape="1">
          <a:blip r:embed="rId3">
            <a:extLst>
              <a:ext uri="{28A0092B-C50C-407E-A947-70E740481C1C}">
                <a14:useLocalDpi xmlns:a14="http://schemas.microsoft.com/office/drawing/2010/main" val="0"/>
              </a:ext>
            </a:extLst>
          </a:blip>
          <a:srcRect l="5073" t="4957" b="21020"/>
          <a:stretch/>
        </p:blipFill>
        <p:spPr>
          <a:xfrm>
            <a:off x="2266682" y="0"/>
            <a:ext cx="9925318" cy="6858000"/>
          </a:xfrm>
          <a:prstGeom prst="rect">
            <a:avLst/>
          </a:prstGeom>
        </p:spPr>
      </p:pic>
    </p:spTree>
    <p:extLst>
      <p:ext uri="{BB962C8B-B14F-4D97-AF65-F5344CB8AC3E}">
        <p14:creationId xmlns:p14="http://schemas.microsoft.com/office/powerpoint/2010/main" val="42826909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16986" y="0"/>
            <a:ext cx="12192000" cy="6858000"/>
          </a:xfrm>
          <a:prstGeom prst="flowChartPunchedCard">
            <a:avLst/>
          </a:prstGeom>
          <a:solidFill>
            <a:srgbClr val="204F7A"/>
          </a:solidFill>
          <a:ln>
            <a:solidFill>
              <a:srgbClr val="204F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8" name="CaixaDeTexto 7"/>
          <p:cNvSpPr txBox="1"/>
          <p:nvPr/>
        </p:nvSpPr>
        <p:spPr>
          <a:xfrm>
            <a:off x="12742985" y="5580185"/>
            <a:ext cx="184731" cy="369332"/>
          </a:xfrm>
          <a:prstGeom prst="rect">
            <a:avLst/>
          </a:prstGeom>
          <a:noFill/>
        </p:spPr>
        <p:txBody>
          <a:bodyPr wrap="none" rtlCol="0">
            <a:spAutoFit/>
          </a:bodyPr>
          <a:lstStyle/>
          <a:p>
            <a:endParaRPr lang="pt-BR" dirty="0"/>
          </a:p>
        </p:txBody>
      </p:sp>
      <p:sp>
        <p:nvSpPr>
          <p:cNvPr id="9" name="Retângulo 8"/>
          <p:cNvSpPr/>
          <p:nvPr/>
        </p:nvSpPr>
        <p:spPr>
          <a:xfrm>
            <a:off x="2161503" y="442160"/>
            <a:ext cx="8907886" cy="1696875"/>
          </a:xfrm>
          <a:prstGeom prst="rect">
            <a:avLst/>
          </a:prstGeom>
        </p:spPr>
        <p:txBody>
          <a:bodyPr wrap="square">
            <a:spAutoFit/>
          </a:bodyPr>
          <a:lstStyle/>
          <a:p>
            <a:pPr algn="ctr">
              <a:lnSpc>
                <a:spcPct val="150000"/>
              </a:lnSpc>
            </a:pPr>
            <a:r>
              <a:rPr lang="pt-BR" sz="2400" dirty="0" smtClean="0">
                <a:solidFill>
                  <a:srgbClr val="FFFF00"/>
                </a:solidFill>
                <a:latin typeface="Arial Black" panose="020B0A04020102020204" pitchFamily="34" charset="0"/>
                <a:cs typeface="Arial" panose="020B0604020202020204" pitchFamily="34" charset="0"/>
              </a:rPr>
              <a:t>PACTO CAM/ACIRV</a:t>
            </a:r>
          </a:p>
          <a:p>
            <a:pPr algn="ctr">
              <a:lnSpc>
                <a:spcPct val="150000"/>
              </a:lnSpc>
            </a:pPr>
            <a:r>
              <a:rPr lang="pt-BR" sz="2400" dirty="0" smtClean="0">
                <a:solidFill>
                  <a:srgbClr val="FFFF00"/>
                </a:solidFill>
                <a:latin typeface="Arial Black" panose="020B0A04020102020204" pitchFamily="34" charset="0"/>
                <a:cs typeface="Arial" panose="020B0604020202020204" pitchFamily="34" charset="0"/>
              </a:rPr>
              <a:t>MESA </a:t>
            </a:r>
            <a:r>
              <a:rPr lang="pt-BR" sz="2400" dirty="0">
                <a:solidFill>
                  <a:srgbClr val="FFFF00"/>
                </a:solidFill>
                <a:latin typeface="Arial Black" panose="020B0A04020102020204" pitchFamily="34" charset="0"/>
              </a:rPr>
              <a:t>debate sobre boas práticas de </a:t>
            </a:r>
            <a:endParaRPr lang="pt-BR" sz="2400" dirty="0" smtClean="0">
              <a:solidFill>
                <a:srgbClr val="FFFF00"/>
              </a:solidFill>
              <a:latin typeface="Arial Black" panose="020B0A04020102020204" pitchFamily="34" charset="0"/>
            </a:endParaRPr>
          </a:p>
          <a:p>
            <a:pPr algn="ctr">
              <a:lnSpc>
                <a:spcPct val="150000"/>
              </a:lnSpc>
            </a:pPr>
            <a:r>
              <a:rPr lang="pt-BR" sz="2400" dirty="0" smtClean="0">
                <a:solidFill>
                  <a:srgbClr val="FFFF00"/>
                </a:solidFill>
                <a:latin typeface="Arial Black" panose="020B0A04020102020204" pitchFamily="34" charset="0"/>
              </a:rPr>
              <a:t>soluções pacíficas de </a:t>
            </a:r>
            <a:r>
              <a:rPr lang="pt-BR" sz="2400" dirty="0">
                <a:solidFill>
                  <a:srgbClr val="FFFF00"/>
                </a:solidFill>
                <a:latin typeface="Arial Black" panose="020B0A04020102020204" pitchFamily="34" charset="0"/>
              </a:rPr>
              <a:t>conflitos empresariais</a:t>
            </a:r>
            <a:r>
              <a:rPr lang="pt-BR" sz="2400" dirty="0" smtClean="0">
                <a:solidFill>
                  <a:srgbClr val="FFFF00"/>
                </a:solidFill>
                <a:latin typeface="Arial Black" panose="020B0A04020102020204" pitchFamily="34" charset="0"/>
                <a:cs typeface="Arial" panose="020B0604020202020204" pitchFamily="34" charset="0"/>
              </a:rPr>
              <a:t> </a:t>
            </a:r>
            <a:endParaRPr lang="pt-BR" sz="2400" dirty="0">
              <a:solidFill>
                <a:srgbClr val="FFFF00"/>
              </a:solidFill>
              <a:latin typeface="Arial Black" panose="020B0A04020102020204" pitchFamily="34" charset="0"/>
            </a:endParaRPr>
          </a:p>
        </p:txBody>
      </p:sp>
      <p:pic>
        <p:nvPicPr>
          <p:cNvPr id="5" name="Imagem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4365" y="2356833"/>
            <a:ext cx="5652797" cy="4365514"/>
          </a:xfrm>
          <a:prstGeom prst="roundRect">
            <a:avLst/>
          </a:prstGeom>
        </p:spPr>
      </p:pic>
      <p:pic>
        <p:nvPicPr>
          <p:cNvPr id="11" name="Imagem 10"/>
          <p:cNvPicPr>
            <a:picLocks noChangeAspect="1"/>
          </p:cNvPicPr>
          <p:nvPr/>
        </p:nvPicPr>
        <p:blipFill rotWithShape="1">
          <a:blip r:embed="rId4" cstate="print">
            <a:extLst>
              <a:ext uri="{28A0092B-C50C-407E-A947-70E740481C1C}">
                <a14:useLocalDpi xmlns:a14="http://schemas.microsoft.com/office/drawing/2010/main" val="0"/>
              </a:ext>
            </a:extLst>
          </a:blip>
          <a:srcRect l="6764"/>
          <a:stretch/>
        </p:blipFill>
        <p:spPr>
          <a:xfrm>
            <a:off x="5954148" y="2356833"/>
            <a:ext cx="6035899" cy="4365515"/>
          </a:xfrm>
          <a:prstGeom prst="roundRect">
            <a:avLst/>
          </a:prstGeom>
        </p:spPr>
      </p:pic>
    </p:spTree>
    <p:extLst>
      <p:ext uri="{BB962C8B-B14F-4D97-AF65-F5344CB8AC3E}">
        <p14:creationId xmlns:p14="http://schemas.microsoft.com/office/powerpoint/2010/main" val="12282179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16986" y="0"/>
            <a:ext cx="12192000" cy="6858000"/>
          </a:xfrm>
          <a:prstGeom prst="flowChartPunchedCard">
            <a:avLst/>
          </a:prstGeom>
          <a:solidFill>
            <a:srgbClr val="204F7A"/>
          </a:solidFill>
          <a:ln>
            <a:solidFill>
              <a:srgbClr val="204F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8" name="CaixaDeTexto 7"/>
          <p:cNvSpPr txBox="1"/>
          <p:nvPr/>
        </p:nvSpPr>
        <p:spPr>
          <a:xfrm>
            <a:off x="12742985" y="5580185"/>
            <a:ext cx="184731" cy="369332"/>
          </a:xfrm>
          <a:prstGeom prst="rect">
            <a:avLst/>
          </a:prstGeom>
          <a:noFill/>
        </p:spPr>
        <p:txBody>
          <a:bodyPr wrap="none" rtlCol="0">
            <a:spAutoFit/>
          </a:bodyPr>
          <a:lstStyle/>
          <a:p>
            <a:endParaRPr lang="pt-BR" dirty="0"/>
          </a:p>
        </p:txBody>
      </p:sp>
      <p:sp>
        <p:nvSpPr>
          <p:cNvPr id="5" name="Retângulo 4"/>
          <p:cNvSpPr/>
          <p:nvPr/>
        </p:nvSpPr>
        <p:spPr>
          <a:xfrm>
            <a:off x="2421194" y="13729"/>
            <a:ext cx="9702024" cy="2940933"/>
          </a:xfrm>
          <a:prstGeom prst="rect">
            <a:avLst/>
          </a:prstGeom>
        </p:spPr>
        <p:txBody>
          <a:bodyPr wrap="square">
            <a:spAutoFit/>
          </a:bodyPr>
          <a:lstStyle/>
          <a:p>
            <a:pPr algn="just">
              <a:lnSpc>
                <a:spcPct val="150000"/>
              </a:lnSpc>
            </a:pPr>
            <a:r>
              <a:rPr lang="pt-BR" sz="2100" b="1" dirty="0">
                <a:solidFill>
                  <a:schemeClr val="bg1"/>
                </a:solidFill>
                <a:latin typeface="Arial" panose="020B0604020202020204" pitchFamily="34" charset="0"/>
                <a:cs typeface="Arial" panose="020B0604020202020204" pitchFamily="34" charset="0"/>
              </a:rPr>
              <a:t>O encontro pela Solução Pacífica de Conflitos Empresariais e Adesão ao Pacto pela não Judicialização dos Conflitos foi promovido pela </a:t>
            </a:r>
            <a:r>
              <a:rPr lang="pt-BR" sz="2100" b="1" dirty="0" smtClean="0">
                <a:solidFill>
                  <a:schemeClr val="bg1"/>
                </a:solidFill>
                <a:latin typeface="Arial" panose="020B0604020202020204" pitchFamily="34" charset="0"/>
                <a:cs typeface="Arial" panose="020B0604020202020204" pitchFamily="34" charset="0"/>
              </a:rPr>
              <a:t>FACIEG, ACIRV </a:t>
            </a:r>
            <a:r>
              <a:rPr lang="pt-BR" sz="2100" b="1" dirty="0">
                <a:solidFill>
                  <a:schemeClr val="bg1"/>
                </a:solidFill>
                <a:latin typeface="Arial" panose="020B0604020202020204" pitchFamily="34" charset="0"/>
                <a:cs typeface="Arial" panose="020B0604020202020204" pitchFamily="34" charset="0"/>
              </a:rPr>
              <a:t>e </a:t>
            </a:r>
            <a:r>
              <a:rPr lang="pt-BR" sz="2100" b="1" dirty="0" smtClean="0">
                <a:solidFill>
                  <a:schemeClr val="bg1"/>
                </a:solidFill>
                <a:latin typeface="Arial" panose="020B0604020202020204" pitchFamily="34" charset="0"/>
                <a:cs typeface="Arial" panose="020B0604020202020204" pitchFamily="34" charset="0"/>
              </a:rPr>
              <a:t>CACB </a:t>
            </a:r>
            <a:r>
              <a:rPr lang="pt-BR" sz="2100" b="1" dirty="0">
                <a:solidFill>
                  <a:schemeClr val="bg1"/>
                </a:solidFill>
                <a:latin typeface="Arial" panose="020B0604020202020204" pitchFamily="34" charset="0"/>
                <a:cs typeface="Arial" panose="020B0604020202020204" pitchFamily="34" charset="0"/>
              </a:rPr>
              <a:t>- por meio da Câmara Brasileira de Mediação e Arbitragem Empresarial (CBMAE) e em parceria com </a:t>
            </a:r>
            <a:r>
              <a:rPr lang="pt-BR" sz="2100" b="1" dirty="0" smtClean="0">
                <a:solidFill>
                  <a:schemeClr val="bg1"/>
                </a:solidFill>
                <a:latin typeface="Arial" panose="020B0604020202020204" pitchFamily="34" charset="0"/>
                <a:cs typeface="Arial" panose="020B0604020202020204" pitchFamily="34" charset="0"/>
              </a:rPr>
              <a:t>SEBRAE. </a:t>
            </a:r>
            <a:r>
              <a:rPr lang="pt-BR" sz="2100" b="1" dirty="0">
                <a:solidFill>
                  <a:schemeClr val="bg1"/>
                </a:solidFill>
                <a:latin typeface="Arial" panose="020B0604020202020204" pitchFamily="34" charset="0"/>
                <a:cs typeface="Arial" panose="020B0604020202020204" pitchFamily="34" charset="0"/>
              </a:rPr>
              <a:t>Também </a:t>
            </a:r>
            <a:r>
              <a:rPr lang="pt-BR" sz="2100" b="1" dirty="0" smtClean="0">
                <a:solidFill>
                  <a:schemeClr val="bg1"/>
                </a:solidFill>
                <a:latin typeface="Arial" panose="020B0604020202020204" pitchFamily="34" charset="0"/>
                <a:cs typeface="Arial" panose="020B0604020202020204" pitchFamily="34" charset="0"/>
              </a:rPr>
              <a:t>apoiaram </a:t>
            </a:r>
            <a:r>
              <a:rPr lang="pt-BR" sz="2100" b="1" dirty="0">
                <a:solidFill>
                  <a:schemeClr val="bg1"/>
                </a:solidFill>
                <a:latin typeface="Arial" panose="020B0604020202020204" pitchFamily="34" charset="0"/>
                <a:cs typeface="Arial" panose="020B0604020202020204" pitchFamily="34" charset="0"/>
              </a:rPr>
              <a:t>o encontro a OAB – subseção Rio Verde, a Prefeitura Municipal de Rio Verde e o Conselho Regional de Contabilidade (CRC-Goiás).</a:t>
            </a:r>
          </a:p>
        </p:txBody>
      </p:sp>
      <p:pic>
        <p:nvPicPr>
          <p:cNvPr id="7170" name="Picture 2" descr="https://scontent-gru2-1.xx.fbcdn.net/hphotos-xpf1/v/t1.0-9/1913607_863260050469250_4047889632281679181_n.jpg?oh=d0ee7e6b40043afa83507c6834af22a2&amp;oe=57AF137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7923" y="4082603"/>
            <a:ext cx="4095050" cy="2730034"/>
          </a:xfrm>
          <a:prstGeom prst="roundRect">
            <a:avLst/>
          </a:prstGeom>
          <a:noFill/>
          <a:extLst>
            <a:ext uri="{909E8E84-426E-40DD-AFC4-6F175D3DCCD1}">
              <a14:hiddenFill xmlns:a14="http://schemas.microsoft.com/office/drawing/2010/main">
                <a:solidFill>
                  <a:srgbClr val="FFFFFF"/>
                </a:solidFill>
              </a14:hiddenFill>
            </a:ext>
          </a:extLst>
        </p:spPr>
      </p:pic>
      <p:pic>
        <p:nvPicPr>
          <p:cNvPr id="7172" name="Picture 4" descr="https://fbcdn-sphotos-g-a.akamaihd.net/hphotos-ak-xpf1/v/t1.0-9/1622059_863259777135944_8686933393602450705_n.jpg?oh=7c84fbd1fd962b1451a9b3af581e510b&amp;oe=57B63DF4&amp;__gda__=1470580021_fd12f8f23e441fa478913689f83e81e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25564" y="3012837"/>
            <a:ext cx="3780561" cy="2627002"/>
          </a:xfrm>
          <a:prstGeom prst="roundRect">
            <a:avLst/>
          </a:prstGeom>
          <a:noFill/>
          <a:extLst>
            <a:ext uri="{909E8E84-426E-40DD-AFC4-6F175D3DCCD1}">
              <a14:hiddenFill xmlns:a14="http://schemas.microsoft.com/office/drawing/2010/main">
                <a:solidFill>
                  <a:srgbClr val="FFFFFF"/>
                </a:solidFill>
              </a14:hiddenFill>
            </a:ext>
          </a:extLst>
        </p:spPr>
      </p:pic>
      <p:pic>
        <p:nvPicPr>
          <p:cNvPr id="7174" name="Picture 6" descr="https://fbcdn-sphotos-e-a.akamaihd.net/hphotos-ak-xfl1/v/t1.0-9/252215_862990103829578_1933758442257406510_n.jpg?oh=dec161f725c6a8f23765ed8cd85442aa&amp;oe=5778DA98&amp;__gda__=1467907105_c666cffbac84e09aabce22c9f22352a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218716" y="4250028"/>
            <a:ext cx="3936385" cy="2578015"/>
          </a:xfrm>
          <a:prstGeom prst="round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16269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0" y="0"/>
            <a:ext cx="12192000" cy="6858000"/>
          </a:xfrm>
          <a:prstGeom prst="flowChartPunchedCard">
            <a:avLst/>
          </a:prstGeom>
          <a:solidFill>
            <a:srgbClr val="204F7A"/>
          </a:solidFill>
          <a:ln>
            <a:solidFill>
              <a:srgbClr val="204F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solidFill>
                <a:schemeClr val="bg1"/>
              </a:solidFill>
              <a:latin typeface="Arial Black" panose="020B0A04020102020204" pitchFamily="34" charset="0"/>
            </a:endParaRPr>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p:cNvSpPr>
            <a:spLocks noChangeArrowheads="1"/>
          </p:cNvSpPr>
          <p:nvPr/>
        </p:nvSpPr>
        <p:spPr bwMode="auto">
          <a:xfrm>
            <a:off x="457200" y="32099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pic>
        <p:nvPicPr>
          <p:cNvPr id="10" name="Imagem 9"/>
          <p:cNvPicPr>
            <a:picLocks noChangeAspect="1"/>
          </p:cNvPicPr>
          <p:nvPr/>
        </p:nvPicPr>
        <p:blipFill rotWithShape="1">
          <a:blip r:embed="rId3">
            <a:extLst>
              <a:ext uri="{28A0092B-C50C-407E-A947-70E740481C1C}">
                <a14:useLocalDpi xmlns:a14="http://schemas.microsoft.com/office/drawing/2010/main" val="0"/>
              </a:ext>
            </a:extLst>
          </a:blip>
          <a:srcRect l="10247" t="54243" r="10232" b="23854"/>
          <a:stretch/>
        </p:blipFill>
        <p:spPr>
          <a:xfrm>
            <a:off x="1690825" y="3209924"/>
            <a:ext cx="9800112" cy="3538606"/>
          </a:xfrm>
          <a:prstGeom prst="roundRect">
            <a:avLst/>
          </a:prstGeom>
        </p:spPr>
      </p:pic>
      <p:sp>
        <p:nvSpPr>
          <p:cNvPr id="11" name="Retângulo 10"/>
          <p:cNvSpPr/>
          <p:nvPr/>
        </p:nvSpPr>
        <p:spPr>
          <a:xfrm>
            <a:off x="2965543" y="-107974"/>
            <a:ext cx="8213315" cy="713016"/>
          </a:xfrm>
          <a:prstGeom prst="rect">
            <a:avLst/>
          </a:prstGeom>
        </p:spPr>
        <p:txBody>
          <a:bodyPr wrap="square">
            <a:spAutoFit/>
          </a:bodyPr>
          <a:lstStyle/>
          <a:p>
            <a:pPr algn="ctr">
              <a:lnSpc>
                <a:spcPct val="150000"/>
              </a:lnSpc>
            </a:pPr>
            <a:r>
              <a:rPr lang="pt-BR" sz="3000" b="1" i="1" dirty="0" smtClean="0">
                <a:solidFill>
                  <a:srgbClr val="FFFF00"/>
                </a:solidFill>
                <a:latin typeface="Arial Black" panose="020B0A04020102020204" pitchFamily="34" charset="0"/>
                <a:cs typeface="Arial" pitchFamily="34" charset="0"/>
              </a:rPr>
              <a:t>FÓRUM DE RECURSOS HUMANOS</a:t>
            </a:r>
          </a:p>
        </p:txBody>
      </p:sp>
      <p:sp>
        <p:nvSpPr>
          <p:cNvPr id="12" name="CaixaDeTexto 11"/>
          <p:cNvSpPr txBox="1"/>
          <p:nvPr/>
        </p:nvSpPr>
        <p:spPr>
          <a:xfrm>
            <a:off x="521595" y="1103554"/>
            <a:ext cx="11623183" cy="1754326"/>
          </a:xfrm>
          <a:prstGeom prst="rect">
            <a:avLst/>
          </a:prstGeom>
          <a:noFill/>
        </p:spPr>
        <p:txBody>
          <a:bodyPr wrap="square" rtlCol="0">
            <a:spAutoFit/>
          </a:bodyPr>
          <a:lstStyle/>
          <a:p>
            <a:pPr algn="just">
              <a:lnSpc>
                <a:spcPct val="150000"/>
              </a:lnSpc>
            </a:pPr>
            <a:r>
              <a:rPr lang="pt-BR" sz="2400" b="1" dirty="0" smtClean="0">
                <a:solidFill>
                  <a:schemeClr val="bg1"/>
                </a:solidFill>
                <a:latin typeface="Arial" pitchFamily="34" charset="0"/>
                <a:cs typeface="Arial" pitchFamily="34" charset="0"/>
              </a:rPr>
              <a:t>O </a:t>
            </a:r>
            <a:r>
              <a:rPr lang="pt-BR" sz="2400" b="1" dirty="0">
                <a:solidFill>
                  <a:schemeClr val="bg1"/>
                </a:solidFill>
                <a:latin typeface="Arial" pitchFamily="34" charset="0"/>
                <a:cs typeface="Arial" pitchFamily="34" charset="0"/>
              </a:rPr>
              <a:t>principal objetivo é a troca de informações e experiências relacionadas à gestão de recursos humanos, buscando constantemente atualização e aprimoramento, seja através de cursos, palestras ou treinamentos</a:t>
            </a:r>
            <a:r>
              <a:rPr lang="pt-BR" sz="2400" b="1" dirty="0" smtClean="0">
                <a:solidFill>
                  <a:schemeClr val="bg1"/>
                </a:solidFill>
                <a:latin typeface="Arial" pitchFamily="34" charset="0"/>
                <a:cs typeface="Arial" pitchFamily="34" charset="0"/>
              </a:rPr>
              <a:t>.</a:t>
            </a:r>
          </a:p>
        </p:txBody>
      </p:sp>
    </p:spTree>
    <p:extLst>
      <p:ext uri="{BB962C8B-B14F-4D97-AF65-F5344CB8AC3E}">
        <p14:creationId xmlns:p14="http://schemas.microsoft.com/office/powerpoint/2010/main" val="16781738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0" y="0"/>
            <a:ext cx="12192000" cy="6858000"/>
          </a:xfrm>
          <a:prstGeom prst="flowChartPunchedCard">
            <a:avLst/>
          </a:prstGeom>
          <a:solidFill>
            <a:srgbClr val="204F7A"/>
          </a:solidFill>
          <a:ln>
            <a:solidFill>
              <a:srgbClr val="204F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solidFill>
                <a:schemeClr val="bg1"/>
              </a:solidFill>
              <a:latin typeface="Arial Black" panose="020B0A04020102020204" pitchFamily="34" charset="0"/>
            </a:endParaRPr>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p:cNvSpPr>
            <a:spLocks noChangeArrowheads="1"/>
          </p:cNvSpPr>
          <p:nvPr/>
        </p:nvSpPr>
        <p:spPr bwMode="auto">
          <a:xfrm>
            <a:off x="457200" y="32099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pic>
        <p:nvPicPr>
          <p:cNvPr id="7" name="Imagem 6"/>
          <p:cNvPicPr>
            <a:picLocks noChangeAspect="1"/>
          </p:cNvPicPr>
          <p:nvPr/>
        </p:nvPicPr>
        <p:blipFill rotWithShape="1">
          <a:blip r:embed="rId3">
            <a:extLst>
              <a:ext uri="{28A0092B-C50C-407E-A947-70E740481C1C}">
                <a14:useLocalDpi xmlns:a14="http://schemas.microsoft.com/office/drawing/2010/main" val="0"/>
              </a:ext>
            </a:extLst>
          </a:blip>
          <a:srcRect l="4497" t="20691" r="41837" b="70628"/>
          <a:stretch/>
        </p:blipFill>
        <p:spPr>
          <a:xfrm>
            <a:off x="1829906" y="1669357"/>
            <a:ext cx="9446587" cy="3995535"/>
          </a:xfrm>
          <a:prstGeom prst="roundRect">
            <a:avLst/>
          </a:prstGeom>
        </p:spPr>
      </p:pic>
    </p:spTree>
    <p:extLst>
      <p:ext uri="{BB962C8B-B14F-4D97-AF65-F5344CB8AC3E}">
        <p14:creationId xmlns:p14="http://schemas.microsoft.com/office/powerpoint/2010/main" val="18620392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0" y="0"/>
            <a:ext cx="12192000" cy="6858000"/>
          </a:xfrm>
          <a:prstGeom prst="flowChartPunchedCard">
            <a:avLst/>
          </a:prstGeom>
          <a:solidFill>
            <a:srgbClr val="204F7A"/>
          </a:solidFill>
          <a:ln>
            <a:solidFill>
              <a:srgbClr val="204F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solidFill>
                <a:schemeClr val="bg1"/>
              </a:solidFill>
              <a:latin typeface="Arial Black" panose="020B0A04020102020204" pitchFamily="34" charset="0"/>
            </a:endParaRPr>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p:cNvSpPr>
            <a:spLocks noChangeArrowheads="1"/>
          </p:cNvSpPr>
          <p:nvPr/>
        </p:nvSpPr>
        <p:spPr bwMode="auto">
          <a:xfrm>
            <a:off x="457200" y="32099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pic>
        <p:nvPicPr>
          <p:cNvPr id="7" name="Imagem 6"/>
          <p:cNvPicPr>
            <a:picLocks noChangeAspect="1"/>
          </p:cNvPicPr>
          <p:nvPr/>
        </p:nvPicPr>
        <p:blipFill rotWithShape="1">
          <a:blip r:embed="rId3">
            <a:extLst>
              <a:ext uri="{28A0092B-C50C-407E-A947-70E740481C1C}">
                <a14:useLocalDpi xmlns:a14="http://schemas.microsoft.com/office/drawing/2010/main" val="0"/>
              </a:ext>
            </a:extLst>
          </a:blip>
          <a:srcRect l="57983" t="20944" r="4489" b="67257"/>
          <a:stretch/>
        </p:blipFill>
        <p:spPr>
          <a:xfrm>
            <a:off x="1800504" y="2002627"/>
            <a:ext cx="8990529" cy="3728472"/>
          </a:xfrm>
          <a:prstGeom prst="roundRect">
            <a:avLst/>
          </a:prstGeom>
        </p:spPr>
      </p:pic>
    </p:spTree>
    <p:extLst>
      <p:ext uri="{BB962C8B-B14F-4D97-AF65-F5344CB8AC3E}">
        <p14:creationId xmlns:p14="http://schemas.microsoft.com/office/powerpoint/2010/main" val="2629563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0" y="0"/>
            <a:ext cx="12192000" cy="6858000"/>
          </a:xfrm>
          <a:prstGeom prst="flowChartPunchedCard">
            <a:avLst/>
          </a:prstGeom>
          <a:solidFill>
            <a:srgbClr val="204F7A"/>
          </a:solidFill>
          <a:ln>
            <a:solidFill>
              <a:srgbClr val="204F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solidFill>
                <a:schemeClr val="bg1"/>
              </a:solidFill>
              <a:latin typeface="Arial Black" panose="020B0A04020102020204" pitchFamily="34" charset="0"/>
            </a:endParaRPr>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p:cNvSpPr>
            <a:spLocks noChangeArrowheads="1"/>
          </p:cNvSpPr>
          <p:nvPr/>
        </p:nvSpPr>
        <p:spPr bwMode="auto">
          <a:xfrm>
            <a:off x="457200" y="32099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pic>
        <p:nvPicPr>
          <p:cNvPr id="7" name="Imagem 6"/>
          <p:cNvPicPr>
            <a:picLocks noChangeAspect="1"/>
          </p:cNvPicPr>
          <p:nvPr/>
        </p:nvPicPr>
        <p:blipFill rotWithShape="1">
          <a:blip r:embed="rId3">
            <a:extLst>
              <a:ext uri="{28A0092B-C50C-407E-A947-70E740481C1C}">
                <a14:useLocalDpi xmlns:a14="http://schemas.microsoft.com/office/drawing/2010/main" val="0"/>
              </a:ext>
            </a:extLst>
          </a:blip>
          <a:srcRect l="17191" t="75320" r="22134" b="21083"/>
          <a:stretch/>
        </p:blipFill>
        <p:spPr>
          <a:xfrm>
            <a:off x="3780477" y="17522"/>
            <a:ext cx="5633751" cy="605516"/>
          </a:xfrm>
          <a:prstGeom prst="rect">
            <a:avLst/>
          </a:prstGeom>
        </p:spPr>
      </p:pic>
      <p:pic>
        <p:nvPicPr>
          <p:cNvPr id="9" name="Imagem 8"/>
          <p:cNvPicPr>
            <a:picLocks noChangeAspect="1"/>
          </p:cNvPicPr>
          <p:nvPr/>
        </p:nvPicPr>
        <p:blipFill rotWithShape="1">
          <a:blip r:embed="rId3">
            <a:extLst>
              <a:ext uri="{28A0092B-C50C-407E-A947-70E740481C1C}">
                <a14:useLocalDpi xmlns:a14="http://schemas.microsoft.com/office/drawing/2010/main" val="0"/>
              </a:ext>
            </a:extLst>
          </a:blip>
          <a:srcRect l="55056" t="79674" b="4530"/>
          <a:stretch/>
        </p:blipFill>
        <p:spPr>
          <a:xfrm>
            <a:off x="4397601" y="3957130"/>
            <a:ext cx="4680520" cy="2858011"/>
          </a:xfrm>
          <a:prstGeom prst="rect">
            <a:avLst/>
          </a:prstGeom>
        </p:spPr>
      </p:pic>
      <p:pic>
        <p:nvPicPr>
          <p:cNvPr id="10" name="Imagem 9"/>
          <p:cNvPicPr>
            <a:picLocks noChangeAspect="1"/>
          </p:cNvPicPr>
          <p:nvPr/>
        </p:nvPicPr>
        <p:blipFill rotWithShape="1">
          <a:blip r:embed="rId3">
            <a:extLst>
              <a:ext uri="{28A0092B-C50C-407E-A947-70E740481C1C}">
                <a14:useLocalDpi xmlns:a14="http://schemas.microsoft.com/office/drawing/2010/main" val="0"/>
              </a:ext>
            </a:extLst>
          </a:blip>
          <a:srcRect l="1806" t="80031" r="44627" b="4530"/>
          <a:stretch/>
        </p:blipFill>
        <p:spPr>
          <a:xfrm>
            <a:off x="1678675" y="784893"/>
            <a:ext cx="10118373" cy="3348146"/>
          </a:xfrm>
          <a:prstGeom prst="rect">
            <a:avLst/>
          </a:prstGeom>
        </p:spPr>
      </p:pic>
    </p:spTree>
    <p:extLst>
      <p:ext uri="{BB962C8B-B14F-4D97-AF65-F5344CB8AC3E}">
        <p14:creationId xmlns:p14="http://schemas.microsoft.com/office/powerpoint/2010/main" val="25961949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0" y="0"/>
            <a:ext cx="12192000" cy="6858000"/>
          </a:xfrm>
          <a:prstGeom prst="flowChartPunchedCard">
            <a:avLst/>
          </a:prstGeom>
          <a:solidFill>
            <a:srgbClr val="204F7A"/>
          </a:solidFill>
          <a:ln>
            <a:solidFill>
              <a:srgbClr val="204F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2"/>
          <p:cNvSpPr>
            <a:spLocks noChangeArrowheads="1"/>
          </p:cNvSpPr>
          <p:nvPr/>
        </p:nvSpPr>
        <p:spPr bwMode="auto">
          <a:xfrm>
            <a:off x="2553749" y="827474"/>
            <a:ext cx="8728144" cy="1496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50000"/>
              </a:lnSpc>
              <a:spcBef>
                <a:spcPct val="0"/>
              </a:spcBef>
              <a:spcAft>
                <a:spcPct val="0"/>
              </a:spcAft>
              <a:buClrTx/>
              <a:buSzTx/>
              <a:tabLst/>
            </a:pPr>
            <a:r>
              <a:rPr kumimoji="0" lang="pt-BR" altLang="pt-BR" sz="2100" b="1" i="0" u="none" strike="noStrike" cap="none" normalizeH="0" baseline="0" dirty="0" smtClean="0">
                <a:ln>
                  <a:noFill/>
                </a:ln>
                <a:solidFill>
                  <a:schemeClr val="bg1"/>
                </a:solidFill>
                <a:effectLst/>
                <a:latin typeface="Arial Black" panose="020B0A04020102020204" pitchFamily="34" charset="0"/>
                <a:ea typeface="Calibri" panose="020F0502020204030204" pitchFamily="34" charset="0"/>
                <a:cs typeface="Arial" panose="020B0604020202020204" pitchFamily="34" charset="0"/>
              </a:rPr>
              <a:t>5- Quais os serviços que a ACIRV não oferece que seria de seu interesse?</a:t>
            </a:r>
            <a:endParaRPr kumimoji="0" lang="pt-BR" altLang="pt-BR" sz="2100" b="0" i="0" u="none" strike="noStrike" cap="none" normalizeH="0" baseline="0" dirty="0" smtClean="0">
              <a:ln>
                <a:noFill/>
              </a:ln>
              <a:solidFill>
                <a:schemeClr val="bg1"/>
              </a:solidFill>
              <a:effectLst/>
              <a:latin typeface="Arial Black" panose="020B0A04020102020204" pitchFamily="34" charset="0"/>
            </a:endParaRPr>
          </a:p>
          <a:p>
            <a:pPr marL="0" marR="0" lvl="0" indent="0" algn="ctr" defTabSz="914400" rtl="0" eaLnBrk="0" fontAlgn="base" latinLnBrk="0" hangingPunct="0">
              <a:lnSpc>
                <a:spcPct val="150000"/>
              </a:lnSpc>
              <a:spcBef>
                <a:spcPct val="0"/>
              </a:spcBef>
              <a:spcAft>
                <a:spcPct val="0"/>
              </a:spcAft>
              <a:buClrTx/>
              <a:buSzTx/>
              <a:buFontTx/>
              <a:buNone/>
              <a:tabLst/>
            </a:pPr>
            <a:endParaRPr kumimoji="0" lang="pt-BR" altLang="pt-BR" sz="2100" b="0" i="0" u="none" strike="noStrike" cap="none" normalizeH="0" baseline="0" dirty="0" smtClean="0">
              <a:ln>
                <a:noFill/>
              </a:ln>
              <a:solidFill>
                <a:schemeClr val="bg1"/>
              </a:solidFill>
              <a:effectLst/>
              <a:latin typeface="Arial Black" panose="020B0A04020102020204" pitchFamily="34" charset="0"/>
            </a:endParaRPr>
          </a:p>
        </p:txBody>
      </p:sp>
      <p:graphicFrame>
        <p:nvGraphicFramePr>
          <p:cNvPr id="7" name="Gráfico 6"/>
          <p:cNvGraphicFramePr/>
          <p:nvPr>
            <p:extLst>
              <p:ext uri="{D42A27DB-BD31-4B8C-83A1-F6EECF244321}">
                <p14:modId xmlns:p14="http://schemas.microsoft.com/office/powerpoint/2010/main" val="2962451300"/>
              </p:ext>
            </p:extLst>
          </p:nvPr>
        </p:nvGraphicFramePr>
        <p:xfrm>
          <a:off x="457199" y="1880315"/>
          <a:ext cx="11262575" cy="4868215"/>
        </p:xfrm>
        <a:graphic>
          <a:graphicData uri="http://schemas.openxmlformats.org/drawingml/2006/chart">
            <c:chart xmlns:c="http://schemas.openxmlformats.org/drawingml/2006/chart" xmlns:r="http://schemas.openxmlformats.org/officeDocument/2006/relationships" r:id="rId3"/>
          </a:graphicData>
        </a:graphic>
      </p:graphicFrame>
      <p:sp>
        <p:nvSpPr>
          <p:cNvPr id="8" name="Rectangle 3"/>
          <p:cNvSpPr>
            <a:spLocks noChangeArrowheads="1"/>
          </p:cNvSpPr>
          <p:nvPr/>
        </p:nvSpPr>
        <p:spPr bwMode="auto">
          <a:xfrm>
            <a:off x="457200" y="34861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sp>
        <p:nvSpPr>
          <p:cNvPr id="9" name="Retângulo 8"/>
          <p:cNvSpPr/>
          <p:nvPr/>
        </p:nvSpPr>
        <p:spPr>
          <a:xfrm>
            <a:off x="5011926" y="118910"/>
            <a:ext cx="3846822" cy="553998"/>
          </a:xfrm>
          <a:prstGeom prst="rect">
            <a:avLst/>
          </a:prstGeom>
        </p:spPr>
        <p:txBody>
          <a:bodyPr wrap="none">
            <a:spAutoFit/>
          </a:bodyPr>
          <a:lstStyle/>
          <a:p>
            <a:r>
              <a:rPr lang="pt-BR" sz="3000" i="1" dirty="0" smtClean="0">
                <a:solidFill>
                  <a:srgbClr val="FFFF00"/>
                </a:solidFill>
                <a:latin typeface="Arial Black" panose="020B0A04020102020204" pitchFamily="34" charset="0"/>
              </a:rPr>
              <a:t>PESQUISA ACIRV</a:t>
            </a:r>
            <a:endParaRPr lang="pt-BR" sz="3000" i="1" dirty="0">
              <a:solidFill>
                <a:srgbClr val="FFFF00"/>
              </a:solidFill>
              <a:latin typeface="Arial Black" panose="020B0A04020102020204" pitchFamily="34" charset="0"/>
            </a:endParaRPr>
          </a:p>
        </p:txBody>
      </p:sp>
    </p:spTree>
    <p:extLst>
      <p:ext uri="{BB962C8B-B14F-4D97-AF65-F5344CB8AC3E}">
        <p14:creationId xmlns:p14="http://schemas.microsoft.com/office/powerpoint/2010/main" val="19057245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0" y="13252"/>
            <a:ext cx="12192000" cy="6858000"/>
          </a:xfrm>
          <a:prstGeom prst="flowChartPunchedCard">
            <a:avLst/>
          </a:prstGeom>
          <a:solidFill>
            <a:srgbClr val="204F7A"/>
          </a:solidFill>
          <a:ln>
            <a:solidFill>
              <a:srgbClr val="204F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4" name="Retângulo 3"/>
          <p:cNvSpPr/>
          <p:nvPr/>
        </p:nvSpPr>
        <p:spPr>
          <a:xfrm>
            <a:off x="1203550" y="1343042"/>
            <a:ext cx="4106888" cy="461665"/>
          </a:xfrm>
          <a:prstGeom prst="rect">
            <a:avLst/>
          </a:prstGeom>
        </p:spPr>
        <p:txBody>
          <a:bodyPr wrap="square">
            <a:spAutoFit/>
          </a:bodyPr>
          <a:lstStyle/>
          <a:p>
            <a:r>
              <a:rPr lang="pt-BR" sz="2400" dirty="0">
                <a:solidFill>
                  <a:srgbClr val="FFFF00"/>
                </a:solidFill>
                <a:latin typeface="Arial Black" panose="020B0A04020102020204" pitchFamily="34" charset="0"/>
                <a:cs typeface="Arial" panose="020B0604020202020204" pitchFamily="34" charset="0"/>
              </a:rPr>
              <a:t>Ações </a:t>
            </a:r>
            <a:r>
              <a:rPr lang="pt-BR" sz="2400" dirty="0" smtClean="0">
                <a:solidFill>
                  <a:srgbClr val="FFFF00"/>
                </a:solidFill>
                <a:latin typeface="Arial Black" panose="020B0A04020102020204" pitchFamily="34" charset="0"/>
                <a:cs typeface="Arial" panose="020B0604020202020204" pitchFamily="34" charset="0"/>
              </a:rPr>
              <a:t>Acirv - Agosto</a:t>
            </a:r>
            <a:endParaRPr lang="pt-BR" sz="2400" dirty="0"/>
          </a:p>
        </p:txBody>
      </p:sp>
      <p:sp>
        <p:nvSpPr>
          <p:cNvPr id="5" name="CaixaDeTexto 4"/>
          <p:cNvSpPr txBox="1"/>
          <p:nvPr/>
        </p:nvSpPr>
        <p:spPr>
          <a:xfrm>
            <a:off x="579549" y="1829061"/>
            <a:ext cx="4993187" cy="1200329"/>
          </a:xfrm>
          <a:prstGeom prst="rect">
            <a:avLst/>
          </a:prstGeom>
          <a:noFill/>
        </p:spPr>
        <p:txBody>
          <a:bodyPr wrap="square" rtlCol="0">
            <a:spAutoFit/>
          </a:bodyPr>
          <a:lstStyle/>
          <a:p>
            <a:pPr algn="ctr">
              <a:lnSpc>
                <a:spcPct val="150000"/>
              </a:lnSpc>
            </a:pPr>
            <a:r>
              <a:rPr lang="pt-BR" sz="2400" dirty="0" smtClean="0">
                <a:solidFill>
                  <a:schemeClr val="bg1"/>
                </a:solidFill>
                <a:latin typeface="Arial Black" panose="020B0A04020102020204" pitchFamily="34" charset="0"/>
              </a:rPr>
              <a:t>Curso de Oratória - Será realizado nos dias 08 e 09</a:t>
            </a:r>
            <a:endParaRPr lang="pt-BR" sz="2400" dirty="0">
              <a:solidFill>
                <a:schemeClr val="bg1"/>
              </a:solidFill>
              <a:latin typeface="Arial Black" panose="020B0A04020102020204" pitchFamily="34" charset="0"/>
            </a:endParaRPr>
          </a:p>
        </p:txBody>
      </p:sp>
      <p:pic>
        <p:nvPicPr>
          <p:cNvPr id="7" name="Imagem 6"/>
          <p:cNvPicPr>
            <a:picLocks noChangeAspect="1"/>
          </p:cNvPicPr>
          <p:nvPr/>
        </p:nvPicPr>
        <p:blipFill rotWithShape="1">
          <a:blip r:embed="rId3" cstate="print">
            <a:extLst>
              <a:ext uri="{28A0092B-C50C-407E-A947-70E740481C1C}">
                <a14:useLocalDpi xmlns:a14="http://schemas.microsoft.com/office/drawing/2010/main" val="0"/>
              </a:ext>
            </a:extLst>
          </a:blip>
          <a:srcRect b="13709"/>
          <a:stretch/>
        </p:blipFill>
        <p:spPr>
          <a:xfrm>
            <a:off x="6053071" y="78935"/>
            <a:ext cx="5782614" cy="6791944"/>
          </a:xfrm>
          <a:prstGeom prst="rect">
            <a:avLst/>
          </a:prstGeom>
        </p:spPr>
      </p:pic>
      <p:pic>
        <p:nvPicPr>
          <p:cNvPr id="10" name="Imagem 9"/>
          <p:cNvPicPr>
            <a:picLocks noChangeAspect="1"/>
          </p:cNvPicPr>
          <p:nvPr/>
        </p:nvPicPr>
        <p:blipFill rotWithShape="1">
          <a:blip r:embed="rId3" cstate="print">
            <a:extLst>
              <a:ext uri="{28A0092B-C50C-407E-A947-70E740481C1C}">
                <a14:useLocalDpi xmlns:a14="http://schemas.microsoft.com/office/drawing/2010/main" val="0"/>
              </a:ext>
            </a:extLst>
          </a:blip>
          <a:srcRect l="1741" t="87007" r="1840" b="1416"/>
          <a:stretch/>
        </p:blipFill>
        <p:spPr>
          <a:xfrm>
            <a:off x="167425" y="3515931"/>
            <a:ext cx="5705341" cy="965917"/>
          </a:xfrm>
          <a:prstGeom prst="rect">
            <a:avLst/>
          </a:prstGeom>
        </p:spPr>
      </p:pic>
    </p:spTree>
    <p:extLst>
      <p:ext uri="{BB962C8B-B14F-4D97-AF65-F5344CB8AC3E}">
        <p14:creationId xmlns:p14="http://schemas.microsoft.com/office/powerpoint/2010/main" val="23057501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0" y="13252"/>
            <a:ext cx="12192000" cy="6858000"/>
          </a:xfrm>
          <a:prstGeom prst="flowChartPunchedCard">
            <a:avLst/>
          </a:prstGeom>
          <a:solidFill>
            <a:srgbClr val="204F7A"/>
          </a:solidFill>
          <a:ln>
            <a:solidFill>
              <a:srgbClr val="204F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m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7000" y="160338"/>
            <a:ext cx="8331558" cy="6575313"/>
          </a:xfrm>
          <a:prstGeom prst="rect">
            <a:avLst/>
          </a:prstGeom>
        </p:spPr>
      </p:pic>
    </p:spTree>
    <p:extLst>
      <p:ext uri="{BB962C8B-B14F-4D97-AF65-F5344CB8AC3E}">
        <p14:creationId xmlns:p14="http://schemas.microsoft.com/office/powerpoint/2010/main" val="33873315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0" y="13252"/>
            <a:ext cx="12192000" cy="6858000"/>
          </a:xfrm>
          <a:prstGeom prst="flowChartPunchedCard">
            <a:avLst/>
          </a:prstGeom>
          <a:solidFill>
            <a:srgbClr val="204F7A"/>
          </a:solidFill>
          <a:ln>
            <a:solidFill>
              <a:srgbClr val="204F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m 7"/>
          <p:cNvPicPr>
            <a:picLocks noChangeAspect="1"/>
          </p:cNvPicPr>
          <p:nvPr/>
        </p:nvPicPr>
        <p:blipFill rotWithShape="1">
          <a:blip r:embed="rId3"/>
          <a:srcRect l="22944" t="19888" r="22813" b="11978"/>
          <a:stretch/>
        </p:blipFill>
        <p:spPr>
          <a:xfrm>
            <a:off x="2021983" y="13251"/>
            <a:ext cx="10184761" cy="6871251"/>
          </a:xfrm>
          <a:prstGeom prst="rect">
            <a:avLst/>
          </a:prstGeom>
        </p:spPr>
      </p:pic>
    </p:spTree>
    <p:extLst>
      <p:ext uri="{BB962C8B-B14F-4D97-AF65-F5344CB8AC3E}">
        <p14:creationId xmlns:p14="http://schemas.microsoft.com/office/powerpoint/2010/main" val="26951267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0" y="0"/>
            <a:ext cx="12192000" cy="6858000"/>
          </a:xfrm>
          <a:prstGeom prst="flowChartPunchedCard">
            <a:avLst/>
          </a:prstGeom>
          <a:solidFill>
            <a:srgbClr val="204F7A"/>
          </a:solidFill>
          <a:ln>
            <a:solidFill>
              <a:srgbClr val="204F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p:cNvSpPr>
            <a:spLocks noChangeArrowheads="1"/>
          </p:cNvSpPr>
          <p:nvPr/>
        </p:nvSpPr>
        <p:spPr bwMode="auto">
          <a:xfrm>
            <a:off x="457200" y="34861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pic>
        <p:nvPicPr>
          <p:cNvPr id="4" name="Imagem 3"/>
          <p:cNvPicPr>
            <a:picLocks noChangeAspect="1"/>
          </p:cNvPicPr>
          <p:nvPr/>
        </p:nvPicPr>
        <p:blipFill rotWithShape="1">
          <a:blip r:embed="rId3"/>
          <a:srcRect r="5073" b="14852"/>
          <a:stretch/>
        </p:blipFill>
        <p:spPr>
          <a:xfrm>
            <a:off x="1863110" y="978793"/>
            <a:ext cx="9050187" cy="4765183"/>
          </a:xfrm>
          <a:prstGeom prst="roundRect">
            <a:avLst/>
          </a:prstGeom>
        </p:spPr>
      </p:pic>
    </p:spTree>
    <p:extLst>
      <p:ext uri="{BB962C8B-B14F-4D97-AF65-F5344CB8AC3E}">
        <p14:creationId xmlns:p14="http://schemas.microsoft.com/office/powerpoint/2010/main" val="22885248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0" y="0"/>
            <a:ext cx="12192000" cy="6858000"/>
          </a:xfrm>
          <a:prstGeom prst="flowChartPunchedCard">
            <a:avLst/>
          </a:prstGeom>
          <a:solidFill>
            <a:srgbClr val="204F7A"/>
          </a:solidFill>
          <a:ln>
            <a:solidFill>
              <a:srgbClr val="204F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p:cNvSpPr>
            <a:spLocks noChangeArrowheads="1"/>
          </p:cNvSpPr>
          <p:nvPr/>
        </p:nvSpPr>
        <p:spPr bwMode="auto">
          <a:xfrm>
            <a:off x="457200" y="34861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sp>
        <p:nvSpPr>
          <p:cNvPr id="7" name="Retângulo 6"/>
          <p:cNvSpPr/>
          <p:nvPr/>
        </p:nvSpPr>
        <p:spPr>
          <a:xfrm>
            <a:off x="839337" y="1669086"/>
            <a:ext cx="10908406" cy="2456185"/>
          </a:xfrm>
          <a:prstGeom prst="rect">
            <a:avLst/>
          </a:prstGeom>
        </p:spPr>
        <p:txBody>
          <a:bodyPr wrap="square">
            <a:spAutoFit/>
          </a:bodyPr>
          <a:lstStyle/>
          <a:p>
            <a:pPr algn="just">
              <a:lnSpc>
                <a:spcPct val="150000"/>
              </a:lnSpc>
            </a:pPr>
            <a:r>
              <a:rPr lang="pt-BR" sz="2100" b="1" dirty="0">
                <a:solidFill>
                  <a:schemeClr val="bg1"/>
                </a:solidFill>
                <a:latin typeface="Arial" pitchFamily="34" charset="0"/>
                <a:cs typeface="Arial" pitchFamily="34" charset="0"/>
              </a:rPr>
              <a:t>O Serviço Brasileiro de Apoio às Micro e Pequenas Empresas atua com foco no fortalecimento do empreendedorismo e na aceleração do processo de formalização da economia por meio de parcerias com os setores público e privado, programas de capacitação, acesso ao crédito e à inovação, estímulo ao associativismo, feiras e rodadas de </a:t>
            </a:r>
            <a:r>
              <a:rPr lang="pt-BR" sz="2100" b="1" dirty="0" smtClean="0">
                <a:solidFill>
                  <a:schemeClr val="bg1"/>
                </a:solidFill>
                <a:latin typeface="Arial" pitchFamily="34" charset="0"/>
                <a:cs typeface="Arial" pitchFamily="34" charset="0"/>
              </a:rPr>
              <a:t>negócios</a:t>
            </a:r>
            <a:r>
              <a:rPr lang="pt-BR" sz="2100" b="1" dirty="0">
                <a:solidFill>
                  <a:schemeClr val="bg1"/>
                </a:solidFill>
                <a:latin typeface="Arial" pitchFamily="34" charset="0"/>
                <a:cs typeface="Arial" pitchFamily="34" charset="0"/>
              </a:rPr>
              <a:t>.</a:t>
            </a:r>
          </a:p>
        </p:txBody>
      </p:sp>
      <p:pic>
        <p:nvPicPr>
          <p:cNvPr id="9" name="Picture 2" descr="http://www.arturnogueira.sp.gov.br/wp-content/uploads/2016/02/Logo-Sebrae-branco.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5717" b="18444"/>
          <a:stretch/>
        </p:blipFill>
        <p:spPr bwMode="auto">
          <a:xfrm>
            <a:off x="4555064" y="263912"/>
            <a:ext cx="2785036" cy="1296145"/>
          </a:xfrm>
          <a:prstGeom prst="rect">
            <a:avLst/>
          </a:prstGeom>
          <a:noFill/>
          <a:extLst>
            <a:ext uri="{909E8E84-426E-40DD-AFC4-6F175D3DCCD1}">
              <a14:hiddenFill xmlns:a14="http://schemas.microsoft.com/office/drawing/2010/main">
                <a:solidFill>
                  <a:srgbClr val="FFFFFF"/>
                </a:solidFill>
              </a14:hiddenFill>
            </a:ext>
          </a:extLst>
        </p:spPr>
      </p:pic>
      <p:pic>
        <p:nvPicPr>
          <p:cNvPr id="12" name="Imagem 11"/>
          <p:cNvPicPr>
            <a:picLocks noChangeAspect="1"/>
          </p:cNvPicPr>
          <p:nvPr/>
        </p:nvPicPr>
        <p:blipFill rotWithShape="1">
          <a:blip r:embed="rId4" cstate="print">
            <a:extLst>
              <a:ext uri="{28A0092B-C50C-407E-A947-70E740481C1C}">
                <a14:useLocalDpi xmlns:a14="http://schemas.microsoft.com/office/drawing/2010/main" val="0"/>
              </a:ext>
            </a:extLst>
          </a:blip>
          <a:srcRect t="38975" b="23333"/>
          <a:stretch/>
        </p:blipFill>
        <p:spPr>
          <a:xfrm>
            <a:off x="6004000" y="4234299"/>
            <a:ext cx="5605646" cy="2566979"/>
          </a:xfrm>
          <a:prstGeom prst="roundRect">
            <a:avLst/>
          </a:prstGeom>
        </p:spPr>
      </p:pic>
      <p:pic>
        <p:nvPicPr>
          <p:cNvPr id="13" name="Imagem 12"/>
          <p:cNvPicPr>
            <a:picLocks noChangeAspect="1"/>
          </p:cNvPicPr>
          <p:nvPr/>
        </p:nvPicPr>
        <p:blipFill rotWithShape="1">
          <a:blip r:embed="rId5" cstate="print">
            <a:extLst>
              <a:ext uri="{28A0092B-C50C-407E-A947-70E740481C1C}">
                <a14:useLocalDpi xmlns:a14="http://schemas.microsoft.com/office/drawing/2010/main" val="0"/>
              </a:ext>
            </a:extLst>
          </a:blip>
          <a:srcRect t="34718"/>
          <a:stretch/>
        </p:blipFill>
        <p:spPr>
          <a:xfrm>
            <a:off x="228600" y="4234299"/>
            <a:ext cx="5502887" cy="2585255"/>
          </a:xfrm>
          <a:prstGeom prst="roundRect">
            <a:avLst/>
          </a:prstGeom>
        </p:spPr>
      </p:pic>
    </p:spTree>
    <p:extLst>
      <p:ext uri="{BB962C8B-B14F-4D97-AF65-F5344CB8AC3E}">
        <p14:creationId xmlns:p14="http://schemas.microsoft.com/office/powerpoint/2010/main" val="12067703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0" y="0"/>
            <a:ext cx="12192000" cy="6858000"/>
          </a:xfrm>
          <a:prstGeom prst="flowChartPunchedCard">
            <a:avLst/>
          </a:prstGeom>
          <a:solidFill>
            <a:srgbClr val="204F7A"/>
          </a:solidFill>
          <a:ln>
            <a:solidFill>
              <a:srgbClr val="204F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p:cNvSpPr>
            <a:spLocks noChangeArrowheads="1"/>
          </p:cNvSpPr>
          <p:nvPr/>
        </p:nvSpPr>
        <p:spPr bwMode="auto">
          <a:xfrm>
            <a:off x="457200" y="34861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pic>
        <p:nvPicPr>
          <p:cNvPr id="7" name="Imagem 6"/>
          <p:cNvPicPr>
            <a:picLocks noChangeAspect="1"/>
          </p:cNvPicPr>
          <p:nvPr/>
        </p:nvPicPr>
        <p:blipFill rotWithShape="1">
          <a:blip r:embed="rId3">
            <a:extLst>
              <a:ext uri="{28A0092B-C50C-407E-A947-70E740481C1C}">
                <a14:useLocalDpi xmlns:a14="http://schemas.microsoft.com/office/drawing/2010/main" val="0"/>
              </a:ext>
            </a:extLst>
          </a:blip>
          <a:srcRect l="5648" t="6183" r="5803" b="65341"/>
          <a:stretch/>
        </p:blipFill>
        <p:spPr>
          <a:xfrm>
            <a:off x="2717442" y="7938"/>
            <a:ext cx="9234154" cy="2874206"/>
          </a:xfrm>
          <a:prstGeom prst="rect">
            <a:avLst/>
          </a:prstGeom>
        </p:spPr>
      </p:pic>
      <p:pic>
        <p:nvPicPr>
          <p:cNvPr id="10" name="Imagem 9"/>
          <p:cNvPicPr>
            <a:picLocks noChangeAspect="1"/>
          </p:cNvPicPr>
          <p:nvPr/>
        </p:nvPicPr>
        <p:blipFill rotWithShape="1">
          <a:blip r:embed="rId3">
            <a:extLst>
              <a:ext uri="{28A0092B-C50C-407E-A947-70E740481C1C}">
                <a14:useLocalDpi xmlns:a14="http://schemas.microsoft.com/office/drawing/2010/main" val="0"/>
              </a:ext>
            </a:extLst>
          </a:blip>
          <a:srcRect l="3748" t="35336" b="4689"/>
          <a:stretch/>
        </p:blipFill>
        <p:spPr>
          <a:xfrm>
            <a:off x="2717443" y="2882144"/>
            <a:ext cx="9234154" cy="3891822"/>
          </a:xfrm>
          <a:prstGeom prst="rect">
            <a:avLst/>
          </a:prstGeom>
        </p:spPr>
      </p:pic>
    </p:spTree>
    <p:extLst>
      <p:ext uri="{BB962C8B-B14F-4D97-AF65-F5344CB8AC3E}">
        <p14:creationId xmlns:p14="http://schemas.microsoft.com/office/powerpoint/2010/main" val="36244481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0" y="0"/>
            <a:ext cx="12192000" cy="6858000"/>
          </a:xfrm>
          <a:prstGeom prst="flowChartPunchedCard">
            <a:avLst/>
          </a:prstGeom>
          <a:solidFill>
            <a:srgbClr val="204F7A"/>
          </a:solidFill>
          <a:ln>
            <a:solidFill>
              <a:srgbClr val="204F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p:cNvSpPr>
            <a:spLocks noChangeArrowheads="1"/>
          </p:cNvSpPr>
          <p:nvPr/>
        </p:nvSpPr>
        <p:spPr bwMode="auto">
          <a:xfrm>
            <a:off x="457200" y="34861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pic>
        <p:nvPicPr>
          <p:cNvPr id="9" name="Picture 2" descr="http://www.rioverdeagora.com.br/arquivos/noticia-item/zooms-1216-0.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4113" b="16587"/>
          <a:stretch/>
        </p:blipFill>
        <p:spPr bwMode="auto">
          <a:xfrm>
            <a:off x="413973" y="2198220"/>
            <a:ext cx="2194296" cy="920445"/>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m 3"/>
          <p:cNvPicPr>
            <a:picLocks noChangeAspect="1"/>
          </p:cNvPicPr>
          <p:nvPr/>
        </p:nvPicPr>
        <p:blipFill rotWithShape="1">
          <a:blip r:embed="rId4" cstate="print">
            <a:extLst>
              <a:ext uri="{28A0092B-C50C-407E-A947-70E740481C1C}">
                <a14:useLocalDpi xmlns:a14="http://schemas.microsoft.com/office/drawing/2010/main" val="0"/>
              </a:ext>
            </a:extLst>
          </a:blip>
          <a:srcRect l="5400" t="5187" r="5192" b="46690"/>
          <a:stretch/>
        </p:blipFill>
        <p:spPr>
          <a:xfrm>
            <a:off x="3022242" y="7937"/>
            <a:ext cx="9169758" cy="6809209"/>
          </a:xfrm>
          <a:prstGeom prst="rect">
            <a:avLst/>
          </a:prstGeom>
        </p:spPr>
      </p:pic>
    </p:spTree>
    <p:extLst>
      <p:ext uri="{BB962C8B-B14F-4D97-AF65-F5344CB8AC3E}">
        <p14:creationId xmlns:p14="http://schemas.microsoft.com/office/powerpoint/2010/main" val="22185890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0" y="0"/>
            <a:ext cx="12192000" cy="6858000"/>
          </a:xfrm>
          <a:prstGeom prst="flowChartPunchedCard">
            <a:avLst/>
          </a:prstGeom>
          <a:solidFill>
            <a:srgbClr val="204F7A"/>
          </a:solidFill>
          <a:ln>
            <a:solidFill>
              <a:srgbClr val="204F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p:cNvSpPr>
            <a:spLocks noChangeArrowheads="1"/>
          </p:cNvSpPr>
          <p:nvPr/>
        </p:nvSpPr>
        <p:spPr bwMode="auto">
          <a:xfrm>
            <a:off x="457200" y="34861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pic>
        <p:nvPicPr>
          <p:cNvPr id="4" name="Imagem 3"/>
          <p:cNvPicPr>
            <a:picLocks noChangeAspect="1"/>
          </p:cNvPicPr>
          <p:nvPr/>
        </p:nvPicPr>
        <p:blipFill rotWithShape="1">
          <a:blip r:embed="rId3" cstate="print">
            <a:extLst>
              <a:ext uri="{28A0092B-C50C-407E-A947-70E740481C1C}">
                <a14:useLocalDpi xmlns:a14="http://schemas.microsoft.com/office/drawing/2010/main" val="0"/>
              </a:ext>
            </a:extLst>
          </a:blip>
          <a:srcRect l="5458" t="6334" r="3522" b="46854"/>
          <a:stretch/>
        </p:blipFill>
        <p:spPr>
          <a:xfrm>
            <a:off x="2900150" y="0"/>
            <a:ext cx="9257507" cy="6858000"/>
          </a:xfrm>
          <a:prstGeom prst="rect">
            <a:avLst/>
          </a:prstGeom>
        </p:spPr>
      </p:pic>
      <p:pic>
        <p:nvPicPr>
          <p:cNvPr id="5" name="Imagem 4"/>
          <p:cNvPicPr>
            <a:picLocks noChangeAspect="1"/>
          </p:cNvPicPr>
          <p:nvPr/>
        </p:nvPicPr>
        <p:blipFill rotWithShape="1">
          <a:blip r:embed="rId3" cstate="print">
            <a:extLst>
              <a:ext uri="{28A0092B-C50C-407E-A947-70E740481C1C}">
                <a14:useLocalDpi xmlns:a14="http://schemas.microsoft.com/office/drawing/2010/main" val="0"/>
              </a:ext>
            </a:extLst>
          </a:blip>
          <a:srcRect l="6085" t="81608" r="70236" b="4376"/>
          <a:stretch/>
        </p:blipFill>
        <p:spPr>
          <a:xfrm>
            <a:off x="685744" y="2598312"/>
            <a:ext cx="1985862" cy="1661376"/>
          </a:xfrm>
          <a:prstGeom prst="rect">
            <a:avLst/>
          </a:prstGeom>
        </p:spPr>
      </p:pic>
    </p:spTree>
    <p:extLst>
      <p:ext uri="{BB962C8B-B14F-4D97-AF65-F5344CB8AC3E}">
        <p14:creationId xmlns:p14="http://schemas.microsoft.com/office/powerpoint/2010/main" val="24392482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0" y="-90560"/>
            <a:ext cx="12192000" cy="6858000"/>
          </a:xfrm>
          <a:prstGeom prst="flowChartPunchedCard">
            <a:avLst/>
          </a:prstGeom>
          <a:solidFill>
            <a:srgbClr val="204F7A"/>
          </a:solidFill>
          <a:ln>
            <a:solidFill>
              <a:srgbClr val="204F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p:cNvSpPr>
            <a:spLocks noChangeArrowheads="1"/>
          </p:cNvSpPr>
          <p:nvPr/>
        </p:nvSpPr>
        <p:spPr bwMode="auto">
          <a:xfrm>
            <a:off x="457200" y="34861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sp>
        <p:nvSpPr>
          <p:cNvPr id="9" name="Retângulo 8"/>
          <p:cNvSpPr/>
          <p:nvPr/>
        </p:nvSpPr>
        <p:spPr>
          <a:xfrm>
            <a:off x="604773" y="960084"/>
            <a:ext cx="11445024" cy="3093154"/>
          </a:xfrm>
          <a:prstGeom prst="rect">
            <a:avLst/>
          </a:prstGeom>
        </p:spPr>
        <p:txBody>
          <a:bodyPr wrap="square">
            <a:spAutoFit/>
          </a:bodyPr>
          <a:lstStyle/>
          <a:p>
            <a:pPr algn="just">
              <a:lnSpc>
                <a:spcPct val="150000"/>
              </a:lnSpc>
            </a:pPr>
            <a:r>
              <a:rPr lang="pt-BR" sz="2100" b="1" dirty="0" smtClean="0">
                <a:solidFill>
                  <a:schemeClr val="bg1"/>
                </a:solidFill>
                <a:latin typeface="Arial" panose="020B0604020202020204" pitchFamily="34" charset="0"/>
              </a:rPr>
              <a:t>A </a:t>
            </a:r>
            <a:r>
              <a:rPr lang="pt-BR" sz="2100" b="1" dirty="0">
                <a:solidFill>
                  <a:schemeClr val="bg1"/>
                </a:solidFill>
                <a:latin typeface="Arial" panose="020B0604020202020204" pitchFamily="34" charset="0"/>
              </a:rPr>
              <a:t>Montreal nasceu com </a:t>
            </a:r>
            <a:r>
              <a:rPr lang="pt-BR" sz="2100" b="1" dirty="0" smtClean="0">
                <a:solidFill>
                  <a:schemeClr val="bg1"/>
                </a:solidFill>
                <a:latin typeface="Arial" panose="020B0604020202020204" pitchFamily="34" charset="0"/>
              </a:rPr>
              <a:t>um </a:t>
            </a:r>
            <a:r>
              <a:rPr lang="pt-BR" sz="2100" b="1" dirty="0">
                <a:solidFill>
                  <a:schemeClr val="bg1"/>
                </a:solidFill>
                <a:latin typeface="Arial" panose="020B0604020202020204" pitchFamily="34" charset="0"/>
              </a:rPr>
              <a:t>objetivo: tornar realidade, para maior número de brasileiros, o sonho de fazer uma grande viagem. No clube de hospedagem da Montreal, viagens passam a fazer parte dos seus planos e você tem à disposição mais de 4500 hotéis no Brasil e no mundo com café da manha incluso. </a:t>
            </a:r>
            <a:endParaRPr lang="pt-BR" sz="2100" b="1" dirty="0" smtClean="0">
              <a:solidFill>
                <a:schemeClr val="bg1"/>
              </a:solidFill>
              <a:latin typeface="Arial" panose="020B0604020202020204" pitchFamily="34" charset="0"/>
            </a:endParaRPr>
          </a:p>
          <a:p>
            <a:pPr algn="just">
              <a:lnSpc>
                <a:spcPct val="150000"/>
              </a:lnSpc>
            </a:pPr>
            <a:endParaRPr lang="pt-BR" sz="400" b="1" dirty="0">
              <a:solidFill>
                <a:schemeClr val="bg1"/>
              </a:solidFill>
              <a:latin typeface="Arial" panose="020B0604020202020204" pitchFamily="34" charset="0"/>
            </a:endParaRPr>
          </a:p>
          <a:p>
            <a:pPr algn="just">
              <a:lnSpc>
                <a:spcPct val="150000"/>
              </a:lnSpc>
            </a:pPr>
            <a:r>
              <a:rPr lang="pt-BR" sz="2100" b="1" dirty="0" smtClean="0">
                <a:solidFill>
                  <a:schemeClr val="bg1"/>
                </a:solidFill>
                <a:latin typeface="Arial" panose="020B0604020202020204" pitchFamily="34" charset="0"/>
              </a:rPr>
              <a:t>Os </a:t>
            </a:r>
            <a:r>
              <a:rPr lang="pt-BR" sz="2100" b="1" dirty="0">
                <a:solidFill>
                  <a:schemeClr val="bg1"/>
                </a:solidFill>
                <a:latin typeface="Arial" panose="020B0604020202020204" pitchFamily="34" charset="0"/>
              </a:rPr>
              <a:t>associados e colaboradores da ACIRV obtêm desconto </a:t>
            </a:r>
            <a:r>
              <a:rPr lang="pt-BR" sz="2100" b="1" dirty="0" smtClean="0">
                <a:solidFill>
                  <a:schemeClr val="bg1"/>
                </a:solidFill>
                <a:latin typeface="Arial" panose="020B0604020202020204" pitchFamily="34" charset="0"/>
              </a:rPr>
              <a:t>especial sobre a taxa de adesão do plano.</a:t>
            </a:r>
            <a:endParaRPr lang="pt-BR" sz="2100" b="1" i="0" dirty="0">
              <a:solidFill>
                <a:schemeClr val="bg1"/>
              </a:solidFill>
              <a:effectLst/>
              <a:latin typeface="Arial" panose="020B0604020202020204" pitchFamily="34" charset="0"/>
            </a:endParaRPr>
          </a:p>
        </p:txBody>
      </p:sp>
      <p:pic>
        <p:nvPicPr>
          <p:cNvPr id="10" name="Imagem 9"/>
          <p:cNvPicPr>
            <a:picLocks noChangeAspect="1"/>
          </p:cNvPicPr>
          <p:nvPr/>
        </p:nvPicPr>
        <p:blipFill rotWithShape="1">
          <a:blip r:embed="rId3"/>
          <a:srcRect t="53745" b="1"/>
          <a:stretch/>
        </p:blipFill>
        <p:spPr>
          <a:xfrm>
            <a:off x="3281349" y="3709115"/>
            <a:ext cx="5420752" cy="3056008"/>
          </a:xfrm>
          <a:prstGeom prst="roundRect">
            <a:avLst/>
          </a:prstGeom>
        </p:spPr>
      </p:pic>
      <p:pic>
        <p:nvPicPr>
          <p:cNvPr id="11" name="Picture 2" descr="https://www.montrealonline.com.br/sites/all/themes/montreal/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22393" y="207400"/>
            <a:ext cx="2209784" cy="5524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39147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0" y="0"/>
            <a:ext cx="12192000" cy="6858000"/>
          </a:xfrm>
          <a:prstGeom prst="flowChartPunchedCard">
            <a:avLst/>
          </a:prstGeom>
          <a:solidFill>
            <a:srgbClr val="204F7A"/>
          </a:solidFill>
          <a:ln>
            <a:solidFill>
              <a:srgbClr val="204F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p:cNvSpPr>
            <a:spLocks noChangeArrowheads="1"/>
          </p:cNvSpPr>
          <p:nvPr/>
        </p:nvSpPr>
        <p:spPr bwMode="auto">
          <a:xfrm>
            <a:off x="457200" y="34861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sp>
        <p:nvSpPr>
          <p:cNvPr id="7" name="Retângulo 6"/>
          <p:cNvSpPr/>
          <p:nvPr/>
        </p:nvSpPr>
        <p:spPr>
          <a:xfrm>
            <a:off x="147812" y="1649124"/>
            <a:ext cx="11896376" cy="5216813"/>
          </a:xfrm>
          <a:prstGeom prst="rect">
            <a:avLst/>
          </a:prstGeom>
        </p:spPr>
        <p:txBody>
          <a:bodyPr wrap="square">
            <a:spAutoFit/>
          </a:bodyPr>
          <a:lstStyle/>
          <a:p>
            <a:pPr algn="just">
              <a:lnSpc>
                <a:spcPct val="150000"/>
              </a:lnSpc>
            </a:pPr>
            <a:r>
              <a:rPr lang="pt-BR" sz="2100" b="1" dirty="0" smtClean="0">
                <a:solidFill>
                  <a:schemeClr val="bg1"/>
                </a:solidFill>
                <a:latin typeface="Arial" panose="020B0604020202020204" pitchFamily="34" charset="0"/>
              </a:rPr>
              <a:t>O </a:t>
            </a:r>
            <a:r>
              <a:rPr lang="pt-BR" sz="2100" b="1" dirty="0">
                <a:solidFill>
                  <a:schemeClr val="bg1"/>
                </a:solidFill>
                <a:latin typeface="Arial" panose="020B0604020202020204" pitchFamily="34" charset="0"/>
              </a:rPr>
              <a:t>CDC </a:t>
            </a:r>
            <a:r>
              <a:rPr lang="pt-BR" sz="2100" b="1" dirty="0" smtClean="0">
                <a:solidFill>
                  <a:schemeClr val="bg1"/>
                </a:solidFill>
                <a:latin typeface="Arial" panose="020B0604020202020204" pitchFamily="34" charset="0"/>
              </a:rPr>
              <a:t>oferece </a:t>
            </a:r>
            <a:r>
              <a:rPr lang="pt-BR" sz="2100" b="1" dirty="0">
                <a:solidFill>
                  <a:schemeClr val="bg1"/>
                </a:solidFill>
                <a:latin typeface="Arial" panose="020B0604020202020204" pitchFamily="34" charset="0"/>
              </a:rPr>
              <a:t>cursos, treinamentos e palestras personalizadas “FOCUS ON NEED” com FOCO em atender a necessidade da </a:t>
            </a:r>
            <a:r>
              <a:rPr lang="pt-BR" sz="2100" b="1" dirty="0" smtClean="0">
                <a:solidFill>
                  <a:schemeClr val="bg1"/>
                </a:solidFill>
                <a:latin typeface="Arial" panose="020B0604020202020204" pitchFamily="34" charset="0"/>
              </a:rPr>
              <a:t>empresa. </a:t>
            </a:r>
          </a:p>
          <a:p>
            <a:pPr algn="just">
              <a:lnSpc>
                <a:spcPct val="150000"/>
              </a:lnSpc>
            </a:pPr>
            <a:endParaRPr lang="pt-BR" sz="600" b="1" dirty="0">
              <a:solidFill>
                <a:schemeClr val="bg1"/>
              </a:solidFill>
              <a:latin typeface="Arial" panose="020B0604020202020204" pitchFamily="34" charset="0"/>
            </a:endParaRPr>
          </a:p>
          <a:p>
            <a:pPr algn="just">
              <a:lnSpc>
                <a:spcPct val="150000"/>
              </a:lnSpc>
            </a:pPr>
            <a:r>
              <a:rPr lang="pt-BR" sz="2100" b="1" dirty="0" smtClean="0">
                <a:solidFill>
                  <a:schemeClr val="bg1"/>
                </a:solidFill>
                <a:latin typeface="Arial" panose="020B0604020202020204" pitchFamily="34" charset="0"/>
              </a:rPr>
              <a:t>O ATENDIMENTO </a:t>
            </a:r>
            <a:r>
              <a:rPr lang="pt-BR" sz="2100" b="1" dirty="0">
                <a:solidFill>
                  <a:schemeClr val="bg1"/>
                </a:solidFill>
                <a:latin typeface="Arial" panose="020B0604020202020204" pitchFamily="34" charset="0"/>
              </a:rPr>
              <a:t>inicia com o </a:t>
            </a:r>
            <a:r>
              <a:rPr lang="pt-BR" sz="2100" b="1" dirty="0" smtClean="0">
                <a:solidFill>
                  <a:schemeClr val="bg1"/>
                </a:solidFill>
                <a:latin typeface="Arial" panose="020B0604020202020204" pitchFamily="34" charset="0"/>
              </a:rPr>
              <a:t>diagnóstico(s</a:t>
            </a:r>
            <a:r>
              <a:rPr lang="pt-BR" sz="2100" b="1" dirty="0">
                <a:solidFill>
                  <a:schemeClr val="bg1"/>
                </a:solidFill>
                <a:latin typeface="Arial" panose="020B0604020202020204" pitchFamily="34" charset="0"/>
              </a:rPr>
              <a:t>) para identificação da necessidade e posteriormente a escolha do profissional com melhor condição para atender a realidade da empresa, sempre preservando a ÉTICA quanto às informações transmitidas, aprimorando e buscando continuamente as melhores práticas do mercado, oferecendo infraestrutura diferenciada e o COMPROMISSO de validar e acompanhar todo o processo para que o RESULTADO seja alcançado. </a:t>
            </a:r>
            <a:endParaRPr lang="pt-BR" sz="2100" b="1" dirty="0" smtClean="0">
              <a:solidFill>
                <a:schemeClr val="bg1"/>
              </a:solidFill>
              <a:latin typeface="Arial" panose="020B0604020202020204" pitchFamily="34" charset="0"/>
            </a:endParaRPr>
          </a:p>
          <a:p>
            <a:pPr algn="just">
              <a:lnSpc>
                <a:spcPct val="150000"/>
              </a:lnSpc>
            </a:pPr>
            <a:endParaRPr lang="pt-BR" sz="600" b="1" dirty="0">
              <a:solidFill>
                <a:schemeClr val="bg1"/>
              </a:solidFill>
              <a:latin typeface="Arial" panose="020B0604020202020204" pitchFamily="34" charset="0"/>
            </a:endParaRPr>
          </a:p>
          <a:p>
            <a:pPr algn="just">
              <a:lnSpc>
                <a:spcPct val="150000"/>
              </a:lnSpc>
            </a:pPr>
            <a:r>
              <a:rPr lang="pt-BR" sz="2100" b="1" dirty="0" smtClean="0">
                <a:solidFill>
                  <a:schemeClr val="bg1"/>
                </a:solidFill>
                <a:latin typeface="Arial" panose="020B0604020202020204" pitchFamily="34" charset="0"/>
              </a:rPr>
              <a:t>Todos </a:t>
            </a:r>
            <a:r>
              <a:rPr lang="pt-BR" sz="2100" b="1" dirty="0">
                <a:solidFill>
                  <a:schemeClr val="bg1"/>
                </a:solidFill>
                <a:latin typeface="Arial" panose="020B0604020202020204" pitchFamily="34" charset="0"/>
              </a:rPr>
              <a:t>os associados e colaboradores de empresas associadas da ACIRV obtêm </a:t>
            </a:r>
            <a:r>
              <a:rPr lang="pt-BR" sz="2100" b="1" dirty="0" smtClean="0">
                <a:solidFill>
                  <a:schemeClr val="bg1"/>
                </a:solidFill>
                <a:latin typeface="Arial" panose="020B0604020202020204" pitchFamily="34" charset="0"/>
              </a:rPr>
              <a:t> especial em </a:t>
            </a:r>
            <a:r>
              <a:rPr lang="pt-BR" sz="2100" b="1" dirty="0">
                <a:solidFill>
                  <a:schemeClr val="bg1"/>
                </a:solidFill>
                <a:latin typeface="Arial" panose="020B0604020202020204" pitchFamily="34" charset="0"/>
              </a:rPr>
              <a:t>cursos e treinamentos oferecidos.</a:t>
            </a:r>
            <a:endParaRPr lang="pt-BR" sz="2100" b="1" i="0" dirty="0">
              <a:solidFill>
                <a:schemeClr val="bg1"/>
              </a:solidFill>
              <a:effectLst/>
              <a:latin typeface="Arial" panose="020B0604020202020204" pitchFamily="34" charset="0"/>
            </a:endParaRPr>
          </a:p>
        </p:txBody>
      </p:sp>
      <p:pic>
        <p:nvPicPr>
          <p:cNvPr id="9" name="Picture 2" descr="http://cdcconsultoria.com/wp-content/uploads/2015/09/CDClogo-Cosultoria-Curva.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03354" y="7937"/>
            <a:ext cx="3499691" cy="14057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30048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0" y="0"/>
            <a:ext cx="12192000" cy="6858000"/>
          </a:xfrm>
          <a:prstGeom prst="flowChartPunchedCard">
            <a:avLst/>
          </a:prstGeom>
          <a:solidFill>
            <a:srgbClr val="204F7A"/>
          </a:solidFill>
          <a:ln>
            <a:solidFill>
              <a:srgbClr val="204F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p:cNvSpPr>
            <a:spLocks noChangeArrowheads="1"/>
          </p:cNvSpPr>
          <p:nvPr/>
        </p:nvSpPr>
        <p:spPr bwMode="auto">
          <a:xfrm>
            <a:off x="457200" y="34861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pic>
        <p:nvPicPr>
          <p:cNvPr id="7" name="Imagem 6"/>
          <p:cNvPicPr>
            <a:picLocks noChangeAspect="1"/>
          </p:cNvPicPr>
          <p:nvPr/>
        </p:nvPicPr>
        <p:blipFill rotWithShape="1">
          <a:blip r:embed="rId3">
            <a:extLst>
              <a:ext uri="{28A0092B-C50C-407E-A947-70E740481C1C}">
                <a14:useLocalDpi xmlns:a14="http://schemas.microsoft.com/office/drawing/2010/main" val="0"/>
              </a:ext>
            </a:extLst>
          </a:blip>
          <a:srcRect t="-1" r="74956" b="69694"/>
          <a:stretch/>
        </p:blipFill>
        <p:spPr>
          <a:xfrm>
            <a:off x="5883976" y="23087"/>
            <a:ext cx="1769552" cy="1339403"/>
          </a:xfrm>
          <a:prstGeom prst="rect">
            <a:avLst/>
          </a:prstGeom>
        </p:spPr>
      </p:pic>
      <p:sp>
        <p:nvSpPr>
          <p:cNvPr id="9" name="CaixaDeTexto 8"/>
          <p:cNvSpPr txBox="1"/>
          <p:nvPr/>
        </p:nvSpPr>
        <p:spPr>
          <a:xfrm>
            <a:off x="155575" y="2073607"/>
            <a:ext cx="11842894" cy="3877985"/>
          </a:xfrm>
          <a:prstGeom prst="rect">
            <a:avLst/>
          </a:prstGeom>
          <a:noFill/>
        </p:spPr>
        <p:txBody>
          <a:bodyPr wrap="square" rtlCol="0">
            <a:spAutoFit/>
          </a:bodyPr>
          <a:lstStyle/>
          <a:p>
            <a:pPr algn="just">
              <a:lnSpc>
                <a:spcPct val="150000"/>
              </a:lnSpc>
            </a:pPr>
            <a:r>
              <a:rPr lang="pt-BR" sz="2100" b="1" dirty="0" smtClean="0">
                <a:solidFill>
                  <a:schemeClr val="bg1"/>
                </a:solidFill>
                <a:latin typeface="Arial" panose="020B0604020202020204" pitchFamily="34" charset="0"/>
                <a:cs typeface="Arial" panose="020B0604020202020204" pitchFamily="34" charset="0"/>
              </a:rPr>
              <a:t>A Amparo oferece preços diferenciados para os associados Acirv na: Prestação de Serviços, Recrutamento e Seleção de pessoas. </a:t>
            </a:r>
          </a:p>
          <a:p>
            <a:pPr algn="just">
              <a:lnSpc>
                <a:spcPct val="150000"/>
              </a:lnSpc>
            </a:pPr>
            <a:endParaRPr lang="pt-BR" sz="600" b="1" dirty="0">
              <a:solidFill>
                <a:schemeClr val="bg1"/>
              </a:solidFill>
              <a:latin typeface="Arial" panose="020B0604020202020204" pitchFamily="34" charset="0"/>
              <a:cs typeface="Arial" panose="020B0604020202020204" pitchFamily="34" charset="0"/>
            </a:endParaRPr>
          </a:p>
          <a:p>
            <a:pPr algn="ctr">
              <a:lnSpc>
                <a:spcPct val="150000"/>
              </a:lnSpc>
            </a:pPr>
            <a:r>
              <a:rPr lang="pt-BR" sz="2100" b="1" dirty="0" smtClean="0">
                <a:solidFill>
                  <a:schemeClr val="bg1"/>
                </a:solidFill>
                <a:latin typeface="Arial Black" panose="020B0A04020102020204" pitchFamily="34" charset="0"/>
                <a:cs typeface="Arial" panose="020B0604020202020204" pitchFamily="34" charset="0"/>
              </a:rPr>
              <a:t>Serviços oferecidos:</a:t>
            </a:r>
          </a:p>
          <a:p>
            <a:pPr algn="just">
              <a:lnSpc>
                <a:spcPct val="150000"/>
              </a:lnSpc>
            </a:pPr>
            <a:endParaRPr lang="pt-BR" sz="500" b="1" dirty="0">
              <a:solidFill>
                <a:schemeClr val="bg1"/>
              </a:solidFill>
              <a:latin typeface="Arial" panose="020B0604020202020204" pitchFamily="34" charset="0"/>
              <a:cs typeface="Arial" panose="020B0604020202020204" pitchFamily="34" charset="0"/>
            </a:endParaRPr>
          </a:p>
          <a:p>
            <a:pPr algn="just">
              <a:lnSpc>
                <a:spcPct val="150000"/>
              </a:lnSpc>
            </a:pPr>
            <a:r>
              <a:rPr lang="pt-BR" sz="2100" b="1" dirty="0" smtClean="0">
                <a:solidFill>
                  <a:schemeClr val="bg1"/>
                </a:solidFill>
                <a:latin typeface="Arial" panose="020B0604020202020204" pitchFamily="34" charset="0"/>
                <a:cs typeface="Arial" panose="020B0604020202020204" pitchFamily="34" charset="0"/>
              </a:rPr>
              <a:t>Divulgação de vagas; triagem de currículos de acordo com o perfil determinado pela empresa (para empresas filiadas à Acirv é gratuito). </a:t>
            </a:r>
          </a:p>
          <a:p>
            <a:pPr algn="just">
              <a:lnSpc>
                <a:spcPct val="150000"/>
              </a:lnSpc>
            </a:pPr>
            <a:endParaRPr lang="pt-BR" sz="600" b="1" dirty="0">
              <a:solidFill>
                <a:schemeClr val="bg1"/>
              </a:solidFill>
              <a:latin typeface="Arial" panose="020B0604020202020204" pitchFamily="34" charset="0"/>
              <a:cs typeface="Arial" panose="020B0604020202020204" pitchFamily="34" charset="0"/>
            </a:endParaRPr>
          </a:p>
          <a:p>
            <a:pPr algn="just">
              <a:lnSpc>
                <a:spcPct val="150000"/>
              </a:lnSpc>
            </a:pPr>
            <a:r>
              <a:rPr lang="pt-BR" sz="2100" b="1" dirty="0" smtClean="0">
                <a:solidFill>
                  <a:schemeClr val="bg1"/>
                </a:solidFill>
                <a:latin typeface="Arial" panose="020B0604020202020204" pitchFamily="34" charset="0"/>
                <a:cs typeface="Arial" panose="020B0604020202020204" pitchFamily="34" charset="0"/>
              </a:rPr>
              <a:t>Checagem de referências do candidato pré-selecionado (entrevista), análise psicológica do candidato somente o associado Acirv tem desconto especial. </a:t>
            </a:r>
          </a:p>
        </p:txBody>
      </p:sp>
    </p:spTree>
    <p:extLst>
      <p:ext uri="{BB962C8B-B14F-4D97-AF65-F5344CB8AC3E}">
        <p14:creationId xmlns:p14="http://schemas.microsoft.com/office/powerpoint/2010/main" val="41377443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0" y="0"/>
            <a:ext cx="12192000" cy="6858000"/>
          </a:xfrm>
          <a:prstGeom prst="flowChartPunchedCard">
            <a:avLst/>
          </a:prstGeom>
          <a:solidFill>
            <a:srgbClr val="204F7A"/>
          </a:solidFill>
          <a:ln>
            <a:solidFill>
              <a:srgbClr val="204F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p:cNvSpPr>
            <a:spLocks noChangeArrowheads="1"/>
          </p:cNvSpPr>
          <p:nvPr/>
        </p:nvSpPr>
        <p:spPr bwMode="auto">
          <a:xfrm>
            <a:off x="457200" y="34861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pic>
        <p:nvPicPr>
          <p:cNvPr id="5" name="Imagem 4"/>
          <p:cNvPicPr>
            <a:picLocks noChangeAspect="1"/>
          </p:cNvPicPr>
          <p:nvPr/>
        </p:nvPicPr>
        <p:blipFill rotWithShape="1">
          <a:blip r:embed="rId3"/>
          <a:srcRect l="25152" t="27654" r="26248" b="51572"/>
          <a:stretch/>
        </p:blipFill>
        <p:spPr>
          <a:xfrm>
            <a:off x="3773574" y="160338"/>
            <a:ext cx="6323527" cy="1519707"/>
          </a:xfrm>
          <a:prstGeom prst="rect">
            <a:avLst/>
          </a:prstGeom>
        </p:spPr>
      </p:pic>
      <p:sp>
        <p:nvSpPr>
          <p:cNvPr id="12" name="Retângulo 11"/>
          <p:cNvSpPr/>
          <p:nvPr/>
        </p:nvSpPr>
        <p:spPr>
          <a:xfrm>
            <a:off x="141669" y="1771319"/>
            <a:ext cx="11946273" cy="4385816"/>
          </a:xfrm>
          <a:prstGeom prst="rect">
            <a:avLst/>
          </a:prstGeom>
        </p:spPr>
        <p:txBody>
          <a:bodyPr wrap="square">
            <a:spAutoFit/>
          </a:bodyPr>
          <a:lstStyle/>
          <a:p>
            <a:pPr algn="just">
              <a:lnSpc>
                <a:spcPct val="150000"/>
              </a:lnSpc>
            </a:pPr>
            <a:r>
              <a:rPr lang="pt-BR" sz="2400" dirty="0" smtClean="0">
                <a:solidFill>
                  <a:schemeClr val="bg1"/>
                </a:solidFill>
                <a:latin typeface="Arial Black" panose="020B0A04020102020204" pitchFamily="34" charset="0"/>
                <a:ea typeface="Calibri" panose="020F0502020204030204" pitchFamily="34" charset="0"/>
                <a:cs typeface="Times New Roman" panose="02020603050405020304" pitchFamily="18" charset="0"/>
              </a:rPr>
              <a:t>Com base na missão de agregar valor as empresas e desenvolver o potencial de seus funcionários a Acirv em parceria com a </a:t>
            </a:r>
            <a:r>
              <a:rPr lang="pt-BR" sz="2400" dirty="0">
                <a:solidFill>
                  <a:schemeClr val="bg1"/>
                </a:solidFill>
                <a:latin typeface="Arial Black" panose="020B0A04020102020204" pitchFamily="34" charset="0"/>
                <a:ea typeface="Calibri" panose="020F0502020204030204" pitchFamily="34" charset="0"/>
                <a:cs typeface="Times New Roman" panose="02020603050405020304" pitchFamily="18" charset="0"/>
              </a:rPr>
              <a:t>Empreza Educação (conveniada FGV</a:t>
            </a:r>
            <a:r>
              <a:rPr lang="pt-BR" sz="2400" dirty="0" smtClean="0">
                <a:solidFill>
                  <a:schemeClr val="bg1"/>
                </a:solidFill>
                <a:latin typeface="Arial Black" panose="020B0A04020102020204" pitchFamily="34" charset="0"/>
                <a:ea typeface="Calibri" panose="020F0502020204030204" pitchFamily="34" charset="0"/>
                <a:cs typeface="Times New Roman" panose="02020603050405020304" pitchFamily="18" charset="0"/>
              </a:rPr>
              <a:t>) firmou convênio com condições especiais nos programas educacionais de graduação, pós graduação e formação executiva.</a:t>
            </a:r>
          </a:p>
          <a:p>
            <a:pPr algn="just">
              <a:lnSpc>
                <a:spcPct val="150000"/>
              </a:lnSpc>
            </a:pPr>
            <a:endParaRPr lang="pt-BR" sz="600" dirty="0" smtClean="0">
              <a:solidFill>
                <a:schemeClr val="bg1"/>
              </a:solidFill>
              <a:latin typeface="Arial Black" panose="020B0A04020102020204" pitchFamily="34" charset="0"/>
              <a:ea typeface="Calibri" panose="020F0502020204030204" pitchFamily="34" charset="0"/>
              <a:cs typeface="Times New Roman" panose="02020603050405020304" pitchFamily="18" charset="0"/>
            </a:endParaRPr>
          </a:p>
          <a:p>
            <a:pPr algn="just">
              <a:lnSpc>
                <a:spcPct val="150000"/>
              </a:lnSpc>
            </a:pPr>
            <a:endParaRPr lang="pt-BR" sz="600" dirty="0">
              <a:solidFill>
                <a:schemeClr val="bg1"/>
              </a:solidFill>
              <a:latin typeface="Arial Black" panose="020B0A04020102020204" pitchFamily="34" charset="0"/>
              <a:ea typeface="Calibri" panose="020F0502020204030204" pitchFamily="34" charset="0"/>
              <a:cs typeface="Times New Roman" panose="02020603050405020304" pitchFamily="18" charset="0"/>
            </a:endParaRPr>
          </a:p>
          <a:p>
            <a:pPr algn="just">
              <a:lnSpc>
                <a:spcPct val="150000"/>
              </a:lnSpc>
            </a:pPr>
            <a:endParaRPr lang="pt-BR" sz="600" dirty="0">
              <a:solidFill>
                <a:schemeClr val="bg1"/>
              </a:solidFill>
              <a:latin typeface="Arial Black" panose="020B0A04020102020204" pitchFamily="34" charset="0"/>
              <a:ea typeface="Calibri" panose="020F0502020204030204" pitchFamily="34" charset="0"/>
              <a:cs typeface="Times New Roman" panose="02020603050405020304" pitchFamily="18" charset="0"/>
            </a:endParaRPr>
          </a:p>
          <a:p>
            <a:pPr algn="just">
              <a:lnSpc>
                <a:spcPct val="150000"/>
              </a:lnSpc>
            </a:pPr>
            <a:r>
              <a:rPr lang="pt-BR" sz="2400" dirty="0" smtClean="0">
                <a:solidFill>
                  <a:schemeClr val="bg1"/>
                </a:solidFill>
                <a:latin typeface="Arial Black" panose="020B0A04020102020204" pitchFamily="34" charset="0"/>
                <a:ea typeface="Calibri" panose="020F0502020204030204" pitchFamily="34" charset="0"/>
                <a:cs typeface="Times New Roman" panose="02020603050405020304" pitchFamily="18" charset="0"/>
              </a:rPr>
              <a:t>A parceria oferece palestras gratuitas (diversificadas) através do Fórum de Recursos Humanos da Acirv.  </a:t>
            </a:r>
            <a:endParaRPr lang="pt-BR" sz="2400" dirty="0">
              <a:solidFill>
                <a:schemeClr val="bg1"/>
              </a:solidFill>
              <a:latin typeface="Arial Black" panose="020B0A040201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207212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0" y="0"/>
            <a:ext cx="12192000" cy="6858000"/>
          </a:xfrm>
          <a:prstGeom prst="flowChartPunchedCard">
            <a:avLst/>
          </a:prstGeom>
          <a:solidFill>
            <a:srgbClr val="204F7A"/>
          </a:solidFill>
          <a:ln>
            <a:solidFill>
              <a:srgbClr val="204F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p:cNvSpPr>
            <a:spLocks noChangeArrowheads="1"/>
          </p:cNvSpPr>
          <p:nvPr/>
        </p:nvSpPr>
        <p:spPr bwMode="auto">
          <a:xfrm>
            <a:off x="457200" y="34861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pic>
        <p:nvPicPr>
          <p:cNvPr id="7" name="Imagem 6"/>
          <p:cNvPicPr>
            <a:picLocks noChangeAspect="1"/>
          </p:cNvPicPr>
          <p:nvPr/>
        </p:nvPicPr>
        <p:blipFill rotWithShape="1">
          <a:blip r:embed="rId3"/>
          <a:srcRect r="69218" b="18050"/>
          <a:stretch/>
        </p:blipFill>
        <p:spPr>
          <a:xfrm>
            <a:off x="5270324" y="160388"/>
            <a:ext cx="2931962" cy="1920206"/>
          </a:xfrm>
          <a:prstGeom prst="rect">
            <a:avLst/>
          </a:prstGeom>
        </p:spPr>
      </p:pic>
      <p:sp>
        <p:nvSpPr>
          <p:cNvPr id="10" name="Retângulo 9"/>
          <p:cNvSpPr/>
          <p:nvPr/>
        </p:nvSpPr>
        <p:spPr>
          <a:xfrm>
            <a:off x="155575" y="2554721"/>
            <a:ext cx="11811138" cy="3531736"/>
          </a:xfrm>
          <a:prstGeom prst="rect">
            <a:avLst/>
          </a:prstGeom>
        </p:spPr>
        <p:txBody>
          <a:bodyPr wrap="square">
            <a:spAutoFit/>
          </a:bodyPr>
          <a:lstStyle/>
          <a:p>
            <a:pPr algn="just">
              <a:lnSpc>
                <a:spcPct val="150000"/>
              </a:lnSpc>
              <a:spcAft>
                <a:spcPts val="0"/>
              </a:spcAft>
            </a:pPr>
            <a:r>
              <a:rPr lang="pt-BR" sz="2400" dirty="0">
                <a:solidFill>
                  <a:schemeClr val="bg1"/>
                </a:solidFill>
                <a:latin typeface="Arial Black" panose="020B0A04020102020204" pitchFamily="34" charset="0"/>
                <a:ea typeface="Calibri" panose="020F0502020204030204" pitchFamily="34" charset="0"/>
                <a:cs typeface="Times New Roman" panose="02020603050405020304" pitchFamily="18" charset="0"/>
              </a:rPr>
              <a:t>Sabe aqueles pequenos reparos que a sua casa precisa? Então, o Dr. Faz tudo resolve o seu problema de reparos na construção civil, na parte elétrica, hidraulica, pintura, sistema de segurança e ar condicionado. </a:t>
            </a:r>
            <a:endParaRPr lang="pt-BR" sz="2400" dirty="0" smtClean="0">
              <a:solidFill>
                <a:schemeClr val="bg1"/>
              </a:solidFill>
              <a:latin typeface="Arial Black" panose="020B0A04020102020204" pitchFamily="34" charset="0"/>
              <a:ea typeface="Calibri" panose="020F0502020204030204" pitchFamily="34" charset="0"/>
              <a:cs typeface="Times New Roman" panose="02020603050405020304" pitchFamily="18" charset="0"/>
            </a:endParaRPr>
          </a:p>
          <a:p>
            <a:pPr algn="just">
              <a:lnSpc>
                <a:spcPct val="150000"/>
              </a:lnSpc>
              <a:spcAft>
                <a:spcPts val="0"/>
              </a:spcAft>
            </a:pPr>
            <a:endParaRPr lang="pt-BR" sz="500" dirty="0">
              <a:solidFill>
                <a:schemeClr val="bg1"/>
              </a:solidFill>
              <a:latin typeface="Arial Black" panose="020B0A04020102020204" pitchFamily="34" charset="0"/>
              <a:ea typeface="Calibri" panose="020F0502020204030204" pitchFamily="34" charset="0"/>
              <a:cs typeface="Times New Roman" panose="02020603050405020304" pitchFamily="18" charset="0"/>
            </a:endParaRPr>
          </a:p>
          <a:p>
            <a:pPr algn="just">
              <a:lnSpc>
                <a:spcPct val="150000"/>
              </a:lnSpc>
              <a:spcAft>
                <a:spcPts val="0"/>
              </a:spcAft>
            </a:pPr>
            <a:r>
              <a:rPr lang="pt-BR" sz="2400" dirty="0" smtClean="0">
                <a:solidFill>
                  <a:schemeClr val="bg1"/>
                </a:solidFill>
                <a:latin typeface="Arial Black" panose="020B0A04020102020204" pitchFamily="34" charset="0"/>
                <a:ea typeface="Calibri" panose="020F0502020204030204" pitchFamily="34" charset="0"/>
                <a:cs typeface="Times New Roman" panose="02020603050405020304" pitchFamily="18" charset="0"/>
              </a:rPr>
              <a:t>Somente o associado Acirv tem desconto especial na prestação destes serviços.  </a:t>
            </a:r>
            <a:endParaRPr lang="pt-BR" sz="2400" dirty="0">
              <a:solidFill>
                <a:schemeClr val="bg1"/>
              </a:solidFill>
              <a:effectLst/>
              <a:latin typeface="Arial Black" panose="020B0A040201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960400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0" y="0"/>
            <a:ext cx="12192000" cy="6858000"/>
          </a:xfrm>
          <a:prstGeom prst="flowChartPunchedCard">
            <a:avLst/>
          </a:prstGeom>
          <a:solidFill>
            <a:srgbClr val="204F7A"/>
          </a:solidFill>
          <a:ln>
            <a:solidFill>
              <a:srgbClr val="204F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p:cNvSpPr>
            <a:spLocks noChangeArrowheads="1"/>
          </p:cNvSpPr>
          <p:nvPr/>
        </p:nvSpPr>
        <p:spPr bwMode="auto">
          <a:xfrm>
            <a:off x="457200" y="34861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sp>
        <p:nvSpPr>
          <p:cNvPr id="7" name="Retângulo 6"/>
          <p:cNvSpPr/>
          <p:nvPr/>
        </p:nvSpPr>
        <p:spPr>
          <a:xfrm>
            <a:off x="251843" y="1502838"/>
            <a:ext cx="11688314" cy="1981055"/>
          </a:xfrm>
          <a:prstGeom prst="rect">
            <a:avLst/>
          </a:prstGeom>
        </p:spPr>
        <p:txBody>
          <a:bodyPr wrap="square">
            <a:spAutoFit/>
          </a:bodyPr>
          <a:lstStyle/>
          <a:p>
            <a:pPr algn="just">
              <a:lnSpc>
                <a:spcPct val="150000"/>
              </a:lnSpc>
            </a:pPr>
            <a:r>
              <a:rPr lang="pt-BR" sz="2100" b="1" dirty="0">
                <a:solidFill>
                  <a:schemeClr val="bg1"/>
                </a:solidFill>
                <a:latin typeface="Arial Black" panose="020B0A04020102020204" pitchFamily="34" charset="0"/>
              </a:rPr>
              <a:t> Apresenta novidades do mercado, oferecido as marcas mais conceituadas, os produtos de maior qualidade e atendimento de primeira para todos os clientes. Associados, colaboradores e parente de primeiro grau têm </a:t>
            </a:r>
            <a:r>
              <a:rPr lang="pt-BR" sz="2100" b="1" dirty="0" smtClean="0">
                <a:solidFill>
                  <a:schemeClr val="bg1"/>
                </a:solidFill>
                <a:latin typeface="Arial Black" panose="020B0A04020102020204" pitchFamily="34" charset="0"/>
              </a:rPr>
              <a:t>desconto, especial, à </a:t>
            </a:r>
            <a:r>
              <a:rPr lang="pt-BR" sz="2100" b="1" dirty="0">
                <a:solidFill>
                  <a:schemeClr val="bg1"/>
                </a:solidFill>
                <a:latin typeface="Arial Black" panose="020B0A04020102020204" pitchFamily="34" charset="0"/>
              </a:rPr>
              <a:t>vista.</a:t>
            </a:r>
            <a:endParaRPr lang="pt-BR" sz="2100" b="1" i="0" dirty="0">
              <a:solidFill>
                <a:schemeClr val="bg1"/>
              </a:solidFill>
              <a:effectLst/>
              <a:latin typeface="Arial Black" panose="020B0A04020102020204" pitchFamily="34" charset="0"/>
            </a:endParaRPr>
          </a:p>
        </p:txBody>
      </p:sp>
      <p:pic>
        <p:nvPicPr>
          <p:cNvPr id="9" name="Picture 2" descr="http://4.bp.blogspot.com/-_If_eoO8kqc/VVZNOCGzK6I/AAAAAAAAG3I/UEEdN3dKzak/s1600/%C3%93tica-Estima.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57702" y="3335802"/>
            <a:ext cx="4965994" cy="3301858"/>
          </a:xfrm>
          <a:prstGeom prst="roundRect">
            <a:avLst/>
          </a:prstGeom>
          <a:noFill/>
          <a:extLst>
            <a:ext uri="{909E8E84-426E-40DD-AFC4-6F175D3DCCD1}">
              <a14:hiddenFill xmlns:a14="http://schemas.microsoft.com/office/drawing/2010/main">
                <a:solidFill>
                  <a:srgbClr val="FFFFFF"/>
                </a:solidFill>
              </a14:hiddenFill>
            </a:ext>
          </a:extLst>
        </p:spPr>
      </p:pic>
      <p:sp>
        <p:nvSpPr>
          <p:cNvPr id="10" name="CaixaDeTexto 9"/>
          <p:cNvSpPr txBox="1"/>
          <p:nvPr/>
        </p:nvSpPr>
        <p:spPr>
          <a:xfrm>
            <a:off x="4824399" y="250824"/>
            <a:ext cx="3816424" cy="553998"/>
          </a:xfrm>
          <a:prstGeom prst="rect">
            <a:avLst/>
          </a:prstGeom>
          <a:noFill/>
        </p:spPr>
        <p:txBody>
          <a:bodyPr wrap="square" rtlCol="0">
            <a:spAutoFit/>
          </a:bodyPr>
          <a:lstStyle/>
          <a:p>
            <a:pPr algn="ctr"/>
            <a:r>
              <a:rPr lang="pt-BR" sz="3000" dirty="0" smtClean="0">
                <a:solidFill>
                  <a:srgbClr val="FF0000"/>
                </a:solidFill>
                <a:latin typeface="Bauhaus 93" panose="04030905020B02020C02" pitchFamily="82" charset="0"/>
              </a:rPr>
              <a:t>Visótica</a:t>
            </a:r>
            <a:endParaRPr lang="pt-BR" sz="3000" dirty="0">
              <a:solidFill>
                <a:srgbClr val="FF0000"/>
              </a:solidFill>
              <a:latin typeface="Bauhaus 93" panose="04030905020B02020C02" pitchFamily="82" charset="0"/>
            </a:endParaRPr>
          </a:p>
        </p:txBody>
      </p:sp>
    </p:spTree>
    <p:extLst>
      <p:ext uri="{BB962C8B-B14F-4D97-AF65-F5344CB8AC3E}">
        <p14:creationId xmlns:p14="http://schemas.microsoft.com/office/powerpoint/2010/main" val="16684359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uxograma: Cartão 1"/>
          <p:cNvSpPr/>
          <p:nvPr/>
        </p:nvSpPr>
        <p:spPr>
          <a:xfrm>
            <a:off x="0" y="0"/>
            <a:ext cx="12192000" cy="6858000"/>
          </a:xfrm>
          <a:prstGeom prst="flowChartPunchedCard">
            <a:avLst/>
          </a:prstGeom>
          <a:solidFill>
            <a:srgbClr val="204F7A"/>
          </a:solidFill>
          <a:ln>
            <a:solidFill>
              <a:srgbClr val="204F7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AutoShape 2" descr="Clique para obter Opçõ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Picture 4" descr="http://www.sudoexpo.com.br/img/acirv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b="21393"/>
          <a:stretch/>
        </p:blipFill>
        <p:spPr bwMode="auto">
          <a:xfrm>
            <a:off x="0" y="1"/>
            <a:ext cx="1678675" cy="52782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2"/>
          <p:cNvSpPr>
            <a:spLocks noChangeArrowheads="1"/>
          </p:cNvSpPr>
          <p:nvPr/>
        </p:nvSpPr>
        <p:spPr bwMode="auto">
          <a:xfrm>
            <a:off x="1502535" y="1134495"/>
            <a:ext cx="10066613" cy="1011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50000"/>
              </a:lnSpc>
              <a:spcBef>
                <a:spcPct val="0"/>
              </a:spcBef>
              <a:spcAft>
                <a:spcPct val="0"/>
              </a:spcAft>
              <a:buClrTx/>
              <a:buSzTx/>
              <a:tabLst/>
            </a:pPr>
            <a:r>
              <a:rPr kumimoji="0" lang="pt-BR" altLang="pt-BR" sz="2100" b="1" i="0" u="none" strike="noStrike" cap="none" normalizeH="0" baseline="0" dirty="0" smtClean="0">
                <a:ln>
                  <a:noFill/>
                </a:ln>
                <a:solidFill>
                  <a:schemeClr val="bg1"/>
                </a:solidFill>
                <a:effectLst/>
                <a:latin typeface="Arial Black" panose="020B0A04020102020204" pitchFamily="34" charset="0"/>
                <a:ea typeface="Calibri" panose="020F0502020204030204" pitchFamily="34" charset="0"/>
                <a:cs typeface="Arial" panose="020B0604020202020204" pitchFamily="34" charset="0"/>
              </a:rPr>
              <a:t>6- Se caso fosse realizado bimestralmente um café da manha com os associados, você participaria?</a:t>
            </a:r>
            <a:endParaRPr kumimoji="0" lang="pt-BR" altLang="pt-BR" sz="2100" b="0" i="0" u="none" strike="noStrike" cap="none" normalizeH="0" baseline="0" dirty="0" smtClean="0">
              <a:ln>
                <a:noFill/>
              </a:ln>
              <a:solidFill>
                <a:schemeClr val="bg1"/>
              </a:solidFill>
              <a:effectLst/>
              <a:latin typeface="Arial Black" panose="020B0A04020102020204" pitchFamily="34" charset="0"/>
            </a:endParaRPr>
          </a:p>
        </p:txBody>
      </p:sp>
      <p:graphicFrame>
        <p:nvGraphicFramePr>
          <p:cNvPr id="7" name="Gráfico 6"/>
          <p:cNvGraphicFramePr/>
          <p:nvPr>
            <p:extLst>
              <p:ext uri="{D42A27DB-BD31-4B8C-83A1-F6EECF244321}">
                <p14:modId xmlns:p14="http://schemas.microsoft.com/office/powerpoint/2010/main" val="1117605398"/>
              </p:ext>
            </p:extLst>
          </p:nvPr>
        </p:nvGraphicFramePr>
        <p:xfrm>
          <a:off x="3026534" y="2295525"/>
          <a:ext cx="7031866" cy="4066638"/>
        </p:xfrm>
        <a:graphic>
          <a:graphicData uri="http://schemas.openxmlformats.org/drawingml/2006/chart">
            <c:chart xmlns:c="http://schemas.openxmlformats.org/drawingml/2006/chart" xmlns:r="http://schemas.openxmlformats.org/officeDocument/2006/relationships" r:id="rId3"/>
          </a:graphicData>
        </a:graphic>
      </p:graphicFrame>
      <p:sp>
        <p:nvSpPr>
          <p:cNvPr id="8" name="Rectangle 3"/>
          <p:cNvSpPr>
            <a:spLocks noChangeArrowheads="1"/>
          </p:cNvSpPr>
          <p:nvPr/>
        </p:nvSpPr>
        <p:spPr bwMode="auto">
          <a:xfrm>
            <a:off x="457200" y="32099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sp>
        <p:nvSpPr>
          <p:cNvPr id="9" name="Retângulo 8"/>
          <p:cNvSpPr/>
          <p:nvPr/>
        </p:nvSpPr>
        <p:spPr>
          <a:xfrm>
            <a:off x="5011926" y="118910"/>
            <a:ext cx="3846822" cy="553998"/>
          </a:xfrm>
          <a:prstGeom prst="rect">
            <a:avLst/>
          </a:prstGeom>
        </p:spPr>
        <p:txBody>
          <a:bodyPr wrap="none">
            <a:spAutoFit/>
          </a:bodyPr>
          <a:lstStyle/>
          <a:p>
            <a:r>
              <a:rPr lang="pt-BR" sz="3000" i="1" dirty="0" smtClean="0">
                <a:solidFill>
                  <a:srgbClr val="FFFF00"/>
                </a:solidFill>
                <a:latin typeface="Arial Black" panose="020B0A04020102020204" pitchFamily="34" charset="0"/>
              </a:rPr>
              <a:t>PESQUISA ACIRV</a:t>
            </a:r>
            <a:endParaRPr lang="pt-BR" sz="3000" i="1" dirty="0">
              <a:solidFill>
                <a:srgbClr val="FFFF00"/>
              </a:solidFill>
              <a:latin typeface="Arial Black" panose="020B0A04020102020204" pitchFamily="34" charset="0"/>
            </a:endParaRPr>
          </a:p>
        </p:txBody>
      </p:sp>
    </p:spTree>
    <p:extLst>
      <p:ext uri="{BB962C8B-B14F-4D97-AF65-F5344CB8AC3E}">
        <p14:creationId xmlns:p14="http://schemas.microsoft.com/office/powerpoint/2010/main" val="19368915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luxograma: Cartão 7"/>
          <p:cNvSpPr/>
          <p:nvPr/>
        </p:nvSpPr>
        <p:spPr>
          <a:xfrm>
            <a:off x="-5262" y="0"/>
            <a:ext cx="12192000" cy="6858000"/>
          </a:xfrm>
          <a:prstGeom prst="flowChartPunchedCard">
            <a:avLst/>
          </a:prstGeom>
          <a:solidFill>
            <a:srgbClr val="204F7A"/>
          </a:solidFill>
          <a:ln>
            <a:solidFill>
              <a:srgbClr val="0F253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3000" dirty="0">
              <a:solidFill>
                <a:srgbClr val="FF0000"/>
              </a:solidFill>
              <a:latin typeface="Arial Black" panose="020B0A04020102020204" pitchFamily="34" charset="0"/>
            </a:endParaRPr>
          </a:p>
        </p:txBody>
      </p:sp>
      <p:pic>
        <p:nvPicPr>
          <p:cNvPr id="2" name="Imagem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62" y="0"/>
            <a:ext cx="12192000" cy="6858000"/>
          </a:xfrm>
          <a:prstGeom prst="roundRect">
            <a:avLst/>
          </a:prstGeom>
        </p:spPr>
      </p:pic>
    </p:spTree>
    <p:extLst>
      <p:ext uri="{BB962C8B-B14F-4D97-AF65-F5344CB8AC3E}">
        <p14:creationId xmlns:p14="http://schemas.microsoft.com/office/powerpoint/2010/main" val="3008883744"/>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4119</TotalTime>
  <Words>1495</Words>
  <Application>Microsoft Office PowerPoint</Application>
  <PresentationFormat>Widescreen</PresentationFormat>
  <Paragraphs>131</Paragraphs>
  <Slides>54</Slides>
  <Notes>0</Notes>
  <HiddenSlides>0</HiddenSlides>
  <MMClips>0</MMClips>
  <ScaleCrop>false</ScaleCrop>
  <HeadingPairs>
    <vt:vector size="6" baseType="variant">
      <vt:variant>
        <vt:lpstr>Fontes usadas</vt:lpstr>
      </vt:variant>
      <vt:variant>
        <vt:i4>8</vt:i4>
      </vt:variant>
      <vt:variant>
        <vt:lpstr>Tema</vt:lpstr>
      </vt:variant>
      <vt:variant>
        <vt:i4>1</vt:i4>
      </vt:variant>
      <vt:variant>
        <vt:lpstr>Títulos de slides</vt:lpstr>
      </vt:variant>
      <vt:variant>
        <vt:i4>54</vt:i4>
      </vt:variant>
    </vt:vector>
  </HeadingPairs>
  <TitlesOfParts>
    <vt:vector size="63" baseType="lpstr">
      <vt:lpstr>Arial</vt:lpstr>
      <vt:lpstr>Arial Black</vt:lpstr>
      <vt:lpstr>Bauhaus 93</vt:lpstr>
      <vt:lpstr>Calibri</vt:lpstr>
      <vt:lpstr>Calibri Light</vt:lpstr>
      <vt:lpstr>Cambria</vt:lpstr>
      <vt:lpstr>Times New Roman</vt:lpstr>
      <vt:lpstr>Wingdings</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Usuario</dc:creator>
  <cp:lastModifiedBy>Usuario</cp:lastModifiedBy>
  <cp:revision>526</cp:revision>
  <dcterms:created xsi:type="dcterms:W3CDTF">2015-06-22T14:20:32Z</dcterms:created>
  <dcterms:modified xsi:type="dcterms:W3CDTF">2016-07-25T19:00:17Z</dcterms:modified>
</cp:coreProperties>
</file>