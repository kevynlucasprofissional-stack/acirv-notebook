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73" r:id="rId5"/>
    <p:sldId id="258" r:id="rId6"/>
    <p:sldId id="259" r:id="rId7"/>
    <p:sldId id="276" r:id="rId8"/>
    <p:sldId id="260" r:id="rId9"/>
    <p:sldId id="274" r:id="rId10"/>
    <p:sldId id="268" r:id="rId11"/>
    <p:sldId id="266" r:id="rId12"/>
    <p:sldId id="267" r:id="rId13"/>
    <p:sldId id="261" r:id="rId14"/>
    <p:sldId id="269" r:id="rId15"/>
    <p:sldId id="271" r:id="rId16"/>
    <p:sldId id="270" r:id="rId17"/>
    <p:sldId id="262" r:id="rId18"/>
    <p:sldId id="263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03"/>
  </p:normalViewPr>
  <p:slideViewPr>
    <p:cSldViewPr snapToGrid="0" snapToObjects="1">
      <p:cViewPr varScale="1">
        <p:scale>
          <a:sx n="72" d="100"/>
          <a:sy n="72" d="100"/>
        </p:scale>
        <p:origin x="2064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254" y="1828800"/>
            <a:ext cx="900150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lang="pt-PT" b="1" dirty="0"/>
              <a:t>Relatório de atividades</a:t>
            </a:r>
            <a:br>
              <a:rPr lang="pt-PT" b="1" dirty="0"/>
            </a:br>
            <a:r>
              <a:rPr lang="pt-PT" b="1" dirty="0"/>
              <a:t>Comunicação ACIRV</a:t>
            </a:r>
            <a:endParaRPr lang="pt-PT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lang="pt-PT" sz="24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Período: de 7 de julho a 6 de agosto de 2025</a:t>
            </a:r>
            <a:endParaRPr dirty="0"/>
          </a:p>
        </p:txBody>
      </p:sp>
      <p:pic>
        <p:nvPicPr>
          <p:cNvPr id="8" name="Imagem 7" descr="Uma imagem com texto, logótipo, captura de ecrã, Azul elétrico&#10;&#10;Os conteúdos gerados por IA podem estar incorretos.">
            <a:extLst>
              <a:ext uri="{FF2B5EF4-FFF2-40B4-BE49-F238E27FC236}">
                <a16:creationId xmlns:a16="http://schemas.microsoft.com/office/drawing/2014/main" id="{326759EC-6864-0F44-B3B9-DC630C37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18" y="1"/>
            <a:ext cx="2048435" cy="1828800"/>
          </a:xfrm>
          <a:prstGeom prst="rect">
            <a:avLst/>
          </a:prstGeom>
        </p:spPr>
      </p:pic>
      <p:pic>
        <p:nvPicPr>
          <p:cNvPr id="10" name="Imagem 9" descr="Uma imagem com texto, captura de ecrã, Gráficos, Tipo de letra&#10;&#10;Os conteúdos gerados por IA podem estar incorretos.">
            <a:extLst>
              <a:ext uri="{FF2B5EF4-FFF2-40B4-BE49-F238E27FC236}">
                <a16:creationId xmlns:a16="http://schemas.microsoft.com/office/drawing/2014/main" id="{2BDFAA92-AF3B-82EC-1572-F7F1F34C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258" y="5168151"/>
            <a:ext cx="1510553" cy="1510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pt-PT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Apresentação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13011" y="1210236"/>
            <a:ext cx="77724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47AB"/>
                </a:solidFill>
              </a:defRPr>
            </a:pPr>
            <a:r>
              <a:rPr lang="pt-PT" dirty="0"/>
              <a:t>VCOM e os objetivos estratégicos com a ACIRV</a:t>
            </a:r>
          </a:p>
          <a:p>
            <a:pPr>
              <a:defRPr sz="2800" b="1">
                <a:solidFill>
                  <a:srgbClr val="0047AB"/>
                </a:solidFill>
              </a:defRPr>
            </a:pPr>
            <a:endParaRPr lang="pt-PT" dirty="0"/>
          </a:p>
          <a:p>
            <a:pPr>
              <a:defRPr sz="1800">
                <a:solidFill>
                  <a:srgbClr val="333333"/>
                </a:solidFill>
              </a:defRPr>
            </a:pPr>
            <a:endParaRPr lang="pt-PT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pt-PT" dirty="0"/>
              <a:t>• </a:t>
            </a:r>
            <a:r>
              <a:rPr lang="pt-PT" sz="2400" dirty="0"/>
              <a:t>Fortalecer a presença institucional da ACIRV no cenário empresarial de Rio Verde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lang="pt-PT" sz="24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pt-PT" sz="2400" dirty="0"/>
              <a:t>• Ampliar o engajamento com o empresariado local através de comunicação estratégica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lang="pt-PT" sz="24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pt-PT" sz="2400" dirty="0"/>
              <a:t>• Gerar valor tangível para os associados com conteúdo relevante e direcionado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endParaRPr lang="pt-PT" sz="2400" dirty="0"/>
          </a:p>
          <a:p>
            <a:pPr>
              <a:defRPr sz="1800">
                <a:solidFill>
                  <a:srgbClr val="333333"/>
                </a:solidFill>
              </a:defRPr>
            </a:pPr>
            <a:r>
              <a:rPr lang="pt-PT" sz="2400" dirty="0"/>
              <a:t>• Consolidar linguagem moderna e unificada em todos os canais oficiais da entidade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Cara humana, pessoa&#10;&#10;Os conteúdos gerados por IA podem estar incorretos.">
            <a:extLst>
              <a:ext uri="{FF2B5EF4-FFF2-40B4-BE49-F238E27FC236}">
                <a16:creationId xmlns:a16="http://schemas.microsoft.com/office/drawing/2014/main" id="{29D64386-C9B1-E321-9626-4F0801C6A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8" y="0"/>
            <a:ext cx="3746183" cy="6858000"/>
          </a:xfrm>
          <a:prstGeom prst="rect">
            <a:avLst/>
          </a:prstGeom>
        </p:spPr>
      </p:pic>
      <p:pic>
        <p:nvPicPr>
          <p:cNvPr id="5" name="Imagem 4" descr="Uma imagem com texto, Cara humana, captura de ecrã, pessoa&#10;&#10;Os conteúdos gerados por IA podem estar incorretos.">
            <a:extLst>
              <a:ext uri="{FF2B5EF4-FFF2-40B4-BE49-F238E27FC236}">
                <a16:creationId xmlns:a16="http://schemas.microsoft.com/office/drawing/2014/main" id="{298B970F-D95C-3B3F-6510-94D00DF9A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497" y="0"/>
            <a:ext cx="4020503" cy="6858000"/>
          </a:xfrm>
          <a:prstGeom prst="rect">
            <a:avLst/>
          </a:prstGeom>
        </p:spPr>
      </p:pic>
      <p:sp>
        <p:nvSpPr>
          <p:cNvPr id="8" name="Seta para a Esquerda e para a Direita 7">
            <a:extLst>
              <a:ext uri="{FF2B5EF4-FFF2-40B4-BE49-F238E27FC236}">
                <a16:creationId xmlns:a16="http://schemas.microsoft.com/office/drawing/2014/main" id="{C09C222D-2649-0350-7C04-7E7511DDF72E}"/>
              </a:ext>
            </a:extLst>
          </p:cNvPr>
          <p:cNvSpPr/>
          <p:nvPr/>
        </p:nvSpPr>
        <p:spPr>
          <a:xfrm>
            <a:off x="3907345" y="2854452"/>
            <a:ext cx="1216152" cy="484632"/>
          </a:xfrm>
          <a:prstGeom prst="leftRightArrow">
            <a:avLst>
              <a:gd name="adj1" fmla="val 13004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074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326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2649" y="480060"/>
            <a:ext cx="409359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m vestuário, homem, captura de ecrã, colagem&#10;&#10;Os conteúdos gerados por IA podem estar incorretos.">
            <a:extLst>
              <a:ext uri="{FF2B5EF4-FFF2-40B4-BE49-F238E27FC236}">
                <a16:creationId xmlns:a16="http://schemas.microsoft.com/office/drawing/2014/main" id="{F55FB356-A97B-614C-01BA-90FC9F71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76" y="643467"/>
            <a:ext cx="2938737" cy="5571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093590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Uma imagem com texto, vestuário, Cara humana, mulher&#10;&#10;Os conteúdos gerados por IA podem estar incorretos.">
            <a:extLst>
              <a:ext uri="{FF2B5EF4-FFF2-40B4-BE49-F238E27FC236}">
                <a16:creationId xmlns:a16="http://schemas.microsoft.com/office/drawing/2014/main" id="{22F94D55-5DB5-4EA4-12A0-9D559610E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92" y="643467"/>
            <a:ext cx="313372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4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pt-PT" sz="3600" b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Resumo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371600"/>
            <a:ext cx="7987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8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Principais conquistas e progressos do primeiro mês</a:t>
            </a:r>
          </a:p>
          <a:p>
            <a:pPr marL="0" indent="0" algn="l" rtl="0" eaLnBrk="1" latinLnBrk="0" hangingPunct="1">
              <a:buNone/>
            </a:pPr>
            <a:r>
              <a:rPr lang="pt-PT" sz="28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Reestruturação estratégica do Instagram, incluindo atualização da bio, destaques e chamadas para ação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Criação do calendário editorial fundamentado nos pilares da ACIRV</a:t>
            </a:r>
          </a:p>
          <a:p>
            <a:pPr marL="0" indent="0" algn="l" rtl="0" eaLnBrk="1" latinLnBrk="0" hangingPunct="1">
              <a:buNone/>
            </a:pPr>
            <a:endParaRPr lang="pt-PT" sz="2000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• Atualização do site;</a:t>
            </a:r>
          </a:p>
          <a:p>
            <a:endParaRPr lang="pt-PT" sz="20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• 156 conteúdos postados;</a:t>
            </a:r>
            <a:endParaRPr lang="pt-PT" sz="20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Implementação de campanhas e eventos, como os festivais "Barzinho &amp; Violão" e "Pirulito &amp; Violão"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Crescimento digital significativo, com aumento de visualizações (+102%) e de seguidores (+7,1%)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PT" sz="36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                           Áreas de atuação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6506" y="917912"/>
            <a:ext cx="8130988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Principais áreas de atuação</a:t>
            </a:r>
            <a:endParaRPr lang="pt-PT" sz="24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endParaRPr lang="pt-PT" sz="24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Administração e criação de conteúdo para Instagram, Facebook e </a:t>
            </a:r>
            <a:r>
              <a:rPr lang="pt-PT" sz="2400" dirty="0" err="1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LinkedIn</a:t>
            </a: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 marL="0" indent="0" algn="l" rtl="0" eaLnBrk="1" latinLnBrk="0" hangingPunct="1">
              <a:buNone/>
            </a:pPr>
            <a:endParaRPr lang="pt-PT" sz="2400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r>
              <a:rPr lang="pt-PT" sz="2400" dirty="0">
                <a:solidFill>
                  <a:srgbClr val="333333"/>
                </a:solidFill>
                <a:latin typeface="Calibri" panose="020F0502020204030204" pitchFamily="34" charset="0"/>
              </a:rPr>
              <a:t>• Organização do Acervo;</a:t>
            </a:r>
            <a:endParaRPr lang="pt-PT" sz="24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Campanhas: Abertura das inscrições "Barzinho &amp; Violão" e "Pirulito &amp; Violão”;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Materiais gráficos: Desenvolvimento de peças visuais para comunicação interna e externa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12AB-690B-7B6B-6302-C4223347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DD04F-5C7A-68F8-EDD8-613F7A775509}"/>
              </a:ext>
            </a:extLst>
          </p:cNvPr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PT" sz="36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                           Áreas de atuação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49E21-D9EB-A74F-4816-2A629A2DD664}"/>
              </a:ext>
            </a:extLst>
          </p:cNvPr>
          <p:cNvSpPr txBox="1"/>
          <p:nvPr/>
        </p:nvSpPr>
        <p:spPr>
          <a:xfrm>
            <a:off x="506506" y="917912"/>
            <a:ext cx="813098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Principais áreas de atuação</a:t>
            </a:r>
            <a:endParaRPr lang="pt-PT" sz="24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D753A4-A959-BD65-47E4-770CB0CE018A}"/>
              </a:ext>
            </a:extLst>
          </p:cNvPr>
          <p:cNvSpPr txBox="1"/>
          <p:nvPr/>
        </p:nvSpPr>
        <p:spPr>
          <a:xfrm>
            <a:off x="770965" y="1927482"/>
            <a:ext cx="786652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dirty="0">
                <a:solidFill>
                  <a:srgbClr val="0070C0"/>
                </a:solidFill>
              </a:rPr>
              <a:t>ASSESSORIA DE IMPRENSA </a:t>
            </a:r>
          </a:p>
          <a:p>
            <a:endParaRPr lang="pt-PT" sz="2400" dirty="0"/>
          </a:p>
          <a:p>
            <a:r>
              <a:rPr lang="pt-PT" sz="2400" dirty="0"/>
              <a:t>	•	Divulgação para a imprensa sobre a abertura das inscrições dos festivais Barzinho e Violão e Pirulito e Violão.</a:t>
            </a:r>
          </a:p>
          <a:p>
            <a:r>
              <a:rPr lang="pt-PT" sz="2400" dirty="0"/>
              <a:t>	•	Gravação do quadro “Momento ACIRV” na TV </a:t>
            </a:r>
            <a:r>
              <a:rPr lang="pt-PT" sz="2400" dirty="0" err="1"/>
              <a:t>Band</a:t>
            </a:r>
            <a:r>
              <a:rPr lang="pt-PT" sz="2400" dirty="0"/>
              <a:t> Sucesso;</a:t>
            </a:r>
          </a:p>
          <a:p>
            <a:r>
              <a:rPr lang="pt-PT" sz="2400" dirty="0"/>
              <a:t>	•	Entrevista para a  TV Rio Verde com foco no projeto Emprega ACIRV como pauta central e num outro momento para falar do Festival;</a:t>
            </a:r>
          </a:p>
          <a:p>
            <a:r>
              <a:rPr lang="pt-PT" sz="2400" dirty="0"/>
              <a:t>•	Entrevista nas </a:t>
            </a:r>
            <a:r>
              <a:rPr lang="pt-PT" sz="2400" dirty="0" err="1"/>
              <a:t>Radios</a:t>
            </a:r>
            <a:r>
              <a:rPr lang="pt-PT" sz="2400" dirty="0"/>
              <a:t> Morada do Sol e </a:t>
            </a:r>
            <a:r>
              <a:rPr lang="pt-PT" sz="2400" dirty="0" err="1"/>
              <a:t>Lider</a:t>
            </a:r>
            <a:r>
              <a:rPr lang="pt-PT" sz="2400" dirty="0"/>
              <a:t> FM - Festival</a:t>
            </a:r>
          </a:p>
        </p:txBody>
      </p:sp>
    </p:spTree>
    <p:extLst>
      <p:ext uri="{BB962C8B-B14F-4D97-AF65-F5344CB8AC3E}">
        <p14:creationId xmlns:p14="http://schemas.microsoft.com/office/powerpoint/2010/main" val="20889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BR" dirty="0"/>
              <a:t>                        </a:t>
            </a:r>
            <a:r>
              <a:rPr dirty="0" err="1"/>
              <a:t>Resultados</a:t>
            </a:r>
            <a:r>
              <a:rPr dirty="0"/>
              <a:t> do </a:t>
            </a:r>
            <a:r>
              <a:rPr lang="pt-BR" dirty="0"/>
              <a:t>m</a:t>
            </a:r>
            <a:r>
              <a:rPr dirty="0" err="1"/>
              <a:t>ês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371600"/>
            <a:ext cx="76289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Métricas de crescimento e engajamento </a:t>
            </a:r>
            <a:r>
              <a:rPr lang="pt-PT" sz="2400" b="1" dirty="0">
                <a:solidFill>
                  <a:srgbClr val="333333"/>
                </a:solidFill>
                <a:latin typeface="Calibri" panose="020F0502020204030204" pitchFamily="34" charset="0"/>
              </a:rPr>
              <a:t>d</a:t>
            </a:r>
            <a:r>
              <a:rPr lang="pt-PT" sz="2400" b="1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igital</a:t>
            </a:r>
            <a:endParaRPr lang="pt-PT" sz="24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Visualizações: 151,6 mil, representando um aumento de 102% em comparação ao mês anterior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Interações: 3,0 mil interações registradas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Novos Seguidores: 283 seguidores adquiridos, com crescimento de 7,1%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Conteúdos Compartilhados: 156 compartilhamentos realizados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28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92649" y="480060"/>
            <a:ext cx="409359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7E3E16-5D70-DEC6-C34A-FE8395687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74" y="643467"/>
            <a:ext cx="3746541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4093590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m texto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FBACE3AA-B925-5F32-881E-0F6744D98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64" y="643467"/>
            <a:ext cx="381618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9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D871D296-7261-F270-9102-AAD9ABC7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723900"/>
            <a:ext cx="7772400" cy="51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62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número&#10;&#10;Os conteúdos gerados por IA podem estar incorretos.">
            <a:extLst>
              <a:ext uri="{FF2B5EF4-FFF2-40B4-BE49-F238E27FC236}">
                <a16:creationId xmlns:a16="http://schemas.microsoft.com/office/drawing/2014/main" id="{94ECD4E5-F6B0-A006-8573-A755835A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302" y="0"/>
            <a:ext cx="4303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3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design&#10;&#10;Os conteúdos gerados por IA podem estar incorretos.">
            <a:extLst>
              <a:ext uri="{FF2B5EF4-FFF2-40B4-BE49-F238E27FC236}">
                <a16:creationId xmlns:a16="http://schemas.microsoft.com/office/drawing/2014/main" id="{3CCF1A57-EF45-6441-0D56-0C2E8194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13" y="0"/>
            <a:ext cx="7772400" cy="66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52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PT" sz="36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                     Postagem em destaque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6847" y="1389529"/>
            <a:ext cx="84357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Destaques no Instagram</a:t>
            </a:r>
            <a:endParaRPr lang="pt-PT" sz="24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Aumento nas visualizações: As visualizações de </a:t>
            </a:r>
            <a:r>
              <a:rPr lang="pt-PT" sz="2400" dirty="0" err="1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reels</a:t>
            </a: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 e publicações </a:t>
            </a:r>
            <a:r>
              <a:rPr lang="pt-PT" sz="24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subiram 102% em relação ao mês anterior;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</a:t>
            </a:r>
            <a:r>
              <a:rPr lang="pt-PT" sz="2400" dirty="0" err="1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Post</a:t>
            </a: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 com grande </a:t>
            </a:r>
            <a:r>
              <a:rPr lang="pt-PT" sz="2400" dirty="0">
                <a:solidFill>
                  <a:srgbClr val="333333"/>
                </a:solidFill>
                <a:latin typeface="Calibri" panose="020F0502020204030204" pitchFamily="34" charset="0"/>
              </a:rPr>
              <a:t>e</a:t>
            </a: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ngajamento: 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Um </a:t>
            </a:r>
            <a:r>
              <a:rPr lang="pt-PT" sz="2400" dirty="0" err="1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post</a:t>
            </a: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 alcançou mais de 24 mil visualizações;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4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Horários ideais para postagem: Foram identificados os períodos de maior atividade dos seguidores;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FE20DF07-E7FE-1405-5ED1-022FADD9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855" y="0"/>
            <a:ext cx="5128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vestuário, homem, Cara humana, pessoa&#10;&#10;Os conteúdos gerados por IA podem estar incorretos.">
            <a:extLst>
              <a:ext uri="{FF2B5EF4-FFF2-40B4-BE49-F238E27FC236}">
                <a16:creationId xmlns:a16="http://schemas.microsoft.com/office/drawing/2014/main" id="{B46F7562-BADF-40B8-621C-B6D383667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45" y="0"/>
            <a:ext cx="4080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98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file&#10;&#10;Os conteúdos gerados por IA podem estar incorretos.">
            <a:extLst>
              <a:ext uri="{FF2B5EF4-FFF2-40B4-BE49-F238E27FC236}">
                <a16:creationId xmlns:a16="http://schemas.microsoft.com/office/drawing/2014/main" id="{D34E46E4-A8F6-5BF6-670D-26AE126C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77" y="0"/>
            <a:ext cx="4474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94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pt-BR" dirty="0"/>
              <a:t>Pontos de melhorias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15470" y="917912"/>
            <a:ext cx="811305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Desafios</a:t>
            </a:r>
            <a:endParaRPr lang="pt-PT" sz="24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16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Necessidade de conteúdo exclusivo: Há uma grande demanda por materiais que aprofundem os benefícios da ACIRV para seus associados;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Participação da diretoria: O envolvimento ativo da diretoria em conteúdos e eventos é essencial;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Ajuste de prazos: A coordenação dos prazos entre a VCOM e a ACIRV requer atenção especial;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Produção de vídeos: É fundamental aumentar tanto a frequência quanto a qualidade dos vídeos produzidos.</a:t>
            </a:r>
          </a:p>
          <a:p>
            <a:pPr marL="0" indent="0" algn="l" rtl="0" eaLnBrk="1" latinLnBrk="0" hangingPunct="1">
              <a:buNone/>
            </a:pPr>
            <a:endParaRPr lang="pt-PT" sz="2000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• Ajustes de fluxos internos entre os núcleos;</a:t>
            </a:r>
            <a:b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</a:br>
            <a:b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</a:br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• Limitações operacionais, </a:t>
            </a:r>
            <a:r>
              <a:rPr lang="pt-PT" sz="2000" dirty="0" err="1">
                <a:solidFill>
                  <a:srgbClr val="333333"/>
                </a:solidFill>
                <a:latin typeface="Calibri" panose="020F0502020204030204" pitchFamily="34" charset="0"/>
              </a:rPr>
              <a:t>ex</a:t>
            </a:r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: email marketing;</a:t>
            </a:r>
            <a:endParaRPr lang="pt-PT" sz="20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endParaRPr lang="pt-PT" sz="2000" dirty="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r>
              <a:rPr lang="pt-PT" sz="2000" dirty="0">
                <a:solidFill>
                  <a:srgbClr val="333333"/>
                </a:solidFill>
                <a:latin typeface="Calibri" panose="020F0502020204030204" pitchFamily="34" charset="0"/>
              </a:rPr>
              <a:t>• Acesso </a:t>
            </a: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 conta de anúncios para realização de tráfego pago.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0047AB"/>
          </a:solidFill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PT" sz="3600" b="1" dirty="0">
                <a:solidFill>
                  <a:srgbClr val="FFFFFF"/>
                </a:solidFill>
                <a:latin typeface="Calibri" panose="020F0502020204030204" pitchFamily="34" charset="0"/>
              </a:rPr>
              <a:t>                             Próximos etapas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371600"/>
            <a:ext cx="791583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pt-PT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Planejamento 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b="1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Agosto de 2025:</a:t>
            </a:r>
          </a:p>
          <a:p>
            <a:pPr marL="0" indent="0" algn="l" rtl="0" eaLnBrk="1" latinLnBrk="0" hangingPunct="1">
              <a:buNone/>
            </a:pPr>
            <a:endParaRPr lang="pt-PT" sz="2000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Campanha institucional focada na captação de novos associados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Início da pesquisa qualitativa junto a empresários locais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Expansão da produção de vídeos com associados e dos projetos</a:t>
            </a:r>
          </a:p>
          <a:p>
            <a:pPr marL="0" indent="0" algn="l" rtl="0" eaLnBrk="1" latinLnBrk="0" hangingPunct="1">
              <a:buNone/>
            </a:pPr>
            <a:r>
              <a:rPr lang="pt-PT" sz="2000" b="1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pt-PT" sz="2000" b="1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Sugestões:</a:t>
            </a:r>
          </a:p>
          <a:p>
            <a:pPr marL="0" indent="0" algn="l" rtl="0" eaLnBrk="1" latinLnBrk="0" hangingPunct="1">
              <a:buNone/>
            </a:pPr>
            <a:endParaRPr lang="pt-PT" sz="2000" b="1" dirty="0">
              <a:solidFill>
                <a:srgbClr val="333333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Implementar um calendário institucional compartilhado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Organizar gravações mensais envolvendo associados e diretoria</a:t>
            </a:r>
          </a:p>
          <a:p>
            <a:pPr marL="0" indent="0" algn="l" rtl="0" eaLnBrk="1" latinLnBrk="0" hangingPunct="1">
              <a:buNone/>
            </a:pPr>
            <a:r>
              <a:rPr lang="pt-PT" sz="2000" dirty="0">
                <a:solidFill>
                  <a:srgbClr val="333333"/>
                </a:solidFill>
                <a:effectLst/>
                <a:latin typeface="Calibri" panose="020F0502020204030204" pitchFamily="34" charset="0"/>
              </a:rPr>
              <a:t>• Destinar investimento contínuo em tráfego para conteúdos relacionados a serviços</a:t>
            </a:r>
            <a:endParaRPr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246" y="2404170"/>
            <a:ext cx="77455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lang="pt-PT" sz="28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No primeiro mês em que a VCOM assumiu a comunicação da ACIRV, já é possível observar resultados concretos na presença digital. 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endParaRPr lang="pt-PT" sz="2800" dirty="0">
              <a:solidFill>
                <a:srgbClr val="FFFFFF"/>
              </a:solidFill>
              <a:effectLst/>
              <a:latin typeface="Calibri" panose="020F0502020204030204" pitchFamily="34" charset="0"/>
            </a:endParaR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rPr lang="pt-PT" sz="2800" dirty="0">
                <a:solidFill>
                  <a:srgbClr val="FFFFFF"/>
                </a:solidFill>
                <a:latin typeface="Calibri" panose="020F0502020204030204" pitchFamily="34" charset="0"/>
              </a:rPr>
              <a:t>O volume de demandas está intenso, mas com avanços consistentes em cada frente. Seguimos com foco na excelência da comunicação institucional e fortalecimento da imagem da ACIRV junto ao público interno e externo.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674</Words>
  <Application>Microsoft Macintosh PowerPoint</Application>
  <PresentationFormat>Apresentação no Ecrã (4:3)</PresentationFormat>
  <Paragraphs>99</Paragraphs>
  <Slides>19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Vivianne Oliveira</cp:lastModifiedBy>
  <cp:revision>5</cp:revision>
  <dcterms:created xsi:type="dcterms:W3CDTF">2013-01-27T09:14:16Z</dcterms:created>
  <dcterms:modified xsi:type="dcterms:W3CDTF">2025-08-07T03:19:22Z</dcterms:modified>
  <cp:category/>
</cp:coreProperties>
</file>