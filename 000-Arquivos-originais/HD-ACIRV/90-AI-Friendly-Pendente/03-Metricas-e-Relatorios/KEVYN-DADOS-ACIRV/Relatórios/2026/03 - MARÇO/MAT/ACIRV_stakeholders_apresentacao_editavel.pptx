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ChatGPT_2026-04-10-13-34-15.md (síntese da narrativa do deck)
- data(2).csv
- Obsidian/ACIRV/Notas/Tom de voz ACIRV - V4.md
- Obsidian/ACIRV/Notas/PLANEJAMENTO - Janeiro de 2026.md
- Obsidian/ACIRV/Notas/110326 - diagnóstico da atual gestão do tempo.md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ChatGPT_2026-04-10-13-34-15.md
- Obsidian/ACIRV/Notas/Tom de voz ACIRV - V4.md
- Obsidian/ACIRV/Notas/PLANEJAMENTO - Janeiro de 2026.md
- data(2).csv
- Obsidian/ACIRV/Notas/110326 - Insight completo sobre como estou usando meu tempo.md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Obsidian/ACIRV/Notas/Tom de voz ACIRV - V4.md
- Obsidian/ACIRV/Notas/BRIEFING COMPLETO – PASTA ENVELOPE INSTITUCIONAL ACIRV.md
- Obsidian/ACIRV/Notas/(PLANEJAMENTO ANUAL) CONECTA ACIRV 2026.md
- Obsidian/ACIRV/Notas/(RELATÓRIO MÉTRICAS PARA DIRETORIA) - Janeiro.md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data(2).csv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data(2).csv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Obsidian/ACIRV/Notas/PLANEJAMENTO - Janeiro de 2026.md
- Obsidian/ACIRV/Notas/Tom de voz ACIRV - V4.md
- Obsidian/ACIRV/Notas/BRIEFING COMPLETO – PASTA ENVELOPE INSTITUCIONAL ACIRV.md
- data(2).csv
- ChatGPT_2026-04-10-13-34-15.md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ChatGPT_2026-04-10-13-34-15.md
- Obsidian/ACIRV/Notas/PLANEJAMENTO - Janeiro de 2026.md
- Obsidian/ACIRV/Notas/110326 - diagnóstico da atual gestão do tempo.md
- data(2).csv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ChatGPT_2026-04-10-13-34-15.md
- Obsidian/ACIRV/Notas/BRIEFING COMPLETO – PASTA ENVELOPE INSTITUCIONAL ACIRV.md
- Obsidian/ACIRV/Notas/Tom de voz ACIRV - V4.md
- data(2).csv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Obsidian/ACIRV/Notas/110326 - diagnóstico da atual gestão do tempo.md
- Obsidian/ACIRV/Notas/110326 - Insight completo sobre como estou usando meu tempo.md
- Obsidian/ACIRV/Notas/Gestão de tempo.md
- ChatGPT_2026-04-10-13-34-15.md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ChatGPT_2026-04-10-13-34-15.md
- Obsidian/ACIRV/Notas/110326 - Insight completo sobre como estou usando meu tempo.md
- Obsidian/ACIRV/Notas/110326 - diagnóstico da atual gestão do tempo.md
- data(2).csv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data(2).csv
- Obsidian/ACIRV/Notas/PLANEJAMENTO - Janeiro de 2026.md
- Obsidian/ACIRV/Notas/(PLANEJAMENTO ANUAL) CONECTA ACIRV 2026.md
- Obsidian/ACIRV/Notas/BRIEFING COMPLETO – PASTA ENVELOPE INSTITUCIONAL ACIRV.md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ChatGPT_2026-04-10-13-34-15.md
- Obsidian/ACIRV/Notas/110326 - Insight completo sobre como estou usando meu tempo.md
- Obsidian/ACIRV/Notas/Gestão de tempo.md
- data(2).csv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data(2).csv
- Obsidian/ACIRV/Notas/Gestão de tempo.md
- ChatGPT_2026-04-10-13-34-15.md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ChatGPT_2026-04-10-13-34-15.md
- data(2).csv
- Obsidian/ACIRV/Notas/110326 - diagnóstico da atual gestão do tempo.md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data(2).csv
- Obsidian/ACIRV/Notas/Tom de voz ACIRV - V4.md
- Obsidian/ACIRV/Notas/PLANEJAMENTO - Janeiro de 2026.md
- Obsidian/ACIRV/Notas/(PLANEJAMENTO ANUAL) CONECTA ACIRV 2026.md
- Obsidian/ACIRV/Notas/BRIEFING COMPLETO – PASTA ENVELOPE INSTITUCIONAL ACIRV.md
- Obsidian/ACIRV/Notas/110326 - Insight completo sobre como estou usando meu tempo.md
- Obsidian/ACIRV/Notas/110326 - diagnóstico da atual gestão do tempo.md
- ChatGPT_2026-04-10-13-34-15.md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7D3B">
              <a:alpha val="45000"/>
            </a:srgbClr>
          </a:solidFill>
          <a:ln w="12700">
            <a:solidFill>
              <a:srgbClr val="FF7D3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91440"/>
            <a:ext cx="2560320" cy="2560320"/>
          </a:xfrm>
          <a:prstGeom prst="ellipse">
            <a:avLst/>
          </a:prstGeom>
          <a:solidFill>
            <a:srgbClr val="129CDF">
              <a:alpha val="18000"/>
            </a:srgbClr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11480"/>
            <a:ext cx="1737360" cy="1737360"/>
          </a:xfrm>
          <a:prstGeom prst="ellipse">
            <a:avLst/>
          </a:prstGeom>
          <a:solidFill>
            <a:srgbClr val="FF7D3B">
              <a:alpha val="13000"/>
            </a:srgbClr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029200"/>
            <a:ext cx="1280160" cy="1280160"/>
          </a:xfrm>
          <a:prstGeom prst="ellipse">
            <a:avLst/>
          </a:prstGeom>
          <a:solidFill>
            <a:srgbClr val="129CDF">
              <a:alpha val="14000"/>
            </a:srgbClr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1417320"/>
            <a:ext cx="1508760" cy="640080"/>
          </a:xfrm>
          <a:prstGeom prst="line">
            <a:avLst/>
          </a:prstGeom>
          <a:noFill/>
          <a:ln w="12700">
            <a:solidFill>
              <a:srgbClr val="FF7D3B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72600" y="2057400"/>
            <a:ext cx="1005840" cy="-822960"/>
          </a:xfrm>
          <a:prstGeom prst="line">
            <a:avLst/>
          </a:prstGeom>
          <a:noFill/>
          <a:ln w="12700">
            <a:solidFill>
              <a:srgbClr val="129CDF">
                <a:alpha val="8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2057400"/>
            <a:ext cx="1691640" cy="365760"/>
          </a:xfrm>
          <a:prstGeom prst="line">
            <a:avLst/>
          </a:prstGeom>
          <a:noFill/>
          <a:ln w="12700">
            <a:solidFill>
              <a:srgbClr val="FF7D3B">
                <a:alpha val="8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72600" y="2057400"/>
            <a:ext cx="-960120" cy="1051560"/>
          </a:xfrm>
          <a:prstGeom prst="line">
            <a:avLst/>
          </a:prstGeom>
          <a:noFill/>
          <a:ln w="12700">
            <a:solidFill>
              <a:srgbClr val="129CDF">
                <a:alpha val="8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3108960"/>
            <a:ext cx="1325880" cy="640080"/>
          </a:xfrm>
          <a:prstGeom prst="line">
            <a:avLst/>
          </a:prstGeom>
          <a:noFill/>
          <a:ln w="12700">
            <a:solidFill>
              <a:srgbClr val="FF7D3B">
                <a:alpha val="8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38360" y="3749040"/>
            <a:ext cx="1143000" cy="-502920"/>
          </a:xfrm>
          <a:prstGeom prst="line">
            <a:avLst/>
          </a:prstGeom>
          <a:noFill/>
          <a:ln w="12700">
            <a:solidFill>
              <a:srgbClr val="129CDF">
                <a:alpha val="8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3108960"/>
            <a:ext cx="182880" cy="1645920"/>
          </a:xfrm>
          <a:prstGeom prst="line">
            <a:avLst/>
          </a:prstGeom>
          <a:noFill/>
          <a:ln w="12700">
            <a:solidFill>
              <a:srgbClr val="FF7D3B">
                <a:alpha val="8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0" y="4754880"/>
            <a:ext cx="1554480" cy="548640"/>
          </a:xfrm>
          <a:prstGeom prst="line">
            <a:avLst/>
          </a:prstGeom>
          <a:noFill/>
          <a:ln w="12700">
            <a:solidFill>
              <a:srgbClr val="129CDF">
                <a:alpha val="8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38360" y="3749040"/>
            <a:ext cx="411480" cy="1554480"/>
          </a:xfrm>
          <a:prstGeom prst="line">
            <a:avLst/>
          </a:prstGeom>
          <a:noFill/>
          <a:ln w="12700">
            <a:solidFill>
              <a:srgbClr val="FF7D3B">
                <a:alpha val="8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78440" y="1234440"/>
            <a:ext cx="685800" cy="1188720"/>
          </a:xfrm>
          <a:prstGeom prst="line">
            <a:avLst/>
          </a:prstGeom>
          <a:noFill/>
          <a:ln w="12700">
            <a:solidFill>
              <a:srgbClr val="129CDF">
                <a:alpha val="8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1325880"/>
            <a:ext cx="182880" cy="18288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81160" y="1965960"/>
            <a:ext cx="182880" cy="182880"/>
          </a:xfrm>
          <a:prstGeom prst="ellipse">
            <a:avLst/>
          </a:prstGeom>
          <a:solidFill>
            <a:srgbClr val="129CDF"/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87000" y="1143000"/>
            <a:ext cx="182880" cy="18288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0" y="2331720"/>
            <a:ext cx="182880" cy="182880"/>
          </a:xfrm>
          <a:prstGeom prst="ellipse">
            <a:avLst/>
          </a:prstGeom>
          <a:solidFill>
            <a:srgbClr val="129CDF"/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3017520"/>
            <a:ext cx="182880" cy="18288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46920" y="3657600"/>
            <a:ext cx="182880" cy="182880"/>
          </a:xfrm>
          <a:prstGeom prst="ellipse">
            <a:avLst/>
          </a:prstGeom>
          <a:solidFill>
            <a:srgbClr val="129CDF"/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89920" y="3154680"/>
            <a:ext cx="182880" cy="18288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0" y="4663440"/>
            <a:ext cx="182880" cy="182880"/>
          </a:xfrm>
          <a:prstGeom prst="ellipse">
            <a:avLst/>
          </a:prstGeom>
          <a:solidFill>
            <a:srgbClr val="129CDF"/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5212080"/>
            <a:ext cx="182880" cy="18288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676656"/>
            <a:ext cx="1783080" cy="347472"/>
          </a:xfrm>
          <a:prstGeom prst="roundRect">
            <a:avLst>
              <a:gd name="adj" fmla="val 26316"/>
            </a:avLst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749808"/>
            <a:ext cx="15087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deck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1298448"/>
            <a:ext cx="3108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ACIRV 2026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21792" y="1792224"/>
            <a:ext cx="4572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F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estratégia à execução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1792" y="2359152"/>
            <a:ext cx="4937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de comunicação, arquitetura operacional e proposta de redesenho com foco em valor institucional, eficiência editorial e melhor uso do papel do Kevyn.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1792" y="3218688"/>
            <a:ext cx="1097280" cy="256032"/>
          </a:xfrm>
          <a:prstGeom prst="roundRect">
            <a:avLst>
              <a:gd name="adj" fmla="val 42857"/>
            </a:avLst>
          </a:prstGeom>
          <a:solidFill>
            <a:srgbClr val="FFF1E8"/>
          </a:solidFill>
          <a:ln w="12700">
            <a:solidFill>
              <a:srgbClr val="FFF1E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24612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Estratégia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10512" y="3218688"/>
            <a:ext cx="1078992" cy="256032"/>
          </a:xfrm>
          <a:prstGeom prst="roundRect">
            <a:avLst>
              <a:gd name="adj" fmla="val 42857"/>
            </a:avLst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10512" y="3246120"/>
            <a:ext cx="10789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Execução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971800" y="3218688"/>
            <a:ext cx="1444752" cy="256032"/>
          </a:xfrm>
          <a:prstGeom prst="roundRect">
            <a:avLst>
              <a:gd name="adj" fmla="val 42857"/>
            </a:avLst>
          </a:prstGeom>
          <a:solidFill>
            <a:srgbClr val="F3FDE1"/>
          </a:solidFill>
          <a:ln w="12700">
            <a:solidFill>
              <a:srgbClr val="F3FDE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71800" y="3246120"/>
            <a:ext cx="144475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 atual x futura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1792" y="3886200"/>
            <a:ext cx="4343400" cy="146304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2700">
            <a:solidFill>
              <a:srgbClr val="23314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22960" y="4096512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Tese central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" y="4352544"/>
            <a:ext cx="38404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ACIRV já possui identidade, ativos e propósito. O gargalo está na conversão: a estratégia é mais madura do que a execução consegue expressar.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822960" y="5056632"/>
            <a:ext cx="3840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Base: conversa consolidada, 84 posts do Instagram, cofre ACIRV, material bruto sobre o Kevyn.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1792" y="6199632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Abr/2026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9CDF">
              <a:alpha val="45000"/>
            </a:srgbClr>
          </a:solidFill>
          <a:ln w="12700">
            <a:solidFill>
              <a:srgbClr val="129CD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45720"/>
            <a:ext cx="2286000" cy="2286000"/>
          </a:xfrm>
          <a:prstGeom prst="ellipse">
            <a:avLst/>
          </a:prstGeom>
          <a:solidFill>
            <a:srgbClr val="1B26AE">
              <a:alpha val="7000"/>
            </a:srgbClr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365760"/>
            <a:ext cx="1600200" cy="1600200"/>
          </a:xfrm>
          <a:prstGeom prst="ellipse">
            <a:avLst/>
          </a:prstGeom>
          <a:solidFill>
            <a:srgbClr val="FF7D3B">
              <a:alpha val="8000"/>
            </a:srgbClr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349240"/>
            <a:ext cx="1097280" cy="1097280"/>
          </a:xfrm>
          <a:prstGeom prst="ellipse">
            <a:avLst/>
          </a:prstGeom>
          <a:solidFill>
            <a:srgbClr val="129CDF">
              <a:alpha val="8000"/>
            </a:srgbClr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</a:rPr>
              <a:t>RESUMO EXECUTIVO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O diagnóstico em quatro movimentos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Abrimos pelo sistema, provamos com dados, mostramos a quebra de arquitetura e só então entramos no papel do Kevyn.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74520"/>
            <a:ext cx="544068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144268"/>
            <a:ext cx="4023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53312" y="2039112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estratégia da ACIRV já existe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53312" y="2386584"/>
            <a:ext cx="43891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Posicionamento, tom de voz, campanhas e ativos institucionais estão bem definidos no cofre. O problema não é falta de ideia.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874520"/>
            <a:ext cx="544068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81928" y="2057400"/>
            <a:ext cx="402336" cy="402336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2144268"/>
            <a:ext cx="4023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93992" y="2039112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feed está traduzindo isso de forma irregular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93992" y="2386584"/>
            <a:ext cx="43891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Carrossel e temas institucionais fortes performam melhor; feed repetitivo e excesso de Sudoexpo diluem resultado.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544068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160520"/>
            <a:ext cx="402336" cy="402336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247388"/>
            <a:ext cx="4023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53312" y="4142232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gargalo principal é arquitetura operacional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53312" y="4489704"/>
            <a:ext cx="43891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um sistema editorial, governança de prioridade e uma esteira de produção que converta valor em narrativa pública.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3977640"/>
            <a:ext cx="544068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81928" y="4160520"/>
            <a:ext cx="402336" cy="402336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4247388"/>
            <a:ext cx="4023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93992" y="4142232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Kevyn é sintoma e oportunidade ao mesmo tempo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93992" y="4489704"/>
            <a:ext cx="43891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 parece agregar mais valor como tradutor estratégico do que como absorvedor total de microdemandas fragmentadas.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5897880"/>
            <a:ext cx="10881360" cy="438912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6007608"/>
            <a:ext cx="105156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E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 para a reunião: não se trata de “produzir mais”. Trata-se de redesenhar como a ACIRV transforma seus ativos institucionais em comunicação de valor — e como organiza o trabalho para isso.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9CDF">
              <a:alpha val="45000"/>
            </a:srgbClr>
          </a:solidFill>
          <a:ln w="12700">
            <a:solidFill>
              <a:srgbClr val="129CD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45720"/>
            <a:ext cx="2286000" cy="2286000"/>
          </a:xfrm>
          <a:prstGeom prst="ellipse">
            <a:avLst/>
          </a:prstGeom>
          <a:solidFill>
            <a:srgbClr val="1B26AE">
              <a:alpha val="7000"/>
            </a:srgbClr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365760"/>
            <a:ext cx="1600200" cy="1600200"/>
          </a:xfrm>
          <a:prstGeom prst="ellipse">
            <a:avLst/>
          </a:prstGeom>
          <a:solidFill>
            <a:srgbClr val="FF7D3B">
              <a:alpha val="8000"/>
            </a:srgbClr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349240"/>
            <a:ext cx="1097280" cy="1097280"/>
          </a:xfrm>
          <a:prstGeom prst="ellipse">
            <a:avLst/>
          </a:prstGeom>
          <a:solidFill>
            <a:srgbClr val="129CDF">
              <a:alpha val="8000"/>
            </a:srgbClr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</a:rPr>
              <a:t>MACRO ACIRV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O que a ACIRV diz que é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 marca institucional é maior e mais rica do que o recorte do Instagram conseguiu expressar no período analisado.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75104"/>
            <a:ext cx="2148840" cy="233172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2139696"/>
            <a:ext cx="1856232" cy="274320"/>
          </a:xfrm>
          <a:prstGeom prst="roundRect">
            <a:avLst>
              <a:gd name="adj" fmla="val 33333"/>
            </a:avLst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542032"/>
            <a:ext cx="174650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Representatividade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944368"/>
            <a:ext cx="1819656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Defesa do empresariado, articulação com poder público, infraestrutura e ambiente de negócios.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2971800" y="1975104"/>
            <a:ext cx="2148840" cy="233172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18104" y="2139696"/>
            <a:ext cx="1856232" cy="274320"/>
          </a:xfrm>
          <a:prstGeom prst="roundRect">
            <a:avLst>
              <a:gd name="adj" fmla="val 33333"/>
            </a:avLst>
          </a:prstGeom>
          <a:solidFill>
            <a:srgbClr val="FFF1E8"/>
          </a:solidFill>
          <a:ln w="12700">
            <a:solidFill>
              <a:srgbClr val="FFF1E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2542032"/>
            <a:ext cx="174650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Serviços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36392" y="2944368"/>
            <a:ext cx="1819656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Certificado digital, crédito, locação de salas, CAM e apoio concreto ao associado.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285232" y="1975104"/>
            <a:ext cx="2148840" cy="233172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31536" y="2139696"/>
            <a:ext cx="1856232" cy="274320"/>
          </a:xfrm>
          <a:prstGeom prst="roundRect">
            <a:avLst>
              <a:gd name="adj" fmla="val 33333"/>
            </a:avLst>
          </a:prstGeom>
          <a:solidFill>
            <a:srgbClr val="F3FDE1"/>
          </a:solidFill>
          <a:ln w="12700">
            <a:solidFill>
              <a:srgbClr val="F3FDE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2542032"/>
            <a:ext cx="174650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Conexões de negócio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49824" y="2944368"/>
            <a:ext cx="1819656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Conecta, Café entre Amigos, networking, mesas e alianças comerciais.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598664" y="1975104"/>
            <a:ext cx="2148840" cy="233172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44968" y="2139696"/>
            <a:ext cx="1856232" cy="274320"/>
          </a:xfrm>
          <a:prstGeom prst="roundRect">
            <a:avLst>
              <a:gd name="adj" fmla="val 33333"/>
            </a:avLst>
          </a:prstGeom>
          <a:solidFill>
            <a:srgbClr val="FFF7DB"/>
          </a:solidFill>
          <a:ln w="12700">
            <a:solidFill>
              <a:srgbClr val="FFF7D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99832" y="2542032"/>
            <a:ext cx="174650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Comunidade e lideranças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63256" y="2944368"/>
            <a:ext cx="1819656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ACIRV Mulher, associados, histórias reais e pertencimento.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9912096" y="1975104"/>
            <a:ext cx="2148840" cy="233172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58400" y="2139696"/>
            <a:ext cx="1856232" cy="274320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13264" y="2542032"/>
            <a:ext cx="174650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Desenvolvimento regional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76688" y="2944368"/>
            <a:ext cx="1819656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Rio Verde, setor produtivo, reputação local e construção de longo prazo.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749808" y="4736592"/>
            <a:ext cx="2926080" cy="1298448"/>
          </a:xfrm>
          <a:prstGeom prst="roundRect">
            <a:avLst>
              <a:gd name="adj" fmla="val 8451"/>
            </a:avLst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32688" y="4937760"/>
            <a:ext cx="548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2688" y="5157216"/>
            <a:ext cx="2468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Conectar para Crescer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32688" y="5468112"/>
            <a:ext cx="2468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Lema do ano e eixo narrativo da entidade.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86200" y="4736592"/>
            <a:ext cx="35661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069080" y="4919472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 de voz desejado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069080" y="5138928"/>
            <a:ext cx="3017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Sábio 60% + Conector 40%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069080" y="5468112"/>
            <a:ext cx="2926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Autoridade analítica com ponte humana e geradora de conexões.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653528" y="4736592"/>
            <a:ext cx="37033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836408" y="4919472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Leitura-chave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836408" y="5138928"/>
            <a:ext cx="3154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promessa da ACIRV é institucional, relacional e econômica — não apenas promocional.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9CDF">
              <a:alpha val="45000"/>
            </a:srgbClr>
          </a:solidFill>
          <a:ln w="12700">
            <a:solidFill>
              <a:srgbClr val="129CD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45720"/>
            <a:ext cx="2286000" cy="2286000"/>
          </a:xfrm>
          <a:prstGeom prst="ellipse">
            <a:avLst/>
          </a:prstGeom>
          <a:solidFill>
            <a:srgbClr val="1B26AE">
              <a:alpha val="7000"/>
            </a:srgbClr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365760"/>
            <a:ext cx="1600200" cy="1600200"/>
          </a:xfrm>
          <a:prstGeom prst="ellipse">
            <a:avLst/>
          </a:prstGeom>
          <a:solidFill>
            <a:srgbClr val="FF7D3B">
              <a:alpha val="8000"/>
            </a:srgbClr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349240"/>
            <a:ext cx="1097280" cy="1097280"/>
          </a:xfrm>
          <a:prstGeom prst="ellipse">
            <a:avLst/>
          </a:prstGeom>
          <a:solidFill>
            <a:srgbClr val="129CDF">
              <a:alpha val="8000"/>
            </a:srgbClr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</a:rPr>
              <a:t>EVIDÊNCIA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O que o Instagram realmente mostrou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Recorte analisado: 84 posts entre 26/01 e 10/04/2026.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1828800"/>
            <a:ext cx="196596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6656" y="1828800"/>
            <a:ext cx="73152" cy="1060704"/>
          </a:xfrm>
          <a:prstGeom prst="rect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993392"/>
            <a:ext cx="172821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1248" y="2322576"/>
            <a:ext cx="17282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 analisados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2560320"/>
            <a:ext cx="172821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Jan/26 a Abr/26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724912" y="1828800"/>
            <a:ext cx="196596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24912" y="1828800"/>
            <a:ext cx="73152" cy="1060704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9504" y="1993392"/>
            <a:ext cx="172821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1.749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89504" y="2322576"/>
            <a:ext cx="17282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89504" y="2560320"/>
            <a:ext cx="172821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248 comentários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773168" y="1828800"/>
            <a:ext cx="196596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73168" y="1828800"/>
            <a:ext cx="73152" cy="1060704"/>
          </a:xfrm>
          <a:prstGeom prst="rect">
            <a:avLst/>
          </a:prstGeom>
          <a:solidFill>
            <a:srgbClr val="129CDF"/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993392"/>
            <a:ext cx="172821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9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18,4 mil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37760" y="2322576"/>
            <a:ext cx="17282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2560320"/>
            <a:ext cx="172821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só aparecem nos Reels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821424" y="1828800"/>
            <a:ext cx="196596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21424" y="1828800"/>
            <a:ext cx="73152" cy="106070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86016" y="1993392"/>
            <a:ext cx="172821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58,3%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86016" y="2322576"/>
            <a:ext cx="17282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 com ≤ 5 likes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86016" y="2560320"/>
            <a:ext cx="172821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Grande cauda de baixo desempenho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869680" y="1828800"/>
            <a:ext cx="265176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869680" y="1828800"/>
            <a:ext cx="73152" cy="1060704"/>
          </a:xfrm>
          <a:prstGeom prst="rect">
            <a:avLst/>
          </a:prstGeom>
          <a:solidFill>
            <a:srgbClr val="0E1EB2"/>
          </a:solidFill>
          <a:ln w="12700">
            <a:solidFill>
              <a:srgbClr val="0E1EB2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34272" y="1993392"/>
            <a:ext cx="241401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E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 = 71%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034272" y="2322576"/>
            <a:ext cx="24140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engajamento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034272" y="2560320"/>
            <a:ext cx="241401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Pareto muito claro: poucos posts puxam a maior parte do resultado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76656" y="3246120"/>
            <a:ext cx="55778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60120" y="3538728"/>
            <a:ext cx="4983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por formato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0120" y="5257800"/>
            <a:ext cx="498348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16152" y="4154576"/>
            <a:ext cx="1319784" cy="1103224"/>
          </a:xfrm>
          <a:prstGeom prst="rect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16152" y="3953408"/>
            <a:ext cx="13197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61288" y="5285232"/>
            <a:ext cx="14295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Carrossel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91968" y="4415866"/>
            <a:ext cx="1319784" cy="84193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91968" y="4214698"/>
            <a:ext cx="13197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37104" y="5285232"/>
            <a:ext cx="14295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367784" y="4764253"/>
            <a:ext cx="1319784" cy="493547"/>
          </a:xfrm>
          <a:prstGeom prst="rect">
            <a:avLst/>
          </a:prstGeom>
          <a:solidFill>
            <a:srgbClr val="129CDF"/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67784" y="4563085"/>
            <a:ext cx="13197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312920" y="5285232"/>
            <a:ext cx="14295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Reels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41832" y="5513832"/>
            <a:ext cx="1280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876044" y="4187952"/>
            <a:ext cx="1575816" cy="722654"/>
          </a:xfrm>
          <a:prstGeom prst="line">
            <a:avLst/>
          </a:prstGeom>
          <a:noFill/>
          <a:ln w="12700">
            <a:solidFill>
              <a:srgbClr val="FF7D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51860" y="4910606"/>
            <a:ext cx="1575816" cy="-609646"/>
          </a:xfrm>
          <a:prstGeom prst="line">
            <a:avLst/>
          </a:prstGeom>
          <a:noFill/>
          <a:ln w="12700">
            <a:solidFill>
              <a:srgbClr val="FF7D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21180" y="4133088"/>
            <a:ext cx="109728" cy="109728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93164" y="3950208"/>
            <a:ext cx="365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32,9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396996" y="4855742"/>
            <a:ext cx="109728" cy="109728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68980" y="4672862"/>
            <a:ext cx="365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8,6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972812" y="4246096"/>
            <a:ext cx="109728" cy="109728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4796" y="4063216"/>
            <a:ext cx="365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29,1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572000" y="5513832"/>
            <a:ext cx="1371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Engajamento médio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00800" y="3246120"/>
            <a:ext cx="5148072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638544" y="3520440"/>
            <a:ext cx="14630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imediata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656832" y="3858768"/>
            <a:ext cx="91440" cy="9144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12280" y="3776472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Carrossel concentra mais valor: 45% do volume e 62% dos likes.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6656832" y="4334256"/>
            <a:ext cx="91440" cy="9144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12280" y="4251960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ocupa 35% do volume, mas só 12% dos likes.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6656832" y="4809744"/>
            <a:ext cx="91440" cy="9144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12280" y="4727448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Reels são a principal alavanca de views e descoberta.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6638544" y="5266944"/>
            <a:ext cx="4663440" cy="310896"/>
          </a:xfrm>
          <a:prstGeom prst="roundRect">
            <a:avLst>
              <a:gd name="adj" fmla="val 35294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21424" y="5358384"/>
            <a:ext cx="42976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Insight: o perfil está produzindo bastante, mas escolhendo pouco.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9CDF">
              <a:alpha val="45000"/>
            </a:srgbClr>
          </a:solidFill>
          <a:ln w="12700">
            <a:solidFill>
              <a:srgbClr val="129CD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45720"/>
            <a:ext cx="2286000" cy="2286000"/>
          </a:xfrm>
          <a:prstGeom prst="ellipse">
            <a:avLst/>
          </a:prstGeom>
          <a:solidFill>
            <a:srgbClr val="1B26AE">
              <a:alpha val="7000"/>
            </a:srgbClr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365760"/>
            <a:ext cx="1600200" cy="1600200"/>
          </a:xfrm>
          <a:prstGeom prst="ellipse">
            <a:avLst/>
          </a:prstGeom>
          <a:solidFill>
            <a:srgbClr val="FF7D3B">
              <a:alpha val="8000"/>
            </a:srgbClr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349240"/>
            <a:ext cx="1097280" cy="1097280"/>
          </a:xfrm>
          <a:prstGeom prst="ellipse">
            <a:avLst/>
          </a:prstGeom>
          <a:solidFill>
            <a:srgbClr val="129CDF">
              <a:alpha val="8000"/>
            </a:srgbClr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</a:rPr>
              <a:t>PADRÕES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Onde a comunicação performa — e onde desperdiça energia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Os números mostram que o problema não é ausência de resultado, e sim distribuição errada do esforço.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182880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" y="2121408"/>
            <a:ext cx="31821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x eficiência por mês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" y="3438144"/>
            <a:ext cx="3182112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3423549"/>
            <a:ext cx="475488" cy="14595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222381"/>
            <a:ext cx="4754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" y="3465576"/>
            <a:ext cx="58521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20240" y="3160835"/>
            <a:ext cx="475488" cy="277309"/>
          </a:xfrm>
          <a:prstGeom prst="rect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2959667"/>
            <a:ext cx="4754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65376" y="3465576"/>
            <a:ext cx="58521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51760" y="2708382"/>
            <a:ext cx="475488" cy="729762"/>
          </a:xfrm>
          <a:prstGeom prst="rect">
            <a:avLst/>
          </a:prstGeom>
          <a:solidFill>
            <a:srgbClr val="129CDF"/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2507214"/>
            <a:ext cx="4754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96896" y="3465576"/>
            <a:ext cx="58521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3233811"/>
            <a:ext cx="475488" cy="204333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32643"/>
            <a:ext cx="4754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28416" y="3465576"/>
            <a:ext cx="58521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426464" y="3124604"/>
            <a:ext cx="731520" cy="-330374"/>
          </a:xfrm>
          <a:prstGeom prst="line">
            <a:avLst/>
          </a:prstGeom>
          <a:noFill/>
          <a:ln w="12700">
            <a:solidFill>
              <a:srgbClr val="FF7D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57984" y="2794230"/>
            <a:ext cx="731520" cy="373406"/>
          </a:xfrm>
          <a:prstGeom prst="line">
            <a:avLst/>
          </a:prstGeom>
          <a:noFill/>
          <a:ln w="12700">
            <a:solidFill>
              <a:srgbClr val="FF7D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89504" y="3167636"/>
            <a:ext cx="731520" cy="-397004"/>
          </a:xfrm>
          <a:prstGeom prst="line">
            <a:avLst/>
          </a:prstGeom>
          <a:noFill/>
          <a:ln w="12700">
            <a:solidFill>
              <a:srgbClr val="FF7D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0" y="3069740"/>
            <a:ext cx="109728" cy="109728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43584" y="2886860"/>
            <a:ext cx="365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103120" y="2739366"/>
            <a:ext cx="109728" cy="109728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2556486"/>
            <a:ext cx="365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39,8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34640" y="3112772"/>
            <a:ext cx="109728" cy="109728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06624" y="2929892"/>
            <a:ext cx="365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12,9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566160" y="2715768"/>
            <a:ext cx="109728" cy="109728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8144" y="2532888"/>
            <a:ext cx="365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41,5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43200" y="3694176"/>
            <a:ext cx="1371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Engajamento médio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32688" y="3511296"/>
            <a:ext cx="3154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Março concentrou 59,5% do volume e derrubou a eficiência média por post.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53712" y="182880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00600" y="2103120"/>
            <a:ext cx="3154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Engajamento médio por tema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55080" y="2423160"/>
            <a:ext cx="1417320" cy="164592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2423160"/>
            <a:ext cx="300472" cy="164592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36829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Sudoexpo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7543800" y="2363724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10,6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6355080" y="2715768"/>
            <a:ext cx="1417320" cy="164592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5080" y="2715768"/>
            <a:ext cx="651967" cy="164592"/>
          </a:xfrm>
          <a:prstGeom prst="roundRect">
            <a:avLst>
              <a:gd name="adj" fmla="val 33333"/>
            </a:avLst>
          </a:prstGeom>
          <a:solidFill>
            <a:srgbClr val="129CDF"/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2660904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Conecta/Networking</a:t>
            </a:r>
            <a:endParaRPr lang="en-US" sz="930" dirty="0"/>
          </a:p>
        </p:txBody>
      </p:sp>
      <p:sp>
        <p:nvSpPr>
          <p:cNvPr id="47" name="Text 45"/>
          <p:cNvSpPr/>
          <p:nvPr/>
        </p:nvSpPr>
        <p:spPr>
          <a:xfrm>
            <a:off x="7543800" y="2656332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29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6355080" y="3008376"/>
            <a:ext cx="1417320" cy="164592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5080" y="3008376"/>
            <a:ext cx="915589" cy="164592"/>
          </a:xfrm>
          <a:prstGeom prst="roundRect">
            <a:avLst>
              <a:gd name="adj" fmla="val 33333"/>
            </a:avLst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2953512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ACIRV Mulher</a:t>
            </a:r>
            <a:endParaRPr lang="en-US" sz="930" dirty="0"/>
          </a:p>
        </p:txBody>
      </p:sp>
      <p:sp>
        <p:nvSpPr>
          <p:cNvPr id="51" name="Text 49"/>
          <p:cNvSpPr/>
          <p:nvPr/>
        </p:nvSpPr>
        <p:spPr>
          <a:xfrm>
            <a:off x="7543800" y="2948940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B2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32,3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6355080" y="3300984"/>
            <a:ext cx="1417320" cy="164592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55080" y="3300984"/>
            <a:ext cx="1383304" cy="164592"/>
          </a:xfrm>
          <a:prstGeom prst="roundRect">
            <a:avLst>
              <a:gd name="adj" fmla="val 33333"/>
            </a:avLst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3246120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Representatividade</a:t>
            </a:r>
            <a:endParaRPr lang="en-US" sz="930" dirty="0"/>
          </a:p>
        </p:txBody>
      </p:sp>
      <p:sp>
        <p:nvSpPr>
          <p:cNvPr id="55" name="Text 53"/>
          <p:cNvSpPr/>
          <p:nvPr/>
        </p:nvSpPr>
        <p:spPr>
          <a:xfrm>
            <a:off x="7543800" y="3241548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48,8</a:t>
            </a:r>
            <a:endParaRPr lang="en-US" sz="920" dirty="0"/>
          </a:p>
        </p:txBody>
      </p:sp>
      <p:sp>
        <p:nvSpPr>
          <p:cNvPr id="56" name="Text 54"/>
          <p:cNvSpPr/>
          <p:nvPr/>
        </p:nvSpPr>
        <p:spPr>
          <a:xfrm>
            <a:off x="4828032" y="3511296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Representatividade e ACIRV Mulher valem mais por post do que Sudoexpo.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430768" y="1828800"/>
            <a:ext cx="3118104" cy="1965960"/>
          </a:xfrm>
          <a:prstGeom prst="roundRect">
            <a:avLst>
              <a:gd name="adj" fmla="val 5581"/>
            </a:avLst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686800" y="2066544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Pareto de conteúdo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686800" y="2377440"/>
            <a:ext cx="19202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 dos posts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8686800" y="2724912"/>
            <a:ext cx="2468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geram 71,2% do engajamento e 74,7% dos likes.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8686800" y="3246120"/>
            <a:ext cx="248716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Tradução: poucos padrões já estão dizendo o caminho; falta replicar o que vence e cortar o que drena energia.</a:t>
            </a:r>
            <a:endParaRPr lang="en-US" sz="1040" dirty="0"/>
          </a:p>
        </p:txBody>
      </p:sp>
      <p:sp>
        <p:nvSpPr>
          <p:cNvPr id="62" name="Shape 60"/>
          <p:cNvSpPr/>
          <p:nvPr/>
        </p:nvSpPr>
        <p:spPr>
          <a:xfrm>
            <a:off x="676656" y="4069080"/>
            <a:ext cx="10872216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914400" y="4315968"/>
            <a:ext cx="3154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78992" y="4462272"/>
            <a:ext cx="1280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Sudoexpo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078992" y="4663440"/>
            <a:ext cx="2377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posts  •  Engajamento médio: 10,6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1078992" y="4873752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Superexposição sem retorno proporcional</a:t>
            </a:r>
            <a:endParaRPr lang="en-US" sz="920" dirty="0"/>
          </a:p>
        </p:txBody>
      </p:sp>
      <p:sp>
        <p:nvSpPr>
          <p:cNvPr id="67" name="Shape 65"/>
          <p:cNvSpPr/>
          <p:nvPr/>
        </p:nvSpPr>
        <p:spPr>
          <a:xfrm>
            <a:off x="4434840" y="4315968"/>
            <a:ext cx="3154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7D3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99432" y="4462272"/>
            <a:ext cx="1280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Representatividade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599432" y="4663440"/>
            <a:ext cx="2377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posts  •  Engajamento médio: 48,8</a:t>
            </a:r>
            <a:endParaRPr lang="en-US" sz="880" dirty="0"/>
          </a:p>
        </p:txBody>
      </p:sp>
      <p:sp>
        <p:nvSpPr>
          <p:cNvPr id="70" name="Text 68"/>
          <p:cNvSpPr/>
          <p:nvPr/>
        </p:nvSpPr>
        <p:spPr>
          <a:xfrm>
            <a:off x="4599432" y="4873752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a ACIRV explica impacto, a resposta sobe</a:t>
            </a:r>
            <a:endParaRPr lang="en-US" sz="920" dirty="0"/>
          </a:p>
        </p:txBody>
      </p:sp>
      <p:sp>
        <p:nvSpPr>
          <p:cNvPr id="71" name="Shape 69"/>
          <p:cNvSpPr/>
          <p:nvPr/>
        </p:nvSpPr>
        <p:spPr>
          <a:xfrm>
            <a:off x="7955280" y="4315968"/>
            <a:ext cx="3154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B26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19872" y="4462272"/>
            <a:ext cx="1280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ACIRV Mulher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8119872" y="4663440"/>
            <a:ext cx="2377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posts  •  Engajamento médio: 32,3</a:t>
            </a:r>
            <a:endParaRPr lang="en-US" sz="880" dirty="0"/>
          </a:p>
        </p:txBody>
      </p:sp>
      <p:sp>
        <p:nvSpPr>
          <p:cNvPr id="74" name="Text 72"/>
          <p:cNvSpPr/>
          <p:nvPr/>
        </p:nvSpPr>
        <p:spPr>
          <a:xfrm>
            <a:off x="8119872" y="4873752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Ativo de comunidade e marca, não pauta periférica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9CDF">
              <a:alpha val="45000"/>
            </a:srgbClr>
          </a:solidFill>
          <a:ln w="12700">
            <a:solidFill>
              <a:srgbClr val="129CD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45720"/>
            <a:ext cx="2286000" cy="2286000"/>
          </a:xfrm>
          <a:prstGeom prst="ellipse">
            <a:avLst/>
          </a:prstGeom>
          <a:solidFill>
            <a:srgbClr val="1B26AE">
              <a:alpha val="7000"/>
            </a:srgbClr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365760"/>
            <a:ext cx="1600200" cy="1600200"/>
          </a:xfrm>
          <a:prstGeom prst="ellipse">
            <a:avLst/>
          </a:prstGeom>
          <a:solidFill>
            <a:srgbClr val="FF7D3B">
              <a:alpha val="8000"/>
            </a:srgbClr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349240"/>
            <a:ext cx="1097280" cy="1097280"/>
          </a:xfrm>
          <a:prstGeom prst="ellipse">
            <a:avLst/>
          </a:prstGeom>
          <a:solidFill>
            <a:srgbClr val="129CDF">
              <a:alpha val="8000"/>
            </a:srgbClr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</a:rPr>
              <a:t>GAP ESTRATÉGICO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 estratégia está mais madura no cofre do que no feed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 plano de 2026 e o briefing institucional pedem uma comunicação de valor. A execução pública ficou mais presa em cobertura e agenda.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1847088"/>
            <a:ext cx="5413248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029968"/>
            <a:ext cx="2286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estava desenhado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2688" y="2432304"/>
            <a:ext cx="91440" cy="91440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350008"/>
            <a:ext cx="4663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Lançar “Conectar para Crescer” como norte do ano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932688" y="3072384"/>
            <a:ext cx="91440" cy="91440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990088"/>
            <a:ext cx="4663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Ativar Quem Indica Fortalece com prova social e recorrência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32688" y="3712464"/>
            <a:ext cx="91440" cy="91440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630168"/>
            <a:ext cx="4663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cadência para benefícios, serviços e conteúdos fixos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932688" y="4352544"/>
            <a:ext cx="91440" cy="91440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270248"/>
            <a:ext cx="4663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Conecta / Café / ACIRV Mulher como ecossistema de negócios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932688" y="4992624"/>
            <a:ext cx="91440" cy="91440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10328"/>
            <a:ext cx="4663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Traduzir a ACIRV como ponte entre tradição, inovação e resultado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236208" y="1847088"/>
            <a:ext cx="5276088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73952" y="2029968"/>
            <a:ext cx="3017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apareceu com mais força no recorte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55664" y="239572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496312"/>
            <a:ext cx="13258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Sudoexpo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8046720" y="2441448"/>
            <a:ext cx="18745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Muita presença / retorno médio baixo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0" y="2606040"/>
            <a:ext cx="25603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Superrepresentada no período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455664" y="3054096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154680"/>
            <a:ext cx="13258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E1E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Representatividade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8046720" y="3099816"/>
            <a:ext cx="18745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 resposta quando aparece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46720" y="3264408"/>
            <a:ext cx="25603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Ainda subescalada em volume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6455664" y="3712464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813048"/>
            <a:ext cx="13258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E1E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ACIRV Mulher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8046720" y="3758184"/>
            <a:ext cx="18745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Forte em marca + engajamento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46720" y="3922776"/>
            <a:ext cx="25603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Ativo que merece mais tratamento de série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6455664" y="437083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471416"/>
            <a:ext cx="13258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E1E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Serviços e benefícios</a:t>
            </a:r>
            <a:endParaRPr lang="en-US" sz="970" dirty="0"/>
          </a:p>
        </p:txBody>
      </p:sp>
      <p:sp>
        <p:nvSpPr>
          <p:cNvPr id="38" name="Text 36"/>
          <p:cNvSpPr/>
          <p:nvPr/>
        </p:nvSpPr>
        <p:spPr>
          <a:xfrm>
            <a:off x="8046720" y="4416552"/>
            <a:ext cx="18745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Baixa visibilidade prática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46720" y="4581144"/>
            <a:ext cx="25603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importante, mas pouco tangibilizado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6455664" y="502920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7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5129784"/>
            <a:ext cx="13258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E1E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Campanhas / prova social</a:t>
            </a:r>
            <a:endParaRPr lang="en-US" sz="970" dirty="0"/>
          </a:p>
        </p:txBody>
      </p:sp>
      <p:sp>
        <p:nvSpPr>
          <p:cNvPr id="42" name="Text 40"/>
          <p:cNvSpPr/>
          <p:nvPr/>
        </p:nvSpPr>
        <p:spPr>
          <a:xfrm>
            <a:off x="8046720" y="5074920"/>
            <a:ext cx="18745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Baixa cadência percebida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046720" y="5239512"/>
            <a:ext cx="25603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Estratégia existe, oxigênio insuficiente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877824" y="5486400"/>
            <a:ext cx="10424160" cy="347472"/>
          </a:xfrm>
          <a:prstGeom prst="roundRect">
            <a:avLst>
              <a:gd name="adj" fmla="val 31579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78992" y="5577840"/>
            <a:ext cx="100584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Insight: o feed comunicou muito “o que aconteceu”, mas ainda pouco “por que isso muda o ambiente de negócios de Rio Verde”.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9CDF">
              <a:alpha val="45000"/>
            </a:srgbClr>
          </a:solidFill>
          <a:ln w="12700">
            <a:solidFill>
              <a:srgbClr val="129CD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45720"/>
            <a:ext cx="2286000" cy="2286000"/>
          </a:xfrm>
          <a:prstGeom prst="ellipse">
            <a:avLst/>
          </a:prstGeom>
          <a:solidFill>
            <a:srgbClr val="1B26AE">
              <a:alpha val="7000"/>
            </a:srgbClr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365760"/>
            <a:ext cx="1600200" cy="1600200"/>
          </a:xfrm>
          <a:prstGeom prst="ellipse">
            <a:avLst/>
          </a:prstGeom>
          <a:solidFill>
            <a:srgbClr val="FF7D3B">
              <a:alpha val="8000"/>
            </a:srgbClr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349240"/>
            <a:ext cx="1097280" cy="1097280"/>
          </a:xfrm>
          <a:prstGeom prst="ellipse">
            <a:avLst/>
          </a:prstGeom>
          <a:solidFill>
            <a:srgbClr val="129CDF">
              <a:alpha val="8000"/>
            </a:srgbClr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</a:rPr>
              <a:t>ARQUITETURA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Como está hoje vs como precisa funcionar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 problema central não é criativo. É de fluxo, decisão e tradução entre estratégia e execução.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856232"/>
            <a:ext cx="1828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está hoje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8096" y="2286000"/>
            <a:ext cx="19659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2688" y="2414016"/>
            <a:ext cx="1691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Estratégia no cofre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2688" y="2615184"/>
            <a:ext cx="1691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 inteligência, pouco acoplamento ao calendário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545336" y="2962656"/>
            <a:ext cx="402336" cy="109728"/>
          </a:xfrm>
          <a:prstGeom prst="chevron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108960"/>
            <a:ext cx="19659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" y="3236976"/>
            <a:ext cx="1691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Demanda difusa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" y="3438144"/>
            <a:ext cx="1691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muitos pedidos entram com a mesma urgência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1545336" y="3785616"/>
            <a:ext cx="402336" cy="109728"/>
          </a:xfrm>
          <a:prstGeom prst="chevron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3931920"/>
            <a:ext cx="19659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2688" y="4059936"/>
            <a:ext cx="1691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Produção reativa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32688" y="4261104"/>
            <a:ext cx="1691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cobertura, agenda, repetição e pouco foco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1545336" y="4608576"/>
            <a:ext cx="402336" cy="109728"/>
          </a:xfrm>
          <a:prstGeom prst="chevron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" y="4754880"/>
            <a:ext cx="19659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2688" y="4882896"/>
            <a:ext cx="1691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Aprovação fragmentada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32688" y="5084064"/>
            <a:ext cx="1691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mudanças no meio do caminho e retrabalho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1545336" y="5431536"/>
            <a:ext cx="402336" cy="109728"/>
          </a:xfrm>
          <a:prstGeom prst="chevron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" y="5577840"/>
            <a:ext cx="19659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32688" y="5705856"/>
            <a:ext cx="1691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Publicação sem loop forte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32688" y="5907024"/>
            <a:ext cx="1691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baixo aprendizado sobre o que funciona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3182112" y="2505456"/>
            <a:ext cx="1691640" cy="2615184"/>
          </a:xfrm>
          <a:prstGeom prst="roundRect">
            <a:avLst>
              <a:gd name="adj" fmla="val 6486"/>
            </a:avLst>
          </a:prstGeom>
          <a:solidFill>
            <a:srgbClr val="FFF7D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502152" y="276148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Gargalos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401568" y="3154680"/>
            <a:ext cx="91440" cy="9144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063240"/>
            <a:ext cx="960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&gt; prova de valor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01568" y="3575304"/>
            <a:ext cx="91440" cy="9144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0" y="3483864"/>
            <a:ext cx="960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Muita troca de contexto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01568" y="3995928"/>
            <a:ext cx="91440" cy="9144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3904488"/>
            <a:ext cx="960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Papel largo demais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01568" y="4416552"/>
            <a:ext cx="91440" cy="9144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4325112"/>
            <a:ext cx="960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Baixa hierarquia de pauta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0" y="1856232"/>
            <a:ext cx="2286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precisa ser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193792" y="2286000"/>
            <a:ext cx="2240280" cy="658368"/>
          </a:xfrm>
          <a:prstGeom prst="roundRect">
            <a:avLst>
              <a:gd name="adj" fmla="val 16667"/>
            </a:avLst>
          </a:prstGeom>
          <a:solidFill>
            <a:srgbClr val="F8FBFF"/>
          </a:solidFill>
          <a:ln w="12700">
            <a:solidFill>
              <a:srgbClr val="D7E7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358384" y="2414016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E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Posicionamento institucional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358384" y="2615184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missão + tom + promessa editorial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062472" y="2962656"/>
            <a:ext cx="402336" cy="109728"/>
          </a:xfrm>
          <a:prstGeom prst="chevron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93792" y="3108960"/>
            <a:ext cx="2240280" cy="658368"/>
          </a:xfrm>
          <a:prstGeom prst="roundRect">
            <a:avLst>
              <a:gd name="adj" fmla="val 16667"/>
            </a:avLst>
          </a:prstGeom>
          <a:solidFill>
            <a:srgbClr val="F8FBFF"/>
          </a:solidFill>
          <a:ln w="12700">
            <a:solidFill>
              <a:srgbClr val="D7E7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358384" y="3236976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E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pilares editoriais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358384" y="3438144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entra, com qual objetivo e formato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6062472" y="3785616"/>
            <a:ext cx="402336" cy="109728"/>
          </a:xfrm>
          <a:prstGeom prst="chevron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93792" y="3931920"/>
            <a:ext cx="2240280" cy="658368"/>
          </a:xfrm>
          <a:prstGeom prst="roundRect">
            <a:avLst>
              <a:gd name="adj" fmla="val 16667"/>
            </a:avLst>
          </a:prstGeom>
          <a:solidFill>
            <a:srgbClr val="F8FBFF"/>
          </a:solidFill>
          <a:ln w="12700">
            <a:solidFill>
              <a:srgbClr val="D7E7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358384" y="4059936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E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Triagem e prioridade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358384" y="4261104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urgente real, urgente percebido e backlog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6062472" y="4608576"/>
            <a:ext cx="402336" cy="109728"/>
          </a:xfrm>
          <a:prstGeom prst="chevron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93792" y="4754880"/>
            <a:ext cx="2240280" cy="658368"/>
          </a:xfrm>
          <a:prstGeom prst="roundRect">
            <a:avLst>
              <a:gd name="adj" fmla="val 16667"/>
            </a:avLst>
          </a:prstGeom>
          <a:solidFill>
            <a:srgbClr val="F8FBFF"/>
          </a:solidFill>
          <a:ln w="12700">
            <a:solidFill>
              <a:srgbClr val="D7E7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358384" y="4882896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E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Produção por blocos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358384" y="5084064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profundo + operação agrupada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6062472" y="5431536"/>
            <a:ext cx="402336" cy="109728"/>
          </a:xfrm>
          <a:prstGeom prst="chevron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193792" y="5577840"/>
            <a:ext cx="2240280" cy="658368"/>
          </a:xfrm>
          <a:prstGeom prst="roundRect">
            <a:avLst>
              <a:gd name="adj" fmla="val 16667"/>
            </a:avLst>
          </a:prstGeom>
          <a:solidFill>
            <a:srgbClr val="F8FBFF"/>
          </a:solidFill>
          <a:ln w="12700">
            <a:solidFill>
              <a:srgbClr val="D7E7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358384" y="5705856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E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de performance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358384" y="5907024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 viram aprendizado e replicação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7717536" y="2505456"/>
            <a:ext cx="3255264" cy="2615184"/>
          </a:xfrm>
          <a:prstGeom prst="roundRect">
            <a:avLst>
              <a:gd name="adj" fmla="val 4196"/>
            </a:avLst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991856" y="2761488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F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esperado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8010144" y="3154680"/>
            <a:ext cx="91440" cy="91440"/>
          </a:xfrm>
          <a:prstGeom prst="ellipse">
            <a:avLst/>
          </a:prstGeom>
          <a:solidFill>
            <a:srgbClr val="8BEC01"/>
          </a:solidFill>
          <a:ln w="12700">
            <a:solidFill>
              <a:srgbClr val="8BEC01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83880" y="3063240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volume vazio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010144" y="3538728"/>
            <a:ext cx="91440" cy="91440"/>
          </a:xfrm>
          <a:prstGeom prst="ellipse">
            <a:avLst/>
          </a:prstGeom>
          <a:solidFill>
            <a:srgbClr val="8BEC01"/>
          </a:solidFill>
          <a:ln w="12700">
            <a:solidFill>
              <a:srgbClr val="8BEC01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83880" y="3447288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carrossel e reels certos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010144" y="3922776"/>
            <a:ext cx="91440" cy="91440"/>
          </a:xfrm>
          <a:prstGeom prst="ellipse">
            <a:avLst/>
          </a:prstGeom>
          <a:solidFill>
            <a:srgbClr val="8BEC01"/>
          </a:solidFill>
          <a:ln w="12700">
            <a:solidFill>
              <a:srgbClr val="8BEC01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183880" y="3831336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temas de valor institucional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010144" y="4306824"/>
            <a:ext cx="91440" cy="91440"/>
          </a:xfrm>
          <a:prstGeom prst="ellipse">
            <a:avLst/>
          </a:prstGeom>
          <a:solidFill>
            <a:srgbClr val="8BEC01"/>
          </a:solidFill>
          <a:ln w="12700">
            <a:solidFill>
              <a:srgbClr val="8BEC01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183880" y="4215384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retrabalho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010144" y="4690872"/>
            <a:ext cx="91440" cy="91440"/>
          </a:xfrm>
          <a:prstGeom prst="ellipse">
            <a:avLst/>
          </a:prstGeom>
          <a:solidFill>
            <a:srgbClr val="8BEC01"/>
          </a:solidFill>
          <a:ln w="12700">
            <a:solidFill>
              <a:srgbClr val="8BEC01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183880" y="459943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constância com inteligência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9CDF">
              <a:alpha val="45000"/>
            </a:srgbClr>
          </a:solidFill>
          <a:ln w="12700">
            <a:solidFill>
              <a:srgbClr val="129CD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45720"/>
            <a:ext cx="2286000" cy="2286000"/>
          </a:xfrm>
          <a:prstGeom prst="ellipse">
            <a:avLst/>
          </a:prstGeom>
          <a:solidFill>
            <a:srgbClr val="1B26AE">
              <a:alpha val="7000"/>
            </a:srgbClr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365760"/>
            <a:ext cx="1600200" cy="1600200"/>
          </a:xfrm>
          <a:prstGeom prst="ellipse">
            <a:avLst/>
          </a:prstGeom>
          <a:solidFill>
            <a:srgbClr val="FF7D3B">
              <a:alpha val="8000"/>
            </a:srgbClr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349240"/>
            <a:ext cx="1097280" cy="1097280"/>
          </a:xfrm>
          <a:prstGeom prst="ellipse">
            <a:avLst/>
          </a:prstGeom>
          <a:solidFill>
            <a:srgbClr val="129CDF">
              <a:alpha val="8000"/>
            </a:srgbClr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</a:rPr>
              <a:t>LACUNAS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O que falta hoje na ACIRV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Não falta tema. Não falta legitimidade. Falta uma máquina que transforme esses ativos em cadência pública de valor.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1975104"/>
            <a:ext cx="501091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975104"/>
            <a:ext cx="82296" cy="1508760"/>
          </a:xfrm>
          <a:prstGeom prst="rect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157984"/>
            <a:ext cx="3108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editorial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87552" y="2450592"/>
            <a:ext cx="4480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Pilares fixos, taxonomia, calendário com hierarquia e propósito claro por post.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382512" y="1975104"/>
            <a:ext cx="501091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82512" y="1975104"/>
            <a:ext cx="82296" cy="1508760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157984"/>
            <a:ext cx="3108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 de prioridade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2450592"/>
            <a:ext cx="4480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 para decidir o que entra, o que espera e o que não deveria interromper o fluxo.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86384" y="3803904"/>
            <a:ext cx="501091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86384" y="3803904"/>
            <a:ext cx="82296" cy="1508760"/>
          </a:xfrm>
          <a:prstGeom prst="rect">
            <a:avLst/>
          </a:prstGeom>
          <a:solidFill>
            <a:srgbClr val="129CDF"/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986784"/>
            <a:ext cx="3108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Prova de valor recorrente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87552" y="4279392"/>
            <a:ext cx="4480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Séries que mostrem serviço, representatividade, benefício real e consequência para o associado.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382512" y="3803904"/>
            <a:ext cx="501091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82512" y="3803904"/>
            <a:ext cx="82296" cy="15087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986784"/>
            <a:ext cx="3108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Clareza de função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83680" y="4279392"/>
            <a:ext cx="4480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melhor criação profunda, operação e urgência para não diluir o trabalho mais valioso.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877824" y="5742432"/>
            <a:ext cx="10241280" cy="347472"/>
          </a:xfrm>
          <a:prstGeom prst="roundRect">
            <a:avLst>
              <a:gd name="adj" fmla="val 31579"/>
            </a:avLst>
          </a:prstGeom>
          <a:solidFill>
            <a:srgbClr val="F3FDE1"/>
          </a:solidFill>
          <a:ln w="12700">
            <a:solidFill>
              <a:srgbClr val="F3FD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5833872"/>
            <a:ext cx="996696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 para a diretoria: a ACIRV precisa menos de “mais conteúdo” e mais de inteligência operacional de comunicação.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9CDF">
              <a:alpha val="45000"/>
            </a:srgbClr>
          </a:solidFill>
          <a:ln w="12700">
            <a:solidFill>
              <a:srgbClr val="129CD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45720"/>
            <a:ext cx="2286000" cy="2286000"/>
          </a:xfrm>
          <a:prstGeom prst="ellipse">
            <a:avLst/>
          </a:prstGeom>
          <a:solidFill>
            <a:srgbClr val="1B26AE">
              <a:alpha val="7000"/>
            </a:srgbClr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365760"/>
            <a:ext cx="1600200" cy="1600200"/>
          </a:xfrm>
          <a:prstGeom prst="ellipse">
            <a:avLst/>
          </a:prstGeom>
          <a:solidFill>
            <a:srgbClr val="FF7D3B">
              <a:alpha val="8000"/>
            </a:srgbClr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349240"/>
            <a:ext cx="1097280" cy="1097280"/>
          </a:xfrm>
          <a:prstGeom prst="ellipse">
            <a:avLst/>
          </a:prstGeom>
          <a:solidFill>
            <a:srgbClr val="129CDF">
              <a:alpha val="8000"/>
            </a:srgbClr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</a:rPr>
              <a:t>MICRO / KEVYN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Leitura de função: onde o sistema drena energia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Esta é uma leitura de desenho do trabalho e uso do tempo — não uma avaliação clínica.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883664"/>
            <a:ext cx="3703320" cy="39319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87552" y="2103120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do uso do tempo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87552" y="2578608"/>
            <a:ext cx="1419606" cy="292608"/>
          </a:xfrm>
          <a:prstGeom prst="roundRect">
            <a:avLst>
              <a:gd name="adj" fmla="val 18750"/>
            </a:avLst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660904"/>
            <a:ext cx="141960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07158" y="2578608"/>
            <a:ext cx="788670" cy="292608"/>
          </a:xfrm>
          <a:prstGeom prst="roundRect">
            <a:avLst>
              <a:gd name="adj" fmla="val 18750"/>
            </a:avLst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7158" y="2660904"/>
            <a:ext cx="78867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95828" y="2578608"/>
            <a:ext cx="630936" cy="292608"/>
          </a:xfrm>
          <a:prstGeom prst="roundRect">
            <a:avLst>
              <a:gd name="adj" fmla="val 18750"/>
            </a:avLst>
          </a:prstGeom>
          <a:solidFill>
            <a:srgbClr val="129CDF"/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95828" y="2660904"/>
            <a:ext cx="6309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26764" y="2578608"/>
            <a:ext cx="315468" cy="292608"/>
          </a:xfrm>
          <a:prstGeom prst="roundRect">
            <a:avLst>
              <a:gd name="adj" fmla="val 18750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6764" y="2660904"/>
            <a:ext cx="31546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05840" y="3127248"/>
            <a:ext cx="82296" cy="82296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61288" y="3044952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Trabalho útil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5840" y="3493008"/>
            <a:ext cx="82296" cy="82296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1288" y="3410712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Troca de contexto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05840" y="3858768"/>
            <a:ext cx="82296" cy="82296"/>
          </a:xfrm>
          <a:prstGeom prst="ellipse">
            <a:avLst/>
          </a:prstGeom>
          <a:solidFill>
            <a:srgbClr val="129CDF"/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1288" y="3776472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Demandas inesperadas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05840" y="4224528"/>
            <a:ext cx="82296" cy="8229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1288" y="4142232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 pausas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9264" y="4754880"/>
            <a:ext cx="3255264" cy="694944"/>
          </a:xfrm>
          <a:prstGeom prst="roundRect">
            <a:avLst>
              <a:gd name="adj" fmla="val 15789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" y="4910328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Mensagem-chave: o desempenho aparente está comprimido por fragmentação, interrupção e mudança constante de modo cognitivo.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81728" y="1883664"/>
            <a:ext cx="2926080" cy="39319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19472" y="2103120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profissional, três modos de trabalho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956048" y="2523744"/>
            <a:ext cx="2340864" cy="676656"/>
          </a:xfrm>
          <a:prstGeom prst="roundRect">
            <a:avLst>
              <a:gd name="adj" fmla="val 10811"/>
            </a:avLst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2670048"/>
            <a:ext cx="8229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Criativo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52160" y="2651760"/>
            <a:ext cx="1280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carrossel, narrativa, vídeo, campanha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4956048" y="3456432"/>
            <a:ext cx="2340864" cy="676656"/>
          </a:xfrm>
          <a:prstGeom prst="roundRect">
            <a:avLst>
              <a:gd name="adj" fmla="val 10811"/>
            </a:avLst>
          </a:prstGeom>
          <a:solidFill>
            <a:srgbClr val="FFF1E8"/>
          </a:solidFill>
          <a:ln w="12700">
            <a:solidFill>
              <a:srgbClr val="FFF1E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38928" y="3602736"/>
            <a:ext cx="8229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Operacional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52160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publicação, ajustes, arquivos, envio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4956048" y="4389120"/>
            <a:ext cx="2340864" cy="676656"/>
          </a:xfrm>
          <a:prstGeom prst="roundRect">
            <a:avLst>
              <a:gd name="adj" fmla="val 10811"/>
            </a:avLst>
          </a:prstGeom>
          <a:solidFill>
            <a:srgbClr val="F3FDE1"/>
          </a:solidFill>
          <a:ln w="12700">
            <a:solidFill>
              <a:srgbClr val="F3FDE1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38928" y="4535424"/>
            <a:ext cx="8229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Estratégico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852160" y="4517136"/>
            <a:ext cx="1280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relatório, planejamento, leitura de cenário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4937760" y="5394960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Misturar os três sem proteção de foco aumenta tempo de ciclo, retrabalho e sensação de atraso permanente.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7827264" y="1883664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083296" y="2121408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F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 sobre função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083296" y="2523744"/>
            <a:ext cx="2834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Kevyn parece render mais quando precisa traduzir valor, organizar sentido e construir narrativa.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101584" y="3383280"/>
            <a:ext cx="91440" cy="9144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84464" y="3291840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Microdemanda dispersa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101584" y="3767328"/>
            <a:ext cx="91440" cy="9144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84464" y="3675888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repetitiva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01584" y="4151376"/>
            <a:ext cx="91440" cy="9144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84464" y="4059936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Urgência sem filtro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101584" y="4535424"/>
            <a:ext cx="91440" cy="9144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84464" y="4443984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Troca de contexto contínua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083296" y="5065776"/>
            <a:ext cx="2880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Tradução executiva: há indícios de encaixe melhor com papel de tradutor estratégico do que com absorvedor total da operação.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9CDF">
              <a:alpha val="45000"/>
            </a:srgbClr>
          </a:solidFill>
          <a:ln w="12700">
            <a:solidFill>
              <a:srgbClr val="129CD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45720"/>
            <a:ext cx="2286000" cy="2286000"/>
          </a:xfrm>
          <a:prstGeom prst="ellipse">
            <a:avLst/>
          </a:prstGeom>
          <a:solidFill>
            <a:srgbClr val="1B26AE">
              <a:alpha val="7000"/>
            </a:srgbClr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365760"/>
            <a:ext cx="1600200" cy="1600200"/>
          </a:xfrm>
          <a:prstGeom prst="ellipse">
            <a:avLst/>
          </a:prstGeom>
          <a:solidFill>
            <a:srgbClr val="FF7D3B">
              <a:alpha val="8000"/>
            </a:srgbClr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349240"/>
            <a:ext cx="1097280" cy="1097280"/>
          </a:xfrm>
          <a:prstGeom prst="ellipse">
            <a:avLst/>
          </a:prstGeom>
          <a:solidFill>
            <a:srgbClr val="129CDF">
              <a:alpha val="8000"/>
            </a:srgbClr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</a:rPr>
              <a:t>MICRO / KEVYN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Potencial melhor aproveitado vs uso atual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 ideia aqui não é personalizar o problema, e sim mostrar como o papel pode capturar mais valor com menos desgaste.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1828800"/>
            <a:ext cx="5230368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24128" y="2048256"/>
            <a:ext cx="2377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Onde ele parece gerar mais valor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51560" y="2487168"/>
            <a:ext cx="91440" cy="91440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386584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Carrosséis estratégicos e peças com densidade narrativa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1051560" y="3099816"/>
            <a:ext cx="91440" cy="91440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2999232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 eventos em tese, prova de valor e consequência para o associado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1051560" y="3712464"/>
            <a:ext cx="91440" cy="91440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611880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Relatórios executivos, leitura de métricas e síntese para diretoria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1051560" y="4325112"/>
            <a:ext cx="91440" cy="91440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5296" y="4224528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Campanhas com recorrência, tom institucional e inteligência de marca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1051560" y="4937760"/>
            <a:ext cx="91440" cy="91440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4837176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Tradução do “macro ACIRV” em linguagem pública clara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6163056" y="1828800"/>
            <a:ext cx="5230368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0" y="2048256"/>
            <a:ext cx="2926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Onde o sistema mais consome esse potencial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19088" y="2487168"/>
            <a:ext cx="91440" cy="9144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92824" y="2386584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e agenda sem aprofundamento suficiente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6419088" y="3099816"/>
            <a:ext cx="91440" cy="9144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92824" y="2999232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Publicação / ajuste / envio / arquivo misturados ao trabalho criativo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6419088" y="3712464"/>
            <a:ext cx="91440" cy="9144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3611880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Interrupções frequentes e demandas chegando no meio da execução</a:t>
            </a:r>
            <a:endParaRPr lang="en-US" sz="1110" dirty="0"/>
          </a:p>
        </p:txBody>
      </p:sp>
      <p:sp>
        <p:nvSpPr>
          <p:cNvPr id="30" name="Shape 28"/>
          <p:cNvSpPr/>
          <p:nvPr/>
        </p:nvSpPr>
        <p:spPr>
          <a:xfrm>
            <a:off x="6419088" y="4325112"/>
            <a:ext cx="91440" cy="9144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92824" y="4224528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Pouca proteção de foco para tarefas que exigem raciocínio profundo</a:t>
            </a:r>
            <a:endParaRPr lang="en-US" sz="1110" dirty="0"/>
          </a:p>
        </p:txBody>
      </p:sp>
      <p:sp>
        <p:nvSpPr>
          <p:cNvPr id="32" name="Shape 30"/>
          <p:cNvSpPr/>
          <p:nvPr/>
        </p:nvSpPr>
        <p:spPr>
          <a:xfrm>
            <a:off x="6419088" y="4937760"/>
            <a:ext cx="91440" cy="91440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92824" y="4837176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medido mais por “dar conta do dia” do que por aumentar inteligência do sistema</a:t>
            </a:r>
            <a:endParaRPr lang="en-US" sz="1110" dirty="0"/>
          </a:p>
        </p:txBody>
      </p:sp>
      <p:sp>
        <p:nvSpPr>
          <p:cNvPr id="34" name="Shape 32"/>
          <p:cNvSpPr/>
          <p:nvPr/>
        </p:nvSpPr>
        <p:spPr>
          <a:xfrm>
            <a:off x="5440680" y="3584448"/>
            <a:ext cx="347472" cy="219456"/>
          </a:xfrm>
          <a:prstGeom prst="chevron">
            <a:avLst/>
          </a:prstGeom>
          <a:solidFill>
            <a:srgbClr val="129CDF"/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0" y="5559552"/>
            <a:ext cx="8503920" cy="384048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29968" y="5660136"/>
            <a:ext cx="81381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E1E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final: o melhor uso do Kevyn parece estar menos em “segurar toda a máquina” e mais em estruturar a máquina para comunicar o verdadeiro valor da ACIRV.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9CDF">
              <a:alpha val="45000"/>
            </a:srgbClr>
          </a:solidFill>
          <a:ln w="12700">
            <a:solidFill>
              <a:srgbClr val="129CD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45720"/>
            <a:ext cx="2286000" cy="2286000"/>
          </a:xfrm>
          <a:prstGeom prst="ellipse">
            <a:avLst/>
          </a:prstGeom>
          <a:solidFill>
            <a:srgbClr val="1B26AE">
              <a:alpha val="7000"/>
            </a:srgbClr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365760"/>
            <a:ext cx="1600200" cy="1600200"/>
          </a:xfrm>
          <a:prstGeom prst="ellipse">
            <a:avLst/>
          </a:prstGeom>
          <a:solidFill>
            <a:srgbClr val="FF7D3B">
              <a:alpha val="8000"/>
            </a:srgbClr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349240"/>
            <a:ext cx="1097280" cy="1097280"/>
          </a:xfrm>
          <a:prstGeom prst="ellipse">
            <a:avLst/>
          </a:prstGeom>
          <a:solidFill>
            <a:srgbClr val="129CDF">
              <a:alpha val="8000"/>
            </a:srgbClr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</a:rPr>
              <a:t>SOLUÇÃO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Novo modelo editorial: 5 pilares e o formato certo para cada um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 proposta não é só trocar pauta. É trocar arquitetura de decisão, frequência e formato.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965960"/>
            <a:ext cx="2084832" cy="363931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2121408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542032"/>
            <a:ext cx="175564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B2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Representatividade que gera consequência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877824" y="3127248"/>
            <a:ext cx="1755648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Infraestrutura, articulação, visitas institucionais, defesa do setor produtivo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41248" y="4773168"/>
            <a:ext cx="1828800" cy="512064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928616"/>
            <a:ext cx="16824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Carrossel + Reel com fala forte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990088" y="1965960"/>
            <a:ext cx="2084832" cy="363931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18104" y="2121408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129CDF"/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2542032"/>
            <a:ext cx="175564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29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Conexões que viram negócio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3154680" y="3127248"/>
            <a:ext cx="1755648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Conecta, Café, ExpoRioVerde, Sudoexpo com recorte de oportunidade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118104" y="4773168"/>
            <a:ext cx="1828800" cy="512064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91256" y="4928616"/>
            <a:ext cx="16824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Reel + Carrossel de caso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266944" y="1965960"/>
            <a:ext cx="2084832" cy="363931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94960" y="2121408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2542032"/>
            <a:ext cx="175564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Lideranças e comunidade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5431536" y="3127248"/>
            <a:ext cx="1755648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ACIRV Mulher, associados, diretoria, histórias reais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394960" y="4773168"/>
            <a:ext cx="1828800" cy="512064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68112" y="4928616"/>
            <a:ext cx="16824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Carrossel + depoimento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543800" y="1965960"/>
            <a:ext cx="2084832" cy="363931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71816" y="2121408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3F6212"/>
          </a:solidFill>
          <a:ln w="12700">
            <a:solidFill>
              <a:srgbClr val="3F621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08392" y="2542032"/>
            <a:ext cx="175564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Serviços que resolvem</a:t>
            </a:r>
            <a:endParaRPr lang="en-US" sz="1230" dirty="0"/>
          </a:p>
        </p:txBody>
      </p:sp>
      <p:sp>
        <p:nvSpPr>
          <p:cNvPr id="31" name="Text 29"/>
          <p:cNvSpPr/>
          <p:nvPr/>
        </p:nvSpPr>
        <p:spPr>
          <a:xfrm>
            <a:off x="7708392" y="3127248"/>
            <a:ext cx="1755648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Certificado, crédito, CAM, auditório, benefícios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7671816" y="4773168"/>
            <a:ext cx="1828800" cy="512064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44968" y="4928616"/>
            <a:ext cx="16824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Carrossel problema-solução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820656" y="1965960"/>
            <a:ext cx="2084832" cy="363931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948672" y="2121408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9A6700"/>
          </a:solidFill>
          <a:ln w="12700">
            <a:solidFill>
              <a:srgbClr val="9A67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85248" y="2542032"/>
            <a:ext cx="175564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9A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Campanhas e prova social</a:t>
            </a:r>
            <a:endParaRPr lang="en-US" sz="1230" dirty="0"/>
          </a:p>
        </p:txBody>
      </p:sp>
      <p:sp>
        <p:nvSpPr>
          <p:cNvPr id="37" name="Text 35"/>
          <p:cNvSpPr/>
          <p:nvPr/>
        </p:nvSpPr>
        <p:spPr>
          <a:xfrm>
            <a:off x="9985248" y="3127248"/>
            <a:ext cx="1755648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Quem Indica, cases, reconhecimento, depoimentos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9948672" y="4773168"/>
            <a:ext cx="1828800" cy="512064"/>
          </a:xfrm>
          <a:prstGeom prst="roundRect">
            <a:avLst>
              <a:gd name="adj" fmla="val 2142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21824" y="4928616"/>
            <a:ext cx="16824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Série sequencial, não post isolado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896112" y="5852160"/>
            <a:ext cx="10287000" cy="310896"/>
          </a:xfrm>
          <a:prstGeom prst="roundRect">
            <a:avLst>
              <a:gd name="adj" fmla="val 35294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42416" y="5943600"/>
            <a:ext cx="100126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prática: reduzir Feed, concentrar energia em Carrossel e usar Reel como porta de entrada, cobertura dinâmica e prova social.</a:t>
            </a:r>
            <a:endParaRPr lang="en-US" sz="1010" dirty="0"/>
          </a:p>
        </p:txBody>
      </p:sp>
      <p:sp>
        <p:nvSpPr>
          <p:cNvPr id="42" name="Text 40"/>
          <p:cNvSpPr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9CDF">
              <a:alpha val="45000"/>
            </a:srgbClr>
          </a:solidFill>
          <a:ln w="12700">
            <a:solidFill>
              <a:srgbClr val="129CD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45720"/>
            <a:ext cx="2286000" cy="2286000"/>
          </a:xfrm>
          <a:prstGeom prst="ellipse">
            <a:avLst/>
          </a:prstGeom>
          <a:solidFill>
            <a:srgbClr val="1B26AE">
              <a:alpha val="7000"/>
            </a:srgbClr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365760"/>
            <a:ext cx="1600200" cy="1600200"/>
          </a:xfrm>
          <a:prstGeom prst="ellipse">
            <a:avLst/>
          </a:prstGeom>
          <a:solidFill>
            <a:srgbClr val="FF7D3B">
              <a:alpha val="8000"/>
            </a:srgbClr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349240"/>
            <a:ext cx="1097280" cy="1097280"/>
          </a:xfrm>
          <a:prstGeom prst="ellipse">
            <a:avLst/>
          </a:prstGeom>
          <a:solidFill>
            <a:srgbClr val="129CDF">
              <a:alpha val="8000"/>
            </a:srgbClr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</a:rPr>
              <a:t>GOVERNANÇA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Como precisa funcionar na semana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 mudança precisa aparecer na rotina, não só no PowerPoint.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938528"/>
            <a:ext cx="2011680" cy="354787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77824" y="2084832"/>
            <a:ext cx="1755648" cy="310896"/>
          </a:xfrm>
          <a:prstGeom prst="roundRect">
            <a:avLst>
              <a:gd name="adj" fmla="val 23529"/>
            </a:avLst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185416"/>
            <a:ext cx="29260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43584" y="2139696"/>
            <a:ext cx="1325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Prioridade e pauta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932688" y="2651760"/>
            <a:ext cx="73152" cy="73152"/>
          </a:xfrm>
          <a:prstGeom prst="ellipse">
            <a:avLst/>
          </a:prstGeom>
          <a:solidFill>
            <a:srgbClr val="0E1EB2"/>
          </a:solidFill>
          <a:ln w="12700">
            <a:solidFill>
              <a:srgbClr val="0E1EB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2578608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triagem da semana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2688" y="3273552"/>
            <a:ext cx="73152" cy="73152"/>
          </a:xfrm>
          <a:prstGeom prst="ellipse">
            <a:avLst/>
          </a:prstGeom>
          <a:solidFill>
            <a:srgbClr val="0E1EB2"/>
          </a:solidFill>
          <a:ln w="12700">
            <a:solidFill>
              <a:srgbClr val="0E1EB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3200400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briefs aprovados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32688" y="3895344"/>
            <a:ext cx="73152" cy="73152"/>
          </a:xfrm>
          <a:prstGeom prst="ellipse">
            <a:avLst/>
          </a:prstGeom>
          <a:solidFill>
            <a:srgbClr val="0E1EB2"/>
          </a:solidFill>
          <a:ln w="12700">
            <a:solidFill>
              <a:srgbClr val="0E1EB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3822192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 definido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35808" y="1938528"/>
            <a:ext cx="2011680" cy="354787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63824" y="2084832"/>
            <a:ext cx="1755648" cy="310896"/>
          </a:xfrm>
          <a:prstGeom prst="roundRect">
            <a:avLst>
              <a:gd name="adj" fmla="val 23529"/>
            </a:avLst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82112" y="2185416"/>
            <a:ext cx="29260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9584" y="2139696"/>
            <a:ext cx="1325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Produção profunda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3218688" y="2651760"/>
            <a:ext cx="73152" cy="73152"/>
          </a:xfrm>
          <a:prstGeom prst="ellipse">
            <a:avLst/>
          </a:prstGeom>
          <a:solidFill>
            <a:srgbClr val="0E1EB2"/>
          </a:solidFill>
          <a:ln w="12700">
            <a:solidFill>
              <a:srgbClr val="0E1EB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2578608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carrosséis estratégicos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18688" y="3273552"/>
            <a:ext cx="73152" cy="73152"/>
          </a:xfrm>
          <a:prstGeom prst="ellipse">
            <a:avLst/>
          </a:prstGeom>
          <a:solidFill>
            <a:srgbClr val="0E1EB2"/>
          </a:solidFill>
          <a:ln w="12700">
            <a:solidFill>
              <a:srgbClr val="0E1EB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46704" y="3200400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séries de serviços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18688" y="3895344"/>
            <a:ext cx="73152" cy="73152"/>
          </a:xfrm>
          <a:prstGeom prst="ellipse">
            <a:avLst/>
          </a:prstGeom>
          <a:solidFill>
            <a:srgbClr val="0E1EB2"/>
          </a:solidFill>
          <a:ln w="12700">
            <a:solidFill>
              <a:srgbClr val="0E1EB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46704" y="3822192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roteiro de reels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21808" y="1938528"/>
            <a:ext cx="2011680" cy="354787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49824" y="2084832"/>
            <a:ext cx="1755648" cy="310896"/>
          </a:xfrm>
          <a:prstGeom prst="roundRect">
            <a:avLst>
              <a:gd name="adj" fmla="val 23529"/>
            </a:avLst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8112" y="2185416"/>
            <a:ext cx="29260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15584" y="2139696"/>
            <a:ext cx="1325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Produção profunda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5504688" y="2651760"/>
            <a:ext cx="73152" cy="73152"/>
          </a:xfrm>
          <a:prstGeom prst="ellipse">
            <a:avLst/>
          </a:prstGeom>
          <a:solidFill>
            <a:srgbClr val="0E1EB2"/>
          </a:solidFill>
          <a:ln w="12700">
            <a:solidFill>
              <a:srgbClr val="0E1EB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32704" y="2578608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campanhas / relatórios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04688" y="3273552"/>
            <a:ext cx="73152" cy="73152"/>
          </a:xfrm>
          <a:prstGeom prst="ellipse">
            <a:avLst/>
          </a:prstGeom>
          <a:solidFill>
            <a:srgbClr val="0E1EB2"/>
          </a:solidFill>
          <a:ln w="12700">
            <a:solidFill>
              <a:srgbClr val="0E1EB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32704" y="3200400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peças institucionais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04688" y="3895344"/>
            <a:ext cx="73152" cy="73152"/>
          </a:xfrm>
          <a:prstGeom prst="ellipse">
            <a:avLst/>
          </a:prstGeom>
          <a:solidFill>
            <a:srgbClr val="0E1EB2"/>
          </a:solidFill>
          <a:ln w="12700">
            <a:solidFill>
              <a:srgbClr val="0E1EB2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32704" y="3822192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 concentrados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607808" y="1938528"/>
            <a:ext cx="2011680" cy="354787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735824" y="2084832"/>
            <a:ext cx="1755648" cy="310896"/>
          </a:xfrm>
          <a:prstGeom prst="roundRect">
            <a:avLst>
              <a:gd name="adj" fmla="val 23529"/>
            </a:avLst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54112" y="2185416"/>
            <a:ext cx="29260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101584" y="2139696"/>
            <a:ext cx="1325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/ dinâmica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7790688" y="2651760"/>
            <a:ext cx="73152" cy="73152"/>
          </a:xfrm>
          <a:prstGeom prst="ellipse">
            <a:avLst/>
          </a:prstGeom>
          <a:solidFill>
            <a:srgbClr val="0E1EB2"/>
          </a:solidFill>
          <a:ln w="12700">
            <a:solidFill>
              <a:srgbClr val="0E1EB2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18704" y="2578608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/ bastidores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790688" y="3273552"/>
            <a:ext cx="73152" cy="73152"/>
          </a:xfrm>
          <a:prstGeom prst="ellipse">
            <a:avLst/>
          </a:prstGeom>
          <a:solidFill>
            <a:srgbClr val="0E1EB2"/>
          </a:solidFill>
          <a:ln w="12700">
            <a:solidFill>
              <a:srgbClr val="0E1EB2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18704" y="3200400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captação curta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790688" y="3895344"/>
            <a:ext cx="73152" cy="73152"/>
          </a:xfrm>
          <a:prstGeom prst="ellipse">
            <a:avLst/>
          </a:prstGeom>
          <a:solidFill>
            <a:srgbClr val="0E1EB2"/>
          </a:solidFill>
          <a:ln w="12700">
            <a:solidFill>
              <a:srgbClr val="0E1EB2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18704" y="3822192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publicação dinâmica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893808" y="1938528"/>
            <a:ext cx="2011680" cy="354787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0021824" y="2084832"/>
            <a:ext cx="1755648" cy="310896"/>
          </a:xfrm>
          <a:prstGeom prst="roundRect">
            <a:avLst>
              <a:gd name="adj" fmla="val 23529"/>
            </a:avLst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40112" y="2185416"/>
            <a:ext cx="29260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Sex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387584" y="2139696"/>
            <a:ext cx="1325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e ajuste</a:t>
            </a:r>
            <a:endParaRPr lang="en-US" sz="1030" dirty="0"/>
          </a:p>
        </p:txBody>
      </p:sp>
      <p:sp>
        <p:nvSpPr>
          <p:cNvPr id="54" name="Shape 52"/>
          <p:cNvSpPr/>
          <p:nvPr/>
        </p:nvSpPr>
        <p:spPr>
          <a:xfrm>
            <a:off x="10076688" y="2651760"/>
            <a:ext cx="73152" cy="73152"/>
          </a:xfrm>
          <a:prstGeom prst="ellipse">
            <a:avLst/>
          </a:prstGeom>
          <a:solidFill>
            <a:srgbClr val="0E1EB2"/>
          </a:solidFill>
          <a:ln w="12700">
            <a:solidFill>
              <a:srgbClr val="0E1EB2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204704" y="2578608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076688" y="3273552"/>
            <a:ext cx="73152" cy="73152"/>
          </a:xfrm>
          <a:prstGeom prst="ellipse">
            <a:avLst/>
          </a:prstGeom>
          <a:solidFill>
            <a:srgbClr val="0E1EB2"/>
          </a:solidFill>
          <a:ln w="12700">
            <a:solidFill>
              <a:srgbClr val="0E1EB2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204704" y="3200400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 do que funcionou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076688" y="3895344"/>
            <a:ext cx="73152" cy="73152"/>
          </a:xfrm>
          <a:prstGeom prst="ellipse">
            <a:avLst/>
          </a:prstGeom>
          <a:solidFill>
            <a:srgbClr val="0E1EB2"/>
          </a:solidFill>
          <a:ln w="12700">
            <a:solidFill>
              <a:srgbClr val="0E1EB2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204704" y="3822192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planejamento do próximo ciclo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49808" y="5650992"/>
            <a:ext cx="3703320" cy="585216"/>
          </a:xfrm>
          <a:prstGeom prst="roundRect">
            <a:avLst>
              <a:gd name="adj" fmla="val 187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0976" y="5797296"/>
            <a:ext cx="5486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2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Rito fixo 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572768" y="5788152"/>
            <a:ext cx="2651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1E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Segunda cedo = pauta, prioridade e corte do que NÃO entra.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53712" y="5650992"/>
            <a:ext cx="3703320" cy="585216"/>
          </a:xfrm>
          <a:prstGeom prst="roundRect">
            <a:avLst>
              <a:gd name="adj" fmla="val 18750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5797296"/>
            <a:ext cx="5486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Rito fixo 2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376672" y="5788152"/>
            <a:ext cx="2651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Urgência só entra em janela definida; não no meio do foco profundo.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357616" y="5650992"/>
            <a:ext cx="3163824" cy="585216"/>
          </a:xfrm>
          <a:prstGeom prst="roundRect">
            <a:avLst>
              <a:gd name="adj" fmla="val 18750"/>
            </a:avLst>
          </a:prstGeom>
          <a:solidFill>
            <a:srgbClr val="F3FDE1"/>
          </a:solidFill>
          <a:ln w="12700">
            <a:solidFill>
              <a:srgbClr val="F3FD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58784" y="5797296"/>
            <a:ext cx="5486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Rito fixo 3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162288" y="5788152"/>
            <a:ext cx="2103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Sexta = leitura de métricas e replicação do que venceu.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9CDF">
              <a:alpha val="45000"/>
            </a:srgbClr>
          </a:solidFill>
          <a:ln w="12700">
            <a:solidFill>
              <a:srgbClr val="129CD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45720"/>
            <a:ext cx="2286000" cy="2286000"/>
          </a:xfrm>
          <a:prstGeom prst="ellipse">
            <a:avLst/>
          </a:prstGeom>
          <a:solidFill>
            <a:srgbClr val="1B26AE">
              <a:alpha val="7000"/>
            </a:srgbClr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365760"/>
            <a:ext cx="1600200" cy="1600200"/>
          </a:xfrm>
          <a:prstGeom prst="ellipse">
            <a:avLst/>
          </a:prstGeom>
          <a:solidFill>
            <a:srgbClr val="FF7D3B">
              <a:alpha val="8000"/>
            </a:srgbClr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349240"/>
            <a:ext cx="1097280" cy="1097280"/>
          </a:xfrm>
          <a:prstGeom prst="ellipse">
            <a:avLst/>
          </a:prstGeom>
          <a:solidFill>
            <a:srgbClr val="129CDF">
              <a:alpha val="8000"/>
            </a:srgbClr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</a:rPr>
              <a:t>ROADMAP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Plano de 90 dias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 objetivo não é reinventar tudo. É instalar um sistema mínimo que aumente valor, clareza e consistência.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029968"/>
            <a:ext cx="3310128" cy="3639312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32688" y="2194560"/>
            <a:ext cx="2999232" cy="310896"/>
          </a:xfrm>
          <a:prstGeom prst="roundRect">
            <a:avLst>
              <a:gd name="adj" fmla="val 23529"/>
            </a:avLst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2860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0–30 dias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249424"/>
            <a:ext cx="190195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operacional + corte de ruído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87552" y="2798064"/>
            <a:ext cx="73152" cy="73152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2706624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5 pilares editoriais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87552" y="3419856"/>
            <a:ext cx="73152" cy="73152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3328416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Reduzir Feed e limpar pauta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87552" y="4041648"/>
            <a:ext cx="73152" cy="73152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3856" y="3950208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Criar taxonomia simples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87552" y="4663440"/>
            <a:ext cx="73152" cy="73152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45720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Montar dashboard mensal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81144" y="2029968"/>
            <a:ext cx="3310128" cy="3639312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27448" y="2194560"/>
            <a:ext cx="2999232" cy="310896"/>
          </a:xfrm>
          <a:prstGeom prst="roundRect">
            <a:avLst>
              <a:gd name="adj" fmla="val 23529"/>
            </a:avLst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22860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31–60 dias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23560" y="2249424"/>
            <a:ext cx="190195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Piloto do novo modelo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82312" y="2798064"/>
            <a:ext cx="73152" cy="73152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8616" y="2706624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Testar cadência com blocos de foco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82312" y="3419856"/>
            <a:ext cx="73152" cy="73152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8616" y="3328416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 Sudoexpo em narrativa de negócio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82312" y="4041648"/>
            <a:ext cx="73152" cy="73152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28616" y="3950208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Subir séries de serviços e prova social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82312" y="4663440"/>
            <a:ext cx="73152" cy="73152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8616" y="45720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Padronizar reunião de pauta e decisão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75904" y="2029968"/>
            <a:ext cx="3310128" cy="3639312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522208" y="2194560"/>
            <a:ext cx="2999232" cy="310896"/>
          </a:xfrm>
          <a:prstGeom prst="roundRect">
            <a:avLst>
              <a:gd name="adj" fmla="val 23529"/>
            </a:avLst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50224" y="22860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61–90 dias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418320" y="2249424"/>
            <a:ext cx="190195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 com aprendizado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577072" y="2798064"/>
            <a:ext cx="73152" cy="73152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23376" y="2706624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métricas por formato e tema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77072" y="3419856"/>
            <a:ext cx="73152" cy="73152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23376" y="3328416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Ajustar papel do Kevyn no fluxo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577072" y="4041648"/>
            <a:ext cx="73152" cy="73152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23376" y="3950208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Consolidar playbook editorial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77072" y="4663440"/>
            <a:ext cx="73152" cy="73152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23376" y="45720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Apresentar ganho de eficiência + qualidade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96112" y="5852160"/>
            <a:ext cx="10241280" cy="310896"/>
          </a:xfrm>
          <a:prstGeom prst="roundRect">
            <a:avLst>
              <a:gd name="adj" fmla="val 3529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4128" y="5934456"/>
            <a:ext cx="996696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KPIs de mudança: menos posts de baixo valor, maior participação de carrossel/reel, mais temas institucionais fortes e menor sensação de urgência difusa no fluxo.</a:t>
            </a:r>
            <a:endParaRPr lang="en-US" sz="990" dirty="0"/>
          </a:p>
        </p:txBody>
      </p:sp>
      <p:sp>
        <p:nvSpPr>
          <p:cNvPr id="48" name="Text 46"/>
          <p:cNvSpPr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E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7D3B">
              <a:alpha val="45000"/>
            </a:srgbClr>
          </a:solidFill>
          <a:ln w="12700">
            <a:solidFill>
              <a:srgbClr val="FF7D3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91440"/>
            <a:ext cx="2560320" cy="2560320"/>
          </a:xfrm>
          <a:prstGeom prst="ellipse">
            <a:avLst/>
          </a:prstGeom>
          <a:solidFill>
            <a:srgbClr val="129CDF">
              <a:alpha val="18000"/>
            </a:srgbClr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11480"/>
            <a:ext cx="1737360" cy="1737360"/>
          </a:xfrm>
          <a:prstGeom prst="ellipse">
            <a:avLst/>
          </a:prstGeom>
          <a:solidFill>
            <a:srgbClr val="FF7D3B">
              <a:alpha val="13000"/>
            </a:srgbClr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029200"/>
            <a:ext cx="1280160" cy="1280160"/>
          </a:xfrm>
          <a:prstGeom prst="ellipse">
            <a:avLst/>
          </a:prstGeom>
          <a:solidFill>
            <a:srgbClr val="129CDF">
              <a:alpha val="14000"/>
            </a:srgbClr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40080"/>
            <a:ext cx="36576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Decisões para segunda-feira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914400"/>
            <a:ext cx="5577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precisa ser aprovado para a mudança começar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23314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1993392"/>
            <a:ext cx="384048" cy="384048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075688"/>
            <a:ext cx="38404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1975104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Aprovar o novo modelo editorial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249424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pilares, menos Feed e maior peso para carrossel + reel certo.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49808" y="306324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23314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32688" y="3227832"/>
            <a:ext cx="384048" cy="384048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310128"/>
            <a:ext cx="38404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3209544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Redesenhar o fluxo de comunicação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483864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triagem, prioridade, blocos de foco e janelas de urgência.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49808" y="429768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23314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2688" y="4462272"/>
            <a:ext cx="384048" cy="384048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44568"/>
            <a:ext cx="384048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63040" y="4443984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Reposicionar o papel do Kevyn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718304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absorção caótica, mais estruturação do valor institucional.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729984" y="1847088"/>
            <a:ext cx="4645152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04304" y="2103120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 mudança acontecer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40880" y="2487168"/>
            <a:ext cx="91440" cy="91440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2395728"/>
            <a:ext cx="35661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ACIRV comunica melhor o que já é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7040880" y="3017520"/>
            <a:ext cx="91440" cy="91440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2048" y="2926080"/>
            <a:ext cx="35661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Instagram sai do modo agenda e entra no modo valor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7040880" y="3547872"/>
            <a:ext cx="91440" cy="91440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42048" y="3456432"/>
            <a:ext cx="35661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temas institucionais fortes ganham escala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7040880" y="4078224"/>
            <a:ext cx="91440" cy="91440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42048" y="3986784"/>
            <a:ext cx="35661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operação perde ruído e ganha repetibilidade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7040880" y="4608576"/>
            <a:ext cx="91440" cy="91440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42048" y="4517136"/>
            <a:ext cx="35661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melhor do Kevyn passa a ser usado com mais inteligência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7059168" y="5440680"/>
            <a:ext cx="4023360" cy="420624"/>
          </a:xfrm>
          <a:prstGeom prst="roundRect">
            <a:avLst>
              <a:gd name="adj" fmla="val 26087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42048" y="5568696"/>
            <a:ext cx="36576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 final: a ACIRV não precisa comunicar mais. Precisa converter melhor o valor que já tem.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9CDF">
              <a:alpha val="45000"/>
            </a:srgbClr>
          </a:solidFill>
          <a:ln w="12700">
            <a:solidFill>
              <a:srgbClr val="129CD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45720"/>
            <a:ext cx="2286000" cy="2286000"/>
          </a:xfrm>
          <a:prstGeom prst="ellipse">
            <a:avLst/>
          </a:prstGeom>
          <a:solidFill>
            <a:srgbClr val="1B26AE">
              <a:alpha val="7000"/>
            </a:srgbClr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365760"/>
            <a:ext cx="1600200" cy="1600200"/>
          </a:xfrm>
          <a:prstGeom prst="ellipse">
            <a:avLst/>
          </a:prstGeom>
          <a:solidFill>
            <a:srgbClr val="FF7D3B">
              <a:alpha val="8000"/>
            </a:srgbClr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349240"/>
            <a:ext cx="1097280" cy="1097280"/>
          </a:xfrm>
          <a:prstGeom prst="ellipse">
            <a:avLst/>
          </a:prstGeom>
          <a:solidFill>
            <a:srgbClr val="129CDF">
              <a:alpha val="8000"/>
            </a:srgbClr>
          </a:solidFill>
          <a:ln w="12700">
            <a:solidFill>
              <a:srgbClr val="129C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D3B"/>
                </a:solidFill>
              </a:rPr>
              <a:t>APÊNDICE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Metodologia e base usada no deck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Slide de apoio para perguntas sobre origem dos dados, recorte e limitações.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1874520"/>
            <a:ext cx="365760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24128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quantitativa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60704" y="2487168"/>
            <a:ext cx="73152" cy="73152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395728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 posts entre 26/01 e 10/04/2026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60704" y="3054096"/>
            <a:ext cx="73152" cy="73152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2962656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 disponíveis: likes, comentários, views, tipo, data e legenda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60704" y="3621024"/>
            <a:ext cx="73152" cy="73152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529584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só aparecem em Reels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60704" y="4187952"/>
            <a:ext cx="73152" cy="73152"/>
          </a:xfrm>
          <a:prstGeom prst="ellipse">
            <a:avLst/>
          </a:prstGeom>
          <a:solidFill>
            <a:srgbClr val="1B26AE"/>
          </a:solidFill>
          <a:ln w="12700">
            <a:solidFill>
              <a:srgbClr val="1B26A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5296" y="4096512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 temática feita a partir de leitura das legendas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53712" y="1874520"/>
            <a:ext cx="365760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91456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qualitativa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28032" y="2487168"/>
            <a:ext cx="73152" cy="73152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2395728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 de voz 2026 e lema “Conectar para Crescer”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28032" y="3054096"/>
            <a:ext cx="73152" cy="73152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2962656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Planejamento de janeiro e anual do Conecta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28032" y="3621024"/>
            <a:ext cx="73152" cy="73152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3529584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institucional da pasta envelope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28032" y="4187952"/>
            <a:ext cx="73152" cy="73152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4096512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 sobre gestão do tempo, uso do tempo e papel do Kevyn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21040" y="1874520"/>
            <a:ext cx="3072384" cy="4343400"/>
          </a:xfrm>
          <a:prstGeom prst="roundRect">
            <a:avLst>
              <a:gd name="adj" fmla="val 3571"/>
            </a:avLst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77072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F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responsável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613648" y="2505456"/>
            <a:ext cx="73152" cy="73152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0" y="2414016"/>
            <a:ext cx="2240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bloco sobre Kevyn é leitura de função e desenho de trabalho, não diagnóstico clínico.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8613648" y="3328416"/>
            <a:ext cx="73152" cy="73152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0" y="3236976"/>
            <a:ext cx="2240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Algumas conclusões temáticas são inferências guiadas por legenda e planejamento.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8613648" y="4151376"/>
            <a:ext cx="73152" cy="73152"/>
          </a:xfrm>
          <a:prstGeom prst="ellipse">
            <a:avLst/>
          </a:prstGeom>
          <a:solidFill>
            <a:srgbClr val="FF7D3B"/>
          </a:solidFill>
          <a:ln w="12700">
            <a:solidFill>
              <a:srgbClr val="FF7D3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0" y="4059936"/>
            <a:ext cx="2240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deck foi desenhado para decisão gerencial, não para auditoria científica.</a:t>
            </a:r>
            <a:endParaRPr lang="en-US" sz="1010" dirty="0"/>
          </a:p>
        </p:txBody>
      </p:sp>
      <p:sp>
        <p:nvSpPr>
          <p:cNvPr id="38" name="Text 36"/>
          <p:cNvSpPr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ACIRV 2026 — da estratégia à execução</dc:title>
  <dc:subject>ACIRV stakeholders deck</dc:subject>
  <dc:creator>OpenAI</dc:creator>
  <cp:lastModifiedBy>OpenAI</cp:lastModifiedBy>
  <cp:revision>1</cp:revision>
  <dcterms:created xsi:type="dcterms:W3CDTF">2026-04-10T17:03:36Z</dcterms:created>
  <dcterms:modified xsi:type="dcterms:W3CDTF">2026-04-10T17:03:36Z</dcterms:modified>
</cp:coreProperties>
</file>