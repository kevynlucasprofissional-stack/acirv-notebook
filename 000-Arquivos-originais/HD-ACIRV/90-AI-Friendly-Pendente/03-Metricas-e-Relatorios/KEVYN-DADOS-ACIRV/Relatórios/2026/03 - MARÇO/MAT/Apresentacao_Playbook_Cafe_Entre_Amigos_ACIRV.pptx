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webp" ContentType="image/webp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Arquivo do usuário: PLAYBOOK Cerimonial Café entre Amigos.md
- Imagem de apoio: https://930.com.co/cdn/shop/files/EVENTOS_CORPORATIVOS_930_CAFE_9eeb6ff1-4d43-454a-a465-3d4eb3f6a86a.jpg?v=1710452675&amp;width=3000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Arquivo do usuário: PLAYBOOK Cerimonial Café entre Amigos.md
- Imagem de apoio: https://images.unsplash.com/photo-1526547319484-63dce467060b?crop=entropy&amp;cs=tinysrgb&amp;fit=max&amp;fm=jpg&amp;ixlib=rb-1.2.1&amp;q=80&amp;w=1080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Arquivo do usuário: PLAYBOOK Cerimonial Café entre Amigos.md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Arquivo do usuário: PLAYBOOK Cerimonial Café entre Amigos.md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Arquivo do usuário: PLAYBOOK Cerimonial Café entre Amigos.md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Arquivo do usuário: PLAYBOOK Cerimonial Café entre Amigos.md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Arquivo do usuário: PLAYBOOK Cerimonial Café entre Amigos.md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Arquivo do usuário: PLAYBOOK Cerimonial Café entre Amigos.md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webp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afe_evento.webp">    </p:cNvPr>
          <p:cNvPicPr>
            <a:picLocks noChangeAspect="1"/>
          </p:cNvPicPr>
          <p:nvPr/>
        </p:nvPicPr>
        <p:blipFill>
          <a:blip r:embed="rId1"/>
          <a:srcRect l="10000" r="10000" t="0" b="0"/>
          <a:stretch/>
        </p:blipFill>
        <p:spPr>
          <a:xfrm>
            <a:off x="7086600" y="411480"/>
            <a:ext cx="4572000" cy="5715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21792" y="512064"/>
            <a:ext cx="868680" cy="109728"/>
          </a:xfrm>
          <a:prstGeom prst="rect">
            <a:avLst/>
          </a:prstGeom>
          <a:solidFill>
            <a:srgbClr val="B96D3B"/>
          </a:solidFill>
          <a:ln w="12700">
            <a:solidFill>
              <a:srgbClr val="B96D3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941832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96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PLAYBOOK DE CERIMONIAL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58368" y="1325880"/>
            <a:ext cx="5120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B31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Café Entre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4B31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Amigos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685800" y="26700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5A4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(ACIRV)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76656" y="3200400"/>
            <a:ext cx="5212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468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Apresentação editável com a estrutura, os protocolos e os scripts-base do manual.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94944" y="4041648"/>
            <a:ext cx="1609344" cy="310896"/>
          </a:xfrm>
          <a:prstGeom prst="roundRect">
            <a:avLst>
              <a:gd name="adj" fmla="val 20588"/>
            </a:avLst>
          </a:prstGeom>
          <a:solidFill>
            <a:srgbClr val="F7EEE7"/>
          </a:solidFill>
          <a:ln w="12700">
            <a:solidFill>
              <a:srgbClr val="F7EEE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4672" y="4069080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5A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Acolhida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395728" y="4041648"/>
            <a:ext cx="1682496" cy="310896"/>
          </a:xfrm>
          <a:prstGeom prst="roundRect">
            <a:avLst>
              <a:gd name="adj" fmla="val 20588"/>
            </a:avLst>
          </a:prstGeom>
          <a:solidFill>
            <a:srgbClr val="F7EEE7"/>
          </a:solidFill>
          <a:ln w="12700">
            <a:solidFill>
              <a:srgbClr val="F7EEE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505456" y="406908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5A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Networking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178808" y="4041648"/>
            <a:ext cx="1335024" cy="310896"/>
          </a:xfrm>
          <a:prstGeom prst="roundRect">
            <a:avLst>
              <a:gd name="adj" fmla="val 20588"/>
            </a:avLst>
          </a:prstGeom>
          <a:solidFill>
            <a:srgbClr val="F7EEE7"/>
          </a:solidFill>
          <a:ln w="12700">
            <a:solidFill>
              <a:srgbClr val="F7EEE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288536" y="4069080"/>
            <a:ext cx="1115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5A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Conteúdo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94944" y="4864608"/>
            <a:ext cx="4800600" cy="0"/>
          </a:xfrm>
          <a:prstGeom prst="line">
            <a:avLst/>
          </a:prstGeom>
          <a:noFill/>
          <a:ln w="15240">
            <a:solidFill>
              <a:srgbClr val="D8C8B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94944" y="501091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468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Baseado no manual enviado pelo usuário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7424928" y="535838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ACIRV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7452360" y="574243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F0E6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Café, conexões e associativismo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548640" y="647395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468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Café Entre Amigos • Playbook de Cerimonial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11247120" y="641908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B31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B96D3B"/>
          </a:solidFill>
          <a:ln w="12700">
            <a:solidFill>
              <a:srgbClr val="B96D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6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ESSÊNCIA DO EVENTO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B31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que esse encontro precisa transmitir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58368" y="117043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468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Uma experiência profissional, acolhedora e colaborativa do início ao fim.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58368" y="1783080"/>
            <a:ext cx="5577840" cy="406908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5240">
            <a:solidFill>
              <a:srgbClr val="D8C8BA"/>
            </a:solidFill>
            <a:prstDash val="solid"/>
          </a:ln>
          <a:effectLst>
            <a:outerShdw sx="100000" sy="100000" kx="0" ky="0" algn="bl" rotWithShape="0" blurRad="13970" dist="508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32688" y="202996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96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proposta central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32688" y="2340864"/>
            <a:ext cx="4754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4B31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Aproximar pessoas, fortalecer o networking e valorizar o espírito colaborativo entre empresários.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932688" y="3255264"/>
            <a:ext cx="4645152" cy="0"/>
          </a:xfrm>
          <a:prstGeom prst="line">
            <a:avLst/>
          </a:prstGeom>
          <a:noFill/>
          <a:ln w="13970">
            <a:solidFill>
              <a:srgbClr val="D8C8B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9264" y="349300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5A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Público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066544" y="3474720"/>
            <a:ext cx="3328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4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Empresários, associados, parceiros e convidados.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69264" y="424281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5A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Tom de voz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066544" y="4224528"/>
            <a:ext cx="3328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4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Profissional, acolhedor, entusiasta e colaborativo.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69264" y="499262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5A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Papel do MC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066544" y="4974336"/>
            <a:ext cx="3328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4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Dar ritmo, orientar o público e manter a fluidez entre os blocos.</a:t>
            </a:r>
            <a:endParaRPr lang="en-US" sz="1250" dirty="0"/>
          </a:p>
        </p:txBody>
      </p:sp>
      <p:pic>
        <p:nvPicPr>
          <p:cNvPr id="16" name="Image 0" descr="/mnt/data/coffee_meeting.jpg">    </p:cNvPr>
          <p:cNvPicPr>
            <a:picLocks noChangeAspect="1"/>
          </p:cNvPicPr>
          <p:nvPr/>
        </p:nvPicPr>
        <p:blipFill>
          <a:blip r:embed="rId1"/>
          <a:srcRect l="0" r="0" t="19323" b="19323"/>
          <a:stretch/>
        </p:blipFill>
        <p:spPr>
          <a:xfrm>
            <a:off x="6583680" y="1847088"/>
            <a:ext cx="4956048" cy="2029968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6565392" y="4187952"/>
            <a:ext cx="4992624" cy="1536192"/>
          </a:xfrm>
          <a:prstGeom prst="roundRect">
            <a:avLst>
              <a:gd name="adj" fmla="val 4762"/>
            </a:avLst>
          </a:prstGeom>
          <a:solidFill>
            <a:srgbClr val="4B3127"/>
          </a:solidFill>
          <a:ln w="12700">
            <a:solidFill>
              <a:srgbClr val="4B312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839712" y="442569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D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DNA do cerimonial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6821424" y="4736592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acolher • conectar • valorizar</a:t>
            </a:r>
            <a:endParaRPr lang="en-US" sz="2050" dirty="0"/>
          </a:p>
        </p:txBody>
      </p:sp>
      <p:sp>
        <p:nvSpPr>
          <p:cNvPr id="20" name="Text 17"/>
          <p:cNvSpPr/>
          <p:nvPr/>
        </p:nvSpPr>
        <p:spPr>
          <a:xfrm>
            <a:off x="6839712" y="513892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0E6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“A ACIRV é a casa do empreendedor.”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48640" y="647395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468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Café Entre Amigos • Playbook de Cerimonial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11247120" y="641908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B31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F5A4C"/>
          </a:solidFill>
          <a:ln w="12700">
            <a:solidFill>
              <a:srgbClr val="2F5A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6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CHECKLIST DO MC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B31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Confirmações obrigatórias antes de subir ao palco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58368" y="117043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468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Tudo o que precisa estar alinhado com a equipe de apoio para o evento fluir sem improvisos críticos.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58368" y="1755648"/>
            <a:ext cx="736092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5240">
            <a:solidFill>
              <a:srgbClr val="D8C8B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21945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5A4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☑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43584" y="2212848"/>
            <a:ext cx="29809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4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Lista de presença na entrada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32688" y="33375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5A4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☑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43584" y="3355848"/>
            <a:ext cx="29809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4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Perfil oficial no Instagram (@acirvoficial)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32688" y="44805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5A4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☑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43584" y="4498848"/>
            <a:ext cx="29809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4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Lista impressa dos novos associados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26280" y="21945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5A4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☑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37176" y="2212848"/>
            <a:ext cx="29809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4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Nomes dos patrocinadores e quem terá fala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26280" y="33375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5A4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☑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37176" y="3355848"/>
            <a:ext cx="29809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4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Brinde físico disponível para exibição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26280" y="44805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5A4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☑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837176" y="4498848"/>
            <a:ext cx="29809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4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Pesquisa ativa (QR Code ou papel), se houver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014216" y="2139696"/>
            <a:ext cx="0" cy="3493008"/>
          </a:xfrm>
          <a:prstGeom prst="line">
            <a:avLst/>
          </a:prstGeom>
          <a:noFill/>
          <a:ln w="13970">
            <a:solidFill>
              <a:srgbClr val="D8C8B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47888" y="1755648"/>
            <a:ext cx="3291840" cy="2359152"/>
          </a:xfrm>
          <a:prstGeom prst="roundRect">
            <a:avLst>
              <a:gd name="adj" fmla="val 3101"/>
            </a:avLst>
          </a:prstGeom>
          <a:solidFill>
            <a:srgbClr val="4B3127"/>
          </a:solidFill>
          <a:ln w="12700">
            <a:solidFill>
              <a:srgbClr val="4B312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40496" y="2084832"/>
            <a:ext cx="269748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faltar alguma dessas confirmações, o MC perde agilidade, aumenta o improviso e enfraquece a percepção de organização do evento.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247888" y="4315968"/>
            <a:ext cx="3291840" cy="1920240"/>
          </a:xfrm>
          <a:prstGeom prst="roundRect">
            <a:avLst>
              <a:gd name="adj" fmla="val 3810"/>
            </a:avLst>
          </a:prstGeom>
          <a:solidFill>
            <a:srgbClr val="FFF7EF"/>
          </a:solidFill>
          <a:ln w="13970">
            <a:solidFill>
              <a:srgbClr val="D7A26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3920" y="45902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96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Dica prática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503920" y="4901184"/>
            <a:ext cx="26974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B31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Faça um “check final” com Marketing ou apoio 10 minutos antes do início.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48640" y="647395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468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Café Entre Amigos • Playbook de Cerimonial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1247120" y="641908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B31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B96D3B"/>
          </a:solidFill>
          <a:ln w="12700">
            <a:solidFill>
              <a:srgbClr val="B96D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6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RUN-OF-SHOW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B31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estrutura padrão em 8 blocos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58368" y="117043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468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sequência abaixo organiza o evento em um fluxo lógico de acolhida, conteúdo e fechamento.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914400" y="3803904"/>
            <a:ext cx="10241280" cy="0"/>
          </a:xfrm>
          <a:prstGeom prst="line">
            <a:avLst/>
          </a:prstGeom>
          <a:noFill/>
          <a:ln w="30480">
            <a:solidFill>
              <a:srgbClr val="D8C8B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3419856"/>
            <a:ext cx="786384" cy="786384"/>
          </a:xfrm>
          <a:prstGeom prst="ellipse">
            <a:avLst/>
          </a:prstGeom>
          <a:solidFill>
            <a:srgbClr val="2F5A4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3621024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94360" y="251460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24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Abertura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A24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&amp; acolhida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307592" y="3081528"/>
            <a:ext cx="0" cy="274320"/>
          </a:xfrm>
          <a:prstGeom prst="line">
            <a:avLst/>
          </a:prstGeom>
          <a:noFill/>
          <a:ln w="12700">
            <a:solidFill>
              <a:srgbClr val="D8C8B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40280" y="3419856"/>
            <a:ext cx="786384" cy="786384"/>
          </a:xfrm>
          <a:prstGeom prst="ellipse">
            <a:avLst/>
          </a:prstGeom>
          <a:solidFill>
            <a:srgbClr val="2F5A4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77440" y="3621024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920240" y="4352544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24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Palavra da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A24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presidência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633472" y="4206240"/>
            <a:ext cx="0" cy="-109728"/>
          </a:xfrm>
          <a:prstGeom prst="line">
            <a:avLst/>
          </a:prstGeom>
          <a:noFill/>
          <a:ln w="12700">
            <a:solidFill>
              <a:srgbClr val="D8C8B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66160" y="3419856"/>
            <a:ext cx="786384" cy="786384"/>
          </a:xfrm>
          <a:prstGeom prst="ellipse">
            <a:avLst/>
          </a:prstGeom>
          <a:solidFill>
            <a:srgbClr val="2F5A4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03320" y="3621024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246120" y="251460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24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Patrocinador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A24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café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959352" y="3081528"/>
            <a:ext cx="0" cy="274320"/>
          </a:xfrm>
          <a:prstGeom prst="line">
            <a:avLst/>
          </a:prstGeom>
          <a:noFill/>
          <a:ln w="12700">
            <a:solidFill>
              <a:srgbClr val="D8C8B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92040" y="3419856"/>
            <a:ext cx="786384" cy="786384"/>
          </a:xfrm>
          <a:prstGeom prst="ellipse">
            <a:avLst/>
          </a:prstGeom>
          <a:solidFill>
            <a:srgbClr val="2F5A4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3621024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572000" y="4352544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24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Pitch de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A24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novos associados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285232" y="4206240"/>
            <a:ext cx="0" cy="-109728"/>
          </a:xfrm>
          <a:prstGeom prst="line">
            <a:avLst/>
          </a:prstGeom>
          <a:noFill/>
          <a:ln w="12700">
            <a:solidFill>
              <a:srgbClr val="D8C8B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17920" y="3419856"/>
            <a:ext cx="786384" cy="786384"/>
          </a:xfrm>
          <a:prstGeom prst="ellipse">
            <a:avLst/>
          </a:prstGeom>
          <a:solidFill>
            <a:srgbClr val="B96D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5080" y="3621024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897880" y="251460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24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Conteúdo /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A24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palestra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611112" y="3081528"/>
            <a:ext cx="0" cy="274320"/>
          </a:xfrm>
          <a:prstGeom prst="line">
            <a:avLst/>
          </a:prstGeom>
          <a:noFill/>
          <a:ln w="12700">
            <a:solidFill>
              <a:srgbClr val="D8C8B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543800" y="3419856"/>
            <a:ext cx="786384" cy="786384"/>
          </a:xfrm>
          <a:prstGeom prst="ellipse">
            <a:avLst/>
          </a:prstGeom>
          <a:solidFill>
            <a:srgbClr val="B96D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80960" y="3621024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223760" y="4352544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24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Agradecimento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A24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pós-palestra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936992" y="4206240"/>
            <a:ext cx="0" cy="-109728"/>
          </a:xfrm>
          <a:prstGeom prst="line">
            <a:avLst/>
          </a:prstGeom>
          <a:noFill/>
          <a:ln w="12700">
            <a:solidFill>
              <a:srgbClr val="D8C8B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869680" y="3419856"/>
            <a:ext cx="786384" cy="786384"/>
          </a:xfrm>
          <a:prstGeom prst="ellipse">
            <a:avLst/>
          </a:prstGeom>
          <a:solidFill>
            <a:srgbClr val="B96D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006840" y="3621024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549640" y="251460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24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Sorteio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A24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brinde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262872" y="3081528"/>
            <a:ext cx="0" cy="274320"/>
          </a:xfrm>
          <a:prstGeom prst="line">
            <a:avLst/>
          </a:prstGeom>
          <a:noFill/>
          <a:ln w="12700">
            <a:solidFill>
              <a:srgbClr val="D8C8B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195560" y="3419856"/>
            <a:ext cx="786384" cy="786384"/>
          </a:xfrm>
          <a:prstGeom prst="ellipse">
            <a:avLst/>
          </a:prstGeom>
          <a:solidFill>
            <a:srgbClr val="B96D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332720" y="3621024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9875520" y="4352544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24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Encerramento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A24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oficial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10588752" y="4206240"/>
            <a:ext cx="0" cy="-109728"/>
          </a:xfrm>
          <a:prstGeom prst="line">
            <a:avLst/>
          </a:prstGeom>
          <a:noFill/>
          <a:ln w="12700">
            <a:solidFill>
              <a:srgbClr val="D8C8B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68680" y="5394960"/>
            <a:ext cx="3977640" cy="822960"/>
          </a:xfrm>
          <a:prstGeom prst="roundRect">
            <a:avLst>
              <a:gd name="adj" fmla="val 8889"/>
            </a:avLst>
          </a:prstGeom>
          <a:solidFill>
            <a:srgbClr val="FFF7EF"/>
          </a:solidFill>
          <a:ln w="13970">
            <a:solidFill>
              <a:srgbClr val="D7A26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14984" y="5559552"/>
            <a:ext cx="73152" cy="493776"/>
          </a:xfrm>
          <a:prstGeom prst="rect">
            <a:avLst/>
          </a:prstGeom>
          <a:solidFill>
            <a:srgbClr val="B96D3B"/>
          </a:solidFill>
          <a:ln w="12700">
            <a:solidFill>
              <a:srgbClr val="B96D3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216152" y="5559552"/>
            <a:ext cx="3447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i="1" dirty="0">
                <a:solidFill>
                  <a:srgbClr val="2A24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Objetivo do roteiro: manter ritmo, clareza e profissionalismo.</a:t>
            </a:r>
            <a:endParaRPr lang="en-US" sz="1420" dirty="0"/>
          </a:p>
        </p:txBody>
      </p:sp>
      <p:sp>
        <p:nvSpPr>
          <p:cNvPr id="42" name="Shape 40"/>
          <p:cNvSpPr/>
          <p:nvPr/>
        </p:nvSpPr>
        <p:spPr>
          <a:xfrm>
            <a:off x="5120640" y="5321808"/>
            <a:ext cx="58064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8C8B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94960" y="5504688"/>
            <a:ext cx="5212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10" dirty="0">
                <a:solidFill>
                  <a:srgbClr val="2A24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Lógica do fluxo: acolher → alinhar institucionalmente → dar voz aos parceiros → gerar conteúdo → reconhecer → sortear → encerrar</a:t>
            </a:r>
            <a:endParaRPr lang="en-US" sz="1210" dirty="0"/>
          </a:p>
        </p:txBody>
      </p:sp>
      <p:sp>
        <p:nvSpPr>
          <p:cNvPr id="44" name="Text 42"/>
          <p:cNvSpPr/>
          <p:nvPr/>
        </p:nvSpPr>
        <p:spPr>
          <a:xfrm>
            <a:off x="548640" y="647395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468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Café Entre Amigos • Playbook de Cerimonial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11247120" y="641908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B31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B96D3B"/>
          </a:solidFill>
          <a:ln w="12700">
            <a:solidFill>
              <a:srgbClr val="B96D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6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BLOCOS 1–4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B31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 abertura ao pitch de novos associados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58368" y="117043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468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primeira metade do evento constrói o clima, alinha a fala institucional e integra novos participantes.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58368" y="1783080"/>
            <a:ext cx="4041648" cy="1572768"/>
          </a:xfrm>
          <a:prstGeom prst="roundRect">
            <a:avLst>
              <a:gd name="adj" fmla="val 4651"/>
            </a:avLst>
          </a:prstGeom>
          <a:solidFill>
            <a:srgbClr val="FFF7EF"/>
          </a:solidFill>
          <a:ln w="13970">
            <a:solidFill>
              <a:srgbClr val="D7A26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1947672"/>
            <a:ext cx="73152" cy="1243584"/>
          </a:xfrm>
          <a:prstGeom prst="rect">
            <a:avLst/>
          </a:prstGeom>
          <a:solidFill>
            <a:srgbClr val="B96D3B"/>
          </a:solidFill>
          <a:ln w="12700">
            <a:solidFill>
              <a:srgbClr val="B96D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947672"/>
            <a:ext cx="351129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i="1" dirty="0">
                <a:solidFill>
                  <a:srgbClr val="2A24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“Bom dia, senhoras e senhores! Sejam muito bem-vindos a mais uma edição do Café Entre Amigos...”</a:t>
            </a:r>
            <a:endParaRPr lang="en-US" sz="1420" dirty="0"/>
          </a:p>
        </p:txBody>
      </p:sp>
      <p:sp>
        <p:nvSpPr>
          <p:cNvPr id="9" name="Shape 7"/>
          <p:cNvSpPr/>
          <p:nvPr/>
        </p:nvSpPr>
        <p:spPr>
          <a:xfrm>
            <a:off x="4956048" y="1783080"/>
            <a:ext cx="2926080" cy="1938528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3970">
            <a:solidFill>
              <a:srgbClr val="D8C8B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38928" y="1984248"/>
            <a:ext cx="512064" cy="384048"/>
          </a:xfrm>
          <a:prstGeom prst="roundRect">
            <a:avLst>
              <a:gd name="adj" fmla="val 11905"/>
            </a:avLst>
          </a:prstGeom>
          <a:solidFill>
            <a:srgbClr val="2F5A4C"/>
          </a:solidFill>
          <a:ln w="12700">
            <a:solidFill>
              <a:srgbClr val="2F5A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48656" y="203911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797296" y="196596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B31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Abertura e acolhida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157216" y="2423160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2F5A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Boas-vindas calorosas + avisos obrigatórios.</a:t>
            </a:r>
            <a:endParaRPr lang="en-US" sz="1120" dirty="0"/>
          </a:p>
        </p:txBody>
      </p:sp>
      <p:sp>
        <p:nvSpPr>
          <p:cNvPr id="14" name="Text 12"/>
          <p:cNvSpPr/>
          <p:nvPr/>
        </p:nvSpPr>
        <p:spPr>
          <a:xfrm>
            <a:off x="5157216" y="2807208"/>
            <a:ext cx="25237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A24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Lembrar lista de presença, Instagram oficial, regra do sorteio e eventual pesquisa.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8229600" y="1783080"/>
            <a:ext cx="3291840" cy="1938528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3970">
            <a:solidFill>
              <a:srgbClr val="D8C8B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0" y="1984248"/>
            <a:ext cx="512064" cy="384048"/>
          </a:xfrm>
          <a:prstGeom prst="roundRect">
            <a:avLst>
              <a:gd name="adj" fmla="val 11905"/>
            </a:avLst>
          </a:prstGeom>
          <a:solidFill>
            <a:srgbClr val="2F5A4C"/>
          </a:solidFill>
          <a:ln w="12700">
            <a:solidFill>
              <a:srgbClr val="2F5A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22208" y="203911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070848" y="196596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B31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Palavra da presidência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30768" y="2423160"/>
            <a:ext cx="2889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2F5A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Momento institucional e de alinhamento estratégico.</a:t>
            </a:r>
            <a:endParaRPr lang="en-US" sz="1120" dirty="0"/>
          </a:p>
        </p:txBody>
      </p:sp>
      <p:sp>
        <p:nvSpPr>
          <p:cNvPr id="20" name="Text 18"/>
          <p:cNvSpPr/>
          <p:nvPr/>
        </p:nvSpPr>
        <p:spPr>
          <a:xfrm>
            <a:off x="8430768" y="2807208"/>
            <a:ext cx="28895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A24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Introdução formal do presidente e espaço para visão da gestão, economia local ou novas ferramentas.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658368" y="3749040"/>
            <a:ext cx="3803904" cy="2084832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3970">
            <a:solidFill>
              <a:srgbClr val="D8C8B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41248" y="3950208"/>
            <a:ext cx="512064" cy="384048"/>
          </a:xfrm>
          <a:prstGeom prst="roundRect">
            <a:avLst>
              <a:gd name="adj" fmla="val 11905"/>
            </a:avLst>
          </a:prstGeom>
          <a:solidFill>
            <a:srgbClr val="B96D3B"/>
          </a:solidFill>
          <a:ln w="12700">
            <a:solidFill>
              <a:srgbClr val="B96D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0976" y="400507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499616" y="3931920"/>
            <a:ext cx="2798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B31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Patrocinador do café / apoio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59536" y="4389120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2F5A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Valorizar quem viabiliza a edição.</a:t>
            </a:r>
            <a:endParaRPr lang="en-US" sz="1120" dirty="0"/>
          </a:p>
        </p:txBody>
      </p:sp>
      <p:sp>
        <p:nvSpPr>
          <p:cNvPr id="26" name="Text 24"/>
          <p:cNvSpPr/>
          <p:nvPr/>
        </p:nvSpPr>
        <p:spPr>
          <a:xfrm>
            <a:off x="859536" y="4773168"/>
            <a:ext cx="340156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A24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Agradecimento nominal e convite para uma fala breve de 3 a 5 minutos.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4645152" y="3749040"/>
            <a:ext cx="3803904" cy="2084832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3970">
            <a:solidFill>
              <a:srgbClr val="D8C8B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28032" y="3950208"/>
            <a:ext cx="512064" cy="384048"/>
          </a:xfrm>
          <a:prstGeom prst="roundRect">
            <a:avLst>
              <a:gd name="adj" fmla="val 11905"/>
            </a:avLst>
          </a:prstGeom>
          <a:solidFill>
            <a:srgbClr val="B96D3B"/>
          </a:solidFill>
          <a:ln w="12700">
            <a:solidFill>
              <a:srgbClr val="B96D3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0" y="400507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0" y="3931920"/>
            <a:ext cx="2798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B31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Momento PITCH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846320" y="4389120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2F5A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Integrar novos associados com objetividade.</a:t>
            </a:r>
            <a:endParaRPr lang="en-US" sz="1120" dirty="0"/>
          </a:p>
        </p:txBody>
      </p:sp>
      <p:sp>
        <p:nvSpPr>
          <p:cNvPr id="32" name="Text 30"/>
          <p:cNvSpPr/>
          <p:nvPr/>
        </p:nvSpPr>
        <p:spPr>
          <a:xfrm>
            <a:off x="4846320" y="4773168"/>
            <a:ext cx="340156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A24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empresa tem 30 segundos. O MC chama nome + empresa e conduz o encerramento com palmas.</a:t>
            </a:r>
            <a:endParaRPr lang="en-US" sz="1080" dirty="0"/>
          </a:p>
        </p:txBody>
      </p:sp>
      <p:sp>
        <p:nvSpPr>
          <p:cNvPr id="33" name="Shape 31"/>
          <p:cNvSpPr/>
          <p:nvPr/>
        </p:nvSpPr>
        <p:spPr>
          <a:xfrm>
            <a:off x="8631936" y="3749040"/>
            <a:ext cx="2907792" cy="2084832"/>
          </a:xfrm>
          <a:prstGeom prst="roundRect">
            <a:avLst>
              <a:gd name="adj" fmla="val 3509"/>
            </a:avLst>
          </a:prstGeom>
          <a:solidFill>
            <a:srgbClr val="4B3127"/>
          </a:solidFill>
          <a:ln w="12700">
            <a:solidFill>
              <a:srgbClr val="4B312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906256" y="40050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D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Transição-chave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906256" y="4315968"/>
            <a:ext cx="22860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“Sejam breves: cada um tem 30 segundos para apresentar o potencial do seu negócio.”</a:t>
            </a:r>
            <a:endParaRPr lang="en-US" sz="1550" dirty="0"/>
          </a:p>
        </p:txBody>
      </p:sp>
      <p:sp>
        <p:nvSpPr>
          <p:cNvPr id="36" name="Text 34"/>
          <p:cNvSpPr/>
          <p:nvPr/>
        </p:nvSpPr>
        <p:spPr>
          <a:xfrm>
            <a:off x="548640" y="647395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468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Café Entre Amigos • Playbook de Cerimonial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1247120" y="641908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B31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F5A4C"/>
          </a:solidFill>
          <a:ln w="12700">
            <a:solidFill>
              <a:srgbClr val="2F5A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6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BLOCOS 5–8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B31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 conteúdo ao encerramento oficial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58368" y="117043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468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segunda metade entrega valor, reconhece quem participou e fecha o evento com clareza.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58368" y="1783080"/>
            <a:ext cx="3703320" cy="1993392"/>
          </a:xfrm>
          <a:prstGeom prst="roundRect">
            <a:avLst>
              <a:gd name="adj" fmla="val 2752"/>
            </a:avLst>
          </a:prstGeom>
          <a:solidFill>
            <a:srgbClr val="FFFFFF"/>
          </a:solidFill>
          <a:ln w="13970">
            <a:solidFill>
              <a:srgbClr val="D8C8B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1984248"/>
            <a:ext cx="512064" cy="384048"/>
          </a:xfrm>
          <a:prstGeom prst="roundRect">
            <a:avLst>
              <a:gd name="adj" fmla="val 11905"/>
            </a:avLst>
          </a:prstGeom>
          <a:solidFill>
            <a:srgbClr val="2F5A4C"/>
          </a:solidFill>
          <a:ln w="12700">
            <a:solidFill>
              <a:srgbClr val="2F5A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0976" y="203911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99616" y="1965960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B31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Conteúdo / palestra principal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59536" y="2423160"/>
            <a:ext cx="3300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2F5A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Educação e capacitação empresarial.</a:t>
            </a:r>
            <a:endParaRPr lang="en-US" sz="1120" dirty="0"/>
          </a:p>
        </p:txBody>
      </p:sp>
      <p:sp>
        <p:nvSpPr>
          <p:cNvPr id="11" name="Text 9"/>
          <p:cNvSpPr/>
          <p:nvPr/>
        </p:nvSpPr>
        <p:spPr>
          <a:xfrm>
            <a:off x="859536" y="2807208"/>
            <a:ext cx="330098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A24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Agradecer o parceiro educacional, apresentar mini-bio do palestrante e conectar o tema à realidade do público.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4572000" y="1783080"/>
            <a:ext cx="3182112" cy="1993392"/>
          </a:xfrm>
          <a:prstGeom prst="roundRect">
            <a:avLst>
              <a:gd name="adj" fmla="val 2752"/>
            </a:avLst>
          </a:prstGeom>
          <a:solidFill>
            <a:srgbClr val="FFFFFF"/>
          </a:solidFill>
          <a:ln w="13970">
            <a:solidFill>
              <a:srgbClr val="D8C8B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1984248"/>
            <a:ext cx="512064" cy="384048"/>
          </a:xfrm>
          <a:prstGeom prst="roundRect">
            <a:avLst>
              <a:gd name="adj" fmla="val 11905"/>
            </a:avLst>
          </a:prstGeom>
          <a:solidFill>
            <a:srgbClr val="2F5A4C"/>
          </a:solidFill>
          <a:ln w="12700">
            <a:solidFill>
              <a:srgbClr val="2F5A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64608" y="203911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13248" y="1965960"/>
            <a:ext cx="2176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B31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Agradecimentos finais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773168" y="2423160"/>
            <a:ext cx="2779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2F5A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Reforçar o valor da fala e agradecer a presença.</a:t>
            </a:r>
            <a:endParaRPr lang="en-US" sz="1120" dirty="0"/>
          </a:p>
        </p:txBody>
      </p:sp>
      <p:sp>
        <p:nvSpPr>
          <p:cNvPr id="17" name="Text 15"/>
          <p:cNvSpPr/>
          <p:nvPr/>
        </p:nvSpPr>
        <p:spPr>
          <a:xfrm>
            <a:off x="4773168" y="2807208"/>
            <a:ext cx="277977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A24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MC ou o presidente destaca um ponto-chave da palestra e faz a ponte para o próximo momento.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7973568" y="1783080"/>
            <a:ext cx="3566160" cy="1993392"/>
          </a:xfrm>
          <a:prstGeom prst="roundRect">
            <a:avLst>
              <a:gd name="adj" fmla="val 2752"/>
            </a:avLst>
          </a:prstGeom>
          <a:solidFill>
            <a:srgbClr val="FFFFFF"/>
          </a:solidFill>
          <a:ln w="13970">
            <a:solidFill>
              <a:srgbClr val="D8C8B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56448" y="1984248"/>
            <a:ext cx="512064" cy="384048"/>
          </a:xfrm>
          <a:prstGeom prst="roundRect">
            <a:avLst>
              <a:gd name="adj" fmla="val 11905"/>
            </a:avLst>
          </a:prstGeom>
          <a:solidFill>
            <a:srgbClr val="B96D3B"/>
          </a:solidFill>
          <a:ln w="12700">
            <a:solidFill>
              <a:srgbClr val="B96D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66176" y="203911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814816" y="196596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B31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Sorteio do brinde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174736" y="2423160"/>
            <a:ext cx="3163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2F5A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Gerar fechamento leve e engajado.</a:t>
            </a:r>
            <a:endParaRPr lang="en-US" sz="1120" dirty="0"/>
          </a:p>
        </p:txBody>
      </p:sp>
      <p:sp>
        <p:nvSpPr>
          <p:cNvPr id="23" name="Text 21"/>
          <p:cNvSpPr/>
          <p:nvPr/>
        </p:nvSpPr>
        <p:spPr>
          <a:xfrm>
            <a:off x="8174736" y="2807208"/>
            <a:ext cx="316382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A24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Só ganha quem estiver presente, tiver assinado a lista e seguir o Instagram oficial.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658368" y="4041648"/>
            <a:ext cx="6400800" cy="1993392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3970">
            <a:solidFill>
              <a:srgbClr val="D8C8B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43159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96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Script-base de apresentação do palestrante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914400" y="4663440"/>
            <a:ext cx="57150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B31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“Para agregar conhecimento à nossa manhã, recebemos [NOME DO PALESTRANTE], especialista em [ÁREA]. Ele abordará o tema [TEMA]. Com a palavra, [NOME]!”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7315200" y="4041648"/>
            <a:ext cx="4224528" cy="1993392"/>
          </a:xfrm>
          <a:prstGeom prst="roundRect">
            <a:avLst>
              <a:gd name="adj" fmla="val 3670"/>
            </a:avLst>
          </a:prstGeom>
          <a:solidFill>
            <a:srgbClr val="4B3127"/>
          </a:solidFill>
          <a:ln w="12700">
            <a:solidFill>
              <a:srgbClr val="4B312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26096" y="4334256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D8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 Encerramento oficial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626096" y="4700016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“A ACIRV é a casa do empreendedor e nossas portas estão sempre abertas.”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548640" y="647395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468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Café Entre Amigos • Playbook de Cerimonial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1247120" y="641908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B31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B96D3B"/>
          </a:solidFill>
          <a:ln w="12700">
            <a:solidFill>
              <a:srgbClr val="B96D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6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PROTOCOLOS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B31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Regras de ouro para manter o controle do evento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58368" y="117043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468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Esses critérios evitam ruídos, protegem o tempo e sustentam a credibilidade do cerimonial.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13232" y="18105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4B31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Tempo é dinheiro.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731520" y="2212848"/>
            <a:ext cx="4005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A24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evento acontece em horário comercial: o cerimonial precisa ser ágil, sem pausas longas entre blocos.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49808" y="3246120"/>
            <a:ext cx="4919472" cy="877824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8B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50976" y="341071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2F5A4C"/>
          </a:solidFill>
          <a:ln w="12700">
            <a:solidFill>
              <a:srgbClr val="2F5A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3456432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481328" y="3374136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4B31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Controle do pitch</a:t>
            </a:r>
            <a:endParaRPr lang="en-US" sz="1130" dirty="0"/>
          </a:p>
        </p:txBody>
      </p:sp>
      <p:sp>
        <p:nvSpPr>
          <p:cNvPr id="12" name="Text 10"/>
          <p:cNvSpPr/>
          <p:nvPr/>
        </p:nvSpPr>
        <p:spPr>
          <a:xfrm>
            <a:off x="3127248" y="3328416"/>
            <a:ext cx="23042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2A24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alguém estourar muito o tempo, o MC conduz educadamente ao fechamento e puxa as palmas.</a:t>
            </a:r>
            <a:endParaRPr lang="en-US" sz="1090" dirty="0"/>
          </a:p>
        </p:txBody>
      </p:sp>
      <p:sp>
        <p:nvSpPr>
          <p:cNvPr id="13" name="Shape 11"/>
          <p:cNvSpPr/>
          <p:nvPr/>
        </p:nvSpPr>
        <p:spPr>
          <a:xfrm>
            <a:off x="749808" y="4251960"/>
            <a:ext cx="4919472" cy="877824"/>
          </a:xfrm>
          <a:prstGeom prst="roundRect">
            <a:avLst>
              <a:gd name="adj" fmla="val 6250"/>
            </a:avLst>
          </a:prstGeom>
          <a:solidFill>
            <a:srgbClr val="FFF7EF"/>
          </a:solidFill>
          <a:ln w="12700">
            <a:solidFill>
              <a:srgbClr val="D8C8B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0976" y="441655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B96D3B"/>
          </a:solidFill>
          <a:ln w="12700">
            <a:solidFill>
              <a:srgbClr val="B96D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24128" y="4462272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481328" y="4379976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4B31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Flexibilidade dos patrocinadores</a:t>
            </a:r>
            <a:endParaRPr lang="en-US" sz="1130" dirty="0"/>
          </a:p>
        </p:txBody>
      </p:sp>
      <p:sp>
        <p:nvSpPr>
          <p:cNvPr id="17" name="Text 15"/>
          <p:cNvSpPr/>
          <p:nvPr/>
        </p:nvSpPr>
        <p:spPr>
          <a:xfrm>
            <a:off x="3127248" y="4334256"/>
            <a:ext cx="23042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2A24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Nem sempre fala o mesmo perfil de apoiador. O direito de fala deve ser checado no checklist do dia.</a:t>
            </a:r>
            <a:endParaRPr lang="en-US" sz="1090" dirty="0"/>
          </a:p>
        </p:txBody>
      </p:sp>
      <p:sp>
        <p:nvSpPr>
          <p:cNvPr id="18" name="Shape 16"/>
          <p:cNvSpPr/>
          <p:nvPr/>
        </p:nvSpPr>
        <p:spPr>
          <a:xfrm>
            <a:off x="749808" y="5257800"/>
            <a:ext cx="4919472" cy="877824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8B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50976" y="542239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2F5A4C"/>
          </a:solidFill>
          <a:ln w="12700">
            <a:solidFill>
              <a:srgbClr val="2F5A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4128" y="5468112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481328" y="5385816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4B31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 do sorteio</a:t>
            </a:r>
            <a:endParaRPr lang="en-US" sz="1130" dirty="0"/>
          </a:p>
        </p:txBody>
      </p:sp>
      <p:sp>
        <p:nvSpPr>
          <p:cNvPr id="22" name="Text 20"/>
          <p:cNvSpPr/>
          <p:nvPr/>
        </p:nvSpPr>
        <p:spPr>
          <a:xfrm>
            <a:off x="3127248" y="5340096"/>
            <a:ext cx="23042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2A24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o nome sorteado não estiver na sala, sorteia-se outro imediatamente.</a:t>
            </a:r>
            <a:endParaRPr lang="en-US" sz="1090" dirty="0"/>
          </a:p>
        </p:txBody>
      </p:sp>
      <p:sp>
        <p:nvSpPr>
          <p:cNvPr id="23" name="Shape 21"/>
          <p:cNvSpPr/>
          <p:nvPr/>
        </p:nvSpPr>
        <p:spPr>
          <a:xfrm>
            <a:off x="6053328" y="1773936"/>
            <a:ext cx="5468112" cy="4443984"/>
          </a:xfrm>
          <a:prstGeom prst="roundRect">
            <a:avLst>
              <a:gd name="adj" fmla="val 1646"/>
            </a:avLst>
          </a:prstGeom>
          <a:solidFill>
            <a:srgbClr val="FFFFFF"/>
          </a:solidFill>
          <a:ln w="13970">
            <a:solidFill>
              <a:srgbClr val="D8C8B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64224" y="208483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96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papel do MC em uma frase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364224" y="2432304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B31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Conduzir com segurança, gentileza e ritmo.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6382512" y="3072384"/>
            <a:ext cx="4553712" cy="0"/>
          </a:xfrm>
          <a:prstGeom prst="line">
            <a:avLst/>
          </a:prstGeom>
          <a:noFill/>
          <a:ln w="13970">
            <a:solidFill>
              <a:srgbClr val="D8C8B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64224" y="3346704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4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Checklist do dia + domínio do roteiro + respeito ao tempo = percepção de profissionalismo.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364224" y="4480560"/>
            <a:ext cx="4480560" cy="1133856"/>
          </a:xfrm>
          <a:prstGeom prst="roundRect">
            <a:avLst>
              <a:gd name="adj" fmla="val 6452"/>
            </a:avLst>
          </a:prstGeom>
          <a:solidFill>
            <a:srgbClr val="FFF7EF"/>
          </a:solidFill>
          <a:ln w="13970">
            <a:solidFill>
              <a:srgbClr val="D7A26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10528" y="4645152"/>
            <a:ext cx="73152" cy="804672"/>
          </a:xfrm>
          <a:prstGeom prst="rect">
            <a:avLst/>
          </a:prstGeom>
          <a:solidFill>
            <a:srgbClr val="B96D3B"/>
          </a:solidFill>
          <a:ln w="12700">
            <a:solidFill>
              <a:srgbClr val="B96D3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11696" y="4645152"/>
            <a:ext cx="395020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i="1" dirty="0">
                <a:solidFill>
                  <a:srgbClr val="2A24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“Participação ativa é a chave do associativismo.”</a:t>
            </a:r>
            <a:endParaRPr lang="en-US" sz="1420" dirty="0"/>
          </a:p>
        </p:txBody>
      </p:sp>
      <p:sp>
        <p:nvSpPr>
          <p:cNvPr id="31" name="Text 29"/>
          <p:cNvSpPr/>
          <p:nvPr/>
        </p:nvSpPr>
        <p:spPr>
          <a:xfrm>
            <a:off x="548640" y="647395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468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Café Entre Amigos • Playbook de Cerimonial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1247120" y="641908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B31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F5A4C"/>
          </a:solidFill>
          <a:ln w="12700">
            <a:solidFill>
              <a:srgbClr val="2F5A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6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IMPROVISO COM CONSISTÊNCIA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B31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Frases institucionais para preencher transições e reforços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58368" y="117043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468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estas linhas quando precisar conectar blocos, retomar o foco do público ou fechar uma fala com força institucional.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04672" y="1874520"/>
            <a:ext cx="4956048" cy="1325880"/>
          </a:xfrm>
          <a:prstGeom prst="roundRect">
            <a:avLst>
              <a:gd name="adj" fmla="val 5517"/>
            </a:avLst>
          </a:prstGeom>
          <a:solidFill>
            <a:srgbClr val="FFF7EF"/>
          </a:solidFill>
          <a:ln w="13970">
            <a:solidFill>
              <a:srgbClr val="D7A26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50976" y="2039112"/>
            <a:ext cx="73152" cy="996696"/>
          </a:xfrm>
          <a:prstGeom prst="rect">
            <a:avLst/>
          </a:prstGeom>
          <a:solidFill>
            <a:srgbClr val="B96D3B"/>
          </a:solidFill>
          <a:ln w="12700">
            <a:solidFill>
              <a:srgbClr val="B96D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52144" y="2039112"/>
            <a:ext cx="44256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i="1" dirty="0">
                <a:solidFill>
                  <a:srgbClr val="2A24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ACIRV representa, defende e fortalece o setor produtivo.</a:t>
            </a:r>
            <a:endParaRPr lang="en-US" sz="1420" dirty="0"/>
          </a:p>
        </p:txBody>
      </p:sp>
      <p:sp>
        <p:nvSpPr>
          <p:cNvPr id="9" name="Shape 7"/>
          <p:cNvSpPr/>
          <p:nvPr/>
        </p:nvSpPr>
        <p:spPr>
          <a:xfrm>
            <a:off x="6272784" y="1874520"/>
            <a:ext cx="4956048" cy="1325880"/>
          </a:xfrm>
          <a:prstGeom prst="roundRect">
            <a:avLst>
              <a:gd name="adj" fmla="val 5517"/>
            </a:avLst>
          </a:prstGeom>
          <a:solidFill>
            <a:srgbClr val="FFF7EF"/>
          </a:solidFill>
          <a:ln w="13970">
            <a:solidFill>
              <a:srgbClr val="D7A26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19088" y="2039112"/>
            <a:ext cx="73152" cy="996696"/>
          </a:xfrm>
          <a:prstGeom prst="rect">
            <a:avLst/>
          </a:prstGeom>
          <a:solidFill>
            <a:srgbClr val="B96D3B"/>
          </a:solidFill>
          <a:ln w="12700">
            <a:solidFill>
              <a:srgbClr val="B96D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20256" y="2039112"/>
            <a:ext cx="44256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i="1" dirty="0">
                <a:solidFill>
                  <a:srgbClr val="2A24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Juntos construímos uma Rio Verde mais forte e próspera.</a:t>
            </a:r>
            <a:endParaRPr lang="en-US" sz="1420" dirty="0"/>
          </a:p>
        </p:txBody>
      </p:sp>
      <p:sp>
        <p:nvSpPr>
          <p:cNvPr id="12" name="Shape 10"/>
          <p:cNvSpPr/>
          <p:nvPr/>
        </p:nvSpPr>
        <p:spPr>
          <a:xfrm>
            <a:off x="804672" y="3749040"/>
            <a:ext cx="4956048" cy="1325880"/>
          </a:xfrm>
          <a:prstGeom prst="roundRect">
            <a:avLst>
              <a:gd name="adj" fmla="val 5517"/>
            </a:avLst>
          </a:prstGeom>
          <a:solidFill>
            <a:srgbClr val="FFF7EF"/>
          </a:solidFill>
          <a:ln w="13970">
            <a:solidFill>
              <a:srgbClr val="D7A26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50976" y="3913632"/>
            <a:ext cx="73152" cy="996696"/>
          </a:xfrm>
          <a:prstGeom prst="rect">
            <a:avLst/>
          </a:prstGeom>
          <a:solidFill>
            <a:srgbClr val="B96D3B"/>
          </a:solidFill>
          <a:ln w="12700">
            <a:solidFill>
              <a:srgbClr val="B96D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52144" y="3913632"/>
            <a:ext cx="44256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i="1" dirty="0">
                <a:solidFill>
                  <a:srgbClr val="2A24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Participação ativa é a chave do associativismo.</a:t>
            </a:r>
            <a:endParaRPr lang="en-US" sz="1420" dirty="0"/>
          </a:p>
        </p:txBody>
      </p:sp>
      <p:sp>
        <p:nvSpPr>
          <p:cNvPr id="15" name="Shape 13"/>
          <p:cNvSpPr/>
          <p:nvPr/>
        </p:nvSpPr>
        <p:spPr>
          <a:xfrm>
            <a:off x="6272784" y="3749040"/>
            <a:ext cx="4956048" cy="1325880"/>
          </a:xfrm>
          <a:prstGeom prst="roundRect">
            <a:avLst>
              <a:gd name="adj" fmla="val 5517"/>
            </a:avLst>
          </a:prstGeom>
          <a:solidFill>
            <a:srgbClr val="FFF7EF"/>
          </a:solidFill>
          <a:ln w="13970">
            <a:solidFill>
              <a:srgbClr val="D7A26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19088" y="3913632"/>
            <a:ext cx="73152" cy="996696"/>
          </a:xfrm>
          <a:prstGeom prst="rect">
            <a:avLst/>
          </a:prstGeom>
          <a:solidFill>
            <a:srgbClr val="B96D3B"/>
          </a:solidFill>
          <a:ln w="12700">
            <a:solidFill>
              <a:srgbClr val="B96D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20256" y="3913632"/>
            <a:ext cx="44256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i="1" dirty="0">
                <a:solidFill>
                  <a:srgbClr val="2A24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Networking é sobre trocar experiências e criar soluções reais.</a:t>
            </a:r>
            <a:endParaRPr lang="en-US" sz="1420" dirty="0"/>
          </a:p>
        </p:txBody>
      </p:sp>
      <p:sp>
        <p:nvSpPr>
          <p:cNvPr id="18" name="Text 16"/>
          <p:cNvSpPr/>
          <p:nvPr/>
        </p:nvSpPr>
        <p:spPr>
          <a:xfrm>
            <a:off x="841248" y="55046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96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Fecho sugerido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41248" y="5797296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4B31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“Desejamos a todos um excelente dia de negócios e até o próximo Café Entre Amigos!”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468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Café Entre Amigos • Playbook de Cerimonial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1247120" y="641908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B31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Playbook de Cerimonial — Café Entre Amigos (ACIRV)</dc:title>
  <dc:subject>Playbook de Cerimonial: Café Entre Amigos</dc:subject>
  <dc:creator>OpenAI</dc:creator>
  <cp:lastModifiedBy>OpenAI</cp:lastModifiedBy>
  <cp:revision>1</cp:revision>
  <dcterms:created xsi:type="dcterms:W3CDTF">2026-04-10T20:31:47Z</dcterms:created>
  <dcterms:modified xsi:type="dcterms:W3CDTF">2026-04-10T20:31:47Z</dcterms:modified>
</cp:coreProperties>
</file>