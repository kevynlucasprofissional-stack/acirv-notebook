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mover o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9C27A2F-B7A0-47D8-A97C-EAA6D89BC642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840BE3-3207-42CF-8CAD-89EF424FED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957506-AA15-4F0E-811D-8C77604B1A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7873CF-0483-45CC-B100-A23A6F11F0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F39C4B-CE3B-454A-9EA7-93441F0705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6A6A37-254E-490E-9261-B5982504BE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86C4BC-39A5-4C0E-9604-645D4A5342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9E8671-9A14-4DD1-9AE6-E4EC565354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56238D-6CC2-49CA-B9A0-FD1E323F11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CC5EEA-E0B5-4BA5-B1D1-2EC2EE9E83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6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/mnt/data/acirv_bg_1600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 0"/>
          <p:cNvSpPr/>
          <p:nvPr/>
        </p:nvSpPr>
        <p:spPr>
          <a:xfrm>
            <a:off x="658440" y="53028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658440" y="4526280"/>
            <a:ext cx="64004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900" b="0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Planejamento executivo</a:t>
            </a:r>
            <a:endParaRPr lang="pt-BR" sz="3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900" b="0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de junho/26</a:t>
            </a:r>
            <a:endParaRPr lang="pt-BR" sz="3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685800" y="5687640"/>
            <a:ext cx="6766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Prioridades, calendário e campanhas.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8100000" y="5760720"/>
            <a:ext cx="3421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Responsável: Agência VCom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11384280" y="647388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>
                    <a:alpha val="75000"/>
                  </a:srgbClr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6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0" descr="/mnt/data/acirv_bg_1600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Text 0"/>
          <p:cNvSpPr/>
          <p:nvPr/>
        </p:nvSpPr>
        <p:spPr>
          <a:xfrm>
            <a:off x="658440" y="402480"/>
            <a:ext cx="2331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Planejamento do Mês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"/>
          <p:cNvSpPr/>
          <p:nvPr/>
        </p:nvSpPr>
        <p:spPr>
          <a:xfrm>
            <a:off x="2596680" y="511920"/>
            <a:ext cx="900684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2"/>
          <p:cNvSpPr/>
          <p:nvPr/>
        </p:nvSpPr>
        <p:spPr>
          <a:xfrm>
            <a:off x="658440" y="86868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900" b="1" u="none" strike="noStrike">
                <a:solidFill>
                  <a:srgbClr val="F1FF0A"/>
                </a:solidFill>
                <a:effectLst/>
                <a:uFillTx/>
                <a:latin typeface="Aptos Display"/>
                <a:ea typeface="Aptos Display"/>
              </a:rPr>
              <a:t>Semana 1 - organizar a base</a:t>
            </a:r>
            <a:endParaRPr lang="pt-BR" sz="3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658440" y="1435680"/>
            <a:ext cx="10926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01 a 06/06: fechar pendências e preparar o mês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4"/>
          <p:cNvSpPr/>
          <p:nvPr/>
        </p:nvSpPr>
        <p:spPr>
          <a:xfrm>
            <a:off x="658440" y="2011680"/>
            <a:ext cx="3520080" cy="2559960"/>
          </a:xfrm>
          <a:prstGeom prst="roundRect">
            <a:avLst>
              <a:gd name="adj" fmla="val 2857"/>
            </a:avLst>
          </a:prstGeom>
          <a:solidFill>
            <a:srgbClr val="0E82D0">
              <a:alpha val="68000"/>
            </a:srgbClr>
          </a:solidFill>
          <a:ln w="17780">
            <a:solidFill>
              <a:srgbClr val="8BEC0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5"/>
          <p:cNvSpPr/>
          <p:nvPr/>
        </p:nvSpPr>
        <p:spPr>
          <a:xfrm>
            <a:off x="768240" y="2157840"/>
            <a:ext cx="91080" cy="2267280"/>
          </a:xfrm>
          <a:prstGeom prst="rect">
            <a:avLst/>
          </a:prstGeom>
          <a:solidFill>
            <a:srgbClr val="8BEC01"/>
          </a:solidFill>
          <a:ln w="12700">
            <a:solidFill>
              <a:srgbClr val="8BEC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6"/>
          <p:cNvSpPr/>
          <p:nvPr/>
        </p:nvSpPr>
        <p:spPr>
          <a:xfrm>
            <a:off x="969120" y="2176200"/>
            <a:ext cx="3081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Prioridade máxima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7"/>
          <p:cNvSpPr/>
          <p:nvPr/>
        </p:nvSpPr>
        <p:spPr>
          <a:xfrm>
            <a:off x="969120" y="2578680"/>
            <a:ext cx="3081240" cy="18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Finalizar planejamento mensal</a:t>
            </a:r>
            <a:endParaRPr lang="pt-BR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Finalizar relatório de marketing</a:t>
            </a:r>
            <a:endParaRPr lang="pt-BR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Abrir criativos: Dia dos Namorados e Conecta Saúde</a:t>
            </a:r>
            <a:endParaRPr lang="pt-BR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Postar 2º criativo de pertencimento</a:t>
            </a:r>
            <a:endParaRPr lang="pt-BR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8"/>
          <p:cNvSpPr/>
          <p:nvPr/>
        </p:nvSpPr>
        <p:spPr>
          <a:xfrm>
            <a:off x="4443840" y="2011680"/>
            <a:ext cx="3520080" cy="2559960"/>
          </a:xfrm>
          <a:prstGeom prst="roundRect">
            <a:avLst>
              <a:gd name="adj" fmla="val 2857"/>
            </a:avLst>
          </a:prstGeom>
          <a:solidFill>
            <a:srgbClr val="0E82D0">
              <a:alpha val="68000"/>
            </a:srgbClr>
          </a:solidFill>
          <a:ln w="17780">
            <a:solidFill>
              <a:srgbClr val="F1FF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9"/>
          <p:cNvSpPr/>
          <p:nvPr/>
        </p:nvSpPr>
        <p:spPr>
          <a:xfrm>
            <a:off x="4553640" y="2157840"/>
            <a:ext cx="91080" cy="2267280"/>
          </a:xfrm>
          <a:prstGeom prst="rect">
            <a:avLst/>
          </a:prstGeom>
          <a:solidFill>
            <a:srgbClr val="F1FF0A"/>
          </a:solidFill>
          <a:ln w="12700">
            <a:solidFill>
              <a:srgbClr val="F1FF0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4754880" y="2176200"/>
            <a:ext cx="3081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Prioridade moderada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4754880" y="2578680"/>
            <a:ext cx="3081240" cy="18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Revisar destaques do Instagram</a:t>
            </a:r>
            <a:endParaRPr lang="pt-BR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Melhorar Linktree/link de associação</a:t>
            </a:r>
            <a:endParaRPr lang="pt-BR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Encaminhar briefing do mídia kit</a:t>
            </a:r>
            <a:endParaRPr lang="pt-BR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Organizar materiais não postados</a:t>
            </a:r>
            <a:endParaRPr lang="pt-BR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6"/>
          <p:cNvSpPr/>
          <p:nvPr/>
        </p:nvSpPr>
        <p:spPr>
          <a:xfrm>
            <a:off x="658440" y="507492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Objetivo da semana: sair da reunião com o mês desenhado, os arquivos abertos e o Trello menos nebuloso.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7"/>
          <p:cNvSpPr/>
          <p:nvPr/>
        </p:nvSpPr>
        <p:spPr>
          <a:xfrm>
            <a:off x="11384280" y="647388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>
                    <a:alpha val="75000"/>
                  </a:srgbClr>
                </a:solidFill>
                <a:effectLst/>
                <a:uFillTx/>
                <a:latin typeface="Aptos"/>
                <a:ea typeface="Aptos"/>
              </a:rPr>
              <a:t>07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6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 0" descr="/mnt/data/acirv_bg_1600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 0"/>
          <p:cNvSpPr/>
          <p:nvPr/>
        </p:nvSpPr>
        <p:spPr>
          <a:xfrm>
            <a:off x="658440" y="402480"/>
            <a:ext cx="2331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Planejamento do Mês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2596680" y="511920"/>
            <a:ext cx="900684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"/>
          <p:cNvSpPr/>
          <p:nvPr/>
        </p:nvSpPr>
        <p:spPr>
          <a:xfrm>
            <a:off x="658440" y="86868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900" b="1" u="none" strike="noStrike">
                <a:solidFill>
                  <a:srgbClr val="F1FF0A"/>
                </a:solidFill>
                <a:effectLst/>
                <a:uFillTx/>
                <a:latin typeface="Aptos Display"/>
                <a:ea typeface="Aptos Display"/>
              </a:rPr>
              <a:t>Semana 2 - relacionamento e inscrições</a:t>
            </a:r>
            <a:endParaRPr lang="pt-BR" sz="3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3"/>
          <p:cNvSpPr/>
          <p:nvPr/>
        </p:nvSpPr>
        <p:spPr>
          <a:xfrm>
            <a:off x="658440" y="1435680"/>
            <a:ext cx="10926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08 a 12/06: usar datas e chamadas sem exagerar no volume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4"/>
          <p:cNvSpPr/>
          <p:nvPr/>
        </p:nvSpPr>
        <p:spPr>
          <a:xfrm>
            <a:off x="658440" y="2011680"/>
            <a:ext cx="2880000" cy="3062880"/>
          </a:xfrm>
          <a:prstGeom prst="roundRect">
            <a:avLst>
              <a:gd name="adj" fmla="val 2540"/>
            </a:avLst>
          </a:prstGeom>
          <a:solidFill>
            <a:srgbClr val="0E82D0">
              <a:alpha val="68000"/>
            </a:srgbClr>
          </a:solidFill>
          <a:ln w="17780">
            <a:solidFill>
              <a:srgbClr val="8BEC0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5"/>
          <p:cNvSpPr/>
          <p:nvPr/>
        </p:nvSpPr>
        <p:spPr>
          <a:xfrm>
            <a:off x="768240" y="2157840"/>
            <a:ext cx="91080" cy="2770200"/>
          </a:xfrm>
          <a:prstGeom prst="rect">
            <a:avLst/>
          </a:prstGeom>
          <a:solidFill>
            <a:srgbClr val="8BEC01"/>
          </a:solidFill>
          <a:ln w="12700">
            <a:solidFill>
              <a:srgbClr val="8BEC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6"/>
          <p:cNvSpPr/>
          <p:nvPr/>
        </p:nvSpPr>
        <p:spPr>
          <a:xfrm>
            <a:off x="969120" y="2176200"/>
            <a:ext cx="2441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09/06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7"/>
          <p:cNvSpPr/>
          <p:nvPr/>
        </p:nvSpPr>
        <p:spPr>
          <a:xfrm>
            <a:off x="969120" y="2578680"/>
            <a:ext cx="2441160" cy="23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Abrir inscrições para o Happy Hour Copa</a:t>
            </a:r>
            <a:endParaRPr lang="pt-BR" sz="12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Stories + feed + WhatsApp</a:t>
            </a:r>
            <a:endParaRPr lang="pt-BR" sz="12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CTA único e direto</a:t>
            </a:r>
            <a:endParaRPr lang="pt-BR" sz="12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8"/>
          <p:cNvSpPr/>
          <p:nvPr/>
        </p:nvSpPr>
        <p:spPr>
          <a:xfrm>
            <a:off x="3749040" y="2011680"/>
            <a:ext cx="2880000" cy="3062880"/>
          </a:xfrm>
          <a:prstGeom prst="roundRect">
            <a:avLst>
              <a:gd name="adj" fmla="val 2540"/>
            </a:avLst>
          </a:prstGeom>
          <a:solidFill>
            <a:srgbClr val="0E82D0">
              <a:alpha val="68000"/>
            </a:srgbClr>
          </a:solidFill>
          <a:ln w="17780">
            <a:solidFill>
              <a:srgbClr val="F1FF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9"/>
          <p:cNvSpPr/>
          <p:nvPr/>
        </p:nvSpPr>
        <p:spPr>
          <a:xfrm>
            <a:off x="3858840" y="2157840"/>
            <a:ext cx="91080" cy="2770200"/>
          </a:xfrm>
          <a:prstGeom prst="rect">
            <a:avLst/>
          </a:prstGeom>
          <a:solidFill>
            <a:srgbClr val="F1FF0A"/>
          </a:solidFill>
          <a:ln w="12700">
            <a:solidFill>
              <a:srgbClr val="F1FF0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0"/>
          <p:cNvSpPr/>
          <p:nvPr/>
        </p:nvSpPr>
        <p:spPr>
          <a:xfrm>
            <a:off x="4060080" y="2176200"/>
            <a:ext cx="2441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12 ou 13/06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1"/>
          <p:cNvSpPr/>
          <p:nvPr/>
        </p:nvSpPr>
        <p:spPr>
          <a:xfrm>
            <a:off x="4060080" y="2578680"/>
            <a:ext cx="2441160" cy="23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Dia dos Namorados</a:t>
            </a:r>
            <a:endParaRPr lang="pt-BR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“ACIRV em um relacionamento sério com os empresários de Rio Verde”</a:t>
            </a:r>
            <a:endParaRPr lang="pt-BR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Peça leve e institucional</a:t>
            </a:r>
            <a:endParaRPr lang="pt-BR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2"/>
          <p:cNvSpPr/>
          <p:nvPr/>
        </p:nvSpPr>
        <p:spPr>
          <a:xfrm>
            <a:off x="6839640" y="2011680"/>
            <a:ext cx="4160160" cy="3062880"/>
          </a:xfrm>
          <a:prstGeom prst="roundRect">
            <a:avLst>
              <a:gd name="adj" fmla="val 2388"/>
            </a:avLst>
          </a:prstGeom>
          <a:solidFill>
            <a:srgbClr val="0E82D0">
              <a:alpha val="68000"/>
            </a:srgbClr>
          </a:solidFill>
          <a:ln w="17780">
            <a:solidFill>
              <a:srgbClr val="129C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3"/>
          <p:cNvSpPr/>
          <p:nvPr/>
        </p:nvSpPr>
        <p:spPr>
          <a:xfrm>
            <a:off x="6949440" y="2157840"/>
            <a:ext cx="91080" cy="2770200"/>
          </a:xfrm>
          <a:prstGeom prst="rect">
            <a:avLst/>
          </a:prstGeom>
          <a:solidFill>
            <a:srgbClr val="129CDF"/>
          </a:solidFill>
          <a:ln w="12700">
            <a:solidFill>
              <a:srgbClr val="129CD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4"/>
          <p:cNvSpPr/>
          <p:nvPr/>
        </p:nvSpPr>
        <p:spPr>
          <a:xfrm>
            <a:off x="7150680" y="2176200"/>
            <a:ext cx="3721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Conteúdos frio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5"/>
          <p:cNvSpPr/>
          <p:nvPr/>
        </p:nvSpPr>
        <p:spPr>
          <a:xfrm>
            <a:off x="7150680" y="2578680"/>
            <a:ext cx="3721320" cy="23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Quanto custa Sorvete Caro VS Café na ACIRV</a:t>
            </a:r>
            <a:endParaRPr lang="pt-B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Explicando Gírias da Geração Z com a ACIRV</a:t>
            </a:r>
            <a:endParaRPr lang="pt-B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Conteúdo frio sobre serviço ACIRV</a:t>
            </a:r>
            <a:endParaRPr lang="pt-B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6"/>
          <p:cNvSpPr/>
          <p:nvPr/>
        </p:nvSpPr>
        <p:spPr>
          <a:xfrm>
            <a:off x="658440" y="548640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Limite sugerido: 18 a 22 tarefas. A semana deve converter atenção em inscrição, não virar vitrine de ideias soltas.</a:t>
            </a:r>
            <a:endParaRPr lang="pt-BR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7"/>
          <p:cNvSpPr/>
          <p:nvPr/>
        </p:nvSpPr>
        <p:spPr>
          <a:xfrm>
            <a:off x="11384280" y="647388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>
                    <a:alpha val="75000"/>
                  </a:srgbClr>
                </a:solidFill>
                <a:effectLst/>
                <a:uFillTx/>
                <a:latin typeface="Aptos"/>
                <a:ea typeface="Aptos"/>
              </a:rPr>
              <a:t>08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6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0" descr="/mnt/data/acirv_bg_1600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0"/>
          <p:cNvSpPr/>
          <p:nvPr/>
        </p:nvSpPr>
        <p:spPr>
          <a:xfrm>
            <a:off x="658440" y="402480"/>
            <a:ext cx="2331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Planejamento do Mês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"/>
          <p:cNvSpPr/>
          <p:nvPr/>
        </p:nvSpPr>
        <p:spPr>
          <a:xfrm>
            <a:off x="2596680" y="511920"/>
            <a:ext cx="900684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658440" y="86868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900" b="1" u="none" strike="noStrike">
                <a:solidFill>
                  <a:srgbClr val="F1FF0A"/>
                </a:solidFill>
                <a:effectLst/>
                <a:uFillTx/>
                <a:latin typeface="Aptos Display"/>
                <a:ea typeface="Aptos Display"/>
              </a:rPr>
              <a:t>Semana 3 - preparação pesada</a:t>
            </a:r>
            <a:endParaRPr lang="pt-BR" sz="3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658440" y="1435680"/>
            <a:ext cx="10926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15 a 19/06: reduzir risco antes da semana crítica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4"/>
          <p:cNvSpPr/>
          <p:nvPr/>
        </p:nvSpPr>
        <p:spPr>
          <a:xfrm>
            <a:off x="658440" y="2011680"/>
            <a:ext cx="3428640" cy="3062880"/>
          </a:xfrm>
          <a:prstGeom prst="roundRect">
            <a:avLst>
              <a:gd name="adj" fmla="val 2388"/>
            </a:avLst>
          </a:prstGeom>
          <a:solidFill>
            <a:srgbClr val="0E82D0">
              <a:alpha val="68000"/>
            </a:srgbClr>
          </a:solidFill>
          <a:ln w="17780">
            <a:solidFill>
              <a:srgbClr val="FF7D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5"/>
          <p:cNvSpPr/>
          <p:nvPr/>
        </p:nvSpPr>
        <p:spPr>
          <a:xfrm>
            <a:off x="768240" y="2157840"/>
            <a:ext cx="91080" cy="2770200"/>
          </a:xfrm>
          <a:prstGeom prst="rect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969120" y="2176200"/>
            <a:ext cx="2989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Eventos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969120" y="2578680"/>
            <a:ext cx="2989800" cy="23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Fechar plano de cobertura do Congresso ACIRV Mulher</a:t>
            </a:r>
            <a:endParaRPr lang="pt-BR" sz="12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Fechar plano do Happy Hour Copa</a:t>
            </a:r>
            <a:endParaRPr lang="pt-BR" sz="12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Confirmar roteiro, fotos, vídeos e responsáveis</a:t>
            </a:r>
            <a:endParaRPr lang="pt-BR" sz="12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8"/>
          <p:cNvSpPr/>
          <p:nvPr/>
        </p:nvSpPr>
        <p:spPr>
          <a:xfrm>
            <a:off x="4389120" y="2011680"/>
            <a:ext cx="3428640" cy="3062880"/>
          </a:xfrm>
          <a:prstGeom prst="roundRect">
            <a:avLst>
              <a:gd name="adj" fmla="val 2388"/>
            </a:avLst>
          </a:prstGeom>
          <a:solidFill>
            <a:srgbClr val="0E82D0">
              <a:alpha val="68000"/>
            </a:srgbClr>
          </a:solidFill>
          <a:ln w="17780">
            <a:solidFill>
              <a:srgbClr val="8BEC0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9"/>
          <p:cNvSpPr/>
          <p:nvPr/>
        </p:nvSpPr>
        <p:spPr>
          <a:xfrm>
            <a:off x="4498920" y="2157840"/>
            <a:ext cx="91080" cy="2770200"/>
          </a:xfrm>
          <a:prstGeom prst="rect">
            <a:avLst/>
          </a:prstGeom>
          <a:solidFill>
            <a:srgbClr val="8BEC01"/>
          </a:solidFill>
          <a:ln w="12700">
            <a:solidFill>
              <a:srgbClr val="8BEC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0"/>
          <p:cNvSpPr/>
          <p:nvPr/>
        </p:nvSpPr>
        <p:spPr>
          <a:xfrm>
            <a:off x="4700160" y="2176200"/>
            <a:ext cx="2989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Processo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1"/>
          <p:cNvSpPr/>
          <p:nvPr/>
        </p:nvSpPr>
        <p:spPr>
          <a:xfrm>
            <a:off x="4700160" y="2578680"/>
            <a:ext cx="2989800" cy="23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Finalizar fluxograma de eventos</a:t>
            </a:r>
            <a:endParaRPr lang="pt-BR" sz="12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Definir quem faz o quê</a:t>
            </a:r>
            <a:endParaRPr lang="pt-BR" sz="12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Separar comunicação, financeiro, diretoria e organização</a:t>
            </a:r>
            <a:endParaRPr lang="pt-BR" sz="12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2"/>
          <p:cNvSpPr/>
          <p:nvPr/>
        </p:nvSpPr>
        <p:spPr>
          <a:xfrm>
            <a:off x="8119800" y="2011680"/>
            <a:ext cx="2880000" cy="3062880"/>
          </a:xfrm>
          <a:prstGeom prst="roundRect">
            <a:avLst>
              <a:gd name="adj" fmla="val 2540"/>
            </a:avLst>
          </a:prstGeom>
          <a:solidFill>
            <a:srgbClr val="0E82D0">
              <a:alpha val="68000"/>
            </a:srgbClr>
          </a:solidFill>
          <a:ln w="17780">
            <a:solidFill>
              <a:srgbClr val="F1FF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3"/>
          <p:cNvSpPr/>
          <p:nvPr/>
        </p:nvSpPr>
        <p:spPr>
          <a:xfrm>
            <a:off x="8229600" y="2157840"/>
            <a:ext cx="91080" cy="2770200"/>
          </a:xfrm>
          <a:prstGeom prst="rect">
            <a:avLst/>
          </a:prstGeom>
          <a:solidFill>
            <a:srgbClr val="F1FF0A"/>
          </a:solidFill>
          <a:ln w="12700">
            <a:solidFill>
              <a:srgbClr val="F1FF0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4"/>
          <p:cNvSpPr/>
          <p:nvPr/>
        </p:nvSpPr>
        <p:spPr>
          <a:xfrm>
            <a:off x="8430840" y="2176200"/>
            <a:ext cx="2441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Conteúdo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5"/>
          <p:cNvSpPr/>
          <p:nvPr/>
        </p:nvSpPr>
        <p:spPr>
          <a:xfrm>
            <a:off x="8430840" y="2578680"/>
            <a:ext cx="2441160" cy="23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Post frio de serviço</a:t>
            </a:r>
            <a:endParaRPr lang="pt-BR" sz="12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Chamadas finais de eventos</a:t>
            </a:r>
            <a:endParaRPr lang="pt-BR" sz="12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6"/>
          <p:cNvSpPr/>
          <p:nvPr/>
        </p:nvSpPr>
        <p:spPr>
          <a:xfrm>
            <a:off x="658440" y="548640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Regra: nenhuma cobertura deve chegar ao dia do evento sem briefing, responsáveis e pós-evento mapeados.</a:t>
            </a:r>
            <a:endParaRPr lang="pt-BR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7"/>
          <p:cNvSpPr/>
          <p:nvPr/>
        </p:nvSpPr>
        <p:spPr>
          <a:xfrm>
            <a:off x="11384280" y="647388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>
                    <a:alpha val="75000"/>
                  </a:srgbClr>
                </a:solidFill>
                <a:effectLst/>
                <a:uFillTx/>
                <a:latin typeface="Aptos"/>
                <a:ea typeface="Aptos"/>
              </a:rPr>
              <a:t>09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6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 0" descr="/mnt/data/acirv_bg_1600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 0"/>
          <p:cNvSpPr/>
          <p:nvPr/>
        </p:nvSpPr>
        <p:spPr>
          <a:xfrm>
            <a:off x="658440" y="402480"/>
            <a:ext cx="2331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Planejamento do Mês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"/>
          <p:cNvSpPr/>
          <p:nvPr/>
        </p:nvSpPr>
        <p:spPr>
          <a:xfrm>
            <a:off x="2596680" y="511920"/>
            <a:ext cx="900684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"/>
          <p:cNvSpPr/>
          <p:nvPr/>
        </p:nvSpPr>
        <p:spPr>
          <a:xfrm>
            <a:off x="658440" y="86868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900" b="1" u="none" strike="noStrike">
                <a:solidFill>
                  <a:srgbClr val="F1FF0A"/>
                </a:solidFill>
                <a:effectLst/>
                <a:uFillTx/>
                <a:latin typeface="Aptos Display"/>
                <a:ea typeface="Aptos Display"/>
              </a:rPr>
              <a:t>Semana 4 - execução e pós-evento</a:t>
            </a:r>
            <a:endParaRPr lang="pt-BR" sz="3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"/>
          <p:cNvSpPr/>
          <p:nvPr/>
        </p:nvSpPr>
        <p:spPr>
          <a:xfrm>
            <a:off x="658440" y="1435680"/>
            <a:ext cx="10926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22 a 26/06: a semana mais crítica do mês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4"/>
          <p:cNvSpPr/>
          <p:nvPr/>
        </p:nvSpPr>
        <p:spPr>
          <a:xfrm>
            <a:off x="658440" y="1993320"/>
            <a:ext cx="2559960" cy="3565800"/>
          </a:xfrm>
          <a:prstGeom prst="roundRect">
            <a:avLst>
              <a:gd name="adj" fmla="val 2857"/>
            </a:avLst>
          </a:prstGeom>
          <a:solidFill>
            <a:srgbClr val="0E82D0">
              <a:alpha val="68000"/>
            </a:srgbClr>
          </a:solidFill>
          <a:ln w="17780">
            <a:solidFill>
              <a:srgbClr val="8BEC0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5"/>
          <p:cNvSpPr/>
          <p:nvPr/>
        </p:nvSpPr>
        <p:spPr>
          <a:xfrm>
            <a:off x="768240" y="2139840"/>
            <a:ext cx="91080" cy="3273120"/>
          </a:xfrm>
          <a:prstGeom prst="rect">
            <a:avLst/>
          </a:prstGeom>
          <a:solidFill>
            <a:srgbClr val="8BEC01"/>
          </a:solidFill>
          <a:ln w="12700">
            <a:solidFill>
              <a:srgbClr val="8BEC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969120" y="2157840"/>
            <a:ext cx="2121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23/06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7"/>
          <p:cNvSpPr/>
          <p:nvPr/>
        </p:nvSpPr>
        <p:spPr>
          <a:xfrm>
            <a:off x="969120" y="2560320"/>
            <a:ext cx="2121120" cy="28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Cobertura Congresso ACIRV Mulher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Stories, fotos, vídeos curtos e bastidores.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8"/>
          <p:cNvSpPr/>
          <p:nvPr/>
        </p:nvSpPr>
        <p:spPr>
          <a:xfrm>
            <a:off x="3456360" y="1993320"/>
            <a:ext cx="2559960" cy="3565800"/>
          </a:xfrm>
          <a:prstGeom prst="roundRect">
            <a:avLst>
              <a:gd name="adj" fmla="val 2857"/>
            </a:avLst>
          </a:prstGeom>
          <a:solidFill>
            <a:srgbClr val="0E82D0">
              <a:alpha val="68000"/>
            </a:srgbClr>
          </a:solidFill>
          <a:ln w="17780">
            <a:solidFill>
              <a:srgbClr val="FF7D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9"/>
          <p:cNvSpPr/>
          <p:nvPr/>
        </p:nvSpPr>
        <p:spPr>
          <a:xfrm>
            <a:off x="3566160" y="2139840"/>
            <a:ext cx="91080" cy="3273120"/>
          </a:xfrm>
          <a:prstGeom prst="rect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3767400" y="2157840"/>
            <a:ext cx="2121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24/06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1"/>
          <p:cNvSpPr/>
          <p:nvPr/>
        </p:nvSpPr>
        <p:spPr>
          <a:xfrm>
            <a:off x="3767400" y="2560320"/>
            <a:ext cx="2121120" cy="28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Congresso ACIRV Mulher + Happy Hour Copa</a:t>
            </a:r>
            <a:endParaRPr lang="pt-BR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Registrar público, patrocinadores, telão e bastidores.</a:t>
            </a:r>
            <a:endParaRPr lang="pt-BR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2"/>
          <p:cNvSpPr/>
          <p:nvPr/>
        </p:nvSpPr>
        <p:spPr>
          <a:xfrm>
            <a:off x="6254640" y="1993320"/>
            <a:ext cx="2559960" cy="3565800"/>
          </a:xfrm>
          <a:prstGeom prst="roundRect">
            <a:avLst>
              <a:gd name="adj" fmla="val 2857"/>
            </a:avLst>
          </a:prstGeom>
          <a:solidFill>
            <a:srgbClr val="0E82D0">
              <a:alpha val="68000"/>
            </a:srgbClr>
          </a:solidFill>
          <a:ln w="17780">
            <a:solidFill>
              <a:srgbClr val="F1FF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3"/>
          <p:cNvSpPr/>
          <p:nvPr/>
        </p:nvSpPr>
        <p:spPr>
          <a:xfrm>
            <a:off x="6364080" y="2139840"/>
            <a:ext cx="91080" cy="3273120"/>
          </a:xfrm>
          <a:prstGeom prst="rect">
            <a:avLst/>
          </a:prstGeom>
          <a:solidFill>
            <a:srgbClr val="F1FF0A"/>
          </a:solidFill>
          <a:ln w="12700">
            <a:solidFill>
              <a:srgbClr val="F1FF0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4"/>
          <p:cNvSpPr/>
          <p:nvPr/>
        </p:nvSpPr>
        <p:spPr>
          <a:xfrm>
            <a:off x="6565320" y="2157840"/>
            <a:ext cx="2121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São João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5"/>
          <p:cNvSpPr/>
          <p:nvPr/>
        </p:nvSpPr>
        <p:spPr>
          <a:xfrm>
            <a:off x="6565320" y="2560320"/>
            <a:ext cx="2121120" cy="28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Usar como clima e bastidor, não como campanha grande separada.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0"/>
          <p:cNvSpPr/>
          <p:nvPr/>
        </p:nvSpPr>
        <p:spPr>
          <a:xfrm>
            <a:off x="658440" y="562356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Limite da semana: 12 a 16 tarefas planejadas. O foco é executar, registrar e reaproveitar.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1"/>
          <p:cNvSpPr/>
          <p:nvPr/>
        </p:nvSpPr>
        <p:spPr>
          <a:xfrm>
            <a:off x="11384280" y="647388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>
                    <a:alpha val="75000"/>
                  </a:srgbClr>
                </a:solidFill>
                <a:effectLst/>
                <a:uFillTx/>
                <a:latin typeface="Aptos"/>
                <a:ea typeface="Aptos"/>
              </a:rPr>
              <a:t>10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6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Image 0" descr="/mnt/data/acirv_bg_1600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ext 0"/>
          <p:cNvSpPr/>
          <p:nvPr/>
        </p:nvSpPr>
        <p:spPr>
          <a:xfrm>
            <a:off x="658440" y="402480"/>
            <a:ext cx="2331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Planejamento do Mês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"/>
          <p:cNvSpPr/>
          <p:nvPr/>
        </p:nvSpPr>
        <p:spPr>
          <a:xfrm>
            <a:off x="2596680" y="511920"/>
            <a:ext cx="900684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"/>
          <p:cNvSpPr/>
          <p:nvPr/>
        </p:nvSpPr>
        <p:spPr>
          <a:xfrm>
            <a:off x="658440" y="86868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900" b="1" u="none" strike="noStrike">
                <a:solidFill>
                  <a:srgbClr val="F1FF0A"/>
                </a:solidFill>
                <a:effectLst/>
                <a:uFillTx/>
                <a:latin typeface="Aptos Display"/>
                <a:ea typeface="Aptos Display"/>
              </a:rPr>
              <a:t>Campanhas centrais</a:t>
            </a:r>
            <a:endParaRPr lang="pt-BR" sz="3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"/>
          <p:cNvSpPr/>
          <p:nvPr/>
        </p:nvSpPr>
        <p:spPr>
          <a:xfrm>
            <a:off x="658440" y="1435680"/>
            <a:ext cx="10926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O que deve ganhar narrativa, não apenas post isolado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4"/>
          <p:cNvSpPr/>
          <p:nvPr/>
        </p:nvSpPr>
        <p:spPr>
          <a:xfrm>
            <a:off x="658440" y="1993320"/>
            <a:ext cx="2559960" cy="3154320"/>
          </a:xfrm>
          <a:prstGeom prst="roundRect">
            <a:avLst>
              <a:gd name="adj" fmla="val 2857"/>
            </a:avLst>
          </a:prstGeom>
          <a:solidFill>
            <a:srgbClr val="0E82D0">
              <a:alpha val="68000"/>
            </a:srgbClr>
          </a:solidFill>
          <a:ln w="17780">
            <a:solidFill>
              <a:srgbClr val="8BEC0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5"/>
          <p:cNvSpPr/>
          <p:nvPr/>
        </p:nvSpPr>
        <p:spPr>
          <a:xfrm>
            <a:off x="768240" y="2139840"/>
            <a:ext cx="91080" cy="2861640"/>
          </a:xfrm>
          <a:prstGeom prst="rect">
            <a:avLst/>
          </a:prstGeom>
          <a:solidFill>
            <a:srgbClr val="8BEC01"/>
          </a:solidFill>
          <a:ln w="12700">
            <a:solidFill>
              <a:srgbClr val="8BEC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969120" y="2157840"/>
            <a:ext cx="2121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Pertencimento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969120" y="2560320"/>
            <a:ext cx="2121120" cy="24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“Eu faço parte do movimento”</a:t>
            </a:r>
            <a:endParaRPr lang="pt-BR" sz="11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Diretoria primeiro, associados depois.</a:t>
            </a:r>
            <a:endParaRPr lang="pt-BR" sz="11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Usar moldura, depoimentos e prova social.</a:t>
            </a:r>
            <a:endParaRPr lang="pt-BR" sz="11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8"/>
          <p:cNvSpPr/>
          <p:nvPr/>
        </p:nvSpPr>
        <p:spPr>
          <a:xfrm>
            <a:off x="3456360" y="1993320"/>
            <a:ext cx="2559960" cy="3154320"/>
          </a:xfrm>
          <a:prstGeom prst="roundRect">
            <a:avLst>
              <a:gd name="adj" fmla="val 2857"/>
            </a:avLst>
          </a:prstGeom>
          <a:solidFill>
            <a:srgbClr val="0E82D0">
              <a:alpha val="68000"/>
            </a:srgbClr>
          </a:solidFill>
          <a:ln w="17780">
            <a:solidFill>
              <a:srgbClr val="FF7D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9"/>
          <p:cNvSpPr/>
          <p:nvPr/>
        </p:nvSpPr>
        <p:spPr>
          <a:xfrm>
            <a:off x="3566160" y="2139840"/>
            <a:ext cx="91080" cy="2861640"/>
          </a:xfrm>
          <a:prstGeom prst="rect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0"/>
          <p:cNvSpPr/>
          <p:nvPr/>
        </p:nvSpPr>
        <p:spPr>
          <a:xfrm>
            <a:off x="3767400" y="2157840"/>
            <a:ext cx="2121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Happy Hour Copa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1"/>
          <p:cNvSpPr/>
          <p:nvPr/>
        </p:nvSpPr>
        <p:spPr>
          <a:xfrm>
            <a:off x="3767400" y="2560320"/>
            <a:ext cx="2121120" cy="24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Inscrição, patrocinadores, bastidores, telão, clima Copa e pós-evento.</a:t>
            </a:r>
            <a:endParaRPr lang="pt-BR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2"/>
          <p:cNvSpPr/>
          <p:nvPr/>
        </p:nvSpPr>
        <p:spPr>
          <a:xfrm>
            <a:off x="6254640" y="1993320"/>
            <a:ext cx="2559960" cy="3154320"/>
          </a:xfrm>
          <a:prstGeom prst="roundRect">
            <a:avLst>
              <a:gd name="adj" fmla="val 2857"/>
            </a:avLst>
          </a:prstGeom>
          <a:solidFill>
            <a:srgbClr val="0E82D0">
              <a:alpha val="68000"/>
            </a:srgbClr>
          </a:solidFill>
          <a:ln w="17780">
            <a:solidFill>
              <a:srgbClr val="F1FF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3"/>
          <p:cNvSpPr/>
          <p:nvPr/>
        </p:nvSpPr>
        <p:spPr>
          <a:xfrm>
            <a:off x="6364080" y="2139840"/>
            <a:ext cx="91080" cy="2861640"/>
          </a:xfrm>
          <a:prstGeom prst="rect">
            <a:avLst/>
          </a:prstGeom>
          <a:solidFill>
            <a:srgbClr val="F1FF0A"/>
          </a:solidFill>
          <a:ln w="12700">
            <a:solidFill>
              <a:srgbClr val="F1FF0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4"/>
          <p:cNvSpPr/>
          <p:nvPr/>
        </p:nvSpPr>
        <p:spPr>
          <a:xfrm>
            <a:off x="6565320" y="2157840"/>
            <a:ext cx="2121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ACIRV Mulher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5"/>
          <p:cNvSpPr/>
          <p:nvPr/>
        </p:nvSpPr>
        <p:spPr>
          <a:xfrm>
            <a:off x="6565320" y="2560320"/>
            <a:ext cx="2121120" cy="24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Aquecimento, cobertura dos dias 23 e 24, matéria no site e resumo em carrossel.</a:t>
            </a:r>
            <a:endParaRPr lang="pt-BR" sz="12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0"/>
          <p:cNvSpPr/>
          <p:nvPr/>
        </p:nvSpPr>
        <p:spPr>
          <a:xfrm>
            <a:off x="658440" y="553212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Critério de campanha: precisa ter antes, durante, depois e reaproveitamento.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1"/>
          <p:cNvSpPr/>
          <p:nvPr/>
        </p:nvSpPr>
        <p:spPr>
          <a:xfrm>
            <a:off x="11384280" y="647388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>
                    <a:alpha val="75000"/>
                  </a:srgbClr>
                </a:solidFill>
                <a:effectLst/>
                <a:uFillTx/>
                <a:latin typeface="Aptos"/>
                <a:ea typeface="Aptos"/>
              </a:rPr>
              <a:t>11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6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Image 0" descr="/mnt/data/acirv_bg_1600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0"/>
          <p:cNvSpPr/>
          <p:nvPr/>
        </p:nvSpPr>
        <p:spPr>
          <a:xfrm>
            <a:off x="658440" y="402480"/>
            <a:ext cx="2331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Planejamento do Mês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"/>
          <p:cNvSpPr/>
          <p:nvPr/>
        </p:nvSpPr>
        <p:spPr>
          <a:xfrm>
            <a:off x="2596680" y="511920"/>
            <a:ext cx="900684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"/>
          <p:cNvSpPr/>
          <p:nvPr/>
        </p:nvSpPr>
        <p:spPr>
          <a:xfrm>
            <a:off x="658440" y="86868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900" b="1" u="none" strike="noStrike">
                <a:solidFill>
                  <a:srgbClr val="F1FF0A"/>
                </a:solidFill>
                <a:effectLst/>
                <a:uFillTx/>
                <a:latin typeface="Aptos Display"/>
                <a:ea typeface="Aptos Display"/>
              </a:rPr>
              <a:t>Grade por canais</a:t>
            </a:r>
            <a:endParaRPr lang="pt-BR" sz="3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3"/>
          <p:cNvSpPr/>
          <p:nvPr/>
        </p:nvSpPr>
        <p:spPr>
          <a:xfrm>
            <a:off x="658440" y="1435680"/>
            <a:ext cx="10926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Cada canal com uma função clara no planejamento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4"/>
          <p:cNvSpPr/>
          <p:nvPr/>
        </p:nvSpPr>
        <p:spPr>
          <a:xfrm>
            <a:off x="658440" y="2011680"/>
            <a:ext cx="1992960" cy="3154320"/>
          </a:xfrm>
          <a:prstGeom prst="roundRect">
            <a:avLst>
              <a:gd name="adj" fmla="val 3670"/>
            </a:avLst>
          </a:prstGeom>
          <a:solidFill>
            <a:srgbClr val="0E82D0">
              <a:alpha val="68000"/>
            </a:srgbClr>
          </a:solidFill>
          <a:ln w="17780">
            <a:solidFill>
              <a:srgbClr val="F1FF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5"/>
          <p:cNvSpPr/>
          <p:nvPr/>
        </p:nvSpPr>
        <p:spPr>
          <a:xfrm>
            <a:off x="768240" y="2157840"/>
            <a:ext cx="91080" cy="2861640"/>
          </a:xfrm>
          <a:prstGeom prst="rect">
            <a:avLst/>
          </a:prstGeom>
          <a:solidFill>
            <a:srgbClr val="F1FF0A"/>
          </a:solidFill>
          <a:ln w="12700">
            <a:solidFill>
              <a:srgbClr val="F1FF0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6"/>
          <p:cNvSpPr/>
          <p:nvPr/>
        </p:nvSpPr>
        <p:spPr>
          <a:xfrm>
            <a:off x="969120" y="2176200"/>
            <a:ext cx="1554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Feed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7"/>
          <p:cNvSpPr/>
          <p:nvPr/>
        </p:nvSpPr>
        <p:spPr>
          <a:xfrm>
            <a:off x="969120" y="2578680"/>
            <a:ext cx="1554120" cy="24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Carrosséis simples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Datas comemorativas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Serviços ACIRV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Pós-evento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8"/>
          <p:cNvSpPr/>
          <p:nvPr/>
        </p:nvSpPr>
        <p:spPr>
          <a:xfrm>
            <a:off x="2880360" y="2011680"/>
            <a:ext cx="1992960" cy="3154320"/>
          </a:xfrm>
          <a:prstGeom prst="roundRect">
            <a:avLst>
              <a:gd name="adj" fmla="val 3670"/>
            </a:avLst>
          </a:prstGeom>
          <a:solidFill>
            <a:srgbClr val="0E82D0">
              <a:alpha val="68000"/>
            </a:srgbClr>
          </a:solidFill>
          <a:ln w="17780">
            <a:solidFill>
              <a:srgbClr val="8BEC0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9"/>
          <p:cNvSpPr/>
          <p:nvPr/>
        </p:nvSpPr>
        <p:spPr>
          <a:xfrm>
            <a:off x="2990160" y="2157840"/>
            <a:ext cx="91080" cy="2861640"/>
          </a:xfrm>
          <a:prstGeom prst="rect">
            <a:avLst/>
          </a:prstGeom>
          <a:solidFill>
            <a:srgbClr val="8BEC01"/>
          </a:solidFill>
          <a:ln w="12700">
            <a:solidFill>
              <a:srgbClr val="8BEC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0"/>
          <p:cNvSpPr/>
          <p:nvPr/>
        </p:nvSpPr>
        <p:spPr>
          <a:xfrm>
            <a:off x="3191400" y="2176200"/>
            <a:ext cx="1554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Reels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1"/>
          <p:cNvSpPr/>
          <p:nvPr/>
        </p:nvSpPr>
        <p:spPr>
          <a:xfrm>
            <a:off x="3191400" y="2578680"/>
            <a:ext cx="1554120" cy="24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Edições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Depoimentos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Bastidores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2"/>
          <p:cNvSpPr/>
          <p:nvPr/>
        </p:nvSpPr>
        <p:spPr>
          <a:xfrm>
            <a:off x="5102280" y="2011680"/>
            <a:ext cx="1992960" cy="3154320"/>
          </a:xfrm>
          <a:prstGeom prst="roundRect">
            <a:avLst>
              <a:gd name="adj" fmla="val 3670"/>
            </a:avLst>
          </a:prstGeom>
          <a:solidFill>
            <a:srgbClr val="0E82D0">
              <a:alpha val="68000"/>
            </a:srgbClr>
          </a:solidFill>
          <a:ln w="17780">
            <a:solidFill>
              <a:srgbClr val="129C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3"/>
          <p:cNvSpPr/>
          <p:nvPr/>
        </p:nvSpPr>
        <p:spPr>
          <a:xfrm>
            <a:off x="5212080" y="2157840"/>
            <a:ext cx="91080" cy="2861640"/>
          </a:xfrm>
          <a:prstGeom prst="rect">
            <a:avLst/>
          </a:prstGeom>
          <a:solidFill>
            <a:srgbClr val="129CDF"/>
          </a:solidFill>
          <a:ln w="12700">
            <a:solidFill>
              <a:srgbClr val="129CD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4"/>
          <p:cNvSpPr/>
          <p:nvPr/>
        </p:nvSpPr>
        <p:spPr>
          <a:xfrm>
            <a:off x="5413320" y="2176200"/>
            <a:ext cx="1554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Stories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5"/>
          <p:cNvSpPr/>
          <p:nvPr/>
        </p:nvSpPr>
        <p:spPr>
          <a:xfrm>
            <a:off x="5413320" y="2578680"/>
            <a:ext cx="1554120" cy="24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Agenda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Repost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Inscrições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Cobertura ao vivo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6"/>
          <p:cNvSpPr/>
          <p:nvPr/>
        </p:nvSpPr>
        <p:spPr>
          <a:xfrm>
            <a:off x="7324200" y="2011680"/>
            <a:ext cx="1992960" cy="3154320"/>
          </a:xfrm>
          <a:prstGeom prst="roundRect">
            <a:avLst>
              <a:gd name="adj" fmla="val 3670"/>
            </a:avLst>
          </a:prstGeom>
          <a:solidFill>
            <a:srgbClr val="0E82D0">
              <a:alpha val="68000"/>
            </a:srgbClr>
          </a:solidFill>
          <a:ln w="17780">
            <a:solidFill>
              <a:srgbClr val="FF7D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7"/>
          <p:cNvSpPr/>
          <p:nvPr/>
        </p:nvSpPr>
        <p:spPr>
          <a:xfrm>
            <a:off x="7434000" y="2157840"/>
            <a:ext cx="91080" cy="2861640"/>
          </a:xfrm>
          <a:prstGeom prst="rect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8"/>
          <p:cNvSpPr/>
          <p:nvPr/>
        </p:nvSpPr>
        <p:spPr>
          <a:xfrm>
            <a:off x="7635240" y="2176200"/>
            <a:ext cx="1554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Site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9"/>
          <p:cNvSpPr/>
          <p:nvPr/>
        </p:nvSpPr>
        <p:spPr>
          <a:xfrm>
            <a:off x="7635240" y="2578680"/>
            <a:ext cx="1554120" cy="24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Matérias de eventos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Institucional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Autoridade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Registro formal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0"/>
          <p:cNvSpPr/>
          <p:nvPr/>
        </p:nvSpPr>
        <p:spPr>
          <a:xfrm>
            <a:off x="9546480" y="2011680"/>
            <a:ext cx="1992960" cy="3154320"/>
          </a:xfrm>
          <a:prstGeom prst="roundRect">
            <a:avLst>
              <a:gd name="adj" fmla="val 3670"/>
            </a:avLst>
          </a:prstGeom>
          <a:solidFill>
            <a:srgbClr val="0E82D0">
              <a:alpha val="68000"/>
            </a:srgbClr>
          </a:solidFill>
          <a:ln w="17780">
            <a:solidFill>
              <a:srgbClr val="8BEC0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1"/>
          <p:cNvSpPr/>
          <p:nvPr/>
        </p:nvSpPr>
        <p:spPr>
          <a:xfrm>
            <a:off x="9655920" y="2157840"/>
            <a:ext cx="91080" cy="2861640"/>
          </a:xfrm>
          <a:prstGeom prst="rect">
            <a:avLst/>
          </a:prstGeom>
          <a:solidFill>
            <a:srgbClr val="8BEC01"/>
          </a:solidFill>
          <a:ln w="12700">
            <a:solidFill>
              <a:srgbClr val="8BEC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2"/>
          <p:cNvSpPr/>
          <p:nvPr/>
        </p:nvSpPr>
        <p:spPr>
          <a:xfrm>
            <a:off x="9857160" y="2176200"/>
            <a:ext cx="1554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WhatsApp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3"/>
          <p:cNvSpPr/>
          <p:nvPr/>
        </p:nvSpPr>
        <p:spPr>
          <a:xfrm>
            <a:off x="9857160" y="2578680"/>
            <a:ext cx="1554120" cy="24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Inscrições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Convites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Patrocínio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CTA único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4"/>
          <p:cNvSpPr/>
          <p:nvPr/>
        </p:nvSpPr>
        <p:spPr>
          <a:xfrm>
            <a:off x="658440" y="548640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 função do canal define o formato: feed organiza; reels aproxima; stories distribuem; site consolida; WhatsApp converte.</a:t>
            </a:r>
            <a:endParaRPr lang="pt-BR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5"/>
          <p:cNvSpPr/>
          <p:nvPr/>
        </p:nvSpPr>
        <p:spPr>
          <a:xfrm>
            <a:off x="11384280" y="647388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>
                    <a:alpha val="75000"/>
                  </a:srgbClr>
                </a:solidFill>
                <a:effectLst/>
                <a:uFillTx/>
                <a:latin typeface="Aptos"/>
                <a:ea typeface="Aptos"/>
              </a:rPr>
              <a:t>12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6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Image 0" descr="/mnt/data/acirv_bg_1600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ext 0"/>
          <p:cNvSpPr/>
          <p:nvPr/>
        </p:nvSpPr>
        <p:spPr>
          <a:xfrm>
            <a:off x="658440" y="402480"/>
            <a:ext cx="2331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Planejamento do Mês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"/>
          <p:cNvSpPr/>
          <p:nvPr/>
        </p:nvSpPr>
        <p:spPr>
          <a:xfrm>
            <a:off x="2596680" y="511920"/>
            <a:ext cx="900684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"/>
          <p:cNvSpPr/>
          <p:nvPr/>
        </p:nvSpPr>
        <p:spPr>
          <a:xfrm>
            <a:off x="658440" y="86868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900" b="1" u="none" strike="noStrike">
                <a:solidFill>
                  <a:srgbClr val="F1FF0A"/>
                </a:solidFill>
                <a:effectLst/>
                <a:uFillTx/>
                <a:latin typeface="Aptos Display"/>
                <a:ea typeface="Aptos Display"/>
              </a:rPr>
              <a:t>Indicadores de acompanhamento</a:t>
            </a:r>
            <a:endParaRPr lang="pt-BR" sz="3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3"/>
          <p:cNvSpPr/>
          <p:nvPr/>
        </p:nvSpPr>
        <p:spPr>
          <a:xfrm>
            <a:off x="658440" y="1435680"/>
            <a:ext cx="10926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O mês precisa ser medido por entrega, impacto e saúde operacional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4"/>
          <p:cNvSpPr/>
          <p:nvPr/>
        </p:nvSpPr>
        <p:spPr>
          <a:xfrm>
            <a:off x="658440" y="2011680"/>
            <a:ext cx="2541600" cy="3108600"/>
          </a:xfrm>
          <a:prstGeom prst="roundRect">
            <a:avLst>
              <a:gd name="adj" fmla="val 2878"/>
            </a:avLst>
          </a:prstGeom>
          <a:solidFill>
            <a:srgbClr val="0E82D0">
              <a:alpha val="68000"/>
            </a:srgbClr>
          </a:solidFill>
          <a:ln w="17780">
            <a:solidFill>
              <a:srgbClr val="8BEC0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5"/>
          <p:cNvSpPr/>
          <p:nvPr/>
        </p:nvSpPr>
        <p:spPr>
          <a:xfrm>
            <a:off x="768240" y="2157840"/>
            <a:ext cx="91080" cy="2815920"/>
          </a:xfrm>
          <a:prstGeom prst="rect">
            <a:avLst/>
          </a:prstGeom>
          <a:solidFill>
            <a:srgbClr val="8BEC01"/>
          </a:solidFill>
          <a:ln w="12700">
            <a:solidFill>
              <a:srgbClr val="8BEC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6"/>
          <p:cNvSpPr/>
          <p:nvPr/>
        </p:nvSpPr>
        <p:spPr>
          <a:xfrm>
            <a:off x="969120" y="2176200"/>
            <a:ext cx="2102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Produção</a:t>
            </a:r>
            <a:endParaRPr lang="pt-BR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7"/>
          <p:cNvSpPr/>
          <p:nvPr/>
        </p:nvSpPr>
        <p:spPr>
          <a:xfrm>
            <a:off x="969120" y="2578680"/>
            <a:ext cx="2102760" cy="23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% de tarefas planejadas entregues</a:t>
            </a:r>
            <a:endParaRPr lang="pt-BR" sz="12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Tarefas urgentes que entraram fora do plano</a:t>
            </a:r>
            <a:endParaRPr lang="pt-BR" sz="12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8"/>
          <p:cNvSpPr/>
          <p:nvPr/>
        </p:nvSpPr>
        <p:spPr>
          <a:xfrm>
            <a:off x="3447360" y="2011680"/>
            <a:ext cx="2541600" cy="3108600"/>
          </a:xfrm>
          <a:prstGeom prst="roundRect">
            <a:avLst>
              <a:gd name="adj" fmla="val 2878"/>
            </a:avLst>
          </a:prstGeom>
          <a:solidFill>
            <a:srgbClr val="0E82D0">
              <a:alpha val="68000"/>
            </a:srgbClr>
          </a:solidFill>
          <a:ln w="17780">
            <a:solidFill>
              <a:srgbClr val="F1FF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9"/>
          <p:cNvSpPr/>
          <p:nvPr/>
        </p:nvSpPr>
        <p:spPr>
          <a:xfrm>
            <a:off x="3557160" y="2157840"/>
            <a:ext cx="91080" cy="2815920"/>
          </a:xfrm>
          <a:prstGeom prst="rect">
            <a:avLst/>
          </a:prstGeom>
          <a:solidFill>
            <a:srgbClr val="F1FF0A"/>
          </a:solidFill>
          <a:ln w="12700">
            <a:solidFill>
              <a:srgbClr val="F1FF0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0"/>
          <p:cNvSpPr/>
          <p:nvPr/>
        </p:nvSpPr>
        <p:spPr>
          <a:xfrm>
            <a:off x="3758040" y="2176200"/>
            <a:ext cx="2102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Instagram</a:t>
            </a:r>
            <a:endParaRPr lang="pt-BR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1"/>
          <p:cNvSpPr/>
          <p:nvPr/>
        </p:nvSpPr>
        <p:spPr>
          <a:xfrm>
            <a:off x="3758040" y="2578680"/>
            <a:ext cx="2102760" cy="23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Alcance, interações, salvamentos, compartilhamentos e retenção de reels</a:t>
            </a:r>
            <a:endParaRPr lang="pt-BR" sz="12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2"/>
          <p:cNvSpPr/>
          <p:nvPr/>
        </p:nvSpPr>
        <p:spPr>
          <a:xfrm>
            <a:off x="6236280" y="2011680"/>
            <a:ext cx="2541600" cy="3108600"/>
          </a:xfrm>
          <a:prstGeom prst="roundRect">
            <a:avLst>
              <a:gd name="adj" fmla="val 2878"/>
            </a:avLst>
          </a:prstGeom>
          <a:solidFill>
            <a:srgbClr val="0E82D0">
              <a:alpha val="68000"/>
            </a:srgbClr>
          </a:solidFill>
          <a:ln w="17780">
            <a:solidFill>
              <a:srgbClr val="FF7D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3"/>
          <p:cNvSpPr/>
          <p:nvPr/>
        </p:nvSpPr>
        <p:spPr>
          <a:xfrm>
            <a:off x="6346080" y="2157840"/>
            <a:ext cx="91080" cy="2815920"/>
          </a:xfrm>
          <a:prstGeom prst="rect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4"/>
          <p:cNvSpPr/>
          <p:nvPr/>
        </p:nvSpPr>
        <p:spPr>
          <a:xfrm>
            <a:off x="6546960" y="2176200"/>
            <a:ext cx="2102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Eventos</a:t>
            </a:r>
            <a:endParaRPr lang="pt-BR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5"/>
          <p:cNvSpPr/>
          <p:nvPr/>
        </p:nvSpPr>
        <p:spPr>
          <a:xfrm>
            <a:off x="6546960" y="2578680"/>
            <a:ext cx="2102760" cy="23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Inscrições, presença, patrocinadores confirmados e materiais pós-evento</a:t>
            </a:r>
            <a:endParaRPr lang="pt-BR" sz="12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6"/>
          <p:cNvSpPr/>
          <p:nvPr/>
        </p:nvSpPr>
        <p:spPr>
          <a:xfrm>
            <a:off x="9025200" y="2011680"/>
            <a:ext cx="2541600" cy="3108600"/>
          </a:xfrm>
          <a:prstGeom prst="roundRect">
            <a:avLst>
              <a:gd name="adj" fmla="val 2878"/>
            </a:avLst>
          </a:prstGeom>
          <a:solidFill>
            <a:srgbClr val="0E82D0">
              <a:alpha val="68000"/>
            </a:srgbClr>
          </a:solidFill>
          <a:ln w="17780">
            <a:solidFill>
              <a:srgbClr val="129C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7"/>
          <p:cNvSpPr/>
          <p:nvPr/>
        </p:nvSpPr>
        <p:spPr>
          <a:xfrm>
            <a:off x="9135000" y="2157840"/>
            <a:ext cx="91080" cy="2815920"/>
          </a:xfrm>
          <a:prstGeom prst="rect">
            <a:avLst/>
          </a:prstGeom>
          <a:solidFill>
            <a:srgbClr val="129CDF"/>
          </a:solidFill>
          <a:ln w="12700">
            <a:solidFill>
              <a:srgbClr val="129CD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8"/>
          <p:cNvSpPr/>
          <p:nvPr/>
        </p:nvSpPr>
        <p:spPr>
          <a:xfrm>
            <a:off x="9335880" y="2176200"/>
            <a:ext cx="2102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Processo</a:t>
            </a:r>
            <a:endParaRPr lang="pt-BR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9"/>
          <p:cNvSpPr/>
          <p:nvPr/>
        </p:nvSpPr>
        <p:spPr>
          <a:xfrm>
            <a:off x="9335880" y="2578680"/>
            <a:ext cx="2102760" cy="23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Briefings fechados antes dos eventos</a:t>
            </a:r>
            <a:endParaRPr lang="pt-BR" sz="12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Responsáveis definidos por área</a:t>
            </a:r>
            <a:endParaRPr lang="pt-BR" sz="12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0"/>
          <p:cNvSpPr/>
          <p:nvPr/>
        </p:nvSpPr>
        <p:spPr>
          <a:xfrm>
            <a:off x="658440" y="548640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Ritual sugerido: reunião curta toda segunda para revisar semana, urgências, cobertura e gargalos.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1"/>
          <p:cNvSpPr/>
          <p:nvPr/>
        </p:nvSpPr>
        <p:spPr>
          <a:xfrm>
            <a:off x="11384280" y="647388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>
                    <a:alpha val="75000"/>
                  </a:srgbClr>
                </a:solidFill>
                <a:effectLst/>
                <a:uFillTx/>
                <a:latin typeface="Aptos"/>
                <a:ea typeface="Aptos"/>
              </a:rPr>
              <a:t>14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6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Image 0" descr="/mnt/data/acirv_bg_1600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Text 0"/>
          <p:cNvSpPr/>
          <p:nvPr/>
        </p:nvSpPr>
        <p:spPr>
          <a:xfrm>
            <a:off x="658440" y="402480"/>
            <a:ext cx="2331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Planejamento do Mês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"/>
          <p:cNvSpPr/>
          <p:nvPr/>
        </p:nvSpPr>
        <p:spPr>
          <a:xfrm>
            <a:off x="2596680" y="511920"/>
            <a:ext cx="900684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"/>
          <p:cNvSpPr/>
          <p:nvPr/>
        </p:nvSpPr>
        <p:spPr>
          <a:xfrm>
            <a:off x="658440" y="86868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900" b="1" u="none" strike="noStrike">
                <a:solidFill>
                  <a:srgbClr val="F1FF0A"/>
                </a:solidFill>
                <a:effectLst/>
                <a:uFillTx/>
                <a:latin typeface="Aptos Display"/>
                <a:ea typeface="Aptos Display"/>
              </a:rPr>
              <a:t>Próximos passos</a:t>
            </a:r>
            <a:endParaRPr lang="pt-BR" sz="3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"/>
          <p:cNvSpPr/>
          <p:nvPr/>
        </p:nvSpPr>
        <p:spPr>
          <a:xfrm>
            <a:off x="658440" y="1435680"/>
            <a:ext cx="10926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Decisões para sair da apresentação com execução clara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4"/>
          <p:cNvSpPr/>
          <p:nvPr/>
        </p:nvSpPr>
        <p:spPr>
          <a:xfrm>
            <a:off x="658440" y="2011680"/>
            <a:ext cx="3382920" cy="3245760"/>
          </a:xfrm>
          <a:prstGeom prst="roundRect">
            <a:avLst>
              <a:gd name="adj" fmla="val 2254"/>
            </a:avLst>
          </a:prstGeom>
          <a:solidFill>
            <a:srgbClr val="0E82D0">
              <a:alpha val="68000"/>
            </a:srgbClr>
          </a:solidFill>
          <a:ln w="17780">
            <a:solidFill>
              <a:srgbClr val="8BEC0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5"/>
          <p:cNvSpPr/>
          <p:nvPr/>
        </p:nvSpPr>
        <p:spPr>
          <a:xfrm>
            <a:off x="768240" y="2157840"/>
            <a:ext cx="91080" cy="2953080"/>
          </a:xfrm>
          <a:prstGeom prst="rect">
            <a:avLst/>
          </a:prstGeom>
          <a:solidFill>
            <a:srgbClr val="8BEC01"/>
          </a:solidFill>
          <a:ln w="12700">
            <a:solidFill>
              <a:srgbClr val="8BEC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969120" y="2176200"/>
            <a:ext cx="2944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1. Validar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7"/>
          <p:cNvSpPr/>
          <p:nvPr/>
        </p:nvSpPr>
        <p:spPr>
          <a:xfrm>
            <a:off x="969120" y="2578680"/>
            <a:ext cx="2944080" cy="25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Aprovar prioridades e planejamento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8"/>
          <p:cNvSpPr/>
          <p:nvPr/>
        </p:nvSpPr>
        <p:spPr>
          <a:xfrm>
            <a:off x="4407480" y="2011680"/>
            <a:ext cx="3382920" cy="3245760"/>
          </a:xfrm>
          <a:prstGeom prst="roundRect">
            <a:avLst>
              <a:gd name="adj" fmla="val 2254"/>
            </a:avLst>
          </a:prstGeom>
          <a:solidFill>
            <a:srgbClr val="0E82D0">
              <a:alpha val="68000"/>
            </a:srgbClr>
          </a:solidFill>
          <a:ln w="17780">
            <a:solidFill>
              <a:srgbClr val="F1FF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9"/>
          <p:cNvSpPr/>
          <p:nvPr/>
        </p:nvSpPr>
        <p:spPr>
          <a:xfrm>
            <a:off x="4517280" y="2157840"/>
            <a:ext cx="91080" cy="2953080"/>
          </a:xfrm>
          <a:prstGeom prst="rect">
            <a:avLst/>
          </a:prstGeom>
          <a:solidFill>
            <a:srgbClr val="F1FF0A"/>
          </a:solidFill>
          <a:ln w="12700">
            <a:solidFill>
              <a:srgbClr val="F1FF0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0"/>
          <p:cNvSpPr/>
          <p:nvPr/>
        </p:nvSpPr>
        <p:spPr>
          <a:xfrm>
            <a:off x="4718160" y="2176200"/>
            <a:ext cx="2944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2. Ajustar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1"/>
          <p:cNvSpPr/>
          <p:nvPr/>
        </p:nvSpPr>
        <p:spPr>
          <a:xfrm>
            <a:off x="4718160" y="2578680"/>
            <a:ext cx="2944080" cy="25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Mover cards para as semanas certas no trello.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2"/>
          <p:cNvSpPr/>
          <p:nvPr/>
        </p:nvSpPr>
        <p:spPr>
          <a:xfrm>
            <a:off x="8156520" y="2011680"/>
            <a:ext cx="2834280" cy="3245760"/>
          </a:xfrm>
          <a:prstGeom prst="roundRect">
            <a:avLst>
              <a:gd name="adj" fmla="val 2581"/>
            </a:avLst>
          </a:prstGeom>
          <a:solidFill>
            <a:srgbClr val="0E82D0">
              <a:alpha val="68000"/>
            </a:srgbClr>
          </a:solidFill>
          <a:ln w="17780">
            <a:solidFill>
              <a:srgbClr val="FF7D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3"/>
          <p:cNvSpPr/>
          <p:nvPr/>
        </p:nvSpPr>
        <p:spPr>
          <a:xfrm>
            <a:off x="8266320" y="2157840"/>
            <a:ext cx="91080" cy="2953080"/>
          </a:xfrm>
          <a:prstGeom prst="rect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4"/>
          <p:cNvSpPr/>
          <p:nvPr/>
        </p:nvSpPr>
        <p:spPr>
          <a:xfrm>
            <a:off x="8467200" y="2176200"/>
            <a:ext cx="2395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3. Executar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5"/>
          <p:cNvSpPr/>
          <p:nvPr/>
        </p:nvSpPr>
        <p:spPr>
          <a:xfrm>
            <a:off x="8467200" y="2578680"/>
            <a:ext cx="2395440" cy="25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Começar por: relatório, planejamento, mídia kit,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estruturar processos,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briefing, inscrições e cobertura.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6"/>
          <p:cNvSpPr/>
          <p:nvPr/>
        </p:nvSpPr>
        <p:spPr>
          <a:xfrm>
            <a:off x="658440" y="562356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Junho deve ser um mês de foco: fazer o essencial bem feito, medir o impacto e reduzir o ruído.</a:t>
            </a:r>
            <a:endParaRPr lang="pt-B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7"/>
          <p:cNvSpPr/>
          <p:nvPr/>
        </p:nvSpPr>
        <p:spPr>
          <a:xfrm>
            <a:off x="11384280" y="647388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>
                    <a:alpha val="75000"/>
                  </a:srgbClr>
                </a:solidFill>
                <a:effectLst/>
                <a:uFillTx/>
                <a:latin typeface="Aptos"/>
                <a:ea typeface="Aptos"/>
              </a:rPr>
              <a:t>15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LibreOffice/26.2.1.2$Windows_X86_64 LibreOffice_project/620$Build-2</Application>
  <AppVersion>15.0000</AppVersion>
  <Words>0</Words>
  <Paragraphs>0</Paragraphs>
  <Company>ACIRV + VCOM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2026-06-02T18:30:46Z</dcterms:created>
  <dc:creator>OpenAI</dc:creator>
  <dc:description/>
  <dc:language>pt-BR</dc:language>
  <cp:lastModifiedBy/>
  <dcterms:modified xsi:type="dcterms:W3CDTF">2026-06-02T15:53:13Z</dcterms:modified>
  <cp:revision>2</cp:revision>
  <dc:subject>Planejamento mensal de junho</dc:subject>
  <dc:title>Planejamento executivo de junho - ACIRV + VCOM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