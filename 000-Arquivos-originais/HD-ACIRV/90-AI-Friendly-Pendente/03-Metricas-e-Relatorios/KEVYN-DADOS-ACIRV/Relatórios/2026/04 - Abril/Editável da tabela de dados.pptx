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2193588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B77105-98EF-47DD-8870-A274F2A9CF8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BCD43A-8212-4F2B-8AE3-CFD5DDC924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2DB24F-1398-4B72-A856-F035B687DB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03920" y="329040"/>
            <a:ext cx="11385000" cy="895320"/>
          </a:xfrm>
          <a:prstGeom prst="rect">
            <a:avLst/>
          </a:prstGeom>
          <a:solidFill>
            <a:srgbClr val="03F002"/>
          </a:solidFill>
          <a:ln w="9525">
            <a:solidFill>
              <a:srgbClr val="083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020B3"/>
                </a:solidFill>
                <a:effectLst/>
                <a:uFillTx/>
                <a:latin typeface="Aptos Display"/>
                <a:ea typeface="Aptos Display"/>
              </a:rPr>
              <a:t>Campanhas FÓRUM — Abril/2026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0B3"/>
                </a:solidFill>
                <a:effectLst/>
                <a:uFillTx/>
                <a:latin typeface="Aptos"/>
                <a:ea typeface="Aptos"/>
              </a:rPr>
              <a:t>Objetivo: Alcance  |  Público: -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02480" y="13899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Investimento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R$ 1.399,69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3271680" y="13899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Alcance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567.392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6140880" y="13899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Cliques no link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29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9009720" y="1389960"/>
            <a:ext cx="2777040" cy="602640"/>
          </a:xfrm>
          <a:prstGeom prst="rect">
            <a:avLst/>
          </a:prstGeom>
          <a:solidFill>
            <a:srgbClr val="03F002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Visitas ao perfil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-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0248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CTR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0,001%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27168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CPC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R$ 48,27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14088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CPM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R$ 1,33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900972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Custo por resultado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R$ 2,47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374400" y="2880000"/>
            <a:ext cx="15091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Objetivo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1886040" y="2880000"/>
            <a:ext cx="95508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Período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2844000" y="2880000"/>
            <a:ext cx="108324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Investimento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3930480" y="2880000"/>
            <a:ext cx="84888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Alcance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4782240" y="2880000"/>
            <a:ext cx="104040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Impressões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5825520" y="2880000"/>
            <a:ext cx="82764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Cliques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6656760" y="2880000"/>
            <a:ext cx="6361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CTR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7295760" y="2880000"/>
            <a:ext cx="7423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CPC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8040960" y="2880000"/>
            <a:ext cx="7423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CPM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8786160" y="2880000"/>
            <a:ext cx="30319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Resultado principal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374400" y="3390840"/>
            <a:ext cx="1509120" cy="76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Alcance</a:t>
            </a:r>
            <a:endParaRPr lang="pt-B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886040" y="3390840"/>
            <a:ext cx="955080" cy="76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Abril/2026</a:t>
            </a:r>
            <a:endParaRPr lang="pt-B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2844000" y="3390840"/>
            <a:ext cx="108324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R$ 1.399,69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3930480" y="3390840"/>
            <a:ext cx="84888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567.392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4782240" y="3390840"/>
            <a:ext cx="104040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≈ 1.052.398 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825520" y="3390840"/>
            <a:ext cx="82764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29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6656760" y="3390840"/>
            <a:ext cx="63612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0,001%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7295760" y="3390840"/>
            <a:ext cx="74232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R$ 48,27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8040960" y="3390840"/>
            <a:ext cx="74232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R$ 1,33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8786160" y="3390840"/>
            <a:ext cx="3031920" cy="763920"/>
          </a:xfrm>
          <a:prstGeom prst="rect">
            <a:avLst/>
          </a:prstGeom>
          <a:solidFill>
            <a:srgbClr val="03F002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marL="180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9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Ampla exposição da campanha do Fórum: 567.392 pessoas alcançadas, com custo estimado de R$ 2,47 por mil pessoas alcançadas. </a:t>
            </a:r>
            <a:endParaRPr lang="pt-BR" sz="790" b="0" u="none" strike="noStrike">
              <a:solidFill>
                <a:srgbClr val="0D1DB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9"/>
          <p:cNvSpPr/>
          <p:nvPr/>
        </p:nvSpPr>
        <p:spPr>
          <a:xfrm>
            <a:off x="403920" y="329040"/>
            <a:ext cx="11385000" cy="895320"/>
          </a:xfrm>
          <a:prstGeom prst="rect">
            <a:avLst/>
          </a:prstGeom>
          <a:solidFill>
            <a:srgbClr val="03F002"/>
          </a:solidFill>
          <a:ln w="9525">
            <a:solidFill>
              <a:srgbClr val="083B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" tIns="1800" rIns="1800" bIns="180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020B3"/>
                </a:solidFill>
                <a:effectLst/>
                <a:uFillTx/>
                <a:latin typeface="Aptos Display"/>
                <a:ea typeface="Aptos Display"/>
              </a:rPr>
              <a:t>Campanhas Novo Gestor — Abril e Maio/2026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020B3"/>
                </a:solidFill>
                <a:effectLst/>
                <a:uFillTx/>
                <a:latin typeface="Aptos"/>
                <a:ea typeface="Aptos"/>
              </a:rPr>
              <a:t>Objetivo: interação e ganho de seguidores |  Público: -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402480" y="13899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Investimento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R$ 37,02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1"/>
          <p:cNvSpPr/>
          <p:nvPr/>
        </p:nvSpPr>
        <p:spPr>
          <a:xfrm>
            <a:off x="3271680" y="13899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Alcance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3.202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6140880" y="13899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Cliques no link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9009720" y="1389960"/>
            <a:ext cx="2777040" cy="602640"/>
          </a:xfrm>
          <a:prstGeom prst="rect">
            <a:avLst/>
          </a:prstGeom>
          <a:solidFill>
            <a:srgbClr val="03F002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Interações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67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40248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CTR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0,06%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5"/>
          <p:cNvSpPr/>
          <p:nvPr/>
        </p:nvSpPr>
        <p:spPr>
          <a:xfrm>
            <a:off x="327168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CPC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R$ 12,34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6"/>
          <p:cNvSpPr/>
          <p:nvPr/>
        </p:nvSpPr>
        <p:spPr>
          <a:xfrm>
            <a:off x="614088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CPM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R$ 7,41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9009720" y="2084760"/>
            <a:ext cx="2777040" cy="602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440" tIns="1440" rIns="1440" bIns="144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Engajamento com perfil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70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374400" y="2880000"/>
            <a:ext cx="15091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Objetivo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9"/>
          <p:cNvSpPr/>
          <p:nvPr/>
        </p:nvSpPr>
        <p:spPr>
          <a:xfrm>
            <a:off x="1886040" y="2880000"/>
            <a:ext cx="95508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Período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2844000" y="2880000"/>
            <a:ext cx="108324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Investimento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1"/>
          <p:cNvSpPr/>
          <p:nvPr/>
        </p:nvSpPr>
        <p:spPr>
          <a:xfrm>
            <a:off x="3930480" y="2880000"/>
            <a:ext cx="84888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Custo por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Resultado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4782240" y="2880000"/>
            <a:ext cx="104040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Impressões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5825520" y="2880000"/>
            <a:ext cx="82764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Alcance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4"/>
          <p:cNvSpPr/>
          <p:nvPr/>
        </p:nvSpPr>
        <p:spPr>
          <a:xfrm>
            <a:off x="6656760" y="2880000"/>
            <a:ext cx="6361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CTR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5"/>
          <p:cNvSpPr/>
          <p:nvPr/>
        </p:nvSpPr>
        <p:spPr>
          <a:xfrm>
            <a:off x="7295760" y="2880000"/>
            <a:ext cx="7423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CPC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6"/>
          <p:cNvSpPr/>
          <p:nvPr/>
        </p:nvSpPr>
        <p:spPr>
          <a:xfrm>
            <a:off x="8040960" y="2880000"/>
            <a:ext cx="7423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CPM</a:t>
            </a:r>
            <a:endParaRPr lang="pt-BR" sz="7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7"/>
          <p:cNvSpPr/>
          <p:nvPr/>
        </p:nvSpPr>
        <p:spPr>
          <a:xfrm>
            <a:off x="8786160" y="2880000"/>
            <a:ext cx="3031920" cy="510120"/>
          </a:xfrm>
          <a:prstGeom prst="rect">
            <a:avLst/>
          </a:prstGeom>
          <a:solidFill>
            <a:srgbClr val="009BE1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Resultado principal</a:t>
            </a:r>
            <a:endParaRPr lang="pt-BR" sz="7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8"/>
          <p:cNvSpPr/>
          <p:nvPr/>
        </p:nvSpPr>
        <p:spPr>
          <a:xfrm>
            <a:off x="374400" y="3390840"/>
            <a:ext cx="1509120" cy="76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Interação e ganho de seguidores</a:t>
            </a:r>
            <a:endParaRPr lang="pt-B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9"/>
          <p:cNvSpPr/>
          <p:nvPr/>
        </p:nvSpPr>
        <p:spPr>
          <a:xfrm>
            <a:off x="1886040" y="3390840"/>
            <a:ext cx="955080" cy="7639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marL="180000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Abril e maio/2026</a:t>
            </a:r>
            <a:endParaRPr lang="pt-BR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0"/>
          <p:cNvSpPr/>
          <p:nvPr/>
        </p:nvSpPr>
        <p:spPr>
          <a:xfrm>
            <a:off x="2844000" y="3390840"/>
            <a:ext cx="108324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R$ 37,02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1"/>
          <p:cNvSpPr/>
          <p:nvPr/>
        </p:nvSpPr>
        <p:spPr>
          <a:xfrm>
            <a:off x="3930480" y="3390840"/>
            <a:ext cx="84888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R$ 0,55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2"/>
          <p:cNvSpPr/>
          <p:nvPr/>
        </p:nvSpPr>
        <p:spPr>
          <a:xfrm>
            <a:off x="4782240" y="3390840"/>
            <a:ext cx="104040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≈ 4.996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3"/>
          <p:cNvSpPr/>
          <p:nvPr/>
        </p:nvSpPr>
        <p:spPr>
          <a:xfrm>
            <a:off x="5825520" y="3390840"/>
            <a:ext cx="82764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3.202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4"/>
          <p:cNvSpPr/>
          <p:nvPr/>
        </p:nvSpPr>
        <p:spPr>
          <a:xfrm>
            <a:off x="6656760" y="3390840"/>
            <a:ext cx="63612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0,001%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5"/>
          <p:cNvSpPr/>
          <p:nvPr/>
        </p:nvSpPr>
        <p:spPr>
          <a:xfrm>
            <a:off x="7295760" y="3390840"/>
            <a:ext cx="74232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R$ 48,27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6"/>
          <p:cNvSpPr/>
          <p:nvPr/>
        </p:nvSpPr>
        <p:spPr>
          <a:xfrm>
            <a:off x="8040960" y="3390840"/>
            <a:ext cx="742320" cy="763920"/>
          </a:xfrm>
          <a:prstGeom prst="rect">
            <a:avLst/>
          </a:prstGeom>
          <a:solidFill>
            <a:srgbClr val="FBFCFF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90" b="1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R$ 1,33</a:t>
            </a:r>
            <a:endParaRPr lang="pt-BR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7"/>
          <p:cNvSpPr/>
          <p:nvPr/>
        </p:nvSpPr>
        <p:spPr>
          <a:xfrm>
            <a:off x="8786160" y="3390840"/>
            <a:ext cx="3031920" cy="763920"/>
          </a:xfrm>
          <a:prstGeom prst="rect">
            <a:avLst/>
          </a:prstGeom>
          <a:solidFill>
            <a:srgbClr val="03F002"/>
          </a:solidFill>
          <a:ln w="9525">
            <a:solidFill>
              <a:srgbClr val="D9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720" tIns="720" rIns="720" bIns="720" anchor="ctr">
            <a:normAutofit/>
          </a:bodyPr>
          <a:p>
            <a:pPr marL="18000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790" b="0" u="none" strike="noStrike">
                <a:solidFill>
                  <a:srgbClr val="0D1DB0"/>
                </a:solidFill>
                <a:effectLst/>
                <a:uFillTx/>
                <a:latin typeface="Aptos"/>
                <a:ea typeface="Aptos"/>
              </a:rPr>
              <a:t>67 interações e 70 engajamentos com o perfil, com custo por resultado de R$ 0,55</a:t>
            </a:r>
            <a:endParaRPr lang="pt-BR" sz="790" b="0" u="none" strike="noStrike">
              <a:solidFill>
                <a:srgbClr val="0D1DB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2026-05-06T18:23:32Z</dcterms:created>
  <dc:creator>OpenAI</dc:creator>
  <dc:description/>
  <dc:language>pt-BR</dc:language>
  <cp:lastModifiedBy/>
  <dcterms:modified xsi:type="dcterms:W3CDTF">2026-05-06T17:56:49Z</dcterms:modified>
  <cp:revision>5</cp:revision>
  <dc:subject>PptxGenJS Presentation</dc:subject>
  <dc:title>Campanhas ACIRV — Abril/2026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