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Slide de abertura da apresentação editável do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Resumo estrutural do manual: identidade, execução, estrutura e persuasão.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Síntese do papel, missão, lema anual e propósito operacional da voz de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Detalhamento do arquétipo híbrido: Sábio 60% e Conector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Seis etapas do protocolo de execução descrito no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Estrutura obrigatória: gancho, desenvolvimento 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Consolidação dos DOs e DON’Ts do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Slide dedicado ao bloco de comandos: \rev, \600, \lt e \help.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Princípio central do playbook e tradução dos sinais humanos em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As seis alavancas e os limites éticos definidos no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Consolidação do fluxo operacional da IA e do checklist final do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Manual base: arquivo enviado pelo usuário “Tom de voz ACIRV - V4(1).md”.
- Conteúdo resumido e reorganizado a partir do manual original.
[/Sources]
Slide final com frase guia e assinatura emocional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D4F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7D2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• Manual de Tom de Voz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D4F43"/>
          </a:solidFill>
          <a:ln w="12700">
            <a:solidFill>
              <a:srgbClr val="0D4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de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Tom de Voz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ACIRV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321868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editável baseada no manual mestre de voz da Associação Comercial e Industrial de Rio Verde.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9536" y="4160520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426110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Lema 2026 • Conectar para Crescer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11312" y="4892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Conteúdo estruturado para treinamento, alinhamento de equipe e uso no dia a dia de redação.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11312" y="658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ACIRV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11312" y="1207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F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voice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F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version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do manual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camadas organizam o sistema de escrita da ACIRV.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922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Identidade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2350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papel, missão, lema anual e o equilíbrio entre autoridade analítica e conexão humana.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30168" y="164592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CE9D3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17922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Execução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2084832"/>
            <a:ext cx="2350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o processo antes da escrita: leitura de contexto, filtro de anti padrões e uso do playbook.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28816" y="164592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E3EEE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93408" y="17922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Estrutura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93408" y="2084832"/>
            <a:ext cx="2350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 como abrir, desenvolver e fechar qualquer texto para manter clareza, valor e memória de marca.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27464" y="164592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92056" y="17922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Persuasão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592056" y="2084832"/>
            <a:ext cx="2350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Traduz princípios de confiança, sintonia e movimento em fórmulas práticas, alavancas e checklist final.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Identidade e propósito central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voz da ACIRV precisa unir leitura de cenário, clareza institucional e proximidade com quem empreende.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46504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núcleo da marca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7552" y="2011680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7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Papel: redator sênior e estrategista de marca da ACIRV.
</a:t>
            </a:r>
            <a:pPr indent="0" marL="0">
              <a:buNone/>
            </a:pPr>
            <a:r>
              <a:rPr lang="en-US" sz="137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7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 de referência: 2026.
</a:t>
            </a:r>
            <a:pPr indent="0" marL="0">
              <a:buNone/>
            </a:pPr>
            <a:r>
              <a:rPr lang="en-US" sz="137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7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Missão: traduzir cenários complexos em textos inspiradores que atraiam o jovem empreendedor 25+ sem afastar a base tradicional 35+.
</a:t>
            </a:r>
            <a:pPr indent="0" marL="0">
              <a:buNone/>
            </a:pPr>
            <a:r>
              <a:rPr lang="en-US" sz="137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7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Lema anual: “Conectar para Crescer”.</a:t>
            </a:r>
            <a:endParaRPr lang="en-US" sz="1370" dirty="0"/>
          </a:p>
        </p:txBody>
      </p:sp>
      <p:sp>
        <p:nvSpPr>
          <p:cNvPr id="7" name="Shape 5"/>
          <p:cNvSpPr/>
          <p:nvPr/>
        </p:nvSpPr>
        <p:spPr>
          <a:xfrm>
            <a:off x="987552" y="4645152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E3EEE8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48280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prático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comunicação institucional em conteúdo útil, legível e convincente para negócios, comunidade e reputação.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0D4F43"/>
          </a:solidFill>
          <a:ln w="12700">
            <a:solidFill>
              <a:srgbClr val="0D4F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9168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“Você não vende esperança; você diagnostica cenários.”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59168" y="31546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 princípio resume o lado Sábio do manual: menos promessa vazia, mais leitura lúcida de contexto, dados, riscos e oportunidades.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44805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mesmo tempo, a marca atua como ponte entre raízes e inovação, tratando encontro, rede e parceria como método de crescimento.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Arquétipo híbrido: Sábio 60% + Conector 40%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marca combina autoridade analítica com empatia voltada a networking, mobilização e alianças.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69164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65960"/>
            <a:ext cx="3474720" cy="256032"/>
          </a:xfrm>
          <a:prstGeom prst="rect">
            <a:avLst/>
          </a:prstGeom>
          <a:solidFill>
            <a:srgbClr val="0D4F43"/>
          </a:solidFill>
          <a:ln w="12700">
            <a:solidFill>
              <a:srgbClr val="0D4F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65960"/>
            <a:ext cx="2084832" cy="25603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042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40280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Sábio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Autoridade e jornalismo de dados.
</a:t>
            </a:r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Realismo analítico e credibilidade.
</a:t>
            </a:r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antes de convite.
</a:t>
            </a:r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de cenário acima de euforia.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516636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Entrega: textos que informam, contextualizam e ajudam o empresário a decidir melhor.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23042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5280" y="2395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251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Empatia sem perder firmeza.
</a:t>
            </a:r>
            <a:pPr indent="0" marL="0">
              <a:buNone/>
            </a:pPr>
            <a:r>
              <a:rPr lang="en-US" sz="135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 como negócio e aliança.
</a:t>
            </a:r>
            <a:pPr indent="0" marL="0">
              <a:buNone/>
            </a:pPr>
            <a:r>
              <a:rPr lang="en-US" sz="135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Ponte entre tradição e inovação.
</a:t>
            </a:r>
            <a:pPr indent="0" marL="0">
              <a:buNone/>
            </a:pPr>
            <a:r>
              <a:rPr lang="en-US" sz="135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Sentido coletivo com utilidade concreta.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51663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Entrega: linguagem próxima, respeitosa e voltada para mobilizar pessoas e negócios.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Protocolo de execução antes da escrita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manual pede preparação consciente: contexto, filtro de erros e aplicação disciplinada do sistema.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465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Análise de contexto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30998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tema e cor da imagem. Azul ou escuro ativa sobriedade. Laranja ou verde ativa vibração e conexão.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498848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7465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Anti padrões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63440" y="2039112"/>
            <a:ext cx="30998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a data não abre o texto e que clichês como “venha conferir” foram eliminados.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247888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7465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Hashtags e menções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0" y="2039112"/>
            <a:ext cx="30998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Planejar inserção orgânica no corpo das frases. Regra fixa: exatamente 5 hashtags.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49808" y="3685032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313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Limite de tamanho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123944"/>
            <a:ext cx="30998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redes sociais, trabalhar até 1000 caracteres, com ideal próximo de 650.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498848" y="3685032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8313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Lema como método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4123944"/>
            <a:ext cx="30998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 em como inserir #ConectarParaCrescer de modo fluido, lógico e útil.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247888" y="3685032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38313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Uso do playbook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0" y="4123944"/>
            <a:ext cx="30998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Levar as instruções persuasivas para a prática do texto, sem perder o tom institucional.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Blueprint obrigatório do texto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peça deve seguir a lógica gancho → desenvolvimento → fechamento para manter valor, ritmo e memória de marca.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691640"/>
            <a:ext cx="3154680" cy="4297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83794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A. O gancho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743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com uma frase única e robusta.
</a:t>
            </a:r>
            <a:pPr indent="0" marL="0">
              <a:buNone/>
            </a:pPr>
            <a:r>
              <a:rPr lang="en-US" sz="129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Trazer os dados centrais logo no primeiro parágrafo.
</a:t>
            </a:r>
            <a:pPr indent="0" marL="0">
              <a:buNone/>
            </a:pPr>
            <a:r>
              <a:rPr lang="en-US" sz="129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Começar por dor, verdade de mercado ou cena concreta.
</a:t>
            </a:r>
            <a:pPr indent="0" marL="0">
              <a:buNone/>
            </a:pPr>
            <a:r>
              <a:rPr lang="en-US" sz="129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houver data ou hora, posicionar no final do primeiro parágrafo.</a:t>
            </a:r>
            <a:endParaRPr lang="en-US" sz="1290" dirty="0"/>
          </a:p>
        </p:txBody>
      </p:sp>
      <p:sp>
        <p:nvSpPr>
          <p:cNvPr id="7" name="Text 5"/>
          <p:cNvSpPr/>
          <p:nvPr/>
        </p:nvSpPr>
        <p:spPr>
          <a:xfrm>
            <a:off x="914400" y="481888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Proibido: começar com data, nome do evento ou “A ACIRV convida”.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4123944" y="1691640"/>
            <a:ext cx="3154680" cy="4297680"/>
          </a:xfrm>
          <a:prstGeom prst="roundRect">
            <a:avLst>
              <a:gd name="adj" fmla="val 2319"/>
            </a:avLst>
          </a:prstGeom>
          <a:solidFill>
            <a:srgbClr val="E3EEE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88536" y="183794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B. O desenvolvimento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25112" y="2103120"/>
            <a:ext cx="2743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#ConectarParaCrescer como justificativa da ação.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Inserir hashtags e menções como parte da frase.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Descrever transformação do participante, não apenas programação.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Trabalhar frases curtas, tópicos e leitura escaneável.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4325112" y="4818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 chave: construir, repensar, conduzir.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534656" y="169164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CE9D3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99248" y="183794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C. O fechamento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54112" y="21214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Encerrar sempre com a assinatura emocional da marca: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7754112" y="2761488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i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“Aqui, ninguém cresce isolado.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i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gente cresce conectado.”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754112" y="4315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 fechamento funciona como mantra, assinatura institucional e lembrança de pertencimento.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Diretrizes de tom: ouro e veneno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manual protege a clareza e a credibilidade ao definir comportamentos desejados e proibições explícitas.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E3EEE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79222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✅ 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vocabulário analítico e simples.
</a:t>
            </a:r>
            <a:pPr indent="0" marL="0">
              <a:buNone/>
            </a:pPr>
            <a:r>
              <a:rPr lang="en-US" sz="142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origem de números e fatos.
</a:t>
            </a:r>
            <a:pPr indent="0" marL="0">
              <a:buNone/>
            </a:pPr>
            <a:r>
              <a:rPr lang="en-US" sz="142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Tratar networking como oportunidade de negócio.
</a:t>
            </a:r>
            <a:pPr indent="0" marL="0">
              <a:buNone/>
            </a:pPr>
            <a:r>
              <a:rPr lang="en-US" sz="142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Posicionar encontros e eventos como conexão, parceria e resultado.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005840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Tonalidade ideal: firme, clara, respeitosa e útil.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CE9D3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79222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❌ DON’Ts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30552"/>
            <a:ext cx="4434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“sucesso garantido”, “lucro fácil” e clichês de venda.
</a:t>
            </a:r>
            <a:pPr indent="0" marL="0">
              <a:buNone/>
            </a:pPr>
            <a:r>
              <a:rPr lang="en-US" sz="134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usar linguagem passiva nem bloco de hashtags no rodapé.
</a:t>
            </a:r>
            <a:pPr indent="0" marL="0">
              <a:buNone/>
            </a:pPr>
            <a:r>
              <a:rPr lang="en-US" sz="134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Proibir as palavras “real”, “reais”, “estratégico” e “tangível”.
</a:t>
            </a:r>
            <a:pPr indent="0" marL="0">
              <a:buNone/>
            </a:pPr>
            <a:r>
              <a:rPr lang="en-US" sz="134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usar travessões nem a fórmula “Não é X, é Y”.
</a:t>
            </a:r>
            <a:pPr indent="0" marL="0">
              <a:buNone/>
            </a:pPr>
            <a:r>
              <a:rPr lang="en-US" sz="134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 o excesso de adjetivos.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6583680" y="4983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resumo: menos propaganda, mais precisão.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operacionais do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Esses atalhos só devem ser acionados quando o usuário solicitar.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664208"/>
            <a:ext cx="10469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9222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D4F43"/>
          </a:solidFill>
          <a:ln w="12700">
            <a:solidFill>
              <a:srgbClr val="0D4F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\rev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31720" y="182880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Reescreve o texto aplicando rigorosamente todas as regras do system prompt.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670048"/>
            <a:ext cx="10469880" cy="731520"/>
          </a:xfrm>
          <a:prstGeom prst="roundRect">
            <a:avLst>
              <a:gd name="adj" fmla="val 7500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79806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880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\600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31720" y="283464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Reescreve com concisão extrema, até 600 caracteres, preservando densidade analítica.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675888"/>
            <a:ext cx="10469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80390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3D6D61"/>
          </a:solidFill>
          <a:ln w="12700">
            <a:solidFill>
              <a:srgbClr val="3D6D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8862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\lt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84048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 5 opções de título e 5 de subtítulo para lower thirds em vídeo.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681728"/>
            <a:ext cx="10469880" cy="731520"/>
          </a:xfrm>
          <a:prstGeom prst="roundRect">
            <a:avLst>
              <a:gd name="adj" fmla="val 7500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80974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892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\help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31720" y="48463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Retorna o texto integral do bloco de comandos do manual.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897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governança: até a chamada do comando, o sistema não executa automaticamente essas funções.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Playbook de persuasão: confiança antes de movimento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playbook não substitui o tom de voz. Ele atua como camada de execução persuasiva.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10469880" cy="868680"/>
          </a:xfrm>
          <a:prstGeom prst="roundRect">
            <a:avLst>
              <a:gd name="adj" fmla="val 6316"/>
            </a:avLst>
          </a:prstGeom>
          <a:solidFill>
            <a:srgbClr val="0D4F43"/>
          </a:solidFill>
          <a:ln w="12700">
            <a:solidFill>
              <a:srgbClr val="0D4F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10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Confiança → Sintonia → Imaginação → Valor → Ação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33272" y="284378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33272" y="313639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 direto no assunto e remover atrito na primeira frase.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398264" y="26974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84378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Olhos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62856" y="313639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absoluto na ideia central e no ponto principal do texto.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927848" y="26974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84378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Sorriso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313639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Calor controlado: firmeza com proximidade, sem euforia.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68680" y="423367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33272" y="437997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Falar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33272" y="4672584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Clareza cedo sobre ganho, risco, utilidade e consequência.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398264" y="423367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62856" y="437997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62856" y="4672584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Vocabulário ajustado ao público sem perder autoridade.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7927848" y="423367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92440" y="437997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Imaginação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92440" y="4672584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Cenas, números e imagens mentais que fixam o valor.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6 alavancas de persuasão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manual recomenda precisão: usar uma, duas ou no máximo três por texto.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92938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Reciprocidade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7552" y="2221992"/>
            <a:ext cx="2825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insight ou leitura útil antes de convocar.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783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36592" y="192938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Compromisso e coerência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36592" y="2221992"/>
            <a:ext cx="2825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por uma verdade que o leitor reconhece.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783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85632" y="192938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Aprovação social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85632" y="2221992"/>
            <a:ext cx="2825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adesão próxima, plausível e local.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38221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Afeição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4114800"/>
            <a:ext cx="2825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Demonstrar compreensão da rotina de quem empreende.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3675888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38221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4114800"/>
            <a:ext cx="2825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Sustentar a fala com dados, parceiros, fatos e contexto.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3675888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85632" y="38221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Escassez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85632" y="4114800"/>
            <a:ext cx="2825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o custo de ficar de fora, sem inventar urgência.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ética permanente: não inventar dados, não manipular fragilidades e não transformar todo texto em propaganda.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operacional + checklist final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manual fecha com um roteiro de produção e uma checagem de qualidade antes da entrega.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480060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181051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operacional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24128" y="2075688"/>
            <a:ext cx="4251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Identifique o jogo: objetivo, público, dor e ação final.
</a:t>
            </a:r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Escolha a alavanca principal.
</a:t>
            </a:r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Construa o gancho.
</a:t>
            </a:r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Faça o leitor se ver no texto.
</a:t>
            </a:r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 o evento em movimento.
</a:t>
            </a:r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Insira o lema como método.
</a:t>
            </a:r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Feche com memória e pertencimento.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25312" y="1664208"/>
            <a:ext cx="5440680" cy="4498848"/>
          </a:xfrm>
          <a:prstGeom prst="roundRect">
            <a:avLst>
              <a:gd name="adj" fmla="val 1626"/>
            </a:avLst>
          </a:prstGeom>
          <a:solidFill>
            <a:srgbClr val="E3EEE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9904" y="181051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4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final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53912" y="2075688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início gera atenção madura?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confiança antes de persuasão?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uma ideia central nítida?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imagem, cena, dado ou consequência visualizável?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leitor se reconhece nessa realidade?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valor ficou prático e claro?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lema entrou como método?
</a:t>
            </a:r>
            <a:pPr indent="0" marL="0">
              <a:buNone/>
            </a:pPr>
            <a:r>
              <a:rPr lang="en-US" sz="1290" b="1" dirty="0">
                <a:solidFill>
                  <a:srgbClr val="0D4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90" dirty="0">
                <a:solidFill>
                  <a:srgbClr val="1E2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assinatura final foi preservada?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F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guia de execução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14173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Conecte rápido,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convença com clareza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mova com utilidade.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37960" y="109728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184C42"/>
          </a:solidFill>
          <a:ln w="12700">
            <a:solidFill>
              <a:srgbClr val="184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 emocional da marca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3720" y="2148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“Aqui, ninguém cresce isolado.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gente cresce conectado.”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03720" y="3749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este deck como base editável para treinamento, onboarding, alinhamento de equipe e apresentações internas da comunicação da ACIRV.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ACIRV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989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de Tom de Voz • versão para apresentação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Tom de Voz ACIRV 2026</dc:title>
  <dc:subject>Manual de Tom de Voz ACIRV 2026</dc:subject>
  <dc:creator>OpenAI</dc:creator>
  <cp:lastModifiedBy>OpenAI</cp:lastModifiedBy>
  <cp:revision>1</cp:revision>
  <dcterms:created xsi:type="dcterms:W3CDTF">2026-04-10T20:57:14Z</dcterms:created>
  <dcterms:modified xsi:type="dcterms:W3CDTF">2026-04-10T20:57:14Z</dcterms:modified>
</cp:coreProperties>
</file>