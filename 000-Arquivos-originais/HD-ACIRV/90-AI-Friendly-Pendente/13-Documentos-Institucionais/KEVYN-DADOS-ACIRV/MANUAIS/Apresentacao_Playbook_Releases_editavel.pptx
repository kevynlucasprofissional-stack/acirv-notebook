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Conteúdo adaptado do manual enviado pelo usuário: Playbook de Releases.md.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Conteúdo adaptado do manual enviado pelo usuário: Playbook de Releases.md.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Conteúdo adaptado do manual enviado pelo usuário: Playbook de Releases.md.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Conteúdo adaptado do manual enviado pelo usuário: Playbook de Releases.md.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Conteúdo adaptado do manual enviado pelo usuário: Playbook de Releases.md.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Conteúdo adaptado do manual enviado pelo usuário: Playbook de Releases.md.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Conteúdo adaptado do manual enviado pelo usuário: Playbook de Releases.md.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Conteúdo adaptado do manual enviado pelo usuário: Playbook de Releases.md.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620256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ct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620256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ct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0" cy="66019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320040"/>
            <a:ext cx="3794760" cy="3794760"/>
          </a:xfrm>
          <a:prstGeom prst="ellipse">
            <a:avLst/>
          </a:prstGeom>
          <a:solidFill>
            <a:srgbClr val="FFFFFF">
              <a:alpha val="0"/>
            </a:srgbClr>
          </a:solidFill>
          <a:ln w="635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58200" y="2606040"/>
            <a:ext cx="2743200" cy="2743200"/>
          </a:xfrm>
          <a:prstGeom prst="ellipse">
            <a:avLst/>
          </a:prstGeom>
          <a:solidFill>
            <a:srgbClr val="FFFFFF">
              <a:alpha val="0"/>
            </a:srgbClr>
          </a:solidFill>
          <a:ln w="44450">
            <a:solidFill>
              <a:srgbClr val="2B7B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-480000">
            <a:off x="7955280" y="1508760"/>
            <a:ext cx="210312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40000">
            <a:off x="8366760" y="1783080"/>
            <a:ext cx="2103120" cy="265176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83880" y="1645920"/>
            <a:ext cx="2240280" cy="2880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D4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58200" y="2103120"/>
            <a:ext cx="1572768" cy="0"/>
          </a:xfrm>
          <a:prstGeom prst="line">
            <a:avLst/>
          </a:prstGeom>
          <a:noFill/>
          <a:ln w="25400">
            <a:solidFill>
              <a:srgbClr val="2B7B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58200" y="2414016"/>
            <a:ext cx="1572768" cy="0"/>
          </a:xfrm>
          <a:prstGeom prst="line">
            <a:avLst/>
          </a:prstGeom>
          <a:noFill/>
          <a:ln w="13970">
            <a:solidFill>
              <a:srgbClr val="D1D9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58200" y="2724912"/>
            <a:ext cx="1572768" cy="0"/>
          </a:xfrm>
          <a:prstGeom prst="line">
            <a:avLst/>
          </a:prstGeom>
          <a:noFill/>
          <a:ln w="13970">
            <a:solidFill>
              <a:srgbClr val="D1D9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58200" y="3035808"/>
            <a:ext cx="1572768" cy="0"/>
          </a:xfrm>
          <a:prstGeom prst="line">
            <a:avLst/>
          </a:prstGeom>
          <a:noFill/>
          <a:ln w="13970">
            <a:solidFill>
              <a:srgbClr val="D1D9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58200" y="3346704"/>
            <a:ext cx="1572768" cy="0"/>
          </a:xfrm>
          <a:prstGeom prst="line">
            <a:avLst/>
          </a:prstGeom>
          <a:noFill/>
          <a:ln w="13970">
            <a:solidFill>
              <a:srgbClr val="D1D9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58200" y="3657600"/>
            <a:ext cx="1572768" cy="0"/>
          </a:xfrm>
          <a:prstGeom prst="line">
            <a:avLst/>
          </a:prstGeom>
          <a:noFill/>
          <a:ln w="13970">
            <a:solidFill>
              <a:srgbClr val="D1D9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83880" y="1645920"/>
            <a:ext cx="502920" cy="45720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23960" y="1645920"/>
            <a:ext cx="502920" cy="457200"/>
          </a:xfrm>
          <a:prstGeom prst="roundRect">
            <a:avLst/>
          </a:prstGeom>
          <a:solidFill>
            <a:srgbClr val="114EBF"/>
          </a:solidFill>
          <a:ln w="12700">
            <a:solidFill>
              <a:srgbClr val="114EB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64040" y="1645920"/>
            <a:ext cx="502920" cy="457200"/>
          </a:xfrm>
          <a:prstGeom prst="roundRect">
            <a:avLst/>
          </a:prstGeom>
          <a:solidFill>
            <a:srgbClr val="D6E4FF"/>
          </a:solidFill>
          <a:ln w="12700">
            <a:solidFill>
              <a:srgbClr val="D6E4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966960" y="5074920"/>
            <a:ext cx="1325880" cy="566928"/>
          </a:xfrm>
          <a:prstGeom prst="chevron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713232"/>
            <a:ext cx="1645920" cy="402336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PLAYBOOK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0080" y="1417320"/>
            <a:ext cx="5212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Construir um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Release de Imprensa</a:t>
            </a:r>
            <a:endParaRPr lang="en-US" sz="3100" dirty="0"/>
          </a:p>
        </p:txBody>
      </p:sp>
      <p:sp>
        <p:nvSpPr>
          <p:cNvPr id="20" name="Text 18"/>
          <p:cNvSpPr/>
          <p:nvPr/>
        </p:nvSpPr>
        <p:spPr>
          <a:xfrm>
            <a:off x="658368" y="33832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DE7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Guia prático, editável e pronto para adaptar à sua marca.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58368" y="3977640"/>
            <a:ext cx="2971800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4983480"/>
            <a:ext cx="1783080" cy="1417320"/>
          </a:xfrm>
          <a:prstGeom prst="roundRect">
            <a:avLst>
              <a:gd name="adj" fmla="val 5161"/>
            </a:avLst>
          </a:prstGeom>
          <a:solidFill>
            <a:srgbClr val="102947"/>
          </a:solidFill>
          <a:ln w="12700">
            <a:solidFill>
              <a:srgbClr val="2F4B7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5230368"/>
            <a:ext cx="1490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Conceito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22960" y="5596128"/>
            <a:ext cx="1453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9E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que é e para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D9E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serve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2697480" y="4983480"/>
            <a:ext cx="1783080" cy="1417320"/>
          </a:xfrm>
          <a:prstGeom prst="roundRect">
            <a:avLst>
              <a:gd name="adj" fmla="val 5161"/>
            </a:avLst>
          </a:prstGeom>
          <a:solidFill>
            <a:srgbClr val="102947"/>
          </a:solidFill>
          <a:ln w="12700">
            <a:solidFill>
              <a:srgbClr val="2F4B7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43784" y="5230368"/>
            <a:ext cx="1490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Anatomia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862072" y="5596128"/>
            <a:ext cx="1453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9E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Estrutura ideal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D9E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release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736592" y="4983480"/>
            <a:ext cx="1783080" cy="1417320"/>
          </a:xfrm>
          <a:prstGeom prst="roundRect">
            <a:avLst>
              <a:gd name="adj" fmla="val 5161"/>
            </a:avLst>
          </a:prstGeom>
          <a:solidFill>
            <a:srgbClr val="102947"/>
          </a:solidFill>
          <a:ln w="12700">
            <a:solidFill>
              <a:srgbClr val="2F4B7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82896" y="5230368"/>
            <a:ext cx="1490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Execução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901184" y="5596128"/>
            <a:ext cx="1453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9E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 pauta à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D9E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revisão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775704" y="4983480"/>
            <a:ext cx="1783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22008" y="5230368"/>
            <a:ext cx="1490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Distribuição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940296" y="5596128"/>
            <a:ext cx="1453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Como chegar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à mídia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02920" y="6611112"/>
            <a:ext cx="9601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DE4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Baseado no manual enviado • Edite textos, exemplos, datas e contatos conforme a necessidade.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620256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ct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411480" cy="310896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60120" y="274320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Conceito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818120" y="3108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(o que é e para que serve?)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731520"/>
            <a:ext cx="11109960" cy="0"/>
          </a:xfrm>
          <a:prstGeom prst="line">
            <a:avLst/>
          </a:prstGeom>
          <a:noFill/>
          <a:ln w="15240">
            <a:solidFill>
              <a:srgbClr val="D0D5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143000"/>
            <a:ext cx="37033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37160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4EBF"/>
                </a:solidFill>
              </a:rPr>
              <a:t>O que é: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1737360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Um texto jornalístico informativo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(não publicitário) enviado para a imprensa.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96112" y="2542032"/>
            <a:ext cx="310896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65176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7085"/>
                </a:solidFill>
              </a:rPr>
              <a:t>Lógica editorial: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395728" y="2651760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</a:rPr>
              <a:t>informar com clareza para facilitar o trabalho do jornalista.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3246120"/>
            <a:ext cx="3703320" cy="1828800"/>
          </a:xfrm>
          <a:prstGeom prst="roundRect">
            <a:avLst>
              <a:gd name="adj" fmla="val 4000"/>
            </a:avLst>
          </a:prstGeom>
          <a:solidFill>
            <a:srgbClr val="FFF2DD"/>
          </a:solidFill>
          <a:ln w="12700">
            <a:solidFill>
              <a:srgbClr val="F4D39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4930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7A1A"/>
                </a:solidFill>
              </a:rPr>
              <a:t>Objetivo: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384048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Conquistar “mídia espontânea” em jornais, portais, blogs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ou com influenciadores.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914400" y="46177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7085"/>
                </a:solidFill>
              </a:rPr>
              <a:t>É a ponte entre o que acontece na empresa e o que vira notícia.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1143000"/>
            <a:ext cx="6720840" cy="3931920"/>
          </a:xfrm>
          <a:prstGeom prst="roundRect">
            <a:avLst>
              <a:gd name="adj" fmla="val 1860"/>
            </a:avLst>
          </a:prstGeom>
          <a:solidFill>
            <a:srgbClr val="F1F6FF"/>
          </a:solidFill>
          <a:ln w="12700">
            <a:solidFill>
              <a:srgbClr val="D6E4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1143000"/>
            <a:ext cx="201168" cy="3931920"/>
          </a:xfrm>
          <a:prstGeom prst="rect">
            <a:avLst/>
          </a:prstGeom>
          <a:solidFill>
            <a:srgbClr val="114EBF"/>
          </a:solidFill>
          <a:ln w="12700">
            <a:solidFill>
              <a:srgbClr val="114E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1371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Quando vale a pena virar release?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120640" y="1810512"/>
            <a:ext cx="5669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Quando há novidade real: lançamento, fusão, evento, executivo, dado inédito.</a:t>
            </a:r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pPr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Quando o tema interessa ao público geral ou a um setor específico.</a:t>
            </a:r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pPr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Quando a pauta pode ser aproveitada rapidamente por quem publica.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120640" y="36118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67085"/>
                </a:solidFill>
              </a:rPr>
              <a:t>Canais mais prováveis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120640" y="3977640"/>
            <a:ext cx="13258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6DF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84648" y="4123944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4EBF"/>
                </a:solidFill>
              </a:rPr>
              <a:t>Jornais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583680" y="3977640"/>
            <a:ext cx="13258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6DF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47688" y="4123944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7BFF"/>
                </a:solidFill>
              </a:rPr>
              <a:t>Portais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46720" y="3977640"/>
            <a:ext cx="13258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6DF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10728" y="4123944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Blogs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509760" y="3977640"/>
            <a:ext cx="17830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6DF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573768" y="4123944"/>
            <a:ext cx="1655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Influenciadores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120640" y="4636008"/>
            <a:ext cx="5669280" cy="438912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21808" y="4754880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Jornalista quer novidade, contexto e facilidade de uso — não propaganda.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502920" y="6611112"/>
            <a:ext cx="9601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DE4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 = texto editorial com foco em notícia, não em venda.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620256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ct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411480" cy="310896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60120" y="274320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Anatomia Perfeita de um Release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818120" y="3108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pirâmide invertida + 5 Ws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731520"/>
            <a:ext cx="11109960" cy="0"/>
          </a:xfrm>
          <a:prstGeom prst="line">
            <a:avLst/>
          </a:prstGeom>
          <a:noFill/>
          <a:ln w="15240">
            <a:solidFill>
              <a:srgbClr val="D0D5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9601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67085"/>
                </a:solidFill>
              </a:rPr>
              <a:t>A informação mais importante vem primeiro.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 rot="10800000">
            <a:off x="960120" y="1371600"/>
            <a:ext cx="3383280" cy="384048"/>
          </a:xfrm>
          <a:prstGeom prst="trapezoid">
            <a:avLst/>
          </a:prstGeom>
          <a:solidFill>
            <a:srgbClr val="114EB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3272" y="1463040"/>
            <a:ext cx="3236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</a:rPr>
              <a:t>1. Cabeçalho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 rot="10800000">
            <a:off x="1211580" y="1764792"/>
            <a:ext cx="2880360" cy="384048"/>
          </a:xfrm>
          <a:prstGeom prst="trapezoid">
            <a:avLst/>
          </a:prstGeom>
          <a:solidFill>
            <a:srgbClr val="1F6FE5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4732" y="1856232"/>
            <a:ext cx="2734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</a:rPr>
              <a:t>2. Título / manchete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 rot="10800000">
            <a:off x="1463040" y="2157984"/>
            <a:ext cx="2377440" cy="384048"/>
          </a:xfrm>
          <a:prstGeom prst="trapezoid">
            <a:avLst/>
          </a:prstGeom>
          <a:solidFill>
            <a:srgbClr val="F59E0B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36192" y="2249424"/>
            <a:ext cx="2231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</a:rPr>
              <a:t>3. Lead (5 Ws)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 rot="10800000">
            <a:off x="1714500" y="2551176"/>
            <a:ext cx="1874520" cy="384048"/>
          </a:xfrm>
          <a:prstGeom prst="trapezoid">
            <a:avLst/>
          </a:prstGeom>
          <a:solidFill>
            <a:srgbClr val="FF7A1A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87652" y="2642616"/>
            <a:ext cx="1728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</a:rPr>
              <a:t>4. Corpo do texto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 rot="10800000">
            <a:off x="1929384" y="2944368"/>
            <a:ext cx="1444752" cy="384048"/>
          </a:xfrm>
          <a:prstGeom prst="trapezoid">
            <a:avLst/>
          </a:prstGeom>
          <a:solidFill>
            <a:srgbClr val="D95F02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02536" y="3035808"/>
            <a:ext cx="1298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</a:rPr>
              <a:t>5. Citação (quote)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 rot="10800000">
            <a:off x="2112264" y="3337560"/>
            <a:ext cx="1078992" cy="384048"/>
          </a:xfrm>
          <a:prstGeom prst="trapezoid">
            <a:avLst/>
          </a:prstGeom>
          <a:solidFill>
            <a:srgbClr val="F3B54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85416" y="3429000"/>
            <a:ext cx="9326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</a:rPr>
              <a:t>6. Serviço (opcional)</a:t>
            </a:r>
            <a:endParaRPr lang="en-US" sz="1320" dirty="0"/>
          </a:p>
        </p:txBody>
      </p:sp>
      <p:sp>
        <p:nvSpPr>
          <p:cNvPr id="19" name="Shape 17"/>
          <p:cNvSpPr/>
          <p:nvPr/>
        </p:nvSpPr>
        <p:spPr>
          <a:xfrm rot="10800000">
            <a:off x="2249424" y="3730752"/>
            <a:ext cx="804672" cy="384048"/>
          </a:xfrm>
          <a:prstGeom prst="trapezoid">
            <a:avLst/>
          </a:prstGeom>
          <a:solidFill>
            <a:srgbClr val="3A86F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22576" y="3822192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</a:rPr>
              <a:t>7. Boilerplate</a:t>
            </a:r>
            <a:endParaRPr lang="en-US" sz="1320" dirty="0"/>
          </a:p>
        </p:txBody>
      </p:sp>
      <p:sp>
        <p:nvSpPr>
          <p:cNvPr id="21" name="Shape 19"/>
          <p:cNvSpPr/>
          <p:nvPr/>
        </p:nvSpPr>
        <p:spPr>
          <a:xfrm rot="10800000">
            <a:off x="2386584" y="4123944"/>
            <a:ext cx="530352" cy="384048"/>
          </a:xfrm>
          <a:prstGeom prst="trapezoid">
            <a:avLst/>
          </a:prstGeom>
          <a:solidFill>
            <a:srgbClr val="0B1F3A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59736" y="421538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</a:rPr>
              <a:t>8. Contato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1691640" y="1225296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67085"/>
                </a:solidFill>
              </a:rPr>
              <a:t>Mais valor-notícia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463040" y="4526280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67085"/>
                </a:solidFill>
              </a:rPr>
              <a:t>Mais detalhe operacional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892040" y="1097280"/>
            <a:ext cx="30175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E1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48072" y="133502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Lead = resumo completo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5166360" y="1737360"/>
            <a:ext cx="1161288" cy="310896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C8DA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48656" y="1828800"/>
            <a:ext cx="9966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4EBF"/>
                </a:solidFill>
              </a:rPr>
              <a:t>Quem?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556248" y="1737360"/>
            <a:ext cx="1161288" cy="310896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C8DA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38544" y="1828800"/>
            <a:ext cx="9966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4EBF"/>
                </a:solidFill>
              </a:rPr>
              <a:t>O quê?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166360" y="2212848"/>
            <a:ext cx="1161288" cy="310896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C8DA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48656" y="2304288"/>
            <a:ext cx="9966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4EBF"/>
                </a:solidFill>
              </a:rPr>
              <a:t>Quando?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556248" y="2212848"/>
            <a:ext cx="1161288" cy="310896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C8DA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38544" y="2304288"/>
            <a:ext cx="9966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4EBF"/>
                </a:solidFill>
              </a:rPr>
              <a:t>Onde?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166360" y="2688336"/>
            <a:ext cx="1161288" cy="310896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48656" y="2779776"/>
            <a:ext cx="9966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Por quê / Como?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138160" y="1097280"/>
            <a:ext cx="3154680" cy="2011680"/>
          </a:xfrm>
          <a:prstGeom prst="roundRect">
            <a:avLst>
              <a:gd name="adj" fmla="val 3636"/>
            </a:avLst>
          </a:prstGeom>
          <a:solidFill>
            <a:srgbClr val="FFF2DD"/>
          </a:solidFill>
          <a:ln w="12700">
            <a:solidFill>
              <a:srgbClr val="F4D39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94192" y="133502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Título com valor de notícia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8394192" y="1737360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74638"/>
                </a:solidFill>
              </a:rPr>
              <a:t>Ruim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8394192" y="190195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11827"/>
                </a:solidFill>
              </a:rPr>
              <a:t>Nova atualização do software.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8394192" y="2267712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</a:rPr>
              <a:t>Bom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8394192" y="2432304"/>
            <a:ext cx="2514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Empresa X lança tecnologia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que reduz custos operacionais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em 30%.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892040" y="3429000"/>
            <a:ext cx="64008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8E1E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48072" y="365760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O que não pode faltar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5148072" y="397764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Dados e contexto de mercado no corpo do texto.</a:t>
            </a:r>
            <a:pPr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pPr indent="0" marL="0">
              <a:buNone/>
            </a:pPr>
            <a:r>
              <a:rPr lang="en-US" sz="15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Uma citação de porta-voz para credibilidade.</a:t>
            </a:r>
            <a:pPr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pPr indent="0" marL="0">
              <a:buNone/>
            </a:pPr>
            <a:r>
              <a:rPr lang="en-US" sz="15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Serviço para eventos: data, horário, preço e local.</a:t>
            </a:r>
            <a:pPr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pPr indent="0" marL="0">
              <a:buNone/>
            </a:pPr>
            <a:r>
              <a:rPr lang="en-US" sz="15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Boilerplate + contato de imprensa no final.</a:t>
            </a:r>
            <a:endParaRPr lang="en-US" sz="1550" dirty="0"/>
          </a:p>
        </p:txBody>
      </p:sp>
      <p:sp>
        <p:nvSpPr>
          <p:cNvPr id="46" name="Text 44"/>
          <p:cNvSpPr/>
          <p:nvPr/>
        </p:nvSpPr>
        <p:spPr>
          <a:xfrm>
            <a:off x="502920" y="6611112"/>
            <a:ext cx="9601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DE4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Estrutura em pirâmide invertida: impacto primeiro, detalhes depois.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620256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ct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411480" cy="310896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60120" y="274320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Estrutura Obrigatória na Prática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818120" y="3108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exemplo visual de um release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731520"/>
            <a:ext cx="11109960" cy="0"/>
          </a:xfrm>
          <a:prstGeom prst="line">
            <a:avLst/>
          </a:prstGeom>
          <a:noFill/>
          <a:ln w="15240">
            <a:solidFill>
              <a:srgbClr val="D0D5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078992"/>
            <a:ext cx="5897880" cy="5285232"/>
          </a:xfrm>
          <a:prstGeom prst="roundRect">
            <a:avLst>
              <a:gd name="adj" fmla="val 1384"/>
            </a:avLst>
          </a:prstGeom>
          <a:solidFill>
            <a:srgbClr val="FFFFFF"/>
          </a:solidFill>
          <a:ln w="12700">
            <a:solidFill>
              <a:srgbClr val="CCD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33502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67085"/>
                </a:solidFill>
              </a:rPr>
              <a:t>São Paulo, 21 de Novembro de 2024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43000" y="1645920"/>
            <a:ext cx="4434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Empresa X lança tecnologia que reduz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custos operacionais em 30%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143000" y="239572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11827"/>
                </a:solidFill>
              </a:rPr>
              <a:t>No primeiro parágrafo, responda aos 5 Ws: quem, o quê, quando, onde e por quê / como. É aqui que o jornalista decide se continua lendo.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1143000" y="3127248"/>
            <a:ext cx="4526280" cy="0"/>
          </a:xfrm>
          <a:prstGeom prst="line">
            <a:avLst/>
          </a:prstGeom>
          <a:noFill/>
          <a:ln w="19050">
            <a:solidFill>
              <a:srgbClr val="AFC6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3000" y="3419856"/>
            <a:ext cx="4526280" cy="0"/>
          </a:xfrm>
          <a:prstGeom prst="line">
            <a:avLst/>
          </a:prstGeom>
          <a:noFill/>
          <a:ln w="12700">
            <a:solidFill>
              <a:srgbClr val="D8E2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3000" y="3712464"/>
            <a:ext cx="4526280" cy="0"/>
          </a:xfrm>
          <a:prstGeom prst="line">
            <a:avLst/>
          </a:prstGeom>
          <a:noFill/>
          <a:ln w="12700">
            <a:solidFill>
              <a:srgbClr val="D8E2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43000" y="4005072"/>
            <a:ext cx="4526280" cy="0"/>
          </a:xfrm>
          <a:prstGeom prst="line">
            <a:avLst/>
          </a:prstGeom>
          <a:noFill/>
          <a:ln w="12700">
            <a:solidFill>
              <a:srgbClr val="D8E2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43000" y="4297680"/>
            <a:ext cx="4526280" cy="0"/>
          </a:xfrm>
          <a:prstGeom prst="line">
            <a:avLst/>
          </a:prstGeom>
          <a:noFill/>
          <a:ln w="12700">
            <a:solidFill>
              <a:srgbClr val="D8E2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43000" y="4590288"/>
            <a:ext cx="4526280" cy="0"/>
          </a:xfrm>
          <a:prstGeom prst="line">
            <a:avLst/>
          </a:prstGeom>
          <a:noFill/>
          <a:ln w="12700">
            <a:solidFill>
              <a:srgbClr val="D8E2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25880" y="409651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14EBF"/>
                </a:solidFill>
              </a:rPr>
              <a:t>“Nossa meta é transformar uma novidade real em uma pauta fácil de publicar”, afirma a porta-voz da empresa.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143000" y="4617720"/>
            <a:ext cx="4526280" cy="0"/>
          </a:xfrm>
          <a:prstGeom prst="line">
            <a:avLst/>
          </a:prstGeom>
          <a:noFill/>
          <a:ln w="12700">
            <a:solidFill>
              <a:srgbClr val="D8E2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4828032"/>
            <a:ext cx="3520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</a:rPr>
              <a:t>Sobre a empresa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</a:rPr>
              <a:t>Fundada em 2010, a Empresa X é referência em soluções para operações e produtividade.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143000" y="5449824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667085"/>
                </a:solidFill>
              </a:rPr>
              <a:t>Contato de imprensa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667085"/>
                </a:solidFill>
              </a:rPr>
              <a:t>Nome • email@empresa.com • (11) 99999-9999</a:t>
            </a:r>
            <a:endParaRPr lang="en-US" sz="1320" dirty="0"/>
          </a:p>
        </p:txBody>
      </p:sp>
      <p:sp>
        <p:nvSpPr>
          <p:cNvPr id="20" name="Shape 18"/>
          <p:cNvSpPr/>
          <p:nvPr/>
        </p:nvSpPr>
        <p:spPr>
          <a:xfrm>
            <a:off x="6108192" y="1417320"/>
            <a:ext cx="658368" cy="-118872"/>
          </a:xfrm>
          <a:prstGeom prst="line">
            <a:avLst/>
          </a:prstGeom>
          <a:noFill/>
          <a:ln w="1651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059168" y="1225296"/>
            <a:ext cx="3767328" cy="566928"/>
          </a:xfrm>
          <a:prstGeom prst="roundRect">
            <a:avLst>
              <a:gd name="adj" fmla="val 12903"/>
            </a:avLst>
          </a:prstGeom>
          <a:solidFill>
            <a:srgbClr val="EAF2FF"/>
          </a:solidFill>
          <a:ln w="12700">
            <a:solidFill>
              <a:srgbClr val="D8E1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05472" y="1335024"/>
            <a:ext cx="256032" cy="164592"/>
          </a:xfrm>
          <a:prstGeom prst="rect">
            <a:avLst/>
          </a:prstGeom>
          <a:solidFill>
            <a:srgbClr val="114EBF"/>
          </a:solidFill>
          <a:ln>
            <a:solidFill>
              <a:srgbClr val="114EB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1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534656" y="1316736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</a:rPr>
              <a:t>Cabeçalho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9052560" y="1316736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Local e data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08192" y="1901952"/>
            <a:ext cx="658368" cy="18288"/>
          </a:xfrm>
          <a:prstGeom prst="line">
            <a:avLst/>
          </a:prstGeom>
          <a:noFill/>
          <a:ln w="1651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059168" y="1847088"/>
            <a:ext cx="376732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8E1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05472" y="1956816"/>
            <a:ext cx="256032" cy="16459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2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534656" y="1938528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</a:rPr>
              <a:t>Título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9052560" y="1938528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Curto, direto e com verbo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108192" y="2587752"/>
            <a:ext cx="658368" cy="64008"/>
          </a:xfrm>
          <a:prstGeom prst="line">
            <a:avLst/>
          </a:prstGeom>
          <a:noFill/>
          <a:ln w="1651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059168" y="2578608"/>
            <a:ext cx="3767328" cy="566928"/>
          </a:xfrm>
          <a:prstGeom prst="roundRect">
            <a:avLst>
              <a:gd name="adj" fmla="val 12903"/>
            </a:avLst>
          </a:prstGeom>
          <a:solidFill>
            <a:srgbClr val="EAF2FF"/>
          </a:solidFill>
          <a:ln w="12700">
            <a:solidFill>
              <a:srgbClr val="D8E1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05472" y="2688336"/>
            <a:ext cx="256032" cy="164592"/>
          </a:xfrm>
          <a:prstGeom prst="rect">
            <a:avLst/>
          </a:prstGeom>
          <a:solidFill>
            <a:srgbClr val="114EBF"/>
          </a:solidFill>
          <a:ln>
            <a:solidFill>
              <a:srgbClr val="114EB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3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534656" y="2670048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</a:rPr>
              <a:t>Lead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9052560" y="2670048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Resumo com os 5 Ws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108192" y="3493008"/>
            <a:ext cx="658368" cy="-54864"/>
          </a:xfrm>
          <a:prstGeom prst="line">
            <a:avLst/>
          </a:prstGeom>
          <a:noFill/>
          <a:ln w="1651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7059168" y="3364992"/>
            <a:ext cx="376732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8E1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05472" y="3474720"/>
            <a:ext cx="256032" cy="16459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4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7534656" y="3456432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</a:rPr>
              <a:t>Corpo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9052560" y="3456432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Dados + contexto + explicações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108192" y="4233672"/>
            <a:ext cx="658368" cy="45720"/>
          </a:xfrm>
          <a:prstGeom prst="line">
            <a:avLst/>
          </a:prstGeom>
          <a:noFill/>
          <a:ln w="1651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7059168" y="4206240"/>
            <a:ext cx="3767328" cy="566928"/>
          </a:xfrm>
          <a:prstGeom prst="roundRect">
            <a:avLst>
              <a:gd name="adj" fmla="val 12903"/>
            </a:avLst>
          </a:prstGeom>
          <a:solidFill>
            <a:srgbClr val="EAF2FF"/>
          </a:solidFill>
          <a:ln w="12700">
            <a:solidFill>
              <a:srgbClr val="D8E1E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05472" y="4315968"/>
            <a:ext cx="256032" cy="164592"/>
          </a:xfrm>
          <a:prstGeom prst="rect">
            <a:avLst/>
          </a:prstGeom>
          <a:solidFill>
            <a:srgbClr val="114EBF"/>
          </a:solidFill>
          <a:ln>
            <a:solidFill>
              <a:srgbClr val="114EB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5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7534656" y="4297680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</a:rPr>
              <a:t>Quote</a:t>
            </a:r>
            <a:endParaRPr lang="en-US" sz="1450" dirty="0"/>
          </a:p>
        </p:txBody>
      </p:sp>
      <p:sp>
        <p:nvSpPr>
          <p:cNvPr id="44" name="Text 42"/>
          <p:cNvSpPr/>
          <p:nvPr/>
        </p:nvSpPr>
        <p:spPr>
          <a:xfrm>
            <a:off x="9052560" y="4297680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Frase do porta-voz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6108192" y="5212080"/>
            <a:ext cx="658368" cy="73152"/>
          </a:xfrm>
          <a:prstGeom prst="line">
            <a:avLst/>
          </a:prstGeom>
          <a:noFill/>
          <a:ln w="1651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7059168" y="5212080"/>
            <a:ext cx="3767328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E1E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205472" y="5321808"/>
            <a:ext cx="256032" cy="164592"/>
          </a:xfrm>
          <a:prstGeom prst="rect">
            <a:avLst/>
          </a:prstGeom>
          <a:solidFill>
            <a:srgbClr val="114EBF"/>
          </a:solidFill>
          <a:ln>
            <a:solidFill>
              <a:srgbClr val="114EB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6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7534656" y="5303520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</a:rPr>
              <a:t>Boilerplate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</a:rPr>
              <a:t>+ Contato</a:t>
            </a:r>
            <a:endParaRPr lang="en-US" sz="1450" dirty="0"/>
          </a:p>
        </p:txBody>
      </p:sp>
      <p:sp>
        <p:nvSpPr>
          <p:cNvPr id="49" name="Text 47"/>
          <p:cNvSpPr/>
          <p:nvPr/>
        </p:nvSpPr>
        <p:spPr>
          <a:xfrm>
            <a:off x="9052560" y="5303520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Quem é a empresa e quem responde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502920" y="6611112"/>
            <a:ext cx="9601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DE4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este slide como modelo-base para montar um release com blocos claros e reaproveitáveis.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620256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ct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411480" cy="310896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60120" y="274320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Passo a Passo de Execução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818120" y="3108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planejamento → escrita → revisão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731520"/>
            <a:ext cx="11109960" cy="0"/>
          </a:xfrm>
          <a:prstGeom prst="line">
            <a:avLst/>
          </a:prstGeom>
          <a:noFill/>
          <a:ln w="15240">
            <a:solidFill>
              <a:srgbClr val="D0D5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88720" y="1463040"/>
            <a:ext cx="9829800" cy="0"/>
          </a:xfrm>
          <a:prstGeom prst="line">
            <a:avLst/>
          </a:prstGeom>
          <a:noFill/>
          <a:ln w="25400">
            <a:solidFill>
              <a:srgbClr val="C7D2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83080" y="1207008"/>
            <a:ext cx="402336" cy="402336"/>
          </a:xfrm>
          <a:prstGeom prst="ellipse">
            <a:avLst/>
          </a:prstGeom>
          <a:solidFill>
            <a:srgbClr val="114EBF"/>
          </a:solidFill>
          <a:ln w="12700">
            <a:solidFill>
              <a:srgbClr val="114E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83080" y="1307592"/>
            <a:ext cx="402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1783080"/>
            <a:ext cx="2788920" cy="32461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D7E0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783080"/>
            <a:ext cx="2788920" cy="658368"/>
          </a:xfrm>
          <a:prstGeom prst="rect">
            <a:avLst/>
          </a:prstGeom>
          <a:solidFill>
            <a:srgbClr val="114EBF"/>
          </a:solidFill>
          <a:ln w="12700">
            <a:solidFill>
              <a:srgbClr val="114E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193852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Fase 1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Planejamento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41832" y="2633472"/>
            <a:ext cx="2450592" cy="384048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" y="2752344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4EBF"/>
                </a:solidFill>
              </a:rPr>
              <a:t>Definição estratégica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96696" y="3246120"/>
            <a:ext cx="2331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4E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Defina a pauta.</a:t>
            </a:r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pPr indent="0" marL="0">
              <a:buNone/>
            </a:pPr>
            <a:r>
              <a:rPr lang="en-US" sz="1600" b="1" dirty="0">
                <a:solidFill>
                  <a:srgbClr val="114E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Valide se é relevante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o público.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pPr indent="0" marL="0">
              <a:buNone/>
            </a:pPr>
            <a:r>
              <a:rPr lang="en-US" sz="1600" b="1" dirty="0">
                <a:solidFill>
                  <a:srgbClr val="114E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Escolha o tipo de release: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institucional, evento ou editorial.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148072" y="1207008"/>
            <a:ext cx="402336" cy="40233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48072" y="1307592"/>
            <a:ext cx="402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142232" y="1783080"/>
            <a:ext cx="2788920" cy="32461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D7E0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42232" y="1783080"/>
            <a:ext cx="278892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25112" y="193852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Fase 2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Escrita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4306824" y="2633472"/>
            <a:ext cx="2450592" cy="384048"/>
          </a:xfrm>
          <a:prstGeom prst="roundRect">
            <a:avLst/>
          </a:prstGeom>
          <a:solidFill>
            <a:srgbClr val="FFF2DD"/>
          </a:solidFill>
          <a:ln w="12700">
            <a:solidFill>
              <a:srgbClr val="FFF2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98264" y="2752344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9E0B"/>
                </a:solidFill>
              </a:rPr>
              <a:t>Mão na massa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361688" y="3246120"/>
            <a:ext cx="2331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Escreva um título forte.</a:t>
            </a:r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3ª pessoa e objetividade.</a:t>
            </a:r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Inclua SEO no título 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1º parágrafo, se fizer sentido.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513064" y="1207008"/>
            <a:ext cx="402336" cy="40233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13064" y="1307592"/>
            <a:ext cx="402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507224" y="1783080"/>
            <a:ext cx="2788920" cy="32461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D7E0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07224" y="1783080"/>
            <a:ext cx="2788920" cy="6583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90104" y="193852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Fase 3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Revisão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7671816" y="2633472"/>
            <a:ext cx="2450592" cy="384048"/>
          </a:xfrm>
          <a:prstGeom prst="roundRect">
            <a:avLst/>
          </a:prstGeom>
          <a:solidFill>
            <a:srgbClr val="EAF7EE"/>
          </a:solidFill>
          <a:ln w="12700">
            <a:solidFill>
              <a:srgbClr val="EAF7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63256" y="2752344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A34A"/>
                </a:solidFill>
              </a:rPr>
              <a:t>Checklist final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726680" y="3246120"/>
            <a:ext cx="2331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Cheque datas e grafias.</a:t>
            </a:r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Teste links e nomes de arquivo.</a:t>
            </a:r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Separe imagens em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alta resolução.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68680" y="5349240"/>
            <a:ext cx="10469880" cy="475488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43000" y="5477256"/>
            <a:ext cx="9921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Fluxo ideal: relevância da pauta + escrita objetiva + revisão cuidadosa.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02920" y="6611112"/>
            <a:ext cx="9601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DE4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 apresentações internas, você pode transformar cada fase em um checklist do time.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620256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ct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411480" cy="310896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60120" y="274320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Escrita e Revisão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818120" y="3108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checklist rápido para usar antes do envio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731520"/>
            <a:ext cx="11109960" cy="0"/>
          </a:xfrm>
          <a:prstGeom prst="line">
            <a:avLst/>
          </a:prstGeom>
          <a:noFill/>
          <a:ln w="15240">
            <a:solidFill>
              <a:srgbClr val="D0D5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09728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8E1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99632" y="109728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8E1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097280"/>
            <a:ext cx="525780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99632" y="1097280"/>
            <a:ext cx="5257800" cy="6400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26187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Na escrita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419088" y="126187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Na revisão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987552" y="1920240"/>
            <a:ext cx="292608" cy="292608"/>
          </a:xfrm>
          <a:prstGeom prst="ellipse">
            <a:avLst/>
          </a:prstGeom>
          <a:solidFill>
            <a:srgbClr val="FFF2DD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14984" y="1947672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89888" y="193852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0B1F3A"/>
                </a:solidFill>
              </a:rPr>
              <a:t>Título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1389888" y="217627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Limite de 50–60 caracteres para caber bem no assunto do e-mail.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60120" y="2724912"/>
            <a:ext cx="4572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87552" y="2880360"/>
            <a:ext cx="292608" cy="292608"/>
          </a:xfrm>
          <a:prstGeom prst="ellipse">
            <a:avLst/>
          </a:prstGeom>
          <a:solidFill>
            <a:srgbClr val="FFF2DD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14984" y="2907792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89888" y="289864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0B1F3A"/>
                </a:solidFill>
              </a:rPr>
              <a:t>Tom de voz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1389888" y="313639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Use 3ª pessoa, linguagem objetiva e sem adjetivos exagerados.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60120" y="3685032"/>
            <a:ext cx="4572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87552" y="3840480"/>
            <a:ext cx="292608" cy="292608"/>
          </a:xfrm>
          <a:prstGeom prst="ellipse">
            <a:avLst/>
          </a:prstGeom>
          <a:solidFill>
            <a:srgbClr val="FFF2DD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14984" y="3867912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✓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89888" y="385876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0B1F3A"/>
                </a:solidFill>
              </a:rPr>
              <a:t>SEO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1389888" y="409651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Se for para portal online, inclua palavras-chave no título e no 1º parágrafo.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60120" y="4645152"/>
            <a:ext cx="4572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87552" y="4800600"/>
            <a:ext cx="292608" cy="292608"/>
          </a:xfrm>
          <a:prstGeom prst="ellipse">
            <a:avLst/>
          </a:prstGeom>
          <a:solidFill>
            <a:srgbClr val="FFF2DD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14984" y="4828032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✓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389888" y="481888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0B1F3A"/>
                </a:solidFill>
              </a:rPr>
              <a:t>Lead</a:t>
            </a:r>
            <a:endParaRPr lang="en-US" sz="1750" dirty="0"/>
          </a:p>
        </p:txBody>
      </p:sp>
      <p:sp>
        <p:nvSpPr>
          <p:cNvPr id="30" name="Text 28"/>
          <p:cNvSpPr/>
          <p:nvPr/>
        </p:nvSpPr>
        <p:spPr>
          <a:xfrm>
            <a:off x="1389888" y="505663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O primeiro parágrafo precisa responder aos 5 Ws com clareza.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437376" y="1920240"/>
            <a:ext cx="292608" cy="292608"/>
          </a:xfrm>
          <a:prstGeom prst="ellipse">
            <a:avLst/>
          </a:prstGeom>
          <a:solidFill>
            <a:srgbClr val="EAF7EE"/>
          </a:solidFill>
          <a:ln w="1524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64808" y="1947672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A34A"/>
                </a:solidFill>
              </a:rPr>
              <a:t>✓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839712" y="1938528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0B1F3A"/>
                </a:solidFill>
              </a:rPr>
              <a:t>Dados e nomes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6839712" y="217627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Confirme datas, grafias, cargos e números antes do disparo.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419088" y="2724912"/>
            <a:ext cx="4572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37376" y="2880360"/>
            <a:ext cx="292608" cy="292608"/>
          </a:xfrm>
          <a:prstGeom prst="ellipse">
            <a:avLst/>
          </a:prstGeom>
          <a:solidFill>
            <a:srgbClr val="EAF7EE"/>
          </a:solidFill>
          <a:ln w="15240">
            <a:solidFill>
              <a:srgbClr val="16A3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64808" y="2907792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A34A"/>
                </a:solidFill>
              </a:rPr>
              <a:t>✓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839712" y="2898648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0B1F3A"/>
                </a:solidFill>
              </a:rPr>
              <a:t>Links</a:t>
            </a:r>
            <a:endParaRPr lang="en-US" sz="1750" dirty="0"/>
          </a:p>
        </p:txBody>
      </p:sp>
      <p:sp>
        <p:nvSpPr>
          <p:cNvPr id="39" name="Text 37"/>
          <p:cNvSpPr/>
          <p:nvPr/>
        </p:nvSpPr>
        <p:spPr>
          <a:xfrm>
            <a:off x="6839712" y="313639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Cheque se site, produto, pasta na nuvem e materiais extras estão funcionando.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6419088" y="3685032"/>
            <a:ext cx="4572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37376" y="3840480"/>
            <a:ext cx="292608" cy="292608"/>
          </a:xfrm>
          <a:prstGeom prst="ellipse">
            <a:avLst/>
          </a:prstGeom>
          <a:solidFill>
            <a:srgbClr val="EAF7EE"/>
          </a:solidFill>
          <a:ln w="15240">
            <a:solidFill>
              <a:srgbClr val="16A3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64808" y="3867912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A34A"/>
                </a:solidFill>
              </a:rPr>
              <a:t>✓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6839712" y="3858768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0B1F3A"/>
                </a:solidFill>
              </a:rPr>
              <a:t>Imagens</a:t>
            </a:r>
            <a:endParaRPr lang="en-US" sz="1750" dirty="0"/>
          </a:p>
        </p:txBody>
      </p:sp>
      <p:sp>
        <p:nvSpPr>
          <p:cNvPr id="44" name="Text 42"/>
          <p:cNvSpPr/>
          <p:nvPr/>
        </p:nvSpPr>
        <p:spPr>
          <a:xfrm>
            <a:off x="6839712" y="409651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Tenha fotos em alta resolução prontas para acompanhar a pauta.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6419088" y="4645152"/>
            <a:ext cx="4572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37376" y="4800600"/>
            <a:ext cx="292608" cy="292608"/>
          </a:xfrm>
          <a:prstGeom prst="ellipse">
            <a:avLst/>
          </a:prstGeom>
          <a:solidFill>
            <a:srgbClr val="EAF7EE"/>
          </a:solidFill>
          <a:ln w="15240">
            <a:solidFill>
              <a:srgbClr val="16A3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64808" y="4828032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A34A"/>
                </a:solidFill>
              </a:rPr>
              <a:t>✓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6839712" y="4818888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0B1F3A"/>
                </a:solidFill>
              </a:rPr>
              <a:t>Consistência</a:t>
            </a:r>
            <a:endParaRPr lang="en-US" sz="1750" dirty="0"/>
          </a:p>
        </p:txBody>
      </p:sp>
      <p:sp>
        <p:nvSpPr>
          <p:cNvPr id="49" name="Text 47"/>
          <p:cNvSpPr/>
          <p:nvPr/>
        </p:nvSpPr>
        <p:spPr>
          <a:xfrm>
            <a:off x="6839712" y="505663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Garanta que o texto informa sem parecer panfleto de vendas.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3611880" y="5650992"/>
            <a:ext cx="4937760" cy="384048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767328" y="5751576"/>
            <a:ext cx="4617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</a:rPr>
              <a:t>Checklist de ouro antes do envio</a:t>
            </a:r>
            <a:endParaRPr lang="en-US" sz="1320" dirty="0"/>
          </a:p>
        </p:txBody>
      </p:sp>
      <p:sp>
        <p:nvSpPr>
          <p:cNvPr id="52" name="Text 50"/>
          <p:cNvSpPr/>
          <p:nvPr/>
        </p:nvSpPr>
        <p:spPr>
          <a:xfrm>
            <a:off x="502920" y="6611112"/>
            <a:ext cx="9601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DE4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puder, revise em voz alta: isso ajuda a detectar exageros e frases confusas.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620256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ct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411480" cy="310896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60120" y="274320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Melhores Práticas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818120" y="3108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do’s and don’ts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731520"/>
            <a:ext cx="11109960" cy="0"/>
          </a:xfrm>
          <a:prstGeom prst="line">
            <a:avLst/>
          </a:prstGeom>
          <a:noFill/>
          <a:ln w="15240">
            <a:solidFill>
              <a:srgbClr val="D0D5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115568"/>
            <a:ext cx="5321808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8E1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44768" y="1115568"/>
            <a:ext cx="5321808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8E1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1115568"/>
            <a:ext cx="5321808" cy="6583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44768" y="1115568"/>
            <a:ext cx="5321808" cy="658368"/>
          </a:xfrm>
          <a:prstGeom prst="rect">
            <a:avLst/>
          </a:prstGeom>
          <a:solidFill>
            <a:srgbClr val="D74638"/>
          </a:solidFill>
          <a:ln w="12700">
            <a:solidFill>
              <a:srgbClr val="D746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9264" y="129844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✓ O QUE FAZER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400800" y="129844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✕ O QUE EVITAR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969264" y="1965960"/>
            <a:ext cx="310896" cy="310896"/>
          </a:xfrm>
          <a:prstGeom prst="ellipse">
            <a:avLst/>
          </a:prstGeom>
          <a:solidFill>
            <a:srgbClr val="EAF7EE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011680"/>
            <a:ext cx="237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A34A"/>
                </a:solidFill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89888" y="198424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0B1F3A"/>
                </a:solidFill>
              </a:rPr>
              <a:t>Focar em dados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1389888" y="2240280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</a:rPr>
              <a:t>Números, pesquisas e evidências aumentam credibilidade.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960120" y="2788920"/>
            <a:ext cx="4526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9264" y="2944368"/>
            <a:ext cx="310896" cy="310896"/>
          </a:xfrm>
          <a:prstGeom prst="ellipse">
            <a:avLst/>
          </a:prstGeom>
          <a:solidFill>
            <a:srgbClr val="EAF7EE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2990088"/>
            <a:ext cx="237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A34A"/>
                </a:solidFill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89888" y="296265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0B1F3A"/>
                </a:solidFill>
              </a:rPr>
              <a:t>Facilitar a vida do jornalista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1389888" y="3218688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</a:rPr>
              <a:t>Entregue texto pronto para copiar e colar.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960120" y="3767328"/>
            <a:ext cx="4526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9264" y="3922776"/>
            <a:ext cx="310896" cy="310896"/>
          </a:xfrm>
          <a:prstGeom prst="ellipse">
            <a:avLst/>
          </a:prstGeom>
          <a:solidFill>
            <a:srgbClr val="EAF7EE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3968496"/>
            <a:ext cx="237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A34A"/>
                </a:solidFill>
              </a:rPr>
              <a:t>✓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89888" y="394106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0B1F3A"/>
                </a:solidFill>
              </a:rPr>
              <a:t>Personalizar o contato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1389888" y="4197096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</a:rPr>
              <a:t>Mostre por que a pauta combina com a editoria.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960120" y="4745736"/>
            <a:ext cx="4526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9264" y="4901184"/>
            <a:ext cx="310896" cy="310896"/>
          </a:xfrm>
          <a:prstGeom prst="ellipse">
            <a:avLst/>
          </a:prstGeom>
          <a:solidFill>
            <a:srgbClr val="EAF7EE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5840" y="4946904"/>
            <a:ext cx="237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A34A"/>
                </a:solidFill>
              </a:rPr>
              <a:t>✓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389888" y="491947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0B1F3A"/>
                </a:solidFill>
              </a:rPr>
              <a:t>Enviar no timing certo</a:t>
            </a:r>
            <a:endParaRPr lang="en-US" sz="1750" dirty="0"/>
          </a:p>
        </p:txBody>
      </p:sp>
      <p:sp>
        <p:nvSpPr>
          <p:cNvPr id="30" name="Text 28"/>
          <p:cNvSpPr/>
          <p:nvPr/>
        </p:nvSpPr>
        <p:spPr>
          <a:xfrm>
            <a:off x="1389888" y="5175504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</a:rPr>
              <a:t>Antecedência para eventos; rapidez quando o fato acontece.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6400800" y="1965960"/>
            <a:ext cx="310896" cy="310896"/>
          </a:xfrm>
          <a:prstGeom prst="ellipse">
            <a:avLst/>
          </a:prstGeom>
          <a:solidFill>
            <a:srgbClr val="FDEDEC"/>
          </a:solidFill>
          <a:ln w="13970">
            <a:solidFill>
              <a:srgbClr val="D7463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200253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74638"/>
                </a:solidFill>
              </a:rPr>
              <a:t>✕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821424" y="198424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0B1F3A"/>
                </a:solidFill>
              </a:rPr>
              <a:t>Excesso de “marketing”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6821424" y="2240280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</a:rPr>
              <a:t>Release não é panfleto de vendas.</a:t>
            </a:r>
            <a:endParaRPr lang="en-US" sz="1450" dirty="0"/>
          </a:p>
        </p:txBody>
      </p:sp>
      <p:sp>
        <p:nvSpPr>
          <p:cNvPr id="35" name="Shape 33"/>
          <p:cNvSpPr/>
          <p:nvPr/>
        </p:nvSpPr>
        <p:spPr>
          <a:xfrm>
            <a:off x="6382512" y="2788920"/>
            <a:ext cx="4526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00800" y="2944368"/>
            <a:ext cx="310896" cy="310896"/>
          </a:xfrm>
          <a:prstGeom prst="ellipse">
            <a:avLst/>
          </a:prstGeom>
          <a:solidFill>
            <a:srgbClr val="FDEDEC"/>
          </a:solidFill>
          <a:ln w="13970">
            <a:solidFill>
              <a:srgbClr val="D7463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28232" y="298094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74638"/>
                </a:solidFill>
              </a:rPr>
              <a:t>✕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821424" y="296265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0B1F3A"/>
                </a:solidFill>
              </a:rPr>
              <a:t>Anexos pesados</a:t>
            </a:r>
            <a:endParaRPr lang="en-US" sz="1750" dirty="0"/>
          </a:p>
        </p:txBody>
      </p:sp>
      <p:sp>
        <p:nvSpPr>
          <p:cNvPr id="39" name="Text 37"/>
          <p:cNvSpPr/>
          <p:nvPr/>
        </p:nvSpPr>
        <p:spPr>
          <a:xfrm>
            <a:off x="6821424" y="3218688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</a:rPr>
              <a:t>Cole o texto no e-mail; envie links para materiais extras.</a:t>
            </a:r>
            <a:endParaRPr lang="en-US" sz="1450" dirty="0"/>
          </a:p>
        </p:txBody>
      </p:sp>
      <p:sp>
        <p:nvSpPr>
          <p:cNvPr id="40" name="Shape 38"/>
          <p:cNvSpPr/>
          <p:nvPr/>
        </p:nvSpPr>
        <p:spPr>
          <a:xfrm>
            <a:off x="6382512" y="3767328"/>
            <a:ext cx="4526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00800" y="3922776"/>
            <a:ext cx="310896" cy="310896"/>
          </a:xfrm>
          <a:prstGeom prst="ellipse">
            <a:avLst/>
          </a:prstGeom>
          <a:solidFill>
            <a:srgbClr val="FDEDEC"/>
          </a:solidFill>
          <a:ln w="13970">
            <a:solidFill>
              <a:srgbClr val="D7463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28232" y="395935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74638"/>
                </a:solidFill>
              </a:rPr>
              <a:t>✕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821424" y="394106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0B1F3A"/>
                </a:solidFill>
              </a:rPr>
              <a:t>Disparo em massa cego</a:t>
            </a:r>
            <a:endParaRPr lang="en-US" sz="1750" dirty="0"/>
          </a:p>
        </p:txBody>
      </p:sp>
      <p:sp>
        <p:nvSpPr>
          <p:cNvPr id="44" name="Text 42"/>
          <p:cNvSpPr/>
          <p:nvPr/>
        </p:nvSpPr>
        <p:spPr>
          <a:xfrm>
            <a:off x="6821424" y="4197096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</a:rPr>
              <a:t>Não mande tecnologia para editor de esportes.</a:t>
            </a:r>
            <a:endParaRPr lang="en-US" sz="1450" dirty="0"/>
          </a:p>
        </p:txBody>
      </p:sp>
      <p:sp>
        <p:nvSpPr>
          <p:cNvPr id="45" name="Shape 43"/>
          <p:cNvSpPr/>
          <p:nvPr/>
        </p:nvSpPr>
        <p:spPr>
          <a:xfrm>
            <a:off x="6382512" y="4745736"/>
            <a:ext cx="4526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00800" y="4901184"/>
            <a:ext cx="310896" cy="310896"/>
          </a:xfrm>
          <a:prstGeom prst="ellipse">
            <a:avLst/>
          </a:prstGeom>
          <a:solidFill>
            <a:srgbClr val="FDEDEC"/>
          </a:solidFill>
          <a:ln w="13970">
            <a:solidFill>
              <a:srgbClr val="D7463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28232" y="493776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74638"/>
                </a:solidFill>
              </a:rPr>
              <a:t>✕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821424" y="491947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0B1F3A"/>
                </a:solidFill>
              </a:rPr>
              <a:t>Mentir ou exagerar</a:t>
            </a:r>
            <a:endParaRPr lang="en-US" sz="1750" dirty="0"/>
          </a:p>
        </p:txBody>
      </p:sp>
      <p:sp>
        <p:nvSpPr>
          <p:cNvPr id="49" name="Text 47"/>
          <p:cNvSpPr/>
          <p:nvPr/>
        </p:nvSpPr>
        <p:spPr>
          <a:xfrm>
            <a:off x="6821424" y="5175504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</a:rPr>
              <a:t>Perder a confiança da imprensa custa caro.</a:t>
            </a:r>
            <a:endParaRPr lang="en-US" sz="1450" dirty="0"/>
          </a:p>
        </p:txBody>
      </p:sp>
      <p:sp>
        <p:nvSpPr>
          <p:cNvPr id="50" name="Shape 48"/>
          <p:cNvSpPr/>
          <p:nvPr/>
        </p:nvSpPr>
        <p:spPr>
          <a:xfrm>
            <a:off x="960120" y="5760720"/>
            <a:ext cx="10287000" cy="347472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D3E1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143000" y="5843016"/>
            <a:ext cx="9921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0" dirty="0">
                <a:solidFill>
                  <a:srgbClr val="114EBF"/>
                </a:solidFill>
              </a:rPr>
              <a:t>Boas práticas aumentam a chance de publicação; erros básicos queimam a pauta antes de ser lida.</a:t>
            </a:r>
            <a:endParaRPr lang="en-US" sz="1240" dirty="0"/>
          </a:p>
        </p:txBody>
      </p:sp>
      <p:sp>
        <p:nvSpPr>
          <p:cNvPr id="52" name="Text 50"/>
          <p:cNvSpPr/>
          <p:nvPr/>
        </p:nvSpPr>
        <p:spPr>
          <a:xfrm>
            <a:off x="502920" y="6611112"/>
            <a:ext cx="9601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DE4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este quadro como régua de qualidade na hora de aprovar releases.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620256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ct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411480" cy="310896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60120" y="274320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Estratégia de Distribuição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818120" y="3108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“pulo do gato”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731520"/>
            <a:ext cx="11109960" cy="0"/>
          </a:xfrm>
          <a:prstGeom prst="line">
            <a:avLst/>
          </a:prstGeom>
          <a:noFill/>
          <a:ln w="15240">
            <a:solidFill>
              <a:srgbClr val="D0D5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96012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67085"/>
                </a:solidFill>
              </a:rPr>
              <a:t>De nada adianta um texto perfeito se ele não chegar a quem publica.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04672" y="1481328"/>
            <a:ext cx="2267712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E1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73352" y="1188720"/>
            <a:ext cx="530352" cy="5303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73352" y="1353312"/>
            <a:ext cx="530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9264" y="1874520"/>
            <a:ext cx="193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B1F3A"/>
                </a:solidFill>
              </a:rPr>
              <a:t>Segmentação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0B1F3A"/>
                </a:solidFill>
              </a:rPr>
              <a:t>de mailing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033272" y="2523744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667085"/>
                </a:solidFill>
              </a:rPr>
              <a:t>Crie listas específicas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dirty="0">
                <a:solidFill>
                  <a:srgbClr val="667085"/>
                </a:solidFill>
              </a:rPr>
              <a:t>por editoria.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3218688" y="2304288"/>
            <a:ext cx="256032" cy="256032"/>
          </a:xfrm>
          <a:prstGeom prst="chevron">
            <a:avLst/>
          </a:prstGeom>
          <a:solidFill>
            <a:srgbClr val="CAD5E7"/>
          </a:solidFill>
          <a:ln w="12700">
            <a:solidFill>
              <a:srgbClr val="CAD5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21024" y="1481328"/>
            <a:ext cx="2267712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E1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89704" y="1188720"/>
            <a:ext cx="530352" cy="530352"/>
          </a:xfrm>
          <a:prstGeom prst="ellipse">
            <a:avLst/>
          </a:prstGeom>
          <a:solidFill>
            <a:srgbClr val="114EBF"/>
          </a:solidFill>
          <a:ln w="12700">
            <a:solidFill>
              <a:srgbClr val="114E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9704" y="1353312"/>
            <a:ext cx="530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785616" y="1874520"/>
            <a:ext cx="193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B1F3A"/>
                </a:solidFill>
              </a:rPr>
              <a:t>Assunto do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0B1F3A"/>
                </a:solidFill>
              </a:rPr>
              <a:t>e-mail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3849624" y="2523744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667085"/>
                </a:solidFill>
              </a:rPr>
              <a:t>Use o título do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dirty="0">
                <a:solidFill>
                  <a:srgbClr val="667085"/>
                </a:solidFill>
              </a:rPr>
              <a:t>release ou variação.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035040" y="2304288"/>
            <a:ext cx="256032" cy="256032"/>
          </a:xfrm>
          <a:prstGeom prst="chevron">
            <a:avLst/>
          </a:prstGeom>
          <a:solidFill>
            <a:srgbClr val="CAD5E7"/>
          </a:solidFill>
          <a:ln w="12700">
            <a:solidFill>
              <a:srgbClr val="CAD5E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37376" y="1481328"/>
            <a:ext cx="2267712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E1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06056" y="1188720"/>
            <a:ext cx="530352" cy="5303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06056" y="1353312"/>
            <a:ext cx="530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601968" y="1874520"/>
            <a:ext cx="193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B1F3A"/>
                </a:solidFill>
              </a:rPr>
              <a:t>Corpo do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0B1F3A"/>
                </a:solidFill>
              </a:rPr>
              <a:t>e-mail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6665976" y="2523744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667085"/>
                </a:solidFill>
              </a:rPr>
              <a:t>Pitch de 2 linhas +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dirty="0">
                <a:solidFill>
                  <a:srgbClr val="667085"/>
                </a:solidFill>
              </a:rPr>
              <a:t>release completo.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8851392" y="2304288"/>
            <a:ext cx="256032" cy="256032"/>
          </a:xfrm>
          <a:prstGeom prst="chevron">
            <a:avLst/>
          </a:prstGeom>
          <a:solidFill>
            <a:srgbClr val="CAD5E7"/>
          </a:solidFill>
          <a:ln w="12700">
            <a:solidFill>
              <a:srgbClr val="CAD5E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53728" y="1481328"/>
            <a:ext cx="2267712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E1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122408" y="1188720"/>
            <a:ext cx="530352" cy="530352"/>
          </a:xfrm>
          <a:prstGeom prst="ellipse">
            <a:avLst/>
          </a:prstGeom>
          <a:solidFill>
            <a:srgbClr val="114EBF"/>
          </a:solidFill>
          <a:ln w="12700">
            <a:solidFill>
              <a:srgbClr val="114E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122408" y="1353312"/>
            <a:ext cx="530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418320" y="1874520"/>
            <a:ext cx="193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B1F3A"/>
                </a:solidFill>
              </a:rPr>
              <a:t>Follow-up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9482328" y="2523744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667085"/>
                </a:solidFill>
              </a:rPr>
              <a:t>Retome em 24h–48h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dirty="0">
                <a:solidFill>
                  <a:srgbClr val="667085"/>
                </a:solidFill>
              </a:rPr>
              <a:t>com educação.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822960" y="3858768"/>
            <a:ext cx="5897880" cy="1691640"/>
          </a:xfrm>
          <a:prstGeom prst="roundRect">
            <a:avLst>
              <a:gd name="adj" fmla="val 4324"/>
            </a:avLst>
          </a:prstGeom>
          <a:solidFill>
            <a:srgbClr val="EAF2FF"/>
          </a:solidFill>
          <a:ln w="12700">
            <a:solidFill>
              <a:srgbClr val="D1E0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41148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Exemplo de assunto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1097280" y="4480560"/>
            <a:ext cx="52120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8F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25880" y="4700016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14EBF"/>
                </a:solidFill>
              </a:rPr>
              <a:t>[Lançamento] Startup X recebe aporte de R$ 10 mi</a:t>
            </a:r>
            <a:endParaRPr lang="en-US" sz="1900" dirty="0"/>
          </a:p>
        </p:txBody>
      </p:sp>
      <p:sp>
        <p:nvSpPr>
          <p:cNvPr id="34" name="Shape 32"/>
          <p:cNvSpPr/>
          <p:nvPr/>
        </p:nvSpPr>
        <p:spPr>
          <a:xfrm>
            <a:off x="6949440" y="3858768"/>
            <a:ext cx="437083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E1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42048" y="41148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No corpo do e-mail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7269480" y="4443984"/>
            <a:ext cx="36118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Cumprimente o jornalista.</a:t>
            </a:r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Faça um pitch curto vendendo a pauta.</a:t>
            </a:r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Cole o release completo abaixo.</a:t>
            </a:r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Envie links para fotos e vídeos na nuvem.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804672" y="5797296"/>
            <a:ext cx="10543032" cy="420624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60704" y="5907024"/>
            <a:ext cx="10012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80" dirty="0">
                <a:solidFill>
                  <a:srgbClr val="FFFFFF"/>
                </a:solidFill>
              </a:rPr>
              <a:t>Texto forte + mailing certo + timing correto = mais chance de mídia espontânea.</a:t>
            </a:r>
            <a:endParaRPr lang="en-US" sz="1380" dirty="0"/>
          </a:p>
        </p:txBody>
      </p:sp>
      <p:sp>
        <p:nvSpPr>
          <p:cNvPr id="39" name="Text 37"/>
          <p:cNvSpPr/>
          <p:nvPr/>
        </p:nvSpPr>
        <p:spPr>
          <a:xfrm>
            <a:off x="502920" y="6611112"/>
            <a:ext cx="9601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DE4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Distribuição estratégica é o que transforma um bom release em publicação.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620256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ct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Playbook - Como Construir um Release de Imprensa</dc:title>
  <dc:subject>Playbook de Releases</dc:subject>
  <dc:creator>OpenAI</dc:creator>
  <cp:lastModifiedBy>OpenAI</cp:lastModifiedBy>
  <cp:revision>1</cp:revision>
  <dcterms:created xsi:type="dcterms:W3CDTF">2026-04-10T20:35:30Z</dcterms:created>
  <dcterms:modified xsi:type="dcterms:W3CDTF">2026-04-10T20:35:30Z</dcterms:modified>
</cp:coreProperties>
</file>