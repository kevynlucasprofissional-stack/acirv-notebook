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8FD675-6B1A-41B3-922A-B68CF138146E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Arquivo do usuário: PLAYBOOK Cerimonial Café entre Amigos.md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Imagem de apoio: https://930.com.co/cdn/shop/files/EVENTOS_CORPORATIVOS_930_CAFE_9eeb6ff1-4d43-454a-a465-3d4eb3f6a86a.jpg?v=1710452675&amp;width=3000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EE4B00-8742-47F4-AA6B-75A4D0996D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Arquivo do usuário: PLAYBOOK Cerimonial Café entre Amigos.md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Imagem de apoio: https://images.unsplash.com/photo-1526547319484-63dce467060b?crop=entropy&amp;cs=tinysrgb&amp;fit=max&amp;fm=jpg&amp;ixlib=rb-1.2.1&amp;q=80&amp;w=1080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6FD2FB-D92F-4D17-9927-7F528D865B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Arquivo do usuário: PLAYBOOK Cerimonial Café entre Amigos.md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68E0C3-5270-437C-B72C-950CFE139E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Arquivo do usuário: PLAYBOOK Cerimonial Café entre Amigos.md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4ED956-792C-4BB3-A95D-C86EC22772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Arquivo do usuário: PLAYBOOK Cerimonial Café entre Amigos.md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C15426-85D7-46B4-8297-1394CABB3B2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Arquivo do usuário: PLAYBOOK Cerimonial Café entre Amigos.md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036D43-3A25-4AAE-9049-F01F4AA2F7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Arquivo do usuário: PLAYBOOK Cerimonial Café entre Amigos.md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5861B4-9277-48CF-88EE-FAD1126508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Arquivo do usuário: PLAYBOOK Cerimonial Café entre Amigos.md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546F5B-6732-46F6-A9D7-5932FC8972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21720" y="511920"/>
            <a:ext cx="868320" cy="10944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58440" y="941760"/>
            <a:ext cx="4388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PLAYBOOK DE CERIMONIAL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58440" y="1325880"/>
            <a:ext cx="51202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Café Entre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Amigos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85800" y="267012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F5A4C"/>
                </a:solidFill>
                <a:effectLst/>
                <a:uFillTx/>
                <a:latin typeface="Aptos Display"/>
                <a:ea typeface="Aptos Display"/>
              </a:rPr>
              <a:t>(ACIRV)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676800" y="3200400"/>
            <a:ext cx="5211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Apresentação editável com a estrutura, os protocolos e os scripts-base do manual.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94800" y="4041720"/>
            <a:ext cx="1608840" cy="310680"/>
          </a:xfrm>
          <a:prstGeom prst="roundRect">
            <a:avLst>
              <a:gd name="adj" fmla="val 20588"/>
            </a:avLst>
          </a:prstGeom>
          <a:solidFill>
            <a:srgbClr val="F7EEE7"/>
          </a:solidFill>
          <a:ln w="12700">
            <a:solidFill>
              <a:srgbClr val="F7E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04600" y="4069080"/>
            <a:ext cx="1389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Acolhida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2395800" y="4041720"/>
            <a:ext cx="1682280" cy="310680"/>
          </a:xfrm>
          <a:prstGeom prst="roundRect">
            <a:avLst>
              <a:gd name="adj" fmla="val 20588"/>
            </a:avLst>
          </a:prstGeom>
          <a:solidFill>
            <a:srgbClr val="F7EEE7"/>
          </a:solidFill>
          <a:ln w="12700">
            <a:solidFill>
              <a:srgbClr val="F7E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505600" y="406908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Networking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4178880" y="4041720"/>
            <a:ext cx="1334520" cy="310680"/>
          </a:xfrm>
          <a:prstGeom prst="roundRect">
            <a:avLst>
              <a:gd name="adj" fmla="val 20588"/>
            </a:avLst>
          </a:prstGeom>
          <a:solidFill>
            <a:srgbClr val="F7EEE7"/>
          </a:solidFill>
          <a:ln w="12700">
            <a:solidFill>
              <a:srgbClr val="F7E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4288680" y="4069080"/>
            <a:ext cx="1115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Conteúdo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94800" y="4864320"/>
            <a:ext cx="4800600" cy="360"/>
          </a:xfrm>
          <a:prstGeom prst="line">
            <a:avLst/>
          </a:prstGeom>
          <a:ln w="1524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94800" y="5010840"/>
            <a:ext cx="3291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Baseado no manual enviado pelo usuário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548640" y="64738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Café Entre Amigos • Playbook de Cerimonial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11247120" y="6419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658440" y="3841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ESSÊNCIA DO EVENTO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640080" y="640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O que esse encontro precisa transmitir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658440" y="11703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Uma experiência profissional, acolhedora e colaborativa do início ao fim.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658440" y="1783080"/>
            <a:ext cx="5577480" cy="406872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5240">
            <a:solidFill>
              <a:srgbClr val="D8C8BA"/>
            </a:solidFill>
            <a:round/>
          </a:ln>
          <a:effectLst>
            <a:outerShdw algn="bl" blurRad="14040" dir="2700000" dist="4582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932760" y="2030040"/>
            <a:ext cx="20113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A proposta central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932760" y="2340720"/>
            <a:ext cx="47545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Aproximar pessoas, fortalecer o networking e valorizar o espírito colaborativo entre empresários.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932400" y="3255120"/>
            <a:ext cx="4645440" cy="360"/>
          </a:xfrm>
          <a:prstGeom prst="line">
            <a:avLst/>
          </a:prstGeom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969120" y="34930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Público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2066400" y="3474720"/>
            <a:ext cx="3328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Empresários, associados, parceiros e convidados.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969120" y="424296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Tom de voz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2066400" y="4224600"/>
            <a:ext cx="3328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Profissional, acolhedor, entusiasta e colaborativo.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969120" y="49924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Papel do MC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2066400" y="4974480"/>
            <a:ext cx="3328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Dar ritmo, orientar o público e manter a fluidez entre os blocos.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0" descr="/mnt/data/coffee_meeting.jpg"/>
          <p:cNvPicPr/>
          <p:nvPr/>
        </p:nvPicPr>
        <p:blipFill>
          <a:blip r:embed="rId1"/>
          <a:srcRect l="0" t="19324" r="0" b="19324"/>
          <a:stretch/>
        </p:blipFill>
        <p:spPr>
          <a:xfrm>
            <a:off x="6583680" y="1847160"/>
            <a:ext cx="4955760" cy="202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Shape 14"/>
          <p:cNvSpPr/>
          <p:nvPr/>
        </p:nvSpPr>
        <p:spPr>
          <a:xfrm>
            <a:off x="6565320" y="4187880"/>
            <a:ext cx="4992120" cy="1535760"/>
          </a:xfrm>
          <a:prstGeom prst="roundRect">
            <a:avLst>
              <a:gd name="adj" fmla="val 4762"/>
            </a:avLst>
          </a:prstGeom>
          <a:solidFill>
            <a:srgbClr val="4B3127"/>
          </a:solidFill>
          <a:ln w="12700">
            <a:solidFill>
              <a:srgbClr val="4B31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6839640" y="442584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5D8BC"/>
                </a:solidFill>
                <a:effectLst/>
                <a:uFillTx/>
                <a:latin typeface="Aptos"/>
                <a:ea typeface="Aptos"/>
              </a:rPr>
              <a:t>DNA do cerimonial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6821280" y="4736520"/>
            <a:ext cx="4160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acolher • conectar • valorizar</a:t>
            </a:r>
            <a:endParaRPr lang="pt-BR" sz="2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6839640" y="5139000"/>
            <a:ext cx="4114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0E6DC"/>
                </a:solidFill>
                <a:effectLst/>
                <a:uFillTx/>
                <a:latin typeface="Aptos"/>
                <a:ea typeface="Aptos"/>
              </a:rPr>
              <a:t>“A ACIRV é a casa do empreendedor.”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548640" y="64738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Café Entre Amigos • Playbook de Cerimonial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11247120" y="6419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658440" y="3841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CHECKLIST DO MC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640080" y="640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Confirmações obrigatórias antes de subir ao palco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658440" y="11703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Tudo o que precisa estar alinhado com a equipe de apoio para o evento fluir sem improvisos críticos.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4"/>
          <p:cNvSpPr/>
          <p:nvPr/>
        </p:nvSpPr>
        <p:spPr>
          <a:xfrm>
            <a:off x="658440" y="1755720"/>
            <a:ext cx="736056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932760" y="2194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A4C"/>
                </a:solidFill>
                <a:effectLst/>
                <a:uFillTx/>
                <a:latin typeface="Segoe UI Symbol"/>
                <a:ea typeface="Segoe UI Symbol"/>
              </a:rPr>
              <a:t>☑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1243440" y="2212920"/>
            <a:ext cx="2980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Lista de presença na entrada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932760" y="333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A4C"/>
                </a:solidFill>
                <a:effectLst/>
                <a:uFillTx/>
                <a:latin typeface="Segoe UI Symbol"/>
                <a:ea typeface="Segoe UI Symbol"/>
              </a:rPr>
              <a:t>☑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1243440" y="3355920"/>
            <a:ext cx="2980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Perfil oficial no Instagram (@acirvoficial)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9"/>
          <p:cNvSpPr/>
          <p:nvPr/>
        </p:nvSpPr>
        <p:spPr>
          <a:xfrm>
            <a:off x="932760" y="4480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A4C"/>
                </a:solidFill>
                <a:effectLst/>
                <a:uFillTx/>
                <a:latin typeface="Segoe UI Symbol"/>
                <a:ea typeface="Segoe UI Symbol"/>
              </a:rPr>
              <a:t>☑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0"/>
          <p:cNvSpPr/>
          <p:nvPr/>
        </p:nvSpPr>
        <p:spPr>
          <a:xfrm>
            <a:off x="1243440" y="4498920"/>
            <a:ext cx="2980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Lista impressa dos novos associados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4526280" y="2194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A4C"/>
                </a:solidFill>
                <a:effectLst/>
                <a:uFillTx/>
                <a:latin typeface="Segoe UI Symbol"/>
                <a:ea typeface="Segoe UI Symbol"/>
              </a:rPr>
              <a:t>☑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4837320" y="2212920"/>
            <a:ext cx="2980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Nomes dos patrocinadores e quem terá fala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4526280" y="3337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A4C"/>
                </a:solidFill>
                <a:effectLst/>
                <a:uFillTx/>
                <a:latin typeface="Segoe UI Symbol"/>
                <a:ea typeface="Segoe UI Symbol"/>
              </a:rPr>
              <a:t>☑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4"/>
          <p:cNvSpPr/>
          <p:nvPr/>
        </p:nvSpPr>
        <p:spPr>
          <a:xfrm>
            <a:off x="4837320" y="3355920"/>
            <a:ext cx="2980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Brinde físico disponível para exibição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4526280" y="4480560"/>
            <a:ext cx="219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5A4C"/>
                </a:solidFill>
                <a:effectLst/>
                <a:uFillTx/>
                <a:latin typeface="Segoe UI Symbol"/>
                <a:ea typeface="Segoe UI Symbol"/>
              </a:rPr>
              <a:t>☑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4837320" y="4498920"/>
            <a:ext cx="29804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Pesquisa ativa (QR Code ou papel), se houver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4014000" y="2139480"/>
            <a:ext cx="360" cy="3493080"/>
          </a:xfrm>
          <a:prstGeom prst="line">
            <a:avLst/>
          </a:prstGeom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8247960" y="1755720"/>
            <a:ext cx="3291480" cy="2358720"/>
          </a:xfrm>
          <a:prstGeom prst="roundRect">
            <a:avLst>
              <a:gd name="adj" fmla="val 3101"/>
            </a:avLst>
          </a:prstGeom>
          <a:solidFill>
            <a:srgbClr val="4B3127"/>
          </a:solidFill>
          <a:ln w="12700">
            <a:solidFill>
              <a:srgbClr val="4B31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8540640" y="2084760"/>
            <a:ext cx="2697120" cy="14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Se faltar alguma dessas confirmações, o MC perde agilidade, aumenta o improviso e enfraquece a percepção de organização do evento.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0"/>
          <p:cNvSpPr/>
          <p:nvPr/>
        </p:nvSpPr>
        <p:spPr>
          <a:xfrm>
            <a:off x="8247960" y="4316040"/>
            <a:ext cx="3291480" cy="1919880"/>
          </a:xfrm>
          <a:prstGeom prst="roundRect">
            <a:avLst>
              <a:gd name="adj" fmla="val 3810"/>
            </a:avLst>
          </a:prstGeom>
          <a:solidFill>
            <a:srgbClr val="FFF7EF"/>
          </a:solidFill>
          <a:ln w="13970">
            <a:solidFill>
              <a:srgbClr val="D7A2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8503920" y="45903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Dica prática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2"/>
          <p:cNvSpPr/>
          <p:nvPr/>
        </p:nvSpPr>
        <p:spPr>
          <a:xfrm>
            <a:off x="8503920" y="4901040"/>
            <a:ext cx="269712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Faça um “check final” com Marketing ou apoio 10 minutos antes do início.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548640" y="64738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Café Entre Amigos • Playbook de Cerimonial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11247120" y="6419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658440" y="3841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RUN-OF-SHOW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640080" y="640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A estrutura padrão em 8 blocos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658440" y="11703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A sequência abaixo organiza o evento em um fluxo lógico de acolhida, conteúdo e fechamento.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914400" y="3803760"/>
            <a:ext cx="10241280" cy="360"/>
          </a:xfrm>
          <a:prstGeom prst="line">
            <a:avLst/>
          </a:prstGeom>
          <a:ln w="3048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914400" y="3420000"/>
            <a:ext cx="785880" cy="785880"/>
          </a:xfrm>
          <a:prstGeom prst="ellipse">
            <a:avLst/>
          </a:prstGeom>
          <a:solidFill>
            <a:srgbClr val="2F5A4C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1051560" y="36208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594360" y="2514600"/>
            <a:ext cx="141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Abertura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&amp; acolhida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1307520" y="3081240"/>
            <a:ext cx="360" cy="274320"/>
          </a:xfrm>
          <a:prstGeom prst="line">
            <a:avLst/>
          </a:prstGeom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2240280" y="3420000"/>
            <a:ext cx="785880" cy="785880"/>
          </a:xfrm>
          <a:prstGeom prst="ellipse">
            <a:avLst/>
          </a:prstGeom>
          <a:solidFill>
            <a:srgbClr val="2F5A4C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2377440" y="36208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1920240" y="4352400"/>
            <a:ext cx="141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Palavra da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presidência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 flipV="1">
            <a:off x="2633400" y="4096440"/>
            <a:ext cx="360" cy="109800"/>
          </a:xfrm>
          <a:prstGeom prst="line">
            <a:avLst/>
          </a:prstGeom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3"/>
          <p:cNvSpPr/>
          <p:nvPr/>
        </p:nvSpPr>
        <p:spPr>
          <a:xfrm>
            <a:off x="3566160" y="3420000"/>
            <a:ext cx="785880" cy="785880"/>
          </a:xfrm>
          <a:prstGeom prst="ellipse">
            <a:avLst/>
          </a:prstGeom>
          <a:solidFill>
            <a:srgbClr val="2F5A4C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3703320" y="36208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3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3246120" y="2514600"/>
            <a:ext cx="141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Patrocinador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do café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6"/>
          <p:cNvSpPr/>
          <p:nvPr/>
        </p:nvSpPr>
        <p:spPr>
          <a:xfrm>
            <a:off x="3959280" y="3081240"/>
            <a:ext cx="360" cy="274320"/>
          </a:xfrm>
          <a:prstGeom prst="line">
            <a:avLst/>
          </a:prstGeom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7"/>
          <p:cNvSpPr/>
          <p:nvPr/>
        </p:nvSpPr>
        <p:spPr>
          <a:xfrm>
            <a:off x="4892040" y="3420000"/>
            <a:ext cx="785880" cy="785880"/>
          </a:xfrm>
          <a:prstGeom prst="ellipse">
            <a:avLst/>
          </a:prstGeom>
          <a:solidFill>
            <a:srgbClr val="2F5A4C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5029200" y="36208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4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4572000" y="4352400"/>
            <a:ext cx="141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Pitch 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novos associados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0"/>
          <p:cNvSpPr/>
          <p:nvPr/>
        </p:nvSpPr>
        <p:spPr>
          <a:xfrm flipV="1">
            <a:off x="5285160" y="4096440"/>
            <a:ext cx="360" cy="109800"/>
          </a:xfrm>
          <a:prstGeom prst="line">
            <a:avLst/>
          </a:prstGeom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"/>
          <p:cNvSpPr/>
          <p:nvPr/>
        </p:nvSpPr>
        <p:spPr>
          <a:xfrm>
            <a:off x="6217920" y="3420000"/>
            <a:ext cx="785880" cy="785880"/>
          </a:xfrm>
          <a:prstGeom prst="ellipse">
            <a:avLst/>
          </a:prstGeom>
          <a:solidFill>
            <a:srgbClr val="B96D3B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6355080" y="36208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5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5897880" y="2514600"/>
            <a:ext cx="141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Conteúdo /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palestra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4"/>
          <p:cNvSpPr/>
          <p:nvPr/>
        </p:nvSpPr>
        <p:spPr>
          <a:xfrm>
            <a:off x="6611040" y="3081240"/>
            <a:ext cx="360" cy="274320"/>
          </a:xfrm>
          <a:prstGeom prst="line">
            <a:avLst/>
          </a:prstGeom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5"/>
          <p:cNvSpPr/>
          <p:nvPr/>
        </p:nvSpPr>
        <p:spPr>
          <a:xfrm>
            <a:off x="7543800" y="3420000"/>
            <a:ext cx="785880" cy="785880"/>
          </a:xfrm>
          <a:prstGeom prst="ellipse">
            <a:avLst/>
          </a:prstGeom>
          <a:solidFill>
            <a:srgbClr val="B96D3B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6"/>
          <p:cNvSpPr/>
          <p:nvPr/>
        </p:nvSpPr>
        <p:spPr>
          <a:xfrm>
            <a:off x="7680960" y="36208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6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7223760" y="4352400"/>
            <a:ext cx="141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Agradecimento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pós-palestra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8"/>
          <p:cNvSpPr/>
          <p:nvPr/>
        </p:nvSpPr>
        <p:spPr>
          <a:xfrm flipV="1">
            <a:off x="7936920" y="4096440"/>
            <a:ext cx="360" cy="109800"/>
          </a:xfrm>
          <a:prstGeom prst="line">
            <a:avLst/>
          </a:prstGeom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9"/>
          <p:cNvSpPr/>
          <p:nvPr/>
        </p:nvSpPr>
        <p:spPr>
          <a:xfrm>
            <a:off x="8869680" y="3420000"/>
            <a:ext cx="785880" cy="785880"/>
          </a:xfrm>
          <a:prstGeom prst="ellipse">
            <a:avLst/>
          </a:prstGeom>
          <a:solidFill>
            <a:srgbClr val="B96D3B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0"/>
          <p:cNvSpPr/>
          <p:nvPr/>
        </p:nvSpPr>
        <p:spPr>
          <a:xfrm>
            <a:off x="9006840" y="36208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7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1"/>
          <p:cNvSpPr/>
          <p:nvPr/>
        </p:nvSpPr>
        <p:spPr>
          <a:xfrm>
            <a:off x="8549640" y="2514600"/>
            <a:ext cx="141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Sorteio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do brinde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2"/>
          <p:cNvSpPr/>
          <p:nvPr/>
        </p:nvSpPr>
        <p:spPr>
          <a:xfrm>
            <a:off x="9262800" y="3081240"/>
            <a:ext cx="360" cy="274320"/>
          </a:xfrm>
          <a:prstGeom prst="line">
            <a:avLst/>
          </a:prstGeom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3"/>
          <p:cNvSpPr/>
          <p:nvPr/>
        </p:nvSpPr>
        <p:spPr>
          <a:xfrm>
            <a:off x="10195560" y="3420000"/>
            <a:ext cx="785880" cy="785880"/>
          </a:xfrm>
          <a:prstGeom prst="ellipse">
            <a:avLst/>
          </a:prstGeom>
          <a:solidFill>
            <a:srgbClr val="B96D3B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4"/>
          <p:cNvSpPr/>
          <p:nvPr/>
        </p:nvSpPr>
        <p:spPr>
          <a:xfrm>
            <a:off x="10332720" y="3620880"/>
            <a:ext cx="51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8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5"/>
          <p:cNvSpPr/>
          <p:nvPr/>
        </p:nvSpPr>
        <p:spPr>
          <a:xfrm>
            <a:off x="9875520" y="4352400"/>
            <a:ext cx="1416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Encerramento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oficial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6"/>
          <p:cNvSpPr/>
          <p:nvPr/>
        </p:nvSpPr>
        <p:spPr>
          <a:xfrm flipV="1">
            <a:off x="10588680" y="4096440"/>
            <a:ext cx="360" cy="109800"/>
          </a:xfrm>
          <a:prstGeom prst="line">
            <a:avLst/>
          </a:prstGeom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7"/>
          <p:cNvSpPr/>
          <p:nvPr/>
        </p:nvSpPr>
        <p:spPr>
          <a:xfrm>
            <a:off x="868680" y="5394960"/>
            <a:ext cx="3977280" cy="822600"/>
          </a:xfrm>
          <a:prstGeom prst="roundRect">
            <a:avLst>
              <a:gd name="adj" fmla="val 8889"/>
            </a:avLst>
          </a:prstGeom>
          <a:solidFill>
            <a:srgbClr val="FFF7EF"/>
          </a:solidFill>
          <a:ln w="13970">
            <a:solidFill>
              <a:srgbClr val="D7A2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8"/>
          <p:cNvSpPr/>
          <p:nvPr/>
        </p:nvSpPr>
        <p:spPr>
          <a:xfrm>
            <a:off x="1014840" y="5559480"/>
            <a:ext cx="72720" cy="49356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9"/>
          <p:cNvSpPr/>
          <p:nvPr/>
        </p:nvSpPr>
        <p:spPr>
          <a:xfrm>
            <a:off x="1216080" y="5559480"/>
            <a:ext cx="344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i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Objetivo do roteiro: manter ritmo, clareza e profissionalismo.</a:t>
            </a:r>
            <a:endParaRPr lang="pt-B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0"/>
          <p:cNvSpPr/>
          <p:nvPr/>
        </p:nvSpPr>
        <p:spPr>
          <a:xfrm>
            <a:off x="5120640" y="5321880"/>
            <a:ext cx="5806080" cy="9324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1"/>
          <p:cNvSpPr/>
          <p:nvPr/>
        </p:nvSpPr>
        <p:spPr>
          <a:xfrm>
            <a:off x="5394960" y="5504760"/>
            <a:ext cx="5211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1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Lógica do fluxo: acolher → alinhar institucionalmente → dar voz aos parceiros → gerar conteúdo → reconhecer → sortear → encerrar</a:t>
            </a:r>
            <a:endParaRPr lang="pt-BR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2"/>
          <p:cNvSpPr/>
          <p:nvPr/>
        </p:nvSpPr>
        <p:spPr>
          <a:xfrm>
            <a:off x="548640" y="64738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Café Entre Amigos • Playbook de Cerimonial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11247120" y="6419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658440" y="3841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BLOCOS 1–4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640080" y="640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Da abertura ao pitch de novos associados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658440" y="11703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A primeira metade do evento constrói o clima, alinha a fala institucional e integra novos participantes.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"/>
          <p:cNvSpPr/>
          <p:nvPr/>
        </p:nvSpPr>
        <p:spPr>
          <a:xfrm>
            <a:off x="658440" y="1783080"/>
            <a:ext cx="4041360" cy="1572480"/>
          </a:xfrm>
          <a:prstGeom prst="roundRect">
            <a:avLst>
              <a:gd name="adj" fmla="val 4651"/>
            </a:avLst>
          </a:prstGeom>
          <a:solidFill>
            <a:srgbClr val="FFF7EF"/>
          </a:solidFill>
          <a:ln w="13970">
            <a:solidFill>
              <a:srgbClr val="D7A2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804600" y="1947600"/>
            <a:ext cx="72720" cy="124308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1005840" y="1947600"/>
            <a:ext cx="351108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i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“Bom dia, senhoras e senhores! Sejam muito bem-vindos a mais uma edição do Café Entre Amigos...”</a:t>
            </a:r>
            <a:endParaRPr lang="pt-B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4956120" y="1783080"/>
            <a:ext cx="292572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8"/>
          <p:cNvSpPr/>
          <p:nvPr/>
        </p:nvSpPr>
        <p:spPr>
          <a:xfrm>
            <a:off x="5139000" y="1984320"/>
            <a:ext cx="511560" cy="383760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5248800" y="203904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797440" y="196596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Abertura e acolhida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5157360" y="2423160"/>
            <a:ext cx="2523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Boas-vindas calorosas + avisos obrigatórios.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5157360" y="2807280"/>
            <a:ext cx="25232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Lembrar lista de presença, Instagram oficial, regra do sorteio e eventual pesquisa.</a:t>
            </a:r>
            <a:endParaRPr lang="pt-BR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8229600" y="1783080"/>
            <a:ext cx="3291480" cy="193824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8412480" y="1984320"/>
            <a:ext cx="511560" cy="383760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8522280" y="203904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9070920" y="1965960"/>
            <a:ext cx="2285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Palavra da presidência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8430840" y="2423160"/>
            <a:ext cx="2889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Momento institucional e de alinhamento estratégico.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8430840" y="2807280"/>
            <a:ext cx="2889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Introdução formal do presidente e espaço para visão da gestão, economia local ou novas ferramentas.</a:t>
            </a:r>
            <a:endParaRPr lang="pt-BR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658440" y="3749040"/>
            <a:ext cx="3803400" cy="2084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0"/>
          <p:cNvSpPr/>
          <p:nvPr/>
        </p:nvSpPr>
        <p:spPr>
          <a:xfrm>
            <a:off x="841320" y="3950280"/>
            <a:ext cx="511560" cy="383760"/>
          </a:xfrm>
          <a:prstGeom prst="roundRect">
            <a:avLst>
              <a:gd name="adj" fmla="val 11905"/>
            </a:avLst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951120" y="400500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2"/>
          <p:cNvSpPr/>
          <p:nvPr/>
        </p:nvSpPr>
        <p:spPr>
          <a:xfrm>
            <a:off x="1499760" y="3931920"/>
            <a:ext cx="2797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Patrocinador do café / apoio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3"/>
          <p:cNvSpPr/>
          <p:nvPr/>
        </p:nvSpPr>
        <p:spPr>
          <a:xfrm>
            <a:off x="859680" y="4389120"/>
            <a:ext cx="340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Valorizar quem viabiliza a edição.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4"/>
          <p:cNvSpPr/>
          <p:nvPr/>
        </p:nvSpPr>
        <p:spPr>
          <a:xfrm>
            <a:off x="859680" y="4773240"/>
            <a:ext cx="340128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Agradecimento nominal e convite para uma fala breve de 3 a 5 minutos.</a:t>
            </a:r>
            <a:endParaRPr lang="pt-BR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25"/>
          <p:cNvSpPr/>
          <p:nvPr/>
        </p:nvSpPr>
        <p:spPr>
          <a:xfrm>
            <a:off x="4645080" y="3749040"/>
            <a:ext cx="3803400" cy="2084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6"/>
          <p:cNvSpPr/>
          <p:nvPr/>
        </p:nvSpPr>
        <p:spPr>
          <a:xfrm>
            <a:off x="4827960" y="3950280"/>
            <a:ext cx="511560" cy="383760"/>
          </a:xfrm>
          <a:prstGeom prst="roundRect">
            <a:avLst>
              <a:gd name="adj" fmla="val 11905"/>
            </a:avLst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7"/>
          <p:cNvSpPr/>
          <p:nvPr/>
        </p:nvSpPr>
        <p:spPr>
          <a:xfrm>
            <a:off x="4937760" y="400500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8"/>
          <p:cNvSpPr/>
          <p:nvPr/>
        </p:nvSpPr>
        <p:spPr>
          <a:xfrm>
            <a:off x="5486400" y="3931920"/>
            <a:ext cx="2797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Momento PITCH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9"/>
          <p:cNvSpPr/>
          <p:nvPr/>
        </p:nvSpPr>
        <p:spPr>
          <a:xfrm>
            <a:off x="4846320" y="4389120"/>
            <a:ext cx="3401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Integrar novos associados com objetividade.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0"/>
          <p:cNvSpPr/>
          <p:nvPr/>
        </p:nvSpPr>
        <p:spPr>
          <a:xfrm>
            <a:off x="4846320" y="4773240"/>
            <a:ext cx="340128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Cada empresa tem 30 segundos. O MC chama nome + empresa e conduz o encerramento com palmas.</a:t>
            </a:r>
            <a:endParaRPr lang="pt-BR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31"/>
          <p:cNvSpPr/>
          <p:nvPr/>
        </p:nvSpPr>
        <p:spPr>
          <a:xfrm>
            <a:off x="8632080" y="3749040"/>
            <a:ext cx="2907360" cy="2084400"/>
          </a:xfrm>
          <a:prstGeom prst="roundRect">
            <a:avLst>
              <a:gd name="adj" fmla="val 3509"/>
            </a:avLst>
          </a:prstGeom>
          <a:solidFill>
            <a:srgbClr val="4B3127"/>
          </a:solidFill>
          <a:ln w="12700">
            <a:solidFill>
              <a:srgbClr val="4B31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2"/>
          <p:cNvSpPr/>
          <p:nvPr/>
        </p:nvSpPr>
        <p:spPr>
          <a:xfrm>
            <a:off x="8906400" y="40050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5D8BC"/>
                </a:solidFill>
                <a:effectLst/>
                <a:uFillTx/>
                <a:latin typeface="Aptos"/>
                <a:ea typeface="Aptos"/>
              </a:rPr>
              <a:t>Transição-chave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3"/>
          <p:cNvSpPr/>
          <p:nvPr/>
        </p:nvSpPr>
        <p:spPr>
          <a:xfrm>
            <a:off x="8906400" y="4316040"/>
            <a:ext cx="228564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“Sejam breves: cada um tem 30 segundos para apresentar o potencial do seu negócio.”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4"/>
          <p:cNvSpPr/>
          <p:nvPr/>
        </p:nvSpPr>
        <p:spPr>
          <a:xfrm>
            <a:off x="548640" y="64738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Café Entre Amigos • Playbook de Cerimonial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5"/>
          <p:cNvSpPr/>
          <p:nvPr/>
        </p:nvSpPr>
        <p:spPr>
          <a:xfrm>
            <a:off x="11247120" y="6419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658440" y="3841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BLOCOS 5–8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640080" y="640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Do conteúdo ao encerramento oficial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658440" y="11703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A segunda metade entrega valor, reconhece quem participou e fecha o evento com clareza.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658440" y="1783080"/>
            <a:ext cx="3702960" cy="19929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841320" y="1984320"/>
            <a:ext cx="511560" cy="383760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951120" y="203904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1499760" y="1965960"/>
            <a:ext cx="2697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Conteúdo / palestra principal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859680" y="2423160"/>
            <a:ext cx="3300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Educação e capacitação empresarial.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9"/>
          <p:cNvSpPr/>
          <p:nvPr/>
        </p:nvSpPr>
        <p:spPr>
          <a:xfrm>
            <a:off x="859680" y="2807280"/>
            <a:ext cx="330048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Agradecer o parceiro educacional, apresentar mini-bio do palestrante e conectar o tema à realidade do público.</a:t>
            </a:r>
            <a:endParaRPr lang="pt-BR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4572000" y="1783080"/>
            <a:ext cx="3181680" cy="19929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1"/>
          <p:cNvSpPr/>
          <p:nvPr/>
        </p:nvSpPr>
        <p:spPr>
          <a:xfrm>
            <a:off x="4754880" y="1984320"/>
            <a:ext cx="511560" cy="383760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4864680" y="203904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5413320" y="1965960"/>
            <a:ext cx="21758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Agradecimentos finais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4773240" y="2423160"/>
            <a:ext cx="2779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Reforçar o valor da fala e agradecer a presença.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4773240" y="2807280"/>
            <a:ext cx="277956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O MC ou o presidente destaca um ponto-chave da palestra e faz a ponte para o próximo momento.</a:t>
            </a:r>
            <a:endParaRPr lang="pt-BR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6"/>
          <p:cNvSpPr/>
          <p:nvPr/>
        </p:nvSpPr>
        <p:spPr>
          <a:xfrm>
            <a:off x="7973640" y="1783080"/>
            <a:ext cx="3565800" cy="199296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8156520" y="1984320"/>
            <a:ext cx="511560" cy="383760"/>
          </a:xfrm>
          <a:prstGeom prst="roundRect">
            <a:avLst>
              <a:gd name="adj" fmla="val 11905"/>
            </a:avLst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8266320" y="2039040"/>
            <a:ext cx="292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8814960" y="1965960"/>
            <a:ext cx="2559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Sorteio do brinde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8174880" y="2423160"/>
            <a:ext cx="3163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2F5A4C"/>
                </a:solidFill>
                <a:effectLst/>
                <a:uFillTx/>
                <a:latin typeface="Aptos"/>
                <a:ea typeface="Aptos"/>
              </a:rPr>
              <a:t>Gerar fechamento leve e engajado.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8174880" y="2807280"/>
            <a:ext cx="3163320" cy="76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Só ganha quem estiver presente, tiver assinado a lista e seguir o Instagram oficial.</a:t>
            </a:r>
            <a:endParaRPr lang="pt-BR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2"/>
          <p:cNvSpPr/>
          <p:nvPr/>
        </p:nvSpPr>
        <p:spPr>
          <a:xfrm>
            <a:off x="658440" y="4041720"/>
            <a:ext cx="6400440" cy="19929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3"/>
          <p:cNvSpPr/>
          <p:nvPr/>
        </p:nvSpPr>
        <p:spPr>
          <a:xfrm>
            <a:off x="914400" y="431604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Script-base de apresentação do palestrante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4"/>
          <p:cNvSpPr/>
          <p:nvPr/>
        </p:nvSpPr>
        <p:spPr>
          <a:xfrm>
            <a:off x="914400" y="4663440"/>
            <a:ext cx="571464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“Para agregar conhecimento à nossa manhã, recebemos [NOME DO PALESTRANTE], especialista em [ÁREA]. Ele abordará o tema [TEMA]. Com a palavra, [NOME]!”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5"/>
          <p:cNvSpPr/>
          <p:nvPr/>
        </p:nvSpPr>
        <p:spPr>
          <a:xfrm>
            <a:off x="7315200" y="4041720"/>
            <a:ext cx="4224240" cy="1992960"/>
          </a:xfrm>
          <a:prstGeom prst="roundRect">
            <a:avLst>
              <a:gd name="adj" fmla="val 3670"/>
            </a:avLst>
          </a:prstGeom>
          <a:solidFill>
            <a:srgbClr val="4B3127"/>
          </a:solidFill>
          <a:ln w="12700">
            <a:solidFill>
              <a:srgbClr val="4B312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6"/>
          <p:cNvSpPr/>
          <p:nvPr/>
        </p:nvSpPr>
        <p:spPr>
          <a:xfrm>
            <a:off x="7626240" y="4334400"/>
            <a:ext cx="2194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D8BC"/>
                </a:solidFill>
                <a:effectLst/>
                <a:uFillTx/>
                <a:latin typeface="Aptos"/>
                <a:ea typeface="Aptos"/>
              </a:rPr>
              <a:t>8  Encerramento oficial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7"/>
          <p:cNvSpPr/>
          <p:nvPr/>
        </p:nvSpPr>
        <p:spPr>
          <a:xfrm>
            <a:off x="7626240" y="4700160"/>
            <a:ext cx="3200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“A ACIRV é a casa do empreendedor e nossas portas estão sempre abertas.”</a:t>
            </a:r>
            <a:endParaRPr lang="pt-B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8"/>
          <p:cNvSpPr/>
          <p:nvPr/>
        </p:nvSpPr>
        <p:spPr>
          <a:xfrm>
            <a:off x="548640" y="64738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Café Entre Amigos • Playbook de Cerimonial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9"/>
          <p:cNvSpPr/>
          <p:nvPr/>
        </p:nvSpPr>
        <p:spPr>
          <a:xfrm>
            <a:off x="11247120" y="6419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6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658440" y="3841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PROTOCOLOS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640080" y="640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Regras de ouro para manter o controle do evento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658440" y="11703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Esses critérios evitam ruídos, protegem o tempo e sustentam a credibilidade do cerimonial.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713160" y="18104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Tempo é dinheiro.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731520" y="2212920"/>
            <a:ext cx="40046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O evento acontece em horário comercial: o cerimonial precisa ser ágil, sem pausas longas entre blocos.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749880" y="3246120"/>
            <a:ext cx="4919040" cy="8773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951120" y="341064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1024200" y="345636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1481400" y="337428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Controle do pitch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3127320" y="3328560"/>
            <a:ext cx="2304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Se alguém estourar muito o tempo, o MC conduz educadamente ao fechamento e puxa as palmas.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749880" y="4251960"/>
            <a:ext cx="4919040" cy="877320"/>
          </a:xfrm>
          <a:prstGeom prst="roundRect">
            <a:avLst>
              <a:gd name="adj" fmla="val 6250"/>
            </a:avLst>
          </a:prstGeom>
          <a:solidFill>
            <a:srgbClr val="FFF7EF"/>
          </a:solidFill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951120" y="44164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1024200" y="446220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1481400" y="438012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Flexibilidade dos patrocinadores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3127320" y="4334400"/>
            <a:ext cx="2304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Nem sempre fala o mesmo perfil de apoiador. O direito de fala deve ser checado no checklist do dia.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6"/>
          <p:cNvSpPr/>
          <p:nvPr/>
        </p:nvSpPr>
        <p:spPr>
          <a:xfrm>
            <a:off x="749880" y="5257800"/>
            <a:ext cx="4919040" cy="8773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7"/>
          <p:cNvSpPr/>
          <p:nvPr/>
        </p:nvSpPr>
        <p:spPr>
          <a:xfrm>
            <a:off x="951120" y="542232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8"/>
          <p:cNvSpPr/>
          <p:nvPr/>
        </p:nvSpPr>
        <p:spPr>
          <a:xfrm>
            <a:off x="1024200" y="5468040"/>
            <a:ext cx="21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1481400" y="5385960"/>
            <a:ext cx="1416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Critério do sorteio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3127320" y="5340240"/>
            <a:ext cx="230400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Se o nome sorteado não estiver na sala, sorteia-se outro imediatamente.</a:t>
            </a:r>
            <a:endParaRPr lang="pt-BR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1"/>
          <p:cNvSpPr/>
          <p:nvPr/>
        </p:nvSpPr>
        <p:spPr>
          <a:xfrm>
            <a:off x="6053400" y="1774080"/>
            <a:ext cx="5467680" cy="4443480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2"/>
          <p:cNvSpPr/>
          <p:nvPr/>
        </p:nvSpPr>
        <p:spPr>
          <a:xfrm>
            <a:off x="6364080" y="208476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O papel do MC em uma frase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3"/>
          <p:cNvSpPr/>
          <p:nvPr/>
        </p:nvSpPr>
        <p:spPr>
          <a:xfrm>
            <a:off x="6364080" y="2432160"/>
            <a:ext cx="43887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Conduzir com segurança, gentileza e ritmo.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4"/>
          <p:cNvSpPr/>
          <p:nvPr/>
        </p:nvSpPr>
        <p:spPr>
          <a:xfrm>
            <a:off x="6382440" y="3072240"/>
            <a:ext cx="4553640" cy="360"/>
          </a:xfrm>
          <a:prstGeom prst="line">
            <a:avLst/>
          </a:prstGeom>
          <a:ln w="13970">
            <a:solidFill>
              <a:srgbClr val="D8C8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5"/>
          <p:cNvSpPr/>
          <p:nvPr/>
        </p:nvSpPr>
        <p:spPr>
          <a:xfrm>
            <a:off x="6364080" y="334656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Checklist do dia + domínio do roteiro + respeito ao tempo = percepção de profissionalismo.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6"/>
          <p:cNvSpPr/>
          <p:nvPr/>
        </p:nvSpPr>
        <p:spPr>
          <a:xfrm>
            <a:off x="6364080" y="4480560"/>
            <a:ext cx="4480200" cy="1133640"/>
          </a:xfrm>
          <a:prstGeom prst="roundRect">
            <a:avLst>
              <a:gd name="adj" fmla="val 6452"/>
            </a:avLst>
          </a:prstGeom>
          <a:solidFill>
            <a:srgbClr val="FFF7EF"/>
          </a:solidFill>
          <a:ln w="13970">
            <a:solidFill>
              <a:srgbClr val="D7A2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7"/>
          <p:cNvSpPr/>
          <p:nvPr/>
        </p:nvSpPr>
        <p:spPr>
          <a:xfrm>
            <a:off x="6510600" y="4645080"/>
            <a:ext cx="72720" cy="80424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8"/>
          <p:cNvSpPr/>
          <p:nvPr/>
        </p:nvSpPr>
        <p:spPr>
          <a:xfrm>
            <a:off x="6711840" y="4645080"/>
            <a:ext cx="394992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i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“Participação ativa é a chave do associativismo.”</a:t>
            </a:r>
            <a:endParaRPr lang="pt-B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9"/>
          <p:cNvSpPr/>
          <p:nvPr/>
        </p:nvSpPr>
        <p:spPr>
          <a:xfrm>
            <a:off x="548640" y="64738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Café Entre Amigos • Playbook de Cerimonial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0"/>
          <p:cNvSpPr/>
          <p:nvPr/>
        </p:nvSpPr>
        <p:spPr>
          <a:xfrm>
            <a:off x="11247120" y="6419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7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2F5A4C"/>
          </a:solidFill>
          <a:ln w="12700">
            <a:solidFill>
              <a:srgbClr val="2F5A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"/>
          <p:cNvSpPr/>
          <p:nvPr/>
        </p:nvSpPr>
        <p:spPr>
          <a:xfrm>
            <a:off x="658440" y="384120"/>
            <a:ext cx="3200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IMPROVISO COM CONSISTÊNCIA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640080" y="640080"/>
            <a:ext cx="68576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Frases institucionais para preencher transições e reforços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658440" y="11703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Use estas linhas quando precisar conectar blocos, retomar o foco do público ou fechar uma fala com força institucional.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4"/>
          <p:cNvSpPr/>
          <p:nvPr/>
        </p:nvSpPr>
        <p:spPr>
          <a:xfrm>
            <a:off x="804600" y="1874520"/>
            <a:ext cx="4955760" cy="1325520"/>
          </a:xfrm>
          <a:prstGeom prst="roundRect">
            <a:avLst>
              <a:gd name="adj" fmla="val 5517"/>
            </a:avLst>
          </a:prstGeom>
          <a:solidFill>
            <a:srgbClr val="FFF7EF"/>
          </a:solidFill>
          <a:ln w="13970">
            <a:solidFill>
              <a:srgbClr val="D7A2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951120" y="2039040"/>
            <a:ext cx="72720" cy="99648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1152000" y="2039040"/>
            <a:ext cx="4425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i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A ACIRV representa, defende e fortalece o setor produtivo.</a:t>
            </a:r>
            <a:endParaRPr lang="pt-B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7"/>
          <p:cNvSpPr/>
          <p:nvPr/>
        </p:nvSpPr>
        <p:spPr>
          <a:xfrm>
            <a:off x="6272640" y="1874520"/>
            <a:ext cx="4955760" cy="1325520"/>
          </a:xfrm>
          <a:prstGeom prst="roundRect">
            <a:avLst>
              <a:gd name="adj" fmla="val 5517"/>
            </a:avLst>
          </a:prstGeom>
          <a:solidFill>
            <a:srgbClr val="FFF7EF"/>
          </a:solidFill>
          <a:ln w="13970">
            <a:solidFill>
              <a:srgbClr val="D7A2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8"/>
          <p:cNvSpPr/>
          <p:nvPr/>
        </p:nvSpPr>
        <p:spPr>
          <a:xfrm>
            <a:off x="6419160" y="2039040"/>
            <a:ext cx="72720" cy="99648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6620400" y="2039040"/>
            <a:ext cx="4425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i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Juntos construímos uma Rio Verde mais forte e próspera.</a:t>
            </a:r>
            <a:endParaRPr lang="pt-B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0"/>
          <p:cNvSpPr/>
          <p:nvPr/>
        </p:nvSpPr>
        <p:spPr>
          <a:xfrm>
            <a:off x="804600" y="3749040"/>
            <a:ext cx="4955760" cy="1325520"/>
          </a:xfrm>
          <a:prstGeom prst="roundRect">
            <a:avLst>
              <a:gd name="adj" fmla="val 5517"/>
            </a:avLst>
          </a:prstGeom>
          <a:solidFill>
            <a:srgbClr val="FFF7EF"/>
          </a:solidFill>
          <a:ln w="13970">
            <a:solidFill>
              <a:srgbClr val="D7A2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1"/>
          <p:cNvSpPr/>
          <p:nvPr/>
        </p:nvSpPr>
        <p:spPr>
          <a:xfrm>
            <a:off x="951120" y="3913560"/>
            <a:ext cx="72720" cy="99648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1152000" y="3913560"/>
            <a:ext cx="4425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i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Participação ativa é a chave do associativismo.</a:t>
            </a:r>
            <a:endParaRPr lang="pt-B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3"/>
          <p:cNvSpPr/>
          <p:nvPr/>
        </p:nvSpPr>
        <p:spPr>
          <a:xfrm>
            <a:off x="6272640" y="3749040"/>
            <a:ext cx="4955760" cy="1325520"/>
          </a:xfrm>
          <a:prstGeom prst="roundRect">
            <a:avLst>
              <a:gd name="adj" fmla="val 5517"/>
            </a:avLst>
          </a:prstGeom>
          <a:solidFill>
            <a:srgbClr val="FFF7EF"/>
          </a:solidFill>
          <a:ln w="13970">
            <a:solidFill>
              <a:srgbClr val="D7A2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4"/>
          <p:cNvSpPr/>
          <p:nvPr/>
        </p:nvSpPr>
        <p:spPr>
          <a:xfrm>
            <a:off x="6419160" y="3913560"/>
            <a:ext cx="72720" cy="996480"/>
          </a:xfrm>
          <a:prstGeom prst="rect">
            <a:avLst/>
          </a:prstGeom>
          <a:solidFill>
            <a:srgbClr val="B96D3B"/>
          </a:solidFill>
          <a:ln w="12700">
            <a:solidFill>
              <a:srgbClr val="B96D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5"/>
          <p:cNvSpPr/>
          <p:nvPr/>
        </p:nvSpPr>
        <p:spPr>
          <a:xfrm>
            <a:off x="6620400" y="3913560"/>
            <a:ext cx="44254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i="1" u="none" strike="noStrike">
                <a:solidFill>
                  <a:srgbClr val="2A241F"/>
                </a:solidFill>
                <a:effectLst/>
                <a:uFillTx/>
                <a:latin typeface="Aptos"/>
                <a:ea typeface="Aptos"/>
              </a:rPr>
              <a:t>Networking é sobre trocar experiências e criar soluções reais.</a:t>
            </a:r>
            <a:endParaRPr lang="pt-BR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6"/>
          <p:cNvSpPr/>
          <p:nvPr/>
        </p:nvSpPr>
        <p:spPr>
          <a:xfrm>
            <a:off x="841320" y="550476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B96D3B"/>
                </a:solidFill>
                <a:effectLst/>
                <a:uFillTx/>
                <a:latin typeface="Aptos"/>
                <a:ea typeface="Aptos"/>
              </a:rPr>
              <a:t>Fecho sugerido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7"/>
          <p:cNvSpPr/>
          <p:nvPr/>
        </p:nvSpPr>
        <p:spPr>
          <a:xfrm>
            <a:off x="841320" y="5797440"/>
            <a:ext cx="6400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4B3127"/>
                </a:solidFill>
                <a:effectLst/>
                <a:uFillTx/>
                <a:latin typeface="Aptos Display"/>
                <a:ea typeface="Aptos Display"/>
              </a:rPr>
              <a:t>“Desejamos a todos um excelente dia de negócios e até o próximo Café Entre Amigos!”</a:t>
            </a:r>
            <a:endParaRPr lang="pt-BR" sz="1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548640" y="647388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74685F"/>
                </a:solidFill>
                <a:effectLst/>
                <a:uFillTx/>
                <a:latin typeface="Aptos"/>
                <a:ea typeface="Aptos"/>
              </a:rPr>
              <a:t>Café Entre Amigos • Playbook de Cerimonial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9"/>
          <p:cNvSpPr/>
          <p:nvPr/>
        </p:nvSpPr>
        <p:spPr>
          <a:xfrm>
            <a:off x="11247120" y="6419160"/>
            <a:ext cx="365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B3127"/>
                </a:solidFill>
                <a:effectLst/>
                <a:uFillTx/>
                <a:latin typeface="Aptos"/>
                <a:ea typeface="Aptos"/>
              </a:rPr>
              <a:t>8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LibreOffice/26.2.1.2$Windows_X86_64 LibreOffice_project/620$Build-2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2026-04-10T20:31:47Z</dcterms:created>
  <dc:creator>OpenAI</dc:creator>
  <dc:description/>
  <dc:language>pt-BR</dc:language>
  <cp:lastModifiedBy/>
  <cp:lastPrinted>2026-04-13T12:59:47Z</cp:lastPrinted>
  <dcterms:modified xsi:type="dcterms:W3CDTF">2026-04-13T13:23:01Z</dcterms:modified>
  <cp:revision>2</cp:revision>
  <dc:subject>Playbook de Cerimonial: Café Entre Amigos</dc:subject>
  <dc:title>Playbook de Cerimonial — Café Entre Amigos (ACIRV)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