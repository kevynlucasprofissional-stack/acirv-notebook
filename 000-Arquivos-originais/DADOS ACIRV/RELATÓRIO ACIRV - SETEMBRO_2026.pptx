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3575"/>
  <p:notesSz cx="6858000" cy="12192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FtQ1FYSNGCRZ+nnLgqbhCqyYS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609e3832c12e752e_0_33:notes"/>
          <p:cNvSpPr/>
          <p:nvPr>
            <p:ph idx="2" type="sldImg"/>
          </p:nvPr>
        </p:nvSpPr>
        <p:spPr>
          <a:xfrm>
            <a:off x="685800" y="1143000"/>
            <a:ext cx="5485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h609e3832c12e752e_0_33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h609e3832c12e752e_0_33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1f4d90f58_1_19:notes"/>
          <p:cNvSpPr/>
          <p:nvPr>
            <p:ph idx="2" type="sldImg"/>
          </p:nvPr>
        </p:nvSpPr>
        <p:spPr>
          <a:xfrm>
            <a:off x="685800" y="1143000"/>
            <a:ext cx="5485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g3f1f4d90f58_1_19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1f4d90f58_1_19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5c71831f_0_0:notes"/>
          <p:cNvSpPr/>
          <p:nvPr>
            <p:ph idx="2" type="sldImg"/>
          </p:nvPr>
        </p:nvSpPr>
        <p:spPr>
          <a:xfrm>
            <a:off x="685800" y="1143000"/>
            <a:ext cx="5485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3fa5c71831f_0_0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a5c71831f_0_0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73ce9ff48_0_127:notes"/>
          <p:cNvSpPr/>
          <p:nvPr>
            <p:ph idx="2" type="sldImg"/>
          </p:nvPr>
        </p:nvSpPr>
        <p:spPr>
          <a:xfrm>
            <a:off x="685800" y="1143000"/>
            <a:ext cx="5485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e73ce9ff48_0_127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73ce9ff48_0_127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609e3832c12e752e_0_116:notes"/>
          <p:cNvSpPr/>
          <p:nvPr>
            <p:ph idx="2" type="sldImg"/>
          </p:nvPr>
        </p:nvSpPr>
        <p:spPr>
          <a:xfrm>
            <a:off x="685800" y="1143000"/>
            <a:ext cx="5485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h609e3832c12e752e_0_116:notes"/>
          <p:cNvSpPr txBox="1"/>
          <p:nvPr>
            <p:ph idx="1" type="body"/>
          </p:nvPr>
        </p:nvSpPr>
        <p:spPr>
          <a:xfrm>
            <a:off x="685800" y="4400640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h609e3832c12e752e_0_116:notes"/>
          <p:cNvSpPr txBox="1"/>
          <p:nvPr>
            <p:ph idx="12" type="sldNum"/>
          </p:nvPr>
        </p:nvSpPr>
        <p:spPr>
          <a:xfrm>
            <a:off x="3884760" y="8685360"/>
            <a:ext cx="2971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403920" y="329040"/>
            <a:ext cx="11385000" cy="89532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08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" lIns="1800" spcFirstLastPara="1" rIns="1800" wrap="square" tIns="1800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Vídeo Sudoexpo Marcos Humberto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 — </a:t>
            </a: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Setembro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/2026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020B3"/>
                </a:solidFill>
              </a:rPr>
              <a:t>Objetivo: Visitas ao Perfil do Instagram | Público: 25-55 - Pequenas e médias empresas, Empresa, Empresário, Investimento, Negócios.</a:t>
            </a:r>
            <a:endParaRPr sz="1250">
              <a:solidFill>
                <a:srgbClr val="1020B3"/>
              </a:solidFill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402480" y="1389960"/>
            <a:ext cx="2777040" cy="602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R$ 199,96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3271680" y="1389960"/>
            <a:ext cx="2777040" cy="602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13.885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140880" y="1389960"/>
            <a:ext cx="2777040" cy="602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Cliques no link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375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9009720" y="1389960"/>
            <a:ext cx="2777040" cy="60264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Visitas na página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580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402480" y="2084760"/>
            <a:ext cx="2777040" cy="602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1,86%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3271680" y="2084760"/>
            <a:ext cx="2777040" cy="602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R$ 0,53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140880" y="2084760"/>
            <a:ext cx="2777040" cy="602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R$ 9,92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9009720" y="2084760"/>
            <a:ext cx="2777040" cy="602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rm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Custo por resultado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R$ 0,34</a:t>
            </a:r>
            <a:endParaRPr b="1" i="0" sz="170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74400" y="2880000"/>
            <a:ext cx="150912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886040" y="2880000"/>
            <a:ext cx="95508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2844000" y="2880000"/>
            <a:ext cx="108324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930480" y="2880000"/>
            <a:ext cx="84888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 por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782240" y="2880000"/>
            <a:ext cx="104040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Impressões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825520" y="2880000"/>
            <a:ext cx="82764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656760" y="2880000"/>
            <a:ext cx="63612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295760" y="2880000"/>
            <a:ext cx="74232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040960" y="2880000"/>
            <a:ext cx="74232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786160" y="2880000"/>
            <a:ext cx="3031920" cy="51012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 principal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74400" y="3390840"/>
            <a:ext cx="1509120" cy="763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Gerar visibilidade e alcance para a feira Sudoexpo</a:t>
            </a:r>
            <a:endParaRPr sz="82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rgbClr val="0D1DB0"/>
              </a:solidFill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886040" y="3390840"/>
            <a:ext cx="955080" cy="763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   Setembro</a:t>
            </a:r>
            <a:r>
              <a:rPr b="0" i="0" lang="en-US" sz="82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b="0" i="0" sz="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844000" y="3390840"/>
            <a:ext cx="1083240" cy="76392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R$ 199,96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930480" y="3390840"/>
            <a:ext cx="848880" cy="76392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R$ 0,34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82240" y="3390840"/>
            <a:ext cx="1040400" cy="76392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20.150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825520" y="3390840"/>
            <a:ext cx="827640" cy="76392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13.885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656760" y="3390840"/>
            <a:ext cx="636120" cy="76392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1,86%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295760" y="3390840"/>
            <a:ext cx="742320" cy="76392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R$ 0,53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040960" y="3390840"/>
            <a:ext cx="742320" cy="76392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R$ 9,92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786160" y="3390840"/>
            <a:ext cx="3031920" cy="76392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rmAutofit/>
          </a:bodyPr>
          <a:lstStyle/>
          <a:p>
            <a:pPr indent="0" lvl="0" marL="182880" marR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r>
              <a:rPr lang="en-US" sz="790">
                <a:solidFill>
                  <a:srgbClr val="0D1DB0"/>
                </a:solidFill>
              </a:rPr>
              <a:t>Gerar visibilidade para conhecimento e presença do publico na Sudoexpo.</a:t>
            </a:r>
            <a:endParaRPr sz="790">
              <a:solidFill>
                <a:srgbClr val="0D1DB0"/>
              </a:solidFill>
            </a:endParaRPr>
          </a:p>
          <a:p>
            <a:pPr indent="0" lvl="0" marL="0" marR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t/>
            </a:r>
            <a:endParaRPr sz="790">
              <a:solidFill>
                <a:srgbClr val="0D1DB0"/>
              </a:solidFill>
            </a:endParaRPr>
          </a:p>
        </p:txBody>
      </p:sp>
      <p:pic>
        <p:nvPicPr>
          <p:cNvPr id="47" name="Google Shape;47;p2"/>
          <p:cNvPicPr preferRelativeResize="0"/>
          <p:nvPr/>
        </p:nvPicPr>
        <p:blipFill rotWithShape="1">
          <a:blip r:embed="rId3">
            <a:alphaModFix/>
          </a:blip>
          <a:srcRect b="16022" l="0" r="0" t="4701"/>
          <a:stretch/>
        </p:blipFill>
        <p:spPr>
          <a:xfrm>
            <a:off x="402475" y="4277525"/>
            <a:ext cx="1838250" cy="23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609e3832c12e752e_0_33"/>
          <p:cNvSpPr/>
          <p:nvPr/>
        </p:nvSpPr>
        <p:spPr>
          <a:xfrm>
            <a:off x="403920" y="329040"/>
            <a:ext cx="11385000" cy="8952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08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" lIns="1800" spcFirstLastPara="1" rIns="1800" wrap="square" tIns="1800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Vídeo Sudoexpo Ana Paula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 — </a:t>
            </a: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Setembro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/2026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020B3"/>
                </a:solidFill>
              </a:rPr>
              <a:t>Objetivo: Visitas ao Perfil do Instagram | Público: 25-55 - Pequenas e médias empresas, Empresa, Empresário, Investimento, Negócios.</a:t>
            </a:r>
            <a:endParaRPr sz="1250">
              <a:solidFill>
                <a:srgbClr val="1020B3"/>
              </a:solidFill>
            </a:endParaRPr>
          </a:p>
        </p:txBody>
      </p:sp>
      <p:sp>
        <p:nvSpPr>
          <p:cNvPr id="54" name="Google Shape;54;h609e3832c12e752e_0_33"/>
          <p:cNvSpPr/>
          <p:nvPr/>
        </p:nvSpPr>
        <p:spPr>
          <a:xfrm>
            <a:off x="4024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R$ 399,92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609e3832c12e752e_0_33"/>
          <p:cNvSpPr/>
          <p:nvPr/>
        </p:nvSpPr>
        <p:spPr>
          <a:xfrm>
            <a:off x="32716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24.417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h609e3832c12e752e_0_33"/>
          <p:cNvSpPr/>
          <p:nvPr/>
        </p:nvSpPr>
        <p:spPr>
          <a:xfrm>
            <a:off x="61408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Cliques no link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592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609e3832c12e752e_0_33"/>
          <p:cNvSpPr/>
          <p:nvPr/>
        </p:nvSpPr>
        <p:spPr>
          <a:xfrm>
            <a:off x="9009720" y="1389960"/>
            <a:ext cx="2777100" cy="6027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Visitas na página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1.066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609e3832c12e752e_0_33"/>
          <p:cNvSpPr/>
          <p:nvPr/>
        </p:nvSpPr>
        <p:spPr>
          <a:xfrm>
            <a:off x="4024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1,25%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h609e3832c12e752e_0_33"/>
          <p:cNvSpPr/>
          <p:nvPr/>
        </p:nvSpPr>
        <p:spPr>
          <a:xfrm>
            <a:off x="32716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R$ 0,68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h609e3832c12e752e_0_33"/>
          <p:cNvSpPr/>
          <p:nvPr/>
        </p:nvSpPr>
        <p:spPr>
          <a:xfrm>
            <a:off x="61408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R$ 8,46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h609e3832c12e752e_0_33"/>
          <p:cNvSpPr/>
          <p:nvPr/>
        </p:nvSpPr>
        <p:spPr>
          <a:xfrm>
            <a:off x="900972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Custo por resultado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R$ 0,38</a:t>
            </a:r>
            <a:endParaRPr b="1" i="0" sz="170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h609e3832c12e752e_0_33"/>
          <p:cNvSpPr/>
          <p:nvPr/>
        </p:nvSpPr>
        <p:spPr>
          <a:xfrm>
            <a:off x="374400" y="2880000"/>
            <a:ext cx="150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h609e3832c12e752e_0_33"/>
          <p:cNvSpPr/>
          <p:nvPr/>
        </p:nvSpPr>
        <p:spPr>
          <a:xfrm>
            <a:off x="1886040" y="2880000"/>
            <a:ext cx="955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h609e3832c12e752e_0_33"/>
          <p:cNvSpPr/>
          <p:nvPr/>
        </p:nvSpPr>
        <p:spPr>
          <a:xfrm>
            <a:off x="2844000" y="2880000"/>
            <a:ext cx="10833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h609e3832c12e752e_0_33"/>
          <p:cNvSpPr/>
          <p:nvPr/>
        </p:nvSpPr>
        <p:spPr>
          <a:xfrm>
            <a:off x="3930480" y="2880000"/>
            <a:ext cx="84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 por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h609e3832c12e752e_0_33"/>
          <p:cNvSpPr/>
          <p:nvPr/>
        </p:nvSpPr>
        <p:spPr>
          <a:xfrm>
            <a:off x="4782240" y="2880000"/>
            <a:ext cx="10404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Impressões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h609e3832c12e752e_0_33"/>
          <p:cNvSpPr/>
          <p:nvPr/>
        </p:nvSpPr>
        <p:spPr>
          <a:xfrm>
            <a:off x="5825520" y="2880000"/>
            <a:ext cx="8277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h609e3832c12e752e_0_33"/>
          <p:cNvSpPr/>
          <p:nvPr/>
        </p:nvSpPr>
        <p:spPr>
          <a:xfrm>
            <a:off x="6656760" y="2880000"/>
            <a:ext cx="636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h609e3832c12e752e_0_33"/>
          <p:cNvSpPr/>
          <p:nvPr/>
        </p:nvSpPr>
        <p:spPr>
          <a:xfrm>
            <a:off x="72957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h609e3832c12e752e_0_33"/>
          <p:cNvSpPr/>
          <p:nvPr/>
        </p:nvSpPr>
        <p:spPr>
          <a:xfrm>
            <a:off x="80409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h609e3832c12e752e_0_33"/>
          <p:cNvSpPr/>
          <p:nvPr/>
        </p:nvSpPr>
        <p:spPr>
          <a:xfrm>
            <a:off x="8786160" y="2880000"/>
            <a:ext cx="30318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 principal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609e3832c12e752e_0_33"/>
          <p:cNvSpPr/>
          <p:nvPr/>
        </p:nvSpPr>
        <p:spPr>
          <a:xfrm>
            <a:off x="374400" y="3390840"/>
            <a:ext cx="15090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Gerar visibilidade e alcance para a feira Sudoexpo</a:t>
            </a:r>
            <a:endParaRPr sz="82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rgbClr val="0D1DB0"/>
              </a:solidFill>
            </a:endParaRPr>
          </a:p>
        </p:txBody>
      </p:sp>
      <p:sp>
        <p:nvSpPr>
          <p:cNvPr id="73" name="Google Shape;73;h609e3832c12e752e_0_33"/>
          <p:cNvSpPr/>
          <p:nvPr/>
        </p:nvSpPr>
        <p:spPr>
          <a:xfrm>
            <a:off x="1886040" y="3390840"/>
            <a:ext cx="9552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   Setembro</a:t>
            </a:r>
            <a:r>
              <a:rPr b="0" i="0" lang="en-US" sz="82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b="0" i="0" sz="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h609e3832c12e752e_0_33"/>
          <p:cNvSpPr/>
          <p:nvPr/>
        </p:nvSpPr>
        <p:spPr>
          <a:xfrm>
            <a:off x="2844000" y="3390840"/>
            <a:ext cx="10833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R$ 399,92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h609e3832c12e752e_0_33"/>
          <p:cNvSpPr/>
          <p:nvPr/>
        </p:nvSpPr>
        <p:spPr>
          <a:xfrm>
            <a:off x="3930480" y="3390840"/>
            <a:ext cx="849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R$ 0,38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h609e3832c12e752e_0_33"/>
          <p:cNvSpPr/>
          <p:nvPr/>
        </p:nvSpPr>
        <p:spPr>
          <a:xfrm>
            <a:off x="4782240" y="3390840"/>
            <a:ext cx="10404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47.266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h609e3832c12e752e_0_33"/>
          <p:cNvSpPr/>
          <p:nvPr/>
        </p:nvSpPr>
        <p:spPr>
          <a:xfrm>
            <a:off x="5825520" y="3390840"/>
            <a:ext cx="8277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24.417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h609e3832c12e752e_0_33"/>
          <p:cNvSpPr/>
          <p:nvPr/>
        </p:nvSpPr>
        <p:spPr>
          <a:xfrm>
            <a:off x="6656760" y="3390840"/>
            <a:ext cx="636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1,25%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h609e3832c12e752e_0_33"/>
          <p:cNvSpPr/>
          <p:nvPr/>
        </p:nvSpPr>
        <p:spPr>
          <a:xfrm>
            <a:off x="72957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R$ 0,68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h609e3832c12e752e_0_33"/>
          <p:cNvSpPr/>
          <p:nvPr/>
        </p:nvSpPr>
        <p:spPr>
          <a:xfrm>
            <a:off x="80409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R$ 8,46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h609e3832c12e752e_0_33"/>
          <p:cNvSpPr/>
          <p:nvPr/>
        </p:nvSpPr>
        <p:spPr>
          <a:xfrm>
            <a:off x="8786160" y="3390840"/>
            <a:ext cx="3031800" cy="7638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2880" marR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r>
              <a:rPr lang="en-US" sz="790">
                <a:solidFill>
                  <a:srgbClr val="0D1DB0"/>
                </a:solidFill>
              </a:rPr>
              <a:t>Gerar visibilidade para conhecimento e presença do publico na Sudoexpo.</a:t>
            </a:r>
            <a:endParaRPr sz="790">
              <a:solidFill>
                <a:srgbClr val="0D1DB0"/>
              </a:solidFill>
            </a:endParaRPr>
          </a:p>
          <a:p>
            <a:pPr indent="0" lvl="0" marL="0" marR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t/>
            </a:r>
            <a:endParaRPr sz="790">
              <a:solidFill>
                <a:srgbClr val="0D1DB0"/>
              </a:solidFill>
            </a:endParaRPr>
          </a:p>
        </p:txBody>
      </p:sp>
      <p:pic>
        <p:nvPicPr>
          <p:cNvPr id="82" name="Google Shape;82;h609e3832c12e752e_0_33"/>
          <p:cNvPicPr preferRelativeResize="0"/>
          <p:nvPr/>
        </p:nvPicPr>
        <p:blipFill rotWithShape="1">
          <a:blip r:embed="rId3">
            <a:alphaModFix/>
          </a:blip>
          <a:srcRect b="16207" l="0" r="0" t="4308"/>
          <a:stretch/>
        </p:blipFill>
        <p:spPr>
          <a:xfrm>
            <a:off x="403925" y="4277525"/>
            <a:ext cx="1932425" cy="24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1f4d90f58_1_19"/>
          <p:cNvSpPr/>
          <p:nvPr/>
        </p:nvSpPr>
        <p:spPr>
          <a:xfrm>
            <a:off x="403920" y="329040"/>
            <a:ext cx="11385000" cy="8952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08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" lIns="1800" spcFirstLastPara="1" rIns="1800" wrap="square" tIns="1800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Sudoexpo stories — </a:t>
            </a: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Setembro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/2026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020B3"/>
                </a:solidFill>
                <a:latin typeface="Arial"/>
                <a:ea typeface="Arial"/>
                <a:cs typeface="Arial"/>
                <a:sym typeface="Arial"/>
              </a:rPr>
              <a:t>Objetivo: Visitas ao Perfil do Instagram | Público: 25-55 - Pequenas e médias empresas, Empresa, Empresário, Investimento, Negócios.</a:t>
            </a:r>
            <a:endParaRPr b="0" i="0" sz="1250" u="none" cap="none" strike="noStrike">
              <a:solidFill>
                <a:srgbClr val="102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1f4d90f58_1_19"/>
          <p:cNvSpPr/>
          <p:nvPr/>
        </p:nvSpPr>
        <p:spPr>
          <a:xfrm>
            <a:off x="4024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R$ 209,79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1f4d90f58_1_19"/>
          <p:cNvSpPr/>
          <p:nvPr/>
        </p:nvSpPr>
        <p:spPr>
          <a:xfrm>
            <a:off x="32716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6.187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1f4d90f58_1_19"/>
          <p:cNvSpPr/>
          <p:nvPr/>
        </p:nvSpPr>
        <p:spPr>
          <a:xfrm>
            <a:off x="61408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Cliques no link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916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1f4d90f58_1_19"/>
          <p:cNvSpPr/>
          <p:nvPr/>
        </p:nvSpPr>
        <p:spPr>
          <a:xfrm>
            <a:off x="9009720" y="1389960"/>
            <a:ext cx="2777100" cy="6027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Visitas ao Perfil do Instagram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944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1f4d90f58_1_19"/>
          <p:cNvSpPr/>
          <p:nvPr/>
        </p:nvSpPr>
        <p:spPr>
          <a:xfrm>
            <a:off x="4024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5,73%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1f4d90f58_1_19"/>
          <p:cNvSpPr/>
          <p:nvPr/>
        </p:nvSpPr>
        <p:spPr>
          <a:xfrm>
            <a:off x="32716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R$ 0,26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1f4d90f58_1_19"/>
          <p:cNvSpPr/>
          <p:nvPr/>
        </p:nvSpPr>
        <p:spPr>
          <a:xfrm>
            <a:off x="61408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R$ 0,23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1f4d90f58_1_19"/>
          <p:cNvSpPr/>
          <p:nvPr/>
        </p:nvSpPr>
        <p:spPr>
          <a:xfrm>
            <a:off x="900972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Custo por resultado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R$ 0,22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1f4d90f58_1_19"/>
          <p:cNvSpPr/>
          <p:nvPr/>
        </p:nvSpPr>
        <p:spPr>
          <a:xfrm>
            <a:off x="374400" y="2880000"/>
            <a:ext cx="150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1f4d90f58_1_19"/>
          <p:cNvSpPr/>
          <p:nvPr/>
        </p:nvSpPr>
        <p:spPr>
          <a:xfrm>
            <a:off x="1886040" y="2880000"/>
            <a:ext cx="955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1f4d90f58_1_19"/>
          <p:cNvSpPr/>
          <p:nvPr/>
        </p:nvSpPr>
        <p:spPr>
          <a:xfrm>
            <a:off x="2844000" y="2880000"/>
            <a:ext cx="10833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1f4d90f58_1_19"/>
          <p:cNvSpPr/>
          <p:nvPr/>
        </p:nvSpPr>
        <p:spPr>
          <a:xfrm>
            <a:off x="3930480" y="2880000"/>
            <a:ext cx="84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 por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1f4d90f58_1_19"/>
          <p:cNvSpPr/>
          <p:nvPr/>
        </p:nvSpPr>
        <p:spPr>
          <a:xfrm>
            <a:off x="4782240" y="2880000"/>
            <a:ext cx="10404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Impressões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1f4d90f58_1_19"/>
          <p:cNvSpPr/>
          <p:nvPr/>
        </p:nvSpPr>
        <p:spPr>
          <a:xfrm>
            <a:off x="5825520" y="2880000"/>
            <a:ext cx="8277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1f4d90f58_1_19"/>
          <p:cNvSpPr/>
          <p:nvPr/>
        </p:nvSpPr>
        <p:spPr>
          <a:xfrm>
            <a:off x="6656760" y="2880000"/>
            <a:ext cx="636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1f4d90f58_1_19"/>
          <p:cNvSpPr/>
          <p:nvPr/>
        </p:nvSpPr>
        <p:spPr>
          <a:xfrm>
            <a:off x="72957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1f4d90f58_1_19"/>
          <p:cNvSpPr/>
          <p:nvPr/>
        </p:nvSpPr>
        <p:spPr>
          <a:xfrm>
            <a:off x="80409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1f4d90f58_1_19"/>
          <p:cNvSpPr/>
          <p:nvPr/>
        </p:nvSpPr>
        <p:spPr>
          <a:xfrm>
            <a:off x="8786160" y="2880000"/>
            <a:ext cx="30318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 principal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1f4d90f58_1_19"/>
          <p:cNvSpPr/>
          <p:nvPr/>
        </p:nvSpPr>
        <p:spPr>
          <a:xfrm>
            <a:off x="374400" y="3390840"/>
            <a:ext cx="15090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Gerar visibilidade para o stand da ACIRV na Sudoexpo</a:t>
            </a:r>
            <a:endParaRPr b="0" i="0" sz="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1f4d90f58_1_19"/>
          <p:cNvSpPr/>
          <p:nvPr/>
        </p:nvSpPr>
        <p:spPr>
          <a:xfrm>
            <a:off x="1886040" y="3390840"/>
            <a:ext cx="9552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    Setembro</a:t>
            </a:r>
            <a:r>
              <a:rPr b="0" i="0" lang="en-US" sz="82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b="0" i="0" sz="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1f4d90f58_1_19"/>
          <p:cNvSpPr/>
          <p:nvPr/>
        </p:nvSpPr>
        <p:spPr>
          <a:xfrm>
            <a:off x="2844000" y="3390840"/>
            <a:ext cx="10833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R$ 209,79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1f4d90f58_1_19"/>
          <p:cNvSpPr/>
          <p:nvPr/>
        </p:nvSpPr>
        <p:spPr>
          <a:xfrm>
            <a:off x="3930480" y="3390840"/>
            <a:ext cx="849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R$ 0,22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1f4d90f58_1_19"/>
          <p:cNvSpPr/>
          <p:nvPr/>
        </p:nvSpPr>
        <p:spPr>
          <a:xfrm>
            <a:off x="4782240" y="3390840"/>
            <a:ext cx="10404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15.980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1f4d90f58_1_19"/>
          <p:cNvSpPr/>
          <p:nvPr/>
        </p:nvSpPr>
        <p:spPr>
          <a:xfrm>
            <a:off x="5825520" y="3390840"/>
            <a:ext cx="8277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7.478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1f4d90f58_1_19"/>
          <p:cNvSpPr/>
          <p:nvPr/>
        </p:nvSpPr>
        <p:spPr>
          <a:xfrm>
            <a:off x="6656760" y="3390840"/>
            <a:ext cx="636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5,73%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1f4d90f58_1_19"/>
          <p:cNvSpPr/>
          <p:nvPr/>
        </p:nvSpPr>
        <p:spPr>
          <a:xfrm>
            <a:off x="72957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i="0" lang="en-US" sz="79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R$ 0,26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1f4d90f58_1_19"/>
          <p:cNvSpPr/>
          <p:nvPr/>
        </p:nvSpPr>
        <p:spPr>
          <a:xfrm>
            <a:off x="80409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R$ 13,13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1f4d90f58_1_19"/>
          <p:cNvSpPr/>
          <p:nvPr/>
        </p:nvSpPr>
        <p:spPr>
          <a:xfrm>
            <a:off x="8786160" y="3390840"/>
            <a:ext cx="3031800" cy="7638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2880" marR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0" i="0" lang="en-US" sz="79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Gerar visibilidade para conhecimento da presença da Acirv na Sudoexpo, para a comunidade empresarial de Rio Verde.</a:t>
            </a:r>
            <a:endParaRPr b="0" i="0" sz="79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f1f4d90f58_1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39076" y="4277350"/>
            <a:ext cx="1258974" cy="223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f1f4d90f58_1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3600" y="4277330"/>
            <a:ext cx="1258974" cy="2238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f1f4d90f58_1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8125" y="4277312"/>
            <a:ext cx="1258974" cy="2238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f1f4d90f58_1_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2650" y="4277353"/>
            <a:ext cx="1258974" cy="223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5c71831f_0_0"/>
          <p:cNvSpPr/>
          <p:nvPr/>
        </p:nvSpPr>
        <p:spPr>
          <a:xfrm>
            <a:off x="403920" y="329040"/>
            <a:ext cx="11385000" cy="8952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08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" lIns="1800" spcFirstLastPara="1" rIns="1800" wrap="square" tIns="1800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Serviços Acirv — </a:t>
            </a: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Setembro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/2026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020B3"/>
                </a:solidFill>
                <a:latin typeface="Arial"/>
                <a:ea typeface="Arial"/>
                <a:cs typeface="Arial"/>
                <a:sym typeface="Arial"/>
              </a:rPr>
              <a:t>Objetivo: Visitas ao Perfil do Instagram | Público: 30-60 - Pequenas e médias empresas, Empresa, Empresário, Investimento, Negócios.</a:t>
            </a:r>
            <a:endParaRPr b="0" i="0" sz="1250" u="none" cap="none" strike="noStrike">
              <a:solidFill>
                <a:srgbClr val="102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a5c71831f_0_0"/>
          <p:cNvSpPr/>
          <p:nvPr/>
        </p:nvSpPr>
        <p:spPr>
          <a:xfrm>
            <a:off x="4024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R$ 199,91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a5c71831f_0_0"/>
          <p:cNvSpPr/>
          <p:nvPr/>
        </p:nvSpPr>
        <p:spPr>
          <a:xfrm>
            <a:off x="32716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16.348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a5c71831f_0_0"/>
          <p:cNvSpPr/>
          <p:nvPr/>
        </p:nvSpPr>
        <p:spPr>
          <a:xfrm>
            <a:off x="61408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Cliques no link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386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a5c71831f_0_0"/>
          <p:cNvSpPr/>
          <p:nvPr/>
        </p:nvSpPr>
        <p:spPr>
          <a:xfrm>
            <a:off x="9009720" y="1389960"/>
            <a:ext cx="2777100" cy="6027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Visitas ao Perfil do Instagram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401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a5c71831f_0_0"/>
          <p:cNvSpPr/>
          <p:nvPr/>
        </p:nvSpPr>
        <p:spPr>
          <a:xfrm>
            <a:off x="4024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1,19%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a5c71831f_0_0"/>
          <p:cNvSpPr/>
          <p:nvPr/>
        </p:nvSpPr>
        <p:spPr>
          <a:xfrm>
            <a:off x="32716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R$ 0,52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a5c71831f_0_0"/>
          <p:cNvSpPr/>
          <p:nvPr/>
        </p:nvSpPr>
        <p:spPr>
          <a:xfrm>
            <a:off x="61408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R$ 6,18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a5c71831f_0_0"/>
          <p:cNvSpPr/>
          <p:nvPr/>
        </p:nvSpPr>
        <p:spPr>
          <a:xfrm>
            <a:off x="900972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Custo por resultado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R$ 0,50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a5c71831f_0_0"/>
          <p:cNvSpPr/>
          <p:nvPr/>
        </p:nvSpPr>
        <p:spPr>
          <a:xfrm>
            <a:off x="374400" y="2880000"/>
            <a:ext cx="150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a5c71831f_0_0"/>
          <p:cNvSpPr/>
          <p:nvPr/>
        </p:nvSpPr>
        <p:spPr>
          <a:xfrm>
            <a:off x="1886040" y="2880000"/>
            <a:ext cx="955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a5c71831f_0_0"/>
          <p:cNvSpPr/>
          <p:nvPr/>
        </p:nvSpPr>
        <p:spPr>
          <a:xfrm>
            <a:off x="2844000" y="2880000"/>
            <a:ext cx="10833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a5c71831f_0_0"/>
          <p:cNvSpPr/>
          <p:nvPr/>
        </p:nvSpPr>
        <p:spPr>
          <a:xfrm>
            <a:off x="3930480" y="2880000"/>
            <a:ext cx="84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 por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a5c71831f_0_0"/>
          <p:cNvSpPr/>
          <p:nvPr/>
        </p:nvSpPr>
        <p:spPr>
          <a:xfrm>
            <a:off x="4782240" y="2880000"/>
            <a:ext cx="10404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Impressões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a5c71831f_0_0"/>
          <p:cNvSpPr/>
          <p:nvPr/>
        </p:nvSpPr>
        <p:spPr>
          <a:xfrm>
            <a:off x="5825520" y="2880000"/>
            <a:ext cx="8277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a5c71831f_0_0"/>
          <p:cNvSpPr/>
          <p:nvPr/>
        </p:nvSpPr>
        <p:spPr>
          <a:xfrm>
            <a:off x="6656760" y="2880000"/>
            <a:ext cx="636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a5c71831f_0_0"/>
          <p:cNvSpPr/>
          <p:nvPr/>
        </p:nvSpPr>
        <p:spPr>
          <a:xfrm>
            <a:off x="72957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a5c71831f_0_0"/>
          <p:cNvSpPr/>
          <p:nvPr/>
        </p:nvSpPr>
        <p:spPr>
          <a:xfrm>
            <a:off x="80409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a5c71831f_0_0"/>
          <p:cNvSpPr/>
          <p:nvPr/>
        </p:nvSpPr>
        <p:spPr>
          <a:xfrm>
            <a:off x="8786160" y="2880000"/>
            <a:ext cx="30318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 principal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a5c71831f_0_0"/>
          <p:cNvSpPr/>
          <p:nvPr/>
        </p:nvSpPr>
        <p:spPr>
          <a:xfrm>
            <a:off x="374400" y="3390840"/>
            <a:ext cx="15090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Gerar conhecimento e captação para os serviços da Acirv.</a:t>
            </a:r>
            <a:endParaRPr b="0" i="0" sz="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a5c71831f_0_0"/>
          <p:cNvSpPr/>
          <p:nvPr/>
        </p:nvSpPr>
        <p:spPr>
          <a:xfrm>
            <a:off x="1886040" y="3390840"/>
            <a:ext cx="9552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   Setembro</a:t>
            </a:r>
            <a:r>
              <a:rPr b="0" i="0" lang="en-US" sz="82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b="0" i="0" sz="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a5c71831f_0_0"/>
          <p:cNvSpPr/>
          <p:nvPr/>
        </p:nvSpPr>
        <p:spPr>
          <a:xfrm>
            <a:off x="2844000" y="3390840"/>
            <a:ext cx="10833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R$ 199,91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a5c71831f_0_0"/>
          <p:cNvSpPr/>
          <p:nvPr/>
        </p:nvSpPr>
        <p:spPr>
          <a:xfrm>
            <a:off x="3930480" y="3390840"/>
            <a:ext cx="849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R$ 0,50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a5c71831f_0_0"/>
          <p:cNvSpPr/>
          <p:nvPr/>
        </p:nvSpPr>
        <p:spPr>
          <a:xfrm>
            <a:off x="4782240" y="3390840"/>
            <a:ext cx="10404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32.351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a5c71831f_0_0"/>
          <p:cNvSpPr/>
          <p:nvPr/>
        </p:nvSpPr>
        <p:spPr>
          <a:xfrm>
            <a:off x="5825520" y="3390840"/>
            <a:ext cx="8277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16.348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a5c71831f_0_0"/>
          <p:cNvSpPr/>
          <p:nvPr/>
        </p:nvSpPr>
        <p:spPr>
          <a:xfrm>
            <a:off x="6656760" y="3390840"/>
            <a:ext cx="636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1,19%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fa5c71831f_0_0"/>
          <p:cNvSpPr/>
          <p:nvPr/>
        </p:nvSpPr>
        <p:spPr>
          <a:xfrm>
            <a:off x="72957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R$ 0,52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a5c71831f_0_0"/>
          <p:cNvSpPr/>
          <p:nvPr/>
        </p:nvSpPr>
        <p:spPr>
          <a:xfrm>
            <a:off x="80409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R$ 6,18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a5c71831f_0_0"/>
          <p:cNvSpPr/>
          <p:nvPr/>
        </p:nvSpPr>
        <p:spPr>
          <a:xfrm>
            <a:off x="8786160" y="3390840"/>
            <a:ext cx="3031800" cy="7638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2880" marR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0" i="0" lang="en-US" sz="79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Gerar visitas no perfil para conhecimento dos serviços oferecidos para os empresários da comunidade empresarial de Rio Verde.</a:t>
            </a:r>
            <a:endParaRPr b="0" i="0" sz="79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fa5c71831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924" y="4154649"/>
            <a:ext cx="1859975" cy="247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73ce9ff48_0_127"/>
          <p:cNvSpPr/>
          <p:nvPr/>
        </p:nvSpPr>
        <p:spPr>
          <a:xfrm>
            <a:off x="403920" y="329040"/>
            <a:ext cx="11385000" cy="8952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08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" lIns="1800" spcFirstLastPara="1" rIns="1800" wrap="square" tIns="1800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Vídeo Acirv 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— </a:t>
            </a: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Setembro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/2026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020B3"/>
                </a:solidFill>
                <a:latin typeface="Arial"/>
                <a:ea typeface="Arial"/>
                <a:cs typeface="Arial"/>
                <a:sym typeface="Arial"/>
              </a:rPr>
              <a:t>Objetivo: Visitas ao Perfil do Instagram | Público: 30-60 - Pequenas e médias empresas, Empresa, Empresário, Investimento, Negócios.</a:t>
            </a:r>
            <a:endParaRPr b="0" i="0" sz="1250" u="none" cap="none" strike="noStrike">
              <a:solidFill>
                <a:srgbClr val="102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e73ce9ff48_0_127"/>
          <p:cNvSpPr/>
          <p:nvPr/>
        </p:nvSpPr>
        <p:spPr>
          <a:xfrm>
            <a:off x="4024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R$ 99,86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73ce9ff48_0_127"/>
          <p:cNvSpPr/>
          <p:nvPr/>
        </p:nvSpPr>
        <p:spPr>
          <a:xfrm>
            <a:off x="32716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12.527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e73ce9ff48_0_127"/>
          <p:cNvSpPr/>
          <p:nvPr/>
        </p:nvSpPr>
        <p:spPr>
          <a:xfrm>
            <a:off x="61408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Cliques no link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351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73ce9ff48_0_127"/>
          <p:cNvSpPr/>
          <p:nvPr/>
        </p:nvSpPr>
        <p:spPr>
          <a:xfrm>
            <a:off x="9009720" y="1389960"/>
            <a:ext cx="2777100" cy="6027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Visitas no Perfil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350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73ce9ff48_0_127"/>
          <p:cNvSpPr/>
          <p:nvPr/>
        </p:nvSpPr>
        <p:spPr>
          <a:xfrm>
            <a:off x="4024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1,99%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73ce9ff48_0_127"/>
          <p:cNvSpPr/>
          <p:nvPr/>
        </p:nvSpPr>
        <p:spPr>
          <a:xfrm>
            <a:off x="32716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R$ 0,85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73ce9ff48_0_127"/>
          <p:cNvSpPr/>
          <p:nvPr/>
        </p:nvSpPr>
        <p:spPr>
          <a:xfrm>
            <a:off x="61408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R$ 16,96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73ce9ff48_0_127"/>
          <p:cNvSpPr/>
          <p:nvPr/>
        </p:nvSpPr>
        <p:spPr>
          <a:xfrm>
            <a:off x="900972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Custo por resultado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R$ 0,86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e73ce9ff48_0_127"/>
          <p:cNvSpPr/>
          <p:nvPr/>
        </p:nvSpPr>
        <p:spPr>
          <a:xfrm>
            <a:off x="374400" y="2880000"/>
            <a:ext cx="150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73ce9ff48_0_127"/>
          <p:cNvSpPr/>
          <p:nvPr/>
        </p:nvSpPr>
        <p:spPr>
          <a:xfrm>
            <a:off x="1886040" y="2880000"/>
            <a:ext cx="955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e73ce9ff48_0_127"/>
          <p:cNvSpPr/>
          <p:nvPr/>
        </p:nvSpPr>
        <p:spPr>
          <a:xfrm>
            <a:off x="2844000" y="2880000"/>
            <a:ext cx="10833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73ce9ff48_0_127"/>
          <p:cNvSpPr/>
          <p:nvPr/>
        </p:nvSpPr>
        <p:spPr>
          <a:xfrm>
            <a:off x="3930480" y="2880000"/>
            <a:ext cx="84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 por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e73ce9ff48_0_127"/>
          <p:cNvSpPr/>
          <p:nvPr/>
        </p:nvSpPr>
        <p:spPr>
          <a:xfrm>
            <a:off x="4782240" y="2880000"/>
            <a:ext cx="10404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Impressões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e73ce9ff48_0_127"/>
          <p:cNvSpPr/>
          <p:nvPr/>
        </p:nvSpPr>
        <p:spPr>
          <a:xfrm>
            <a:off x="5825520" y="2880000"/>
            <a:ext cx="8277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73ce9ff48_0_127"/>
          <p:cNvSpPr/>
          <p:nvPr/>
        </p:nvSpPr>
        <p:spPr>
          <a:xfrm>
            <a:off x="6656760" y="2880000"/>
            <a:ext cx="636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e73ce9ff48_0_127"/>
          <p:cNvSpPr/>
          <p:nvPr/>
        </p:nvSpPr>
        <p:spPr>
          <a:xfrm>
            <a:off x="72957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73ce9ff48_0_127"/>
          <p:cNvSpPr/>
          <p:nvPr/>
        </p:nvSpPr>
        <p:spPr>
          <a:xfrm>
            <a:off x="80409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e73ce9ff48_0_127"/>
          <p:cNvSpPr/>
          <p:nvPr/>
        </p:nvSpPr>
        <p:spPr>
          <a:xfrm>
            <a:off x="8786160" y="2880000"/>
            <a:ext cx="30318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 principal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e73ce9ff48_0_127"/>
          <p:cNvSpPr/>
          <p:nvPr/>
        </p:nvSpPr>
        <p:spPr>
          <a:xfrm>
            <a:off x="374400" y="3390840"/>
            <a:ext cx="15090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Gerar visibilidade e alcance para os empresários conhecerem a Acirv.</a:t>
            </a:r>
            <a:endParaRPr sz="82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rgbClr val="0D1DB0"/>
              </a:solidFill>
            </a:endParaRPr>
          </a:p>
        </p:txBody>
      </p:sp>
      <p:sp>
        <p:nvSpPr>
          <p:cNvPr id="181" name="Google Shape;181;g3e73ce9ff48_0_127"/>
          <p:cNvSpPr/>
          <p:nvPr/>
        </p:nvSpPr>
        <p:spPr>
          <a:xfrm>
            <a:off x="1886040" y="3390840"/>
            <a:ext cx="9552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   Setembro</a:t>
            </a:r>
            <a:r>
              <a:rPr b="0" i="0" lang="en-US" sz="82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b="0" i="0" sz="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e73ce9ff48_0_127"/>
          <p:cNvSpPr/>
          <p:nvPr/>
        </p:nvSpPr>
        <p:spPr>
          <a:xfrm>
            <a:off x="2844000" y="3390840"/>
            <a:ext cx="10833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R$ 299,89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73ce9ff48_0_127"/>
          <p:cNvSpPr/>
          <p:nvPr/>
        </p:nvSpPr>
        <p:spPr>
          <a:xfrm>
            <a:off x="3930480" y="3390840"/>
            <a:ext cx="849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R$ 0,86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e73ce9ff48_0_127"/>
          <p:cNvSpPr/>
          <p:nvPr/>
        </p:nvSpPr>
        <p:spPr>
          <a:xfrm>
            <a:off x="4782240" y="3390840"/>
            <a:ext cx="10404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17.679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e73ce9ff48_0_127"/>
          <p:cNvSpPr/>
          <p:nvPr/>
        </p:nvSpPr>
        <p:spPr>
          <a:xfrm>
            <a:off x="5825520" y="3390840"/>
            <a:ext cx="8277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12.527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e73ce9ff48_0_127"/>
          <p:cNvSpPr/>
          <p:nvPr/>
        </p:nvSpPr>
        <p:spPr>
          <a:xfrm>
            <a:off x="6656760" y="3390840"/>
            <a:ext cx="636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1,99</a:t>
            </a:r>
            <a:r>
              <a:rPr b="1" lang="en-US" sz="790">
                <a:solidFill>
                  <a:srgbClr val="0D1DB0"/>
                </a:solidFill>
              </a:rPr>
              <a:t>%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e73ce9ff48_0_127"/>
          <p:cNvSpPr/>
          <p:nvPr/>
        </p:nvSpPr>
        <p:spPr>
          <a:xfrm>
            <a:off x="72957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R$ 0,85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e73ce9ff48_0_127"/>
          <p:cNvSpPr/>
          <p:nvPr/>
        </p:nvSpPr>
        <p:spPr>
          <a:xfrm>
            <a:off x="80409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R$ 16,96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e73ce9ff48_0_127"/>
          <p:cNvSpPr/>
          <p:nvPr/>
        </p:nvSpPr>
        <p:spPr>
          <a:xfrm>
            <a:off x="8786160" y="3390840"/>
            <a:ext cx="3031800" cy="7638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2880" marR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r>
              <a:rPr b="0" i="0" lang="en-US" sz="79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Gerar visitas no perfil para conhecimento dos serviços oferecidos para os empresários da comunidade empresarial de Rio Verd</a:t>
            </a:r>
            <a:r>
              <a:rPr lang="en-US" sz="790">
                <a:solidFill>
                  <a:srgbClr val="0D1DB0"/>
                </a:solidFill>
              </a:rPr>
              <a:t>e.</a:t>
            </a:r>
            <a:endParaRPr b="0" i="0" sz="79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3e73ce9ff48_0_127"/>
          <p:cNvPicPr preferRelativeResize="0"/>
          <p:nvPr/>
        </p:nvPicPr>
        <p:blipFill rotWithShape="1">
          <a:blip r:embed="rId3">
            <a:alphaModFix/>
          </a:blip>
          <a:srcRect b="16123" l="0" r="0" t="3141"/>
          <a:stretch/>
        </p:blipFill>
        <p:spPr>
          <a:xfrm>
            <a:off x="374400" y="4277350"/>
            <a:ext cx="1795275" cy="2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609e3832c12e752e_0_116"/>
          <p:cNvSpPr/>
          <p:nvPr/>
        </p:nvSpPr>
        <p:spPr>
          <a:xfrm>
            <a:off x="403920" y="329040"/>
            <a:ext cx="11385000" cy="8952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08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" lIns="1800" spcFirstLastPara="1" rIns="1800" wrap="square" tIns="1800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Ação Patinete Elétrico</a:t>
            </a: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— </a:t>
            </a:r>
            <a:r>
              <a:rPr b="1" lang="en-US" sz="2600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Setembro</a:t>
            </a:r>
            <a:r>
              <a:rPr b="1" i="0" lang="en-US" sz="2600" u="none" cap="none" strike="noStrike">
                <a:solidFill>
                  <a:srgbClr val="1020B3"/>
                </a:solidFill>
                <a:latin typeface="Play"/>
                <a:ea typeface="Play"/>
                <a:cs typeface="Play"/>
                <a:sym typeface="Play"/>
              </a:rPr>
              <a:t>/2026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020B3"/>
                </a:solidFill>
                <a:latin typeface="Arial"/>
                <a:ea typeface="Arial"/>
                <a:cs typeface="Arial"/>
                <a:sym typeface="Arial"/>
              </a:rPr>
              <a:t>Objetivo: Visitas ao Perfil do Instagram | Público: 30-60 - Pequenas e médias empresas, Empresa, Empresário, Investimento, Negócios.</a:t>
            </a:r>
            <a:endParaRPr b="0" i="0" sz="1250" u="none" cap="none" strike="noStrike">
              <a:solidFill>
                <a:srgbClr val="102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609e3832c12e752e_0_116"/>
          <p:cNvSpPr/>
          <p:nvPr/>
        </p:nvSpPr>
        <p:spPr>
          <a:xfrm>
            <a:off x="4024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R$ 71,46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609e3832c12e752e_0_116"/>
          <p:cNvSpPr/>
          <p:nvPr/>
        </p:nvSpPr>
        <p:spPr>
          <a:xfrm>
            <a:off x="32716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4.474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h609e3832c12e752e_0_116"/>
          <p:cNvSpPr/>
          <p:nvPr/>
        </p:nvSpPr>
        <p:spPr>
          <a:xfrm>
            <a:off x="6140880" y="13899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Cliques no link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149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609e3832c12e752e_0_116"/>
          <p:cNvSpPr/>
          <p:nvPr/>
        </p:nvSpPr>
        <p:spPr>
          <a:xfrm>
            <a:off x="9009720" y="1389960"/>
            <a:ext cx="2777100" cy="6027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Visitas no Perfil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146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609e3832c12e752e_0_116"/>
          <p:cNvSpPr/>
          <p:nvPr/>
        </p:nvSpPr>
        <p:spPr>
          <a:xfrm>
            <a:off x="4024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2,68%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h609e3832c12e752e_0_116"/>
          <p:cNvSpPr/>
          <p:nvPr/>
        </p:nvSpPr>
        <p:spPr>
          <a:xfrm>
            <a:off x="32716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R$ 0,48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h609e3832c12e752e_0_116"/>
          <p:cNvSpPr/>
          <p:nvPr/>
        </p:nvSpPr>
        <p:spPr>
          <a:xfrm>
            <a:off x="614088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R$ 12,85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609e3832c12e752e_0_116"/>
          <p:cNvSpPr/>
          <p:nvPr/>
        </p:nvSpPr>
        <p:spPr>
          <a:xfrm>
            <a:off x="9009720" y="2084760"/>
            <a:ext cx="27771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5" lIns="1425" spcFirstLastPara="1" rIns="1425" wrap="square" tIns="1425">
            <a:noAutofit/>
          </a:bodyPr>
          <a:lstStyle/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Custo por resultado</a:t>
            </a:r>
            <a:endParaRPr b="0" i="0" sz="95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D1DB0"/>
                </a:solidFill>
              </a:rPr>
              <a:t>R$ 0,49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609e3832c12e752e_0_116"/>
          <p:cNvSpPr/>
          <p:nvPr/>
        </p:nvSpPr>
        <p:spPr>
          <a:xfrm>
            <a:off x="374400" y="2880000"/>
            <a:ext cx="150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h609e3832c12e752e_0_116"/>
          <p:cNvSpPr/>
          <p:nvPr/>
        </p:nvSpPr>
        <p:spPr>
          <a:xfrm>
            <a:off x="1886040" y="2880000"/>
            <a:ext cx="955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609e3832c12e752e_0_116"/>
          <p:cNvSpPr/>
          <p:nvPr/>
        </p:nvSpPr>
        <p:spPr>
          <a:xfrm>
            <a:off x="2844000" y="2880000"/>
            <a:ext cx="10833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Investimento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h609e3832c12e752e_0_116"/>
          <p:cNvSpPr/>
          <p:nvPr/>
        </p:nvSpPr>
        <p:spPr>
          <a:xfrm>
            <a:off x="3930480" y="2880000"/>
            <a:ext cx="849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 por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h609e3832c12e752e_0_116"/>
          <p:cNvSpPr/>
          <p:nvPr/>
        </p:nvSpPr>
        <p:spPr>
          <a:xfrm>
            <a:off x="4782240" y="2880000"/>
            <a:ext cx="10404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Impressões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h609e3832c12e752e_0_116"/>
          <p:cNvSpPr/>
          <p:nvPr/>
        </p:nvSpPr>
        <p:spPr>
          <a:xfrm>
            <a:off x="5825520" y="2880000"/>
            <a:ext cx="8277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h609e3832c12e752e_0_116"/>
          <p:cNvSpPr/>
          <p:nvPr/>
        </p:nvSpPr>
        <p:spPr>
          <a:xfrm>
            <a:off x="6656760" y="2880000"/>
            <a:ext cx="6360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h609e3832c12e752e_0_116"/>
          <p:cNvSpPr/>
          <p:nvPr/>
        </p:nvSpPr>
        <p:spPr>
          <a:xfrm>
            <a:off x="72957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h609e3832c12e752e_0_116"/>
          <p:cNvSpPr/>
          <p:nvPr/>
        </p:nvSpPr>
        <p:spPr>
          <a:xfrm>
            <a:off x="8040960" y="2880000"/>
            <a:ext cx="7422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</a:t>
            </a:r>
            <a:endParaRPr b="0" i="0" sz="7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h609e3832c12e752e_0_116"/>
          <p:cNvSpPr/>
          <p:nvPr/>
        </p:nvSpPr>
        <p:spPr>
          <a:xfrm>
            <a:off x="8786160" y="2880000"/>
            <a:ext cx="3031800" cy="510000"/>
          </a:xfrm>
          <a:prstGeom prst="rect">
            <a:avLst/>
          </a:prstGeom>
          <a:solidFill>
            <a:srgbClr val="009BE1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 principal</a:t>
            </a:r>
            <a:endParaRPr b="0" i="0" sz="7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h609e3832c12e752e_0_116"/>
          <p:cNvSpPr/>
          <p:nvPr/>
        </p:nvSpPr>
        <p:spPr>
          <a:xfrm>
            <a:off x="374400" y="3390840"/>
            <a:ext cx="15090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Mostrar a ganhadora do patinete elétrico (ação </a:t>
            </a:r>
            <a:r>
              <a:rPr lang="en-US" sz="820">
                <a:solidFill>
                  <a:srgbClr val="0D1DB0"/>
                </a:solidFill>
              </a:rPr>
              <a:t>Sudoexpo</a:t>
            </a:r>
            <a:r>
              <a:rPr lang="en-US" sz="820">
                <a:solidFill>
                  <a:srgbClr val="0D1DB0"/>
                </a:solidFill>
              </a:rPr>
              <a:t>)</a:t>
            </a:r>
            <a:endParaRPr sz="82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rgbClr val="0D1DB0"/>
              </a:solidFill>
            </a:endParaRPr>
          </a:p>
        </p:txBody>
      </p:sp>
      <p:sp>
        <p:nvSpPr>
          <p:cNvPr id="216" name="Google Shape;216;h609e3832c12e752e_0_116"/>
          <p:cNvSpPr/>
          <p:nvPr/>
        </p:nvSpPr>
        <p:spPr>
          <a:xfrm>
            <a:off x="1886040" y="3390840"/>
            <a:ext cx="955200" cy="763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0D1DB0"/>
                </a:solidFill>
              </a:rPr>
              <a:t>   Setembro</a:t>
            </a:r>
            <a:r>
              <a:rPr b="0" i="0" lang="en-US" sz="82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b="0" i="0" sz="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h609e3832c12e752e_0_116"/>
          <p:cNvSpPr/>
          <p:nvPr/>
        </p:nvSpPr>
        <p:spPr>
          <a:xfrm>
            <a:off x="2844000" y="3390840"/>
            <a:ext cx="10833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R$ 71,46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609e3832c12e752e_0_116"/>
          <p:cNvSpPr/>
          <p:nvPr/>
        </p:nvSpPr>
        <p:spPr>
          <a:xfrm>
            <a:off x="3930480" y="3390840"/>
            <a:ext cx="849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R$ 0,49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h609e3832c12e752e_0_116"/>
          <p:cNvSpPr/>
          <p:nvPr/>
        </p:nvSpPr>
        <p:spPr>
          <a:xfrm>
            <a:off x="4782240" y="3390840"/>
            <a:ext cx="10404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5.559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609e3832c12e752e_0_116"/>
          <p:cNvSpPr/>
          <p:nvPr/>
        </p:nvSpPr>
        <p:spPr>
          <a:xfrm>
            <a:off x="5825520" y="3390840"/>
            <a:ext cx="8277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4.474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h609e3832c12e752e_0_116"/>
          <p:cNvSpPr/>
          <p:nvPr/>
        </p:nvSpPr>
        <p:spPr>
          <a:xfrm>
            <a:off x="6656760" y="3390840"/>
            <a:ext cx="6360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2,68%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h609e3832c12e752e_0_116"/>
          <p:cNvSpPr/>
          <p:nvPr/>
        </p:nvSpPr>
        <p:spPr>
          <a:xfrm>
            <a:off x="72957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R$ 0,48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h609e3832c12e752e_0_116"/>
          <p:cNvSpPr/>
          <p:nvPr/>
        </p:nvSpPr>
        <p:spPr>
          <a:xfrm>
            <a:off x="8040960" y="3390840"/>
            <a:ext cx="742200" cy="763800"/>
          </a:xfrm>
          <a:prstGeom prst="rect">
            <a:avLst/>
          </a:prstGeom>
          <a:solidFill>
            <a:srgbClr val="FBFCFF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lang="en-US" sz="790">
                <a:solidFill>
                  <a:srgbClr val="0D1DB0"/>
                </a:solidFill>
              </a:rPr>
              <a:t>R$ 12,85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h609e3832c12e752e_0_116"/>
          <p:cNvSpPr/>
          <p:nvPr/>
        </p:nvSpPr>
        <p:spPr>
          <a:xfrm>
            <a:off x="8786160" y="3390840"/>
            <a:ext cx="3031800" cy="763800"/>
          </a:xfrm>
          <a:prstGeom prst="rect">
            <a:avLst/>
          </a:prstGeom>
          <a:solidFill>
            <a:srgbClr val="03F002"/>
          </a:solidFill>
          <a:ln cap="flat" cmpd="sng" w="9525">
            <a:solidFill>
              <a:srgbClr val="D9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" lIns="700" spcFirstLastPara="1" rIns="700" wrap="square" tIns="700">
            <a:noAutofit/>
          </a:bodyPr>
          <a:lstStyle/>
          <a:p>
            <a:pPr indent="0" lvl="0" marL="182880" marR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r>
              <a:rPr b="0" i="0" lang="en-US" sz="790" u="none" cap="none" strike="noStrike">
                <a:solidFill>
                  <a:srgbClr val="0D1DB0"/>
                </a:solidFill>
                <a:latin typeface="Arial"/>
                <a:ea typeface="Arial"/>
                <a:cs typeface="Arial"/>
                <a:sym typeface="Arial"/>
              </a:rPr>
              <a:t>Gerar </a:t>
            </a:r>
            <a:r>
              <a:rPr lang="en-US" sz="790">
                <a:solidFill>
                  <a:srgbClr val="0D1DB0"/>
                </a:solidFill>
              </a:rPr>
              <a:t>alcance para mostrar a credibilidade da </a:t>
            </a:r>
            <a:r>
              <a:rPr lang="en-US" sz="790">
                <a:solidFill>
                  <a:srgbClr val="0D1DB0"/>
                </a:solidFill>
              </a:rPr>
              <a:t>ação</a:t>
            </a:r>
            <a:r>
              <a:rPr lang="en-US" sz="790">
                <a:solidFill>
                  <a:srgbClr val="0D1DB0"/>
                </a:solidFill>
              </a:rPr>
              <a:t> feita durante a Sudoexpo com a ganhadora do patinete eletrico.</a:t>
            </a:r>
            <a:endParaRPr b="0" i="0" sz="790" u="none" cap="none" strike="noStrike">
              <a:solidFill>
                <a:srgbClr val="0D1DB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h609e3832c12e752e_0_116"/>
          <p:cNvPicPr preferRelativeResize="0"/>
          <p:nvPr/>
        </p:nvPicPr>
        <p:blipFill rotWithShape="1">
          <a:blip r:embed="rId3">
            <a:alphaModFix/>
          </a:blip>
          <a:srcRect b="15626" l="0" r="0" t="3198"/>
          <a:stretch/>
        </p:blipFill>
        <p:spPr>
          <a:xfrm>
            <a:off x="403925" y="4277350"/>
            <a:ext cx="1838250" cy="236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2026-05-06T18:23:32Z</dcterms:created>
  <dc:creator>OpenAI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